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4" r:id="rId2"/>
    <p:sldMasterId id="2147483660" r:id="rId3"/>
    <p:sldMasterId id="2147483680" r:id="rId4"/>
  </p:sldMasterIdLst>
  <p:notesMasterIdLst>
    <p:notesMasterId r:id="rId21"/>
  </p:notesMasterIdLst>
  <p:handoutMasterIdLst>
    <p:handoutMasterId r:id="rId22"/>
  </p:handoutMasterIdLst>
  <p:sldIdLst>
    <p:sldId id="377" r:id="rId5"/>
    <p:sldId id="378" r:id="rId6"/>
    <p:sldId id="379" r:id="rId7"/>
    <p:sldId id="380" r:id="rId8"/>
    <p:sldId id="381" r:id="rId9"/>
    <p:sldId id="382" r:id="rId10"/>
    <p:sldId id="383" r:id="rId11"/>
    <p:sldId id="384" r:id="rId12"/>
    <p:sldId id="385" r:id="rId13"/>
    <p:sldId id="386" r:id="rId14"/>
    <p:sldId id="387" r:id="rId15"/>
    <p:sldId id="388" r:id="rId16"/>
    <p:sldId id="389" r:id="rId17"/>
    <p:sldId id="390" r:id="rId18"/>
    <p:sldId id="391" r:id="rId19"/>
    <p:sldId id="392" r:id="rId20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32C8"/>
    <a:srgbClr val="0A2451"/>
    <a:srgbClr val="7F32C8"/>
    <a:srgbClr val="0096C8"/>
    <a:srgbClr val="009A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91" autoAdjust="0"/>
    <p:restoredTop sz="94643"/>
  </p:normalViewPr>
  <p:slideViewPr>
    <p:cSldViewPr snapToGrid="0" snapToObjects="1">
      <p:cViewPr varScale="1">
        <p:scale>
          <a:sx n="99" d="100"/>
          <a:sy n="99" d="100"/>
        </p:scale>
        <p:origin x="95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F0BF7D0-ACCD-45E0-9075-7974351BA6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3B6A517-4C1F-40CC-B607-62B10860738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40BD7-4B38-4A99-A6E7-5E1A97DAF11B}" type="datetimeFigureOut">
              <a:rPr lang="es-PE" smtClean="0"/>
              <a:t>14/04/2026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DE1014B-0959-4D3A-8DC3-99369C9107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5F80A8-C49B-4372-B96A-23231D58BE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D7DB4-D5A9-475B-BF72-4B93DC046C5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26361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2EFC3-66C1-4423-B1B2-E7C9DCCB5C75}" type="datetimeFigureOut">
              <a:rPr lang="es-PE" smtClean="0"/>
              <a:t>14/04/2026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75E41-3A85-45FC-A38E-3ABB827C81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5376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BBDFEDA-4707-4FCF-B728-8770DE811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1C491-E0CA-4324-AB99-27795370E731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FEC6C11-5534-41C2-AE3F-23A2E42B2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596F09D-DC31-489D-B4ED-C366F889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6910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8E25-E046-416A-8AD2-E2EA35E0D47B}" type="datetime6">
              <a:rPr lang="es-PE" smtClean="0"/>
              <a:t>Abril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28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8130-A112-4F15-AFC2-368CC75448B6}" type="datetime6">
              <a:rPr lang="es-PE" smtClean="0"/>
              <a:t>Abril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96BDD-8036-732D-98BA-0F2E37352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0875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79D8E-AB04-8E45-9319-348AC3CB4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9A28C-F211-4BC4-A82C-550C2815AB6D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7A3063-101A-4748-9BF4-BDCEAD74E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81654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1ED01-9170-4915-AD68-3CC34DFA2DBD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8F1C9D-46B9-3A4E-AB57-99CFCB4F8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506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DE35-9A49-4AAC-8B2C-BA4A347498EB}" type="datetime6">
              <a:rPr lang="es-PE" smtClean="0"/>
              <a:t>Abril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83630D-DB33-894E-A6FB-7C886A314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31018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BB3AF-5458-4635-87B4-F9A9B12C5458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40BCAD-F69B-D846-B7D1-F816049E4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1520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4354-6BA5-49FF-BF43-87C4B22E98B4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665C2B-C547-9D48-897C-C27108ED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56347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0608-F1FB-45F6-860F-922B6EF37ED4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9B5093-2547-5848-96C5-63FA5D8AC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19299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078BD-AB8A-4345-9035-53D22F2B3257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95E045-43DC-F64F-8427-01C4927DE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3938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8617"/>
            <a:ext cx="10515600" cy="330490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1771-42A4-45B0-9E2A-31E6848B072B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título 1">
            <a:extLst>
              <a:ext uri="{FF2B5EF4-FFF2-40B4-BE49-F238E27FC236}">
                <a16:creationId xmlns:a16="http://schemas.microsoft.com/office/drawing/2014/main" id="{A687CBB4-B26D-433C-982F-3DCCCFE5C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8824"/>
            <a:ext cx="10515600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D43F6072-5465-F57A-EF21-56204254D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42845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5F0A72E7-2671-47A4-AF35-66459EA16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0D25D-3002-4A58-8B13-21BD8EE61204}" type="datetime6">
              <a:rPr lang="es-PE" smtClean="0"/>
              <a:t>Abril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86C3314-7415-4B69-9C72-28C2155C4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07477A4A-ECCB-8B69-A47C-30FB4783A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5517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1DECC-10B9-4F40-90A9-2F5BE622FB80}" type="datetime6">
              <a:rPr lang="es-PE" smtClean="0"/>
              <a:t>Abril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3278E2-83A6-F38B-4712-926F3DB9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5A0FF8-286D-9381-1F09-B45262982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56149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Marcador de fecha 9">
            <a:extLst>
              <a:ext uri="{FF2B5EF4-FFF2-40B4-BE49-F238E27FC236}">
                <a16:creationId xmlns:a16="http://schemas.microsoft.com/office/drawing/2014/main" id="{F008D962-BEC4-402A-A407-79C9AD9F2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C0233-ABB9-4EC0-9B00-FB2CD5E81D0A}" type="datetime6">
              <a:rPr lang="es-PE" smtClean="0"/>
              <a:t>Abril de 2026</a:t>
            </a:fld>
            <a:endParaRPr lang="es-PE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3750F3DD-81E0-4125-8E5B-E0A1E3048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9B72A45B-A8B6-53D1-D299-D8D234C35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330049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0424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32517-B618-4C30-966E-4CE57A9A4AD9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975A041E-5422-B9D8-43AC-BC8E8410A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5190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572F-C44F-4ECE-A2FB-0C63931A9A8E}" type="datetime6">
              <a:rPr lang="es-PE" smtClean="0"/>
              <a:t>Abril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024E81AF-5ACD-3527-83DB-C9AD4CA08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08079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5C4A-DDA2-4FA4-84CD-631E9785E0C4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59D5B90D-729B-0333-8733-D407F4441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487264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76157-6C99-4927-8D4B-5792D6D36C68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C8F8A8AE-3D1C-5104-BD49-852FD075A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18953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1711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108197"/>
            <a:ext cx="10515600" cy="406876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E1B8-50E8-41AE-B289-DDEF242637E2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E4FC7515-E45E-EA9E-AB33-84FFF36BD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224937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2286-761A-4DF9-BC80-ED7ACDE5A868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9245C2B-EA67-6FB3-B251-E41C03185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244694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40041-0AC9-F54A-8CD6-2C6E25C004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28900" y="2314574"/>
            <a:ext cx="7181850" cy="2224781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Título de clase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940FCB-6F03-EA41-B8CA-B38BB6401C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810750" y="4539355"/>
            <a:ext cx="2131452" cy="65177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2023</a:t>
            </a:r>
            <a:endParaRPr lang="es-PE" dirty="0"/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409037FA-8AD4-46E6-D14A-A0B5918A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8900" y="326688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CC77DF-7156-87EC-5584-40C3F628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4057" y="6089066"/>
            <a:ext cx="4100513" cy="440147"/>
          </a:xfrm>
        </p:spPr>
        <p:txBody>
          <a:bodyPr/>
          <a:lstStyle>
            <a:lvl1pPr marL="0" indent="0">
              <a:buClr>
                <a:schemeClr val="accent6"/>
              </a:buClr>
              <a:buNone/>
              <a:defRPr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Profesor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10030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893" y="4999970"/>
            <a:ext cx="3339907" cy="717550"/>
          </a:xfrm>
        </p:spPr>
        <p:txBody>
          <a:bodyPr>
            <a:no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333C54-732D-4A5F-8493-6279F2718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993" y="1285875"/>
            <a:ext cx="6851456" cy="4072870"/>
          </a:xfrm>
        </p:spPr>
        <p:txBody>
          <a:bodyPr/>
          <a:lstStyle>
            <a:lvl1pPr marL="2286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buClr>
                <a:schemeClr val="accent1"/>
              </a:buClr>
              <a:buSzPct val="70000"/>
              <a:buFontTx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>
                <a:schemeClr val="accent1"/>
              </a:buClr>
              <a:buSzPct val="50000"/>
              <a:buFontTx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F12D76C1-E4EF-42D1-88E3-B3E1BE457EF7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70142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936BE4A0-0EF9-4513-98D7-49E1F009126F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722D55-BD67-C2D0-8DB9-2255495858E9}"/>
              </a:ext>
            </a:extLst>
          </p:cNvPr>
          <p:cNvSpPr/>
          <p:nvPr userDrawn="1"/>
        </p:nvSpPr>
        <p:spPr>
          <a:xfrm>
            <a:off x="-1" y="1888177"/>
            <a:ext cx="8737793" cy="2244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2162175"/>
            <a:ext cx="8067675" cy="16954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Nueva Sección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505411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CFF21E75-C2F6-4021-B002-DFF0EB1C555C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32324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490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24F721D9-3A4E-DA31-4304-76691E23E80D}"/>
              </a:ext>
            </a:extLst>
          </p:cNvPr>
          <p:cNvSpPr/>
          <p:nvPr userDrawn="1"/>
        </p:nvSpPr>
        <p:spPr>
          <a:xfrm>
            <a:off x="838200" y="2024743"/>
            <a:ext cx="9716589" cy="3843644"/>
          </a:xfrm>
          <a:prstGeom prst="roundRect">
            <a:avLst>
              <a:gd name="adj" fmla="val 6011"/>
            </a:avLst>
          </a:prstGeom>
          <a:solidFill>
            <a:srgbClr val="0A2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altLang="es-PE" sz="2000" b="1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buClr>
                <a:schemeClr val="accent6"/>
              </a:buClr>
              <a:defRPr sz="2400"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 sz="2200"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52786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5525" y="2549525"/>
            <a:ext cx="5162550" cy="1555750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D79D4C0-AA8A-45B0-85A5-1FD89F1DDE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03038" y="2635960"/>
            <a:ext cx="131409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3643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14724" y="663575"/>
            <a:ext cx="7762875" cy="1079500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7647276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trada" type="blank">
  <p:cSld name="entrada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-17314"/>
            <a:ext cx="12192000" cy="68580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2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672059" y="2777043"/>
            <a:ext cx="4686308" cy="138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C63A0B1C-38C6-4A94-BC53-9378BD6F4196}"/>
              </a:ext>
            </a:extLst>
          </p:cNvPr>
          <p:cNvSpPr/>
          <p:nvPr/>
        </p:nvSpPr>
        <p:spPr>
          <a:xfrm>
            <a:off x="604699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09FF01B-D296-4FC4-86C6-18C1AA1F0700}"/>
              </a:ext>
            </a:extLst>
          </p:cNvPr>
          <p:cNvSpPr>
            <a:spLocks noChangeAspect="1"/>
          </p:cNvSpPr>
          <p:nvPr/>
        </p:nvSpPr>
        <p:spPr>
          <a:xfrm>
            <a:off x="2087026" y="5059599"/>
            <a:ext cx="1476000" cy="1475999"/>
          </a:xfrm>
          <a:prstGeom prst="ellipse">
            <a:avLst/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iagrama de flujo: retraso 3">
            <a:extLst>
              <a:ext uri="{FF2B5EF4-FFF2-40B4-BE49-F238E27FC236}">
                <a16:creationId xmlns:a16="http://schemas.microsoft.com/office/drawing/2014/main" id="{F33AB0F3-5E83-4F73-B1B3-E7FFB7FAC1CF}"/>
              </a:ext>
            </a:extLst>
          </p:cNvPr>
          <p:cNvSpPr>
            <a:spLocks/>
          </p:cNvSpPr>
          <p:nvPr/>
        </p:nvSpPr>
        <p:spPr>
          <a:xfrm>
            <a:off x="604699" y="3568509"/>
            <a:ext cx="1476000" cy="1476000"/>
          </a:xfrm>
          <a:prstGeom prst="flowChartDelay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írculo parcial 4">
            <a:extLst>
              <a:ext uri="{FF2B5EF4-FFF2-40B4-BE49-F238E27FC236}">
                <a16:creationId xmlns:a16="http://schemas.microsoft.com/office/drawing/2014/main" id="{E01F752C-EAF0-4FBF-B895-7C40EAE76E6B}"/>
              </a:ext>
            </a:extLst>
          </p:cNvPr>
          <p:cNvSpPr>
            <a:spLocks noChangeAspect="1"/>
          </p:cNvSpPr>
          <p:nvPr/>
        </p:nvSpPr>
        <p:spPr>
          <a:xfrm>
            <a:off x="2080320" y="3578476"/>
            <a:ext cx="2934000" cy="2934000"/>
          </a:xfrm>
          <a:prstGeom prst="pie">
            <a:avLst>
              <a:gd name="adj1" fmla="val 16194402"/>
              <a:gd name="adj2" fmla="val 695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508BC26-9C42-409E-A296-12A08043B847}"/>
              </a:ext>
            </a:extLst>
          </p:cNvPr>
          <p:cNvSpPr/>
          <p:nvPr/>
        </p:nvSpPr>
        <p:spPr>
          <a:xfrm>
            <a:off x="2072388" y="3577936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írculo parcial 5">
            <a:extLst>
              <a:ext uri="{FF2B5EF4-FFF2-40B4-BE49-F238E27FC236}">
                <a16:creationId xmlns:a16="http://schemas.microsoft.com/office/drawing/2014/main" id="{A6B1ED3D-FC35-4A2C-AEA0-527CA60D93D8}"/>
              </a:ext>
            </a:extLst>
          </p:cNvPr>
          <p:cNvSpPr>
            <a:spLocks noChangeAspect="1"/>
          </p:cNvSpPr>
          <p:nvPr/>
        </p:nvSpPr>
        <p:spPr>
          <a:xfrm rot="10800000">
            <a:off x="-821269" y="574219"/>
            <a:ext cx="2857435" cy="2995143"/>
          </a:xfrm>
          <a:prstGeom prst="pie">
            <a:avLst>
              <a:gd name="adj1" fmla="val 5387486"/>
              <a:gd name="adj2" fmla="val 16200000"/>
            </a:avLst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1EFD23FD-AE29-404D-8F53-1FD009AE807B}"/>
              </a:ext>
            </a:extLst>
          </p:cNvPr>
          <p:cNvGrpSpPr/>
          <p:nvPr/>
        </p:nvGrpSpPr>
        <p:grpSpPr>
          <a:xfrm>
            <a:off x="2087136" y="2123409"/>
            <a:ext cx="1448999" cy="1443249"/>
            <a:chOff x="2118675" y="2004020"/>
            <a:chExt cx="1448999" cy="1443249"/>
          </a:xfrm>
        </p:grpSpPr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ECAC50A2-CB41-4C53-93C3-5260E20DE2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004020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CE6D1487-82A4-4496-B087-91DD796DE7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727269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C95F40AB-463C-4C6E-915C-5D6DF55A45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727269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A7CDF41D-9C35-41E7-8E2B-2AA7C91BEC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004020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3FA7743-AFB1-4869-99F7-BBBF6B5081B5}"/>
              </a:ext>
            </a:extLst>
          </p:cNvPr>
          <p:cNvSpPr/>
          <p:nvPr/>
        </p:nvSpPr>
        <p:spPr>
          <a:xfrm>
            <a:off x="3540368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írculo parcial 18">
            <a:extLst>
              <a:ext uri="{FF2B5EF4-FFF2-40B4-BE49-F238E27FC236}">
                <a16:creationId xmlns:a16="http://schemas.microsoft.com/office/drawing/2014/main" id="{9EEB8DCE-7E2B-489A-B839-B10110611D97}"/>
              </a:ext>
            </a:extLst>
          </p:cNvPr>
          <p:cNvSpPr>
            <a:spLocks noChangeAspect="1"/>
          </p:cNvSpPr>
          <p:nvPr/>
        </p:nvSpPr>
        <p:spPr>
          <a:xfrm>
            <a:off x="3552087" y="5048742"/>
            <a:ext cx="2934000" cy="2934000"/>
          </a:xfrm>
          <a:prstGeom prst="pie">
            <a:avLst>
              <a:gd name="adj1" fmla="val 16202562"/>
              <a:gd name="adj2" fmla="val 1644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0899356"/>
      </p:ext>
    </p:extLst>
  </p:cSld>
  <p:clrMapOvr>
    <a:masterClrMapping/>
  </p:clrMapOvr>
  <p:hf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Diapositiva de títul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53671" y="5579102"/>
            <a:ext cx="4484658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  <a:defRPr sz="2400" i="1">
                <a:solidFill>
                  <a:srgbClr val="648585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882373"/>
      </p:ext>
    </p:extLst>
  </p:cSld>
  <p:clrMapOvr>
    <a:masterClrMapping/>
  </p:clrMapOvr>
  <p:hf hd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userDrawn="1">
  <p:cSld name="Contenido con título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10532507" cy="776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26" name="Google Shape;26;p4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8753475" y="5717000"/>
            <a:ext cx="22666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970058A-F152-4A93-A50A-BC853F5A46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217"/>
          <a:stretch/>
        </p:blipFill>
        <p:spPr>
          <a:xfrm>
            <a:off x="8929708" y="5954450"/>
            <a:ext cx="1856985" cy="464401"/>
          </a:xfrm>
          <a:prstGeom prst="rect">
            <a:avLst/>
          </a:prstGeom>
        </p:spPr>
      </p:pic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31" name="Google Shape;31;p4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Gestión de Servicios TICS</a:t>
            </a: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2396329-D7D9-4B93-942B-A183A1B92B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4783"/>
          <a:stretch/>
        </p:blipFill>
        <p:spPr>
          <a:xfrm>
            <a:off x="7975126" y="5954450"/>
            <a:ext cx="626177" cy="464401"/>
          </a:xfrm>
          <a:prstGeom prst="rect">
            <a:avLst/>
          </a:prstGeom>
        </p:spPr>
      </p:pic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CE1FEC95-F07E-79FB-0DEB-78BF4699C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177"/>
            <a:ext cx="10534095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45372759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Dos objeto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5" name="Google Shape;45;p6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50" name="Google Shape;50;p6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6953784"/>
      </p:ext>
    </p:extLst>
  </p:cSld>
  <p:clrMapOvr>
    <a:masterClrMapping/>
  </p:clrMapOvr>
  <p:hf hd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Imagen con título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53" name="Google Shape;53;p7"/>
          <p:cNvSpPr>
            <a:spLocks noGrp="1"/>
          </p:cNvSpPr>
          <p:nvPr>
            <p:ph type="pic" idx="2"/>
          </p:nvPr>
        </p:nvSpPr>
        <p:spPr>
          <a:xfrm>
            <a:off x="5183200" y="987425"/>
            <a:ext cx="6172200" cy="32043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839800" y="2057400"/>
            <a:ext cx="3932100" cy="23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5" name="Google Shape;55;p7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0" name="Google Shape;60;p7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3300533"/>
      </p:ext>
    </p:extLst>
  </p:cSld>
  <p:clrMapOvr>
    <a:masterClrMapping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Título y texto vertical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 rot="5400000">
            <a:off x="4161556" y="-1497730"/>
            <a:ext cx="386888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4" name="Google Shape;64;p8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9" name="Google Shape;69;p8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9418886"/>
      </p:ext>
    </p:extLst>
  </p:cSld>
  <p:clrMapOvr>
    <a:masterClrMapping/>
  </p:clrMapOvr>
  <p:hf hd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Título vertical y texto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 rot="5400000">
            <a:off x="7363614" y="1726412"/>
            <a:ext cx="5351473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1"/>
          </p:nvPr>
        </p:nvSpPr>
        <p:spPr>
          <a:xfrm rot="5400000">
            <a:off x="2029614" y="-826288"/>
            <a:ext cx="5351473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3" name="Google Shape;73;p9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78" name="Google Shape;78;p9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79055472"/>
      </p:ext>
    </p:extLst>
  </p:cSld>
  <p:clrMapOvr>
    <a:masterClrMapping/>
  </p:clrMapOvr>
  <p:hf hd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 type="obj">
  <p:cSld name="Título y objetos 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2" name="Google Shape;8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83" name="Google Shape;8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84" name="Google Shape;8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35972092"/>
      </p:ext>
    </p:extLst>
  </p:cSld>
  <p:clrMapOvr>
    <a:masterClrMapping/>
  </p:clrMapOvr>
  <p:hf hd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8" name="Google Shape;88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1" name="Google Shape;9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92" name="Google Shape;9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27392898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24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AE6F4FD-2238-AD4E-867E-E58E2DFA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5212"/>
            <a:ext cx="9716589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0C6D7E-5BBC-B741-BB4C-3A3ED127A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3"/>
            <a:ext cx="9716589" cy="3843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2262"/>
            <a:ext cx="1638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616E3388-8A49-4C51-A106-E2F4CF3977CF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6428" y="32226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74F71EA6-14AA-5205-13FE-35911ED08C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17102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4" r:id="rId2"/>
    <p:sldLayoutId id="2147483674" r:id="rId3"/>
    <p:sldLayoutId id="2147483650" r:id="rId4"/>
    <p:sldLayoutId id="2147483652" r:id="rId5"/>
    <p:sldLayoutId id="2147483653" r:id="rId6"/>
    <p:sldLayoutId id="2147483656" r:id="rId7"/>
    <p:sldLayoutId id="2147483657" r:id="rId8"/>
    <p:sldLayoutId id="2147483658" r:id="rId9"/>
    <p:sldLayoutId id="2147483659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4230"/>
            <a:ext cx="1619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9694A8-123C-4838-A10C-DF4D75E09A89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3680" y="32331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título 1">
            <a:extLst>
              <a:ext uri="{FF2B5EF4-FFF2-40B4-BE49-F238E27FC236}">
                <a16:creationId xmlns:a16="http://schemas.microsoft.com/office/drawing/2014/main" id="{144F2274-D960-4C0B-9748-88EE3F0DB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82069"/>
            <a:ext cx="10343606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9D6FEB95-3036-417E-9C50-CD57ED01F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4"/>
            <a:ext cx="10343606" cy="3291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1DCF4E30-8222-0A8A-8EB6-ACF70BC0F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7794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75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3B067A9-18EE-41F0-B696-9386E1AF8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5029"/>
            <a:ext cx="10515600" cy="6456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67C12A-CBBE-4AB2-8C8A-B75DDE302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86189"/>
            <a:ext cx="10515600" cy="3291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C6ED39-B0EA-42B3-A3C3-7CA769E5EA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14064"/>
            <a:ext cx="1524000" cy="3829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8C20A4-1372-4EF1-AE37-02318244F0B2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E1549C-7307-410E-AA79-42C4BDD3FD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2993" y="32298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63B87C3E-7B33-EE8E-E722-04A7DDD4F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91725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77" r:id="rId4"/>
    <p:sldLayoutId id="2147483676" r:id="rId5"/>
    <p:sldLayoutId id="2147483678" r:id="rId6"/>
    <p:sldLayoutId id="2147483661" r:id="rId7"/>
    <p:sldLayoutId id="2147483679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3868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6070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6937256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30.png"/><Relationship Id="rId5" Type="http://schemas.openxmlformats.org/officeDocument/2006/relationships/image" Target="../media/image24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eldung.com/spring-thymeleaf-fragments" TargetMode="External"/><Relationship Id="rId2" Type="http://schemas.openxmlformats.org/officeDocument/2006/relationships/hyperlink" Target="https://www.thymeleaf.org/doc/articles/layouts.html" TargetMode="External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4478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3D70FD-27C7-FE4D-E943-D19EA735D1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Fragmentos </a:t>
            </a:r>
            <a:r>
              <a:rPr lang="es-ES" dirty="0" err="1"/>
              <a:t>Thymeleaf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E3E322E-A2A4-B5C8-6880-94678AB65C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PE" dirty="0"/>
              <a:t>Gestión de Servicios TICS</a:t>
            </a:r>
          </a:p>
        </p:txBody>
      </p:sp>
    </p:spTree>
    <p:extLst>
      <p:ext uri="{BB962C8B-B14F-4D97-AF65-F5344CB8AC3E}">
        <p14:creationId xmlns:p14="http://schemas.microsoft.com/office/powerpoint/2010/main" val="163864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167EFA-3F07-A555-5B6F-13DEF2A02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Fragmentos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94E17EE-E08B-FBB7-D0AB-7846109FAB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6E24AAD-13A5-E40F-1731-DD7598D55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En </a:t>
            </a:r>
            <a:r>
              <a:rPr lang="es-ES" dirty="0" err="1"/>
              <a:t>thymeleaf</a:t>
            </a:r>
            <a:r>
              <a:rPr lang="es-ES" dirty="0"/>
              <a:t>, los fragmentos permiten reutilizar tags </a:t>
            </a:r>
            <a:r>
              <a:rPr lang="es-ES" dirty="0" err="1"/>
              <a:t>html</a:t>
            </a:r>
            <a:r>
              <a:rPr lang="es-ES" dirty="0"/>
              <a:t> definidos en otras páginas.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dirty="0"/>
              <a:t>Su funcionamiento es similar al JSP </a:t>
            </a:r>
            <a:r>
              <a:rPr lang="es-ES" dirty="0" err="1"/>
              <a:t>include</a:t>
            </a:r>
            <a:r>
              <a:rPr lang="es-ES" dirty="0"/>
              <a:t> (de software 1).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dirty="0"/>
              <a:t>Permite insertar (</a:t>
            </a:r>
            <a:r>
              <a:rPr lang="es-ES" b="1" dirty="0" err="1"/>
              <a:t>th:insert</a:t>
            </a:r>
            <a:r>
              <a:rPr lang="es-ES" dirty="0"/>
              <a:t>) y reemplazar (</a:t>
            </a:r>
            <a:r>
              <a:rPr lang="es-ES" b="1" dirty="0" err="1"/>
              <a:t>th:replace</a:t>
            </a:r>
            <a:r>
              <a:rPr lang="es-ES" dirty="0"/>
              <a:t>) porciones de código HTML e inclusive se puede enviar parámetros para hacer dinámico el fragmento.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07944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A18BA0-9058-DD41-E49C-05A9259AC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Th:insert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E32C677-0F08-A88C-FFF7-CFD5DCEA9F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3D6F54C-88EF-8CE4-4C23-7C169415C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Permite insertar un pedazo de código HTML en una página.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dirty="0"/>
              <a:t>Por ejemplo: Suponga que tiene 3 paginas y todas tienen el mismo título &lt;h1&gt;</a:t>
            </a:r>
          </a:p>
          <a:p>
            <a:endParaRPr lang="es-PE" dirty="0"/>
          </a:p>
        </p:txBody>
      </p:sp>
      <p:pic>
        <p:nvPicPr>
          <p:cNvPr id="5" name="Google Shape;85;p15">
            <a:extLst>
              <a:ext uri="{FF2B5EF4-FFF2-40B4-BE49-F238E27FC236}">
                <a16:creationId xmlns:a16="http://schemas.microsoft.com/office/drawing/2014/main" id="{D126320F-1CD4-F86D-9413-C735E3A77EF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29382" y="3144223"/>
            <a:ext cx="3397850" cy="148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86;p15">
            <a:extLst>
              <a:ext uri="{FF2B5EF4-FFF2-40B4-BE49-F238E27FC236}">
                <a16:creationId xmlns:a16="http://schemas.microsoft.com/office/drawing/2014/main" id="{04089459-BF1D-4CB1-0A05-43F99D9A617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8562" y="3144217"/>
            <a:ext cx="2011475" cy="1116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03727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4D083-CE8F-B960-45A6-FA19305EA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Th:insert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FABF5A5-4AE4-FACC-AED1-C07C08D3D6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5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AFD68EE-7D83-460D-08BC-44724D0C1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Se extrae el texto que se desea reutilizar y se coloca en un nuevo </a:t>
            </a:r>
            <a:r>
              <a:rPr lang="es-ES" dirty="0" err="1"/>
              <a:t>html</a:t>
            </a:r>
            <a:r>
              <a:rPr lang="es-ES" dirty="0"/>
              <a:t>. En este ejemplo se llamará </a:t>
            </a:r>
            <a:r>
              <a:rPr lang="es-ES" b="1" dirty="0"/>
              <a:t>general.html</a:t>
            </a:r>
            <a:r>
              <a:rPr lang="es-ES" dirty="0"/>
              <a:t>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dirty="0"/>
              <a:t>Este nuevo HTML puede tener o no estilos, pero debe estar dentro de un </a:t>
            </a:r>
            <a:r>
              <a:rPr lang="es-ES" dirty="0" err="1"/>
              <a:t>html</a:t>
            </a:r>
            <a:r>
              <a:rPr lang="es-ES" dirty="0"/>
              <a:t> y un </a:t>
            </a:r>
            <a:r>
              <a:rPr lang="es-ES" dirty="0" err="1"/>
              <a:t>body</a:t>
            </a:r>
            <a:r>
              <a:rPr lang="es-ES" dirty="0"/>
              <a:t>.</a:t>
            </a:r>
          </a:p>
          <a:p>
            <a:endParaRPr lang="es-PE" dirty="0"/>
          </a:p>
        </p:txBody>
      </p:sp>
      <p:pic>
        <p:nvPicPr>
          <p:cNvPr id="5" name="Google Shape;94;p16">
            <a:extLst>
              <a:ext uri="{FF2B5EF4-FFF2-40B4-BE49-F238E27FC236}">
                <a16:creationId xmlns:a16="http://schemas.microsoft.com/office/drawing/2014/main" id="{9A6FCCDF-263C-81DF-14E8-FE332DD5CA9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9887" y="3769672"/>
            <a:ext cx="1800225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95;p16">
            <a:extLst>
              <a:ext uri="{FF2B5EF4-FFF2-40B4-BE49-F238E27FC236}">
                <a16:creationId xmlns:a16="http://schemas.microsoft.com/office/drawing/2014/main" id="{E04478AC-F574-3ED3-289A-478953474B1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7287" y="3369622"/>
            <a:ext cx="5772150" cy="1981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67441-B8AF-D4C7-CE45-155545480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B87075-349B-042F-EA96-3842F4433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Th:fragment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C84B34C-D2A7-4323-CE83-0A2ADAAF58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6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1AEE846-4C5D-708F-9AC9-03D3622B5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Para indicarle a </a:t>
            </a:r>
            <a:r>
              <a:rPr lang="es-ES" dirty="0" err="1"/>
              <a:t>Thymeleaf</a:t>
            </a:r>
            <a:r>
              <a:rPr lang="es-ES" dirty="0"/>
              <a:t> que una porción del HTML se reutilizará, se le declara como </a:t>
            </a:r>
            <a:r>
              <a:rPr lang="es-ES" b="1" dirty="0" err="1"/>
              <a:t>th:fragment</a:t>
            </a:r>
            <a:r>
              <a:rPr lang="es-ES" dirty="0"/>
              <a:t> y se le especifica un nombre.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dirty="0"/>
              <a:t>Para poder usar el fragmento h1, es necesario llamarlo por su nombre “titulo”</a:t>
            </a:r>
            <a:endParaRPr lang="es-PE" dirty="0"/>
          </a:p>
        </p:txBody>
      </p:sp>
      <p:pic>
        <p:nvPicPr>
          <p:cNvPr id="5" name="Google Shape;103;p17">
            <a:extLst>
              <a:ext uri="{FF2B5EF4-FFF2-40B4-BE49-F238E27FC236}">
                <a16:creationId xmlns:a16="http://schemas.microsoft.com/office/drawing/2014/main" id="{B3B44148-3427-3D94-9992-8143D00A770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11571" y="2471736"/>
            <a:ext cx="5181600" cy="19145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70281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8ACF7-D477-7920-1EED-5275D1BD0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92E586-F4B0-C034-B1CB-92EC72C4D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Th:insert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F06FE5F-2EDB-349B-AF33-3EBACF08AD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7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C9A912C-F3C8-ED1D-8F56-BECC5DEFC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Para usar el código en la página: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dirty="0"/>
              <a:t>→ </a:t>
            </a:r>
            <a:r>
              <a:rPr lang="es-ES" dirty="0" err="1"/>
              <a:t>th:insert</a:t>
            </a:r>
            <a:r>
              <a:rPr lang="es-ES" dirty="0"/>
              <a:t>=”</a:t>
            </a:r>
            <a:r>
              <a:rPr lang="es-ES" b="1" dirty="0"/>
              <a:t>~{</a:t>
            </a:r>
            <a:r>
              <a:rPr lang="es-ES" dirty="0"/>
              <a:t>archivo :: nombre de la etiqueta</a:t>
            </a:r>
            <a:r>
              <a:rPr lang="es-ES" b="1" dirty="0"/>
              <a:t>}</a:t>
            </a:r>
            <a:r>
              <a:rPr lang="es-ES" dirty="0"/>
              <a:t>”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b="1" dirty="0"/>
              <a:t>Antes: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800" b="1" dirty="0"/>
          </a:p>
          <a:p>
            <a:pPr marL="0" lvl="0" indent="0">
              <a:spcBef>
                <a:spcPts val="1600"/>
              </a:spcBef>
              <a:buNone/>
            </a:pPr>
            <a:endParaRPr lang="es-ES" b="1" dirty="0"/>
          </a:p>
          <a:p>
            <a:pPr marL="0" lvl="0" indent="0">
              <a:spcBef>
                <a:spcPts val="1600"/>
              </a:spcBef>
              <a:buNone/>
            </a:pPr>
            <a:endParaRPr lang="es-ES" b="1" dirty="0"/>
          </a:p>
          <a:p>
            <a:pPr marL="0" lvl="0" indent="0">
              <a:spcBef>
                <a:spcPts val="1600"/>
              </a:spcBef>
              <a:buNone/>
            </a:pPr>
            <a:endParaRPr lang="es-ES" b="1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b="1" dirty="0"/>
              <a:t>Ahora:</a:t>
            </a:r>
          </a:p>
          <a:p>
            <a:endParaRPr lang="es-PE" dirty="0"/>
          </a:p>
        </p:txBody>
      </p:sp>
      <p:pic>
        <p:nvPicPr>
          <p:cNvPr id="7" name="Google Shape;112;p18">
            <a:extLst>
              <a:ext uri="{FF2B5EF4-FFF2-40B4-BE49-F238E27FC236}">
                <a16:creationId xmlns:a16="http://schemas.microsoft.com/office/drawing/2014/main" id="{5FC6938B-2DF8-A53F-13EE-62E500EDC9B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26177"/>
          <a:stretch/>
        </p:blipFill>
        <p:spPr>
          <a:xfrm>
            <a:off x="2097548" y="2579712"/>
            <a:ext cx="4143622" cy="146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09;p18">
            <a:extLst>
              <a:ext uri="{FF2B5EF4-FFF2-40B4-BE49-F238E27FC236}">
                <a16:creationId xmlns:a16="http://schemas.microsoft.com/office/drawing/2014/main" id="{95079271-4804-D0DC-1101-16F4A445D51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7548" y="4472179"/>
            <a:ext cx="4897243" cy="120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13;p18">
            <a:extLst>
              <a:ext uri="{FF2B5EF4-FFF2-40B4-BE49-F238E27FC236}">
                <a16:creationId xmlns:a16="http://schemas.microsoft.com/office/drawing/2014/main" id="{8E05C82E-051F-ED76-EC59-638793D900A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27674" y="424908"/>
            <a:ext cx="4695825" cy="1428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" name="Google Shape;118;p18">
            <a:extLst>
              <a:ext uri="{FF2B5EF4-FFF2-40B4-BE49-F238E27FC236}">
                <a16:creationId xmlns:a16="http://schemas.microsoft.com/office/drawing/2014/main" id="{AA5D4DE2-64CA-49B0-8925-3F905AB6FDD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953345" y="1901914"/>
            <a:ext cx="4530401" cy="2041806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" name="Google Shape;119;p18">
            <a:extLst>
              <a:ext uri="{FF2B5EF4-FFF2-40B4-BE49-F238E27FC236}">
                <a16:creationId xmlns:a16="http://schemas.microsoft.com/office/drawing/2014/main" id="{71BB88AC-5B7E-9178-A0FD-1811A85EE110}"/>
              </a:ext>
            </a:extLst>
          </p:cNvPr>
          <p:cNvCxnSpPr>
            <a:cxnSpLocks/>
          </p:cNvCxnSpPr>
          <p:nvPr/>
        </p:nvCxnSpPr>
        <p:spPr>
          <a:xfrm flipV="1">
            <a:off x="5958041" y="1853659"/>
            <a:ext cx="3638109" cy="3334359"/>
          </a:xfrm>
          <a:prstGeom prst="curvedConnector3">
            <a:avLst>
              <a:gd name="adj1" fmla="val 41269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33580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B4296-FD4E-B8EF-EDAC-D0288158D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77992A-E786-DBBF-CAEE-4680902FB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Resultado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81F1331-84C8-3C19-D0D5-909972EB55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8</a:t>
            </a:fld>
            <a:endParaRPr lang="es-PE"/>
          </a:p>
        </p:txBody>
      </p:sp>
      <p:pic>
        <p:nvPicPr>
          <p:cNvPr id="5" name="Google Shape;126;p19">
            <a:extLst>
              <a:ext uri="{FF2B5EF4-FFF2-40B4-BE49-F238E27FC236}">
                <a16:creationId xmlns:a16="http://schemas.microsoft.com/office/drawing/2014/main" id="{BEB517ED-6119-A549-5A1A-5CA07AB7C1A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70945" y="1670667"/>
            <a:ext cx="6619375" cy="198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27;p19">
            <a:extLst>
              <a:ext uri="{FF2B5EF4-FFF2-40B4-BE49-F238E27FC236}">
                <a16:creationId xmlns:a16="http://schemas.microsoft.com/office/drawing/2014/main" id="{4B7D4084-A76D-405D-3704-C958A3689FF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9443" y="4039567"/>
            <a:ext cx="2580950" cy="16687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15146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66E1B-6E8B-569F-F649-FB76280FB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8C8C5A-ADCC-6380-AAA6-CAA560F8B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Th:replace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8D8C7DE-41B4-843F-5DFA-E1D75C338B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9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D59D7D8-2B73-CEC6-1D4F-75D72F746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Tiene un funcionamiento similar a </a:t>
            </a:r>
            <a:r>
              <a:rPr lang="es-ES" dirty="0" err="1"/>
              <a:t>th:insert</a:t>
            </a:r>
            <a:r>
              <a:rPr lang="es-ES" dirty="0"/>
              <a:t>; sin embargo, permite reemplazar el contenido de la etiqueta por el seleccionado.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dirty="0"/>
              <a:t>La sintaxis de uso es la misma que </a:t>
            </a:r>
            <a:r>
              <a:rPr lang="es-ES" dirty="0" err="1"/>
              <a:t>th:insert</a:t>
            </a:r>
            <a:r>
              <a:rPr lang="es-ES" dirty="0"/>
              <a:t>=”~{página :: </a:t>
            </a:r>
            <a:r>
              <a:rPr lang="es-ES" dirty="0" err="1"/>
              <a:t>elementoAinsertar</a:t>
            </a:r>
            <a:r>
              <a:rPr lang="es-ES" dirty="0"/>
              <a:t>}”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518303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CF5F0-1A4B-E14B-CEE6-0C0A5B134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FA65C7-724D-C96F-46E4-0CCE128A8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Th:replace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F249A8D-F94A-E84A-0DA3-ABF25B79EA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10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92BE160-0B5C-0712-8B6C-13F726131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En el ejemplo anterior si utiliza </a:t>
            </a:r>
            <a:r>
              <a:rPr lang="es-ES" dirty="0" err="1"/>
              <a:t>th:replace</a:t>
            </a:r>
            <a:r>
              <a:rPr lang="es-ES" dirty="0"/>
              <a:t> en vez de </a:t>
            </a:r>
            <a:r>
              <a:rPr lang="es-ES" dirty="0" err="1"/>
              <a:t>th:insert</a:t>
            </a:r>
            <a:r>
              <a:rPr lang="es-ES" dirty="0"/>
              <a:t>, observe los resultados.</a:t>
            </a:r>
          </a:p>
          <a:p>
            <a:endParaRPr lang="es-PE" dirty="0"/>
          </a:p>
        </p:txBody>
      </p:sp>
      <p:pic>
        <p:nvPicPr>
          <p:cNvPr id="5" name="Google Shape;142;p21">
            <a:extLst>
              <a:ext uri="{FF2B5EF4-FFF2-40B4-BE49-F238E27FC236}">
                <a16:creationId xmlns:a16="http://schemas.microsoft.com/office/drawing/2014/main" id="{47CF9214-7BC0-2438-BC88-E387D179D00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1048" t="47228" b="18989"/>
          <a:stretch/>
        </p:blipFill>
        <p:spPr>
          <a:xfrm>
            <a:off x="1612880" y="4662118"/>
            <a:ext cx="4323950" cy="69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43;p21">
            <a:extLst>
              <a:ext uri="{FF2B5EF4-FFF2-40B4-BE49-F238E27FC236}">
                <a16:creationId xmlns:a16="http://schemas.microsoft.com/office/drawing/2014/main" id="{803CE43F-15AD-4147-54BA-1E72E3DAA43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42" y="2442420"/>
            <a:ext cx="4153225" cy="15345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44;p21">
            <a:extLst>
              <a:ext uri="{FF2B5EF4-FFF2-40B4-BE49-F238E27FC236}">
                <a16:creationId xmlns:a16="http://schemas.microsoft.com/office/drawing/2014/main" id="{93748F01-AEAB-EFEC-9493-5DBB97E55F77}"/>
              </a:ext>
            </a:extLst>
          </p:cNvPr>
          <p:cNvSpPr/>
          <p:nvPr/>
        </p:nvSpPr>
        <p:spPr>
          <a:xfrm>
            <a:off x="5467973" y="2125595"/>
            <a:ext cx="1272461" cy="219000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/>
              <a:t>FRAGMENTO</a:t>
            </a:r>
            <a:endParaRPr sz="1200" dirty="0"/>
          </a:p>
        </p:txBody>
      </p:sp>
      <p:pic>
        <p:nvPicPr>
          <p:cNvPr id="8" name="Google Shape;145;p21">
            <a:extLst>
              <a:ext uri="{FF2B5EF4-FFF2-40B4-BE49-F238E27FC236}">
                <a16:creationId xmlns:a16="http://schemas.microsoft.com/office/drawing/2014/main" id="{F5D66D32-0F8B-ED90-1870-C68DAE74FDF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3155" y="4660387"/>
            <a:ext cx="4219575" cy="695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Google Shape;146;p21">
            <a:extLst>
              <a:ext uri="{FF2B5EF4-FFF2-40B4-BE49-F238E27FC236}">
                <a16:creationId xmlns:a16="http://schemas.microsoft.com/office/drawing/2014/main" id="{1DE66B44-6F4F-9B7E-FC40-4B5275246718}"/>
              </a:ext>
            </a:extLst>
          </p:cNvPr>
          <p:cNvCxnSpPr/>
          <p:nvPr/>
        </p:nvCxnSpPr>
        <p:spPr>
          <a:xfrm>
            <a:off x="6040755" y="4313718"/>
            <a:ext cx="0" cy="1741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Google Shape;147;p21">
            <a:extLst>
              <a:ext uri="{FF2B5EF4-FFF2-40B4-BE49-F238E27FC236}">
                <a16:creationId xmlns:a16="http://schemas.microsoft.com/office/drawing/2014/main" id="{FE65738B-B153-040E-65E9-02B28E1A7358}"/>
              </a:ext>
            </a:extLst>
          </p:cNvPr>
          <p:cNvSpPr/>
          <p:nvPr/>
        </p:nvSpPr>
        <p:spPr>
          <a:xfrm>
            <a:off x="2742905" y="5017093"/>
            <a:ext cx="207600" cy="2766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1" name="Google Shape;148;p21">
            <a:extLst>
              <a:ext uri="{FF2B5EF4-FFF2-40B4-BE49-F238E27FC236}">
                <a16:creationId xmlns:a16="http://schemas.microsoft.com/office/drawing/2014/main" id="{2AA48A22-12EC-2D0B-99D2-06EA20B3DD8C}"/>
              </a:ext>
            </a:extLst>
          </p:cNvPr>
          <p:cNvSpPr/>
          <p:nvPr/>
        </p:nvSpPr>
        <p:spPr>
          <a:xfrm>
            <a:off x="7311630" y="5017093"/>
            <a:ext cx="207600" cy="2766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371798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B0E9B-97AC-A72A-6958-027794C6E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E8CCB3-6A97-061D-7E6F-3A3238E46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Resultado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6CF49B4-0CA5-ADB6-45A6-88B4A57AE4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11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3DEFD02-9B04-8715-BBCC-05E1C1590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>
                <a:latin typeface="Open Sans"/>
                <a:ea typeface="Open Sans"/>
                <a:cs typeface="Open Sans"/>
                <a:sym typeface="Open Sans"/>
              </a:rPr>
              <a:t>th:replace</a:t>
            </a:r>
            <a:r>
              <a:rPr lang="es-ES" dirty="0">
                <a:latin typeface="Open Sans"/>
                <a:ea typeface="Open Sans"/>
                <a:cs typeface="Open Sans"/>
                <a:sym typeface="Open Sans"/>
              </a:rPr>
              <a:t> reemplaza el elemento donde se invoca; mientras que </a:t>
            </a:r>
            <a:r>
              <a:rPr lang="es-ES" dirty="0" err="1">
                <a:latin typeface="Open Sans"/>
                <a:ea typeface="Open Sans"/>
                <a:cs typeface="Open Sans"/>
                <a:sym typeface="Open Sans"/>
              </a:rPr>
              <a:t>th:insert</a:t>
            </a:r>
            <a:r>
              <a:rPr lang="es-ES" dirty="0">
                <a:latin typeface="Open Sans"/>
                <a:ea typeface="Open Sans"/>
                <a:cs typeface="Open Sans"/>
                <a:sym typeface="Open Sans"/>
              </a:rPr>
              <a:t>, inserta como un hijo el elemento indicado.</a:t>
            </a:r>
          </a:p>
          <a:p>
            <a:endParaRPr lang="es-PE" dirty="0"/>
          </a:p>
        </p:txBody>
      </p:sp>
      <p:pic>
        <p:nvPicPr>
          <p:cNvPr id="5" name="Google Shape;155;p22">
            <a:extLst>
              <a:ext uri="{FF2B5EF4-FFF2-40B4-BE49-F238E27FC236}">
                <a16:creationId xmlns:a16="http://schemas.microsoft.com/office/drawing/2014/main" id="{8E87AE34-CC12-D23B-F782-052A089326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1048" t="47228" b="18989"/>
          <a:stretch/>
        </p:blipFill>
        <p:spPr>
          <a:xfrm>
            <a:off x="1602539" y="2973503"/>
            <a:ext cx="4323950" cy="69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56;p22">
            <a:extLst>
              <a:ext uri="{FF2B5EF4-FFF2-40B4-BE49-F238E27FC236}">
                <a16:creationId xmlns:a16="http://schemas.microsoft.com/office/drawing/2014/main" id="{BDDD9E2C-B14E-49B1-5F8D-2BE33E01985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2814" y="2971772"/>
            <a:ext cx="4219575" cy="695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Google Shape;157;p22">
            <a:extLst>
              <a:ext uri="{FF2B5EF4-FFF2-40B4-BE49-F238E27FC236}">
                <a16:creationId xmlns:a16="http://schemas.microsoft.com/office/drawing/2014/main" id="{B4B3CFF6-0FDB-4892-26B4-67859CA6428E}"/>
              </a:ext>
            </a:extLst>
          </p:cNvPr>
          <p:cNvCxnSpPr/>
          <p:nvPr/>
        </p:nvCxnSpPr>
        <p:spPr>
          <a:xfrm>
            <a:off x="6030414" y="2625103"/>
            <a:ext cx="0" cy="1741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Google Shape;158;p22">
            <a:extLst>
              <a:ext uri="{FF2B5EF4-FFF2-40B4-BE49-F238E27FC236}">
                <a16:creationId xmlns:a16="http://schemas.microsoft.com/office/drawing/2014/main" id="{A91CE8DE-CDF9-CB41-B9CF-AB522D5BB8AB}"/>
              </a:ext>
            </a:extLst>
          </p:cNvPr>
          <p:cNvSpPr/>
          <p:nvPr/>
        </p:nvSpPr>
        <p:spPr>
          <a:xfrm>
            <a:off x="7301289" y="3328478"/>
            <a:ext cx="207600" cy="2766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59;p22">
            <a:extLst>
              <a:ext uri="{FF2B5EF4-FFF2-40B4-BE49-F238E27FC236}">
                <a16:creationId xmlns:a16="http://schemas.microsoft.com/office/drawing/2014/main" id="{C9753F63-66CF-0AAF-1304-FA3E6FC3526F}"/>
              </a:ext>
            </a:extLst>
          </p:cNvPr>
          <p:cNvSpPr/>
          <p:nvPr/>
        </p:nvSpPr>
        <p:spPr>
          <a:xfrm>
            <a:off x="2732564" y="3328478"/>
            <a:ext cx="207600" cy="2766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Google Shape;160;p22">
            <a:extLst>
              <a:ext uri="{FF2B5EF4-FFF2-40B4-BE49-F238E27FC236}">
                <a16:creationId xmlns:a16="http://schemas.microsoft.com/office/drawing/2014/main" id="{53ED007D-51F7-89C6-0027-7355C8F124C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7701" y="4023803"/>
            <a:ext cx="220980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61;p22">
            <a:extLst>
              <a:ext uri="{FF2B5EF4-FFF2-40B4-BE49-F238E27FC236}">
                <a16:creationId xmlns:a16="http://schemas.microsoft.com/office/drawing/2014/main" id="{E36C01F2-8D22-B48D-7734-997B5A69387B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31514" y="4102979"/>
            <a:ext cx="2162175" cy="1028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7479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C803B-1D40-E282-95E6-F0A80B116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1056FA-DABD-2CCE-5270-FFDC734ED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Envío de parámetros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DA40F3E-88EF-E11C-1CF9-CD07716339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12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F3CC026-F056-E4CD-5D31-96F83E1BE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/>
              <a:t>También es posible enviarle parámetros a los fragmentos. Para que esto funcione, deben ser declarados como funciones, con sus respectivos parámetros de entrada (los cuales también pueden ser objetos).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2000" b="1" dirty="0"/>
              <a:t>Por ejemplo</a:t>
            </a:r>
            <a:r>
              <a:rPr lang="es-ES" sz="2000" dirty="0"/>
              <a:t>, en base a sus 3 páginas (del ejemplo anterior), desea reutilizar toda la cabecera pero cambiar el texto del título</a:t>
            </a:r>
          </a:p>
          <a:p>
            <a:endParaRPr lang="es-PE" sz="2000" dirty="0"/>
          </a:p>
        </p:txBody>
      </p:sp>
      <p:pic>
        <p:nvPicPr>
          <p:cNvPr id="5" name="Google Shape;170;p23">
            <a:extLst>
              <a:ext uri="{FF2B5EF4-FFF2-40B4-BE49-F238E27FC236}">
                <a16:creationId xmlns:a16="http://schemas.microsoft.com/office/drawing/2014/main" id="{65587CB4-C952-A6B9-E3AC-00521993A3A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28166"/>
          <a:stretch/>
        </p:blipFill>
        <p:spPr>
          <a:xfrm>
            <a:off x="3739213" y="3193395"/>
            <a:ext cx="5386601" cy="259640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71;p23">
            <a:extLst>
              <a:ext uri="{FF2B5EF4-FFF2-40B4-BE49-F238E27FC236}">
                <a16:creationId xmlns:a16="http://schemas.microsoft.com/office/drawing/2014/main" id="{1EB7082C-52AE-00CE-FEC8-AB4FC02CDD06}"/>
              </a:ext>
            </a:extLst>
          </p:cNvPr>
          <p:cNvSpPr/>
          <p:nvPr/>
        </p:nvSpPr>
        <p:spPr>
          <a:xfrm>
            <a:off x="3931038" y="3696101"/>
            <a:ext cx="115200" cy="795498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7" name="Google Shape;172;p23">
            <a:extLst>
              <a:ext uri="{FF2B5EF4-FFF2-40B4-BE49-F238E27FC236}">
                <a16:creationId xmlns:a16="http://schemas.microsoft.com/office/drawing/2014/main" id="{D1145338-B2D0-E884-FB08-B2C47C480291}"/>
              </a:ext>
            </a:extLst>
          </p:cNvPr>
          <p:cNvSpPr/>
          <p:nvPr/>
        </p:nvSpPr>
        <p:spPr>
          <a:xfrm>
            <a:off x="3087313" y="3971374"/>
            <a:ext cx="795600" cy="230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8" name="Google Shape;173;p23">
            <a:extLst>
              <a:ext uri="{FF2B5EF4-FFF2-40B4-BE49-F238E27FC236}">
                <a16:creationId xmlns:a16="http://schemas.microsoft.com/office/drawing/2014/main" id="{AF8CF923-DF28-7856-1BEE-610CE8C0802D}"/>
              </a:ext>
            </a:extLst>
          </p:cNvPr>
          <p:cNvSpPr txBox="1"/>
          <p:nvPr/>
        </p:nvSpPr>
        <p:spPr>
          <a:xfrm>
            <a:off x="1878488" y="3891599"/>
            <a:ext cx="11877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latin typeface="Open Sans"/>
                <a:ea typeface="Open Sans"/>
                <a:cs typeface="Open Sans"/>
                <a:sym typeface="Open Sans"/>
              </a:rPr>
              <a:t>Segmento a reutilizar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81036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D37ED-94AE-73BA-92C0-09CCAC6A5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97605-A9A4-5C4E-4322-B39F007C6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Fragmento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5F674CD-D345-97EC-C31B-7496C82E11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DCD7170-7E01-C9FE-F078-CDE57F5A8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1800" dirty="0"/>
              <a:t>Se extraen los tags y se colocan en un archivo externo, igual que para el ejercicio 1. En este caso, recibiremos un parámetro, “titulo” y se colocará en la etiqueta &lt;</a:t>
            </a:r>
            <a:r>
              <a:rPr lang="es-ES" sz="1800" dirty="0" err="1"/>
              <a:t>title</a:t>
            </a:r>
            <a:r>
              <a:rPr lang="es-ES" sz="1800" dirty="0"/>
              <a:t>&gt; con </a:t>
            </a:r>
            <a:r>
              <a:rPr lang="es-ES" sz="1800" b="1" dirty="0" err="1"/>
              <a:t>th:text</a:t>
            </a:r>
            <a:r>
              <a:rPr lang="es-ES" sz="1800" dirty="0"/>
              <a:t>.</a:t>
            </a:r>
          </a:p>
          <a:p>
            <a:endParaRPr lang="es-PE" dirty="0"/>
          </a:p>
        </p:txBody>
      </p:sp>
      <p:pic>
        <p:nvPicPr>
          <p:cNvPr id="5" name="Google Shape;181;p24">
            <a:extLst>
              <a:ext uri="{FF2B5EF4-FFF2-40B4-BE49-F238E27FC236}">
                <a16:creationId xmlns:a16="http://schemas.microsoft.com/office/drawing/2014/main" id="{6ACD98AF-2C77-FE3D-E79E-637CF058DDE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93694" y="2320877"/>
            <a:ext cx="7477125" cy="3095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Google Shape;185;p24">
            <a:extLst>
              <a:ext uri="{FF2B5EF4-FFF2-40B4-BE49-F238E27FC236}">
                <a16:creationId xmlns:a16="http://schemas.microsoft.com/office/drawing/2014/main" id="{E7BD3FFE-BD04-9184-7C16-7290C32CC0E6}"/>
              </a:ext>
            </a:extLst>
          </p:cNvPr>
          <p:cNvCxnSpPr/>
          <p:nvPr/>
        </p:nvCxnSpPr>
        <p:spPr>
          <a:xfrm rot="-5400000">
            <a:off x="5022794" y="3464389"/>
            <a:ext cx="996300" cy="451800"/>
          </a:xfrm>
          <a:prstGeom prst="curvedConnector3">
            <a:avLst>
              <a:gd name="adj1" fmla="val 49999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953688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F6AFE-FD75-8D18-EFC5-16588D669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CCBD27-6D69-C54D-2D5B-CC03A493E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Usando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0A79C9F-1F53-D2EB-D805-4AC42012B3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B4C8804-9753-0FE0-331F-4DE750CE1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419" b="1" dirty="0"/>
              <a:t>Antes</a:t>
            </a:r>
            <a:r>
              <a:rPr lang="es-419" dirty="0"/>
              <a:t>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419" dirty="0"/>
          </a:p>
          <a:p>
            <a:pPr marL="0" lvl="0" indent="0">
              <a:spcBef>
                <a:spcPts val="1600"/>
              </a:spcBef>
              <a:buNone/>
            </a:pPr>
            <a:endParaRPr lang="es-419" dirty="0"/>
          </a:p>
          <a:p>
            <a:pPr marL="0" lvl="0" indent="0">
              <a:spcBef>
                <a:spcPts val="1600"/>
              </a:spcBef>
              <a:buNone/>
            </a:pPr>
            <a:endParaRPr lang="es-419" dirty="0"/>
          </a:p>
          <a:p>
            <a:pPr marL="0" lvl="0" indent="0">
              <a:spcBef>
                <a:spcPts val="1600"/>
              </a:spcBef>
              <a:buNone/>
            </a:pPr>
            <a:endParaRPr lang="es-419" sz="1400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419" b="1" dirty="0"/>
              <a:t>Ahora</a:t>
            </a:r>
            <a:r>
              <a:rPr lang="es-419" dirty="0"/>
              <a:t>:</a:t>
            </a:r>
          </a:p>
          <a:p>
            <a:endParaRPr lang="es-PE" dirty="0"/>
          </a:p>
        </p:txBody>
      </p:sp>
      <p:pic>
        <p:nvPicPr>
          <p:cNvPr id="5" name="Google Shape;193;p25">
            <a:extLst>
              <a:ext uri="{FF2B5EF4-FFF2-40B4-BE49-F238E27FC236}">
                <a16:creationId xmlns:a16="http://schemas.microsoft.com/office/drawing/2014/main" id="{A83A957B-3D59-9397-C504-0D1BAA434B2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66949" y="1762236"/>
            <a:ext cx="5086350" cy="20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94;p25">
            <a:extLst>
              <a:ext uri="{FF2B5EF4-FFF2-40B4-BE49-F238E27FC236}">
                <a16:creationId xmlns:a16="http://schemas.microsoft.com/office/drawing/2014/main" id="{2D58A02C-654E-2641-5E6B-70E94BE849B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0318" y="4506324"/>
            <a:ext cx="6467475" cy="952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62950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F5264-6777-D31E-CC15-12E6F16C0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055E97-3B02-1246-03E6-5305D60A8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Objetos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0218448-3406-FF7B-31CA-9934124DF7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15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0CE68DC-2F2C-50CC-1062-B4CB96E98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También es posible realizarlo con objetos:</a:t>
            </a:r>
          </a:p>
          <a:p>
            <a:endParaRPr lang="es-PE" dirty="0"/>
          </a:p>
        </p:txBody>
      </p:sp>
      <p:pic>
        <p:nvPicPr>
          <p:cNvPr id="5" name="Google Shape;202;p26">
            <a:extLst>
              <a:ext uri="{FF2B5EF4-FFF2-40B4-BE49-F238E27FC236}">
                <a16:creationId xmlns:a16="http://schemas.microsoft.com/office/drawing/2014/main" id="{07D98F19-BA02-606B-629A-1F5FF310E53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80326" y="2199884"/>
            <a:ext cx="3313175" cy="104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03;p26">
            <a:extLst>
              <a:ext uri="{FF2B5EF4-FFF2-40B4-BE49-F238E27FC236}">
                <a16:creationId xmlns:a16="http://schemas.microsoft.com/office/drawing/2014/main" id="{F5D6B626-D76E-52A7-AA1B-F35A64EC3B1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4664" y="2199884"/>
            <a:ext cx="2867025" cy="133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oogle Shape;204;p26">
            <a:extLst>
              <a:ext uri="{FF2B5EF4-FFF2-40B4-BE49-F238E27FC236}">
                <a16:creationId xmlns:a16="http://schemas.microsoft.com/office/drawing/2014/main" id="{C97F0DF1-5BB3-5BC4-6C50-9AD550FFE0A1}"/>
              </a:ext>
            </a:extLst>
          </p:cNvPr>
          <p:cNvGrpSpPr/>
          <p:nvPr/>
        </p:nvGrpSpPr>
        <p:grpSpPr>
          <a:xfrm>
            <a:off x="1864388" y="4131109"/>
            <a:ext cx="3745050" cy="645050"/>
            <a:chOff x="602100" y="4595600"/>
            <a:chExt cx="3745050" cy="645050"/>
          </a:xfrm>
        </p:grpSpPr>
        <p:pic>
          <p:nvPicPr>
            <p:cNvPr id="8" name="Google Shape;205;p26">
              <a:extLst>
                <a:ext uri="{FF2B5EF4-FFF2-40B4-BE49-F238E27FC236}">
                  <a16:creationId xmlns:a16="http://schemas.microsoft.com/office/drawing/2014/main" id="{2581FE06-FA88-F7D7-4FEE-F683A08A0263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02100" y="4595600"/>
              <a:ext cx="3745050" cy="645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206;p26">
              <a:extLst>
                <a:ext uri="{FF2B5EF4-FFF2-40B4-BE49-F238E27FC236}">
                  <a16:creationId xmlns:a16="http://schemas.microsoft.com/office/drawing/2014/main" id="{B0BC6F6D-024F-6CE3-AE07-682791751515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 l="37838" t="60452" r="53235" b="38243"/>
            <a:stretch/>
          </p:blipFill>
          <p:spPr>
            <a:xfrm>
              <a:off x="2982200" y="4964000"/>
              <a:ext cx="530425" cy="40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207;p26">
              <a:extLst>
                <a:ext uri="{FF2B5EF4-FFF2-40B4-BE49-F238E27FC236}">
                  <a16:creationId xmlns:a16="http://schemas.microsoft.com/office/drawing/2014/main" id="{67883F21-FCEE-EEBC-0C38-05FC6D289A50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 l="37838" t="60452" r="53235" b="38243"/>
            <a:stretch/>
          </p:blipFill>
          <p:spPr>
            <a:xfrm>
              <a:off x="2346525" y="4964000"/>
              <a:ext cx="566101" cy="40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208;p26">
              <a:extLst>
                <a:ext uri="{FF2B5EF4-FFF2-40B4-BE49-F238E27FC236}">
                  <a16:creationId xmlns:a16="http://schemas.microsoft.com/office/drawing/2014/main" id="{8C4284C3-0E6F-AF90-EECB-197F2FC80713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 l="37838" t="60452" r="53235" b="38243"/>
            <a:stretch/>
          </p:blipFill>
          <p:spPr>
            <a:xfrm>
              <a:off x="2278400" y="4981725"/>
              <a:ext cx="79676" cy="226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" name="Google Shape;209;p26">
            <a:extLst>
              <a:ext uri="{FF2B5EF4-FFF2-40B4-BE49-F238E27FC236}">
                <a16:creationId xmlns:a16="http://schemas.microsoft.com/office/drawing/2014/main" id="{7D737393-1126-18D8-8926-A4C53BEED793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30491" y="4931471"/>
            <a:ext cx="6091296" cy="4261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7195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F7450-BB38-902A-26E7-4844DAFB9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5FE95C-F0BD-1394-6AA7-8C8CDA504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Bibliografía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781C009-4397-4D2B-9637-AAABEB9323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16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6BFFCA5-D14F-D952-0D65-AC849DAB2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419" u="sng" dirty="0">
                <a:solidFill>
                  <a:schemeClr val="hlink"/>
                </a:solidFill>
                <a:hlinkClick r:id="rId2"/>
              </a:rPr>
              <a:t>https://www.thymeleaf.org/doc/articles/layouts.html</a:t>
            </a:r>
            <a:endParaRPr lang="es-419" dirty="0"/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419" u="sng" dirty="0">
                <a:solidFill>
                  <a:schemeClr val="hlink"/>
                </a:solidFill>
                <a:hlinkClick r:id="rId3"/>
              </a:rPr>
              <a:t>https://www.baeldung.com/spring-thymeleaf-fragments</a:t>
            </a:r>
            <a:endParaRPr lang="es-419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0271815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1CEE12FC-EFE8-427F-AFDD-10E13BDA9816}"/>
    </a:ext>
  </a:extLst>
</a:theme>
</file>

<file path=ppt/theme/theme2.xml><?xml version="1.0" encoding="utf-8"?>
<a:theme xmlns:a="http://schemas.openxmlformats.org/drawingml/2006/main" name="1_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2968A79A-DB5B-4965-B275-611A9275D097}"/>
    </a:ext>
  </a:extLst>
</a:theme>
</file>

<file path=ppt/theme/theme3.xml><?xml version="1.0" encoding="utf-8"?>
<a:theme xmlns:a="http://schemas.openxmlformats.org/drawingml/2006/main" name="Diseño personalizado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Montserrat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5F575593-E9A2-4645-ABE1-5BD8C9BF19B9}"/>
    </a:ext>
  </a:extLst>
</a:theme>
</file>

<file path=ppt/theme/theme4.xml><?xml version="1.0" encoding="utf-8"?>
<a:theme xmlns:a="http://schemas.openxmlformats.org/drawingml/2006/main" name="Telecom Pucp">
  <a:themeElements>
    <a:clrScheme name="PUCP">
      <a:dk1>
        <a:srgbClr val="191919"/>
      </a:dk1>
      <a:lt1>
        <a:srgbClr val="FFFFFF"/>
      </a:lt1>
      <a:dk2>
        <a:srgbClr val="042354"/>
      </a:dk2>
      <a:lt2>
        <a:srgbClr val="E7EDED"/>
      </a:lt2>
      <a:accent1>
        <a:srgbClr val="2841DD"/>
      </a:accent1>
      <a:accent2>
        <a:srgbClr val="FF9929"/>
      </a:accent2>
      <a:accent3>
        <a:srgbClr val="7F32C8"/>
      </a:accent3>
      <a:accent4>
        <a:srgbClr val="F0AE19"/>
      </a:accent4>
      <a:accent5>
        <a:srgbClr val="0A7BC2"/>
      </a:accent5>
      <a:accent6>
        <a:srgbClr val="16C78E"/>
      </a:accent6>
      <a:hlink>
        <a:srgbClr val="004EA8"/>
      </a:hlink>
      <a:folHlink>
        <a:srgbClr val="C3094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lecom Pucp" id="{04A4479E-36D6-4C66-807A-9F4E8318654E}" vid="{A438D0C6-9502-4DA2-8DE8-05B87C02855A}"/>
    </a:ext>
  </a:extLst>
</a:theme>
</file>

<file path=ppt/theme/theme5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Plantilla_Telecomunicaciones (1)</Template>
  <TotalTime>441</TotalTime>
  <Words>468</Words>
  <Application>Microsoft Office PowerPoint</Application>
  <PresentationFormat>Panorámica</PresentationFormat>
  <Paragraphs>70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16</vt:i4>
      </vt:variant>
    </vt:vector>
  </HeadingPairs>
  <TitlesOfParts>
    <vt:vector size="24" baseType="lpstr">
      <vt:lpstr>Arial</vt:lpstr>
      <vt:lpstr>Montserrat</vt:lpstr>
      <vt:lpstr>Montserrat Medium</vt:lpstr>
      <vt:lpstr>Open Sans</vt:lpstr>
      <vt:lpstr>Tema de Office</vt:lpstr>
      <vt:lpstr>1_Tema de Office</vt:lpstr>
      <vt:lpstr>Diseño personalizado</vt:lpstr>
      <vt:lpstr>Telecom Pucp</vt:lpstr>
      <vt:lpstr>Presentación de PowerPoint</vt:lpstr>
      <vt:lpstr>Fragmentos Thymeleaf</vt:lpstr>
      <vt:lpstr>Fragmentos</vt:lpstr>
      <vt:lpstr>Th:insert</vt:lpstr>
      <vt:lpstr>Th:insert</vt:lpstr>
      <vt:lpstr>Th:fragment</vt:lpstr>
      <vt:lpstr>Th:insert</vt:lpstr>
      <vt:lpstr>Resultado</vt:lpstr>
      <vt:lpstr>Th:replace</vt:lpstr>
      <vt:lpstr>Th:replace</vt:lpstr>
      <vt:lpstr>Resultado</vt:lpstr>
      <vt:lpstr>Envío de parámetros</vt:lpstr>
      <vt:lpstr>Fragmento</vt:lpstr>
      <vt:lpstr>Usando</vt:lpstr>
      <vt:lpstr>Objetos</vt:lpstr>
      <vt:lpstr>Bibliografía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Orientada a Objetos &amp; Introducción a Java</dc:title>
  <dc:creator>Brenda Tumbalobos</dc:creator>
  <cp:lastModifiedBy>Brenda Tumbalobos Cubas</cp:lastModifiedBy>
  <cp:revision>24</cp:revision>
  <dcterms:created xsi:type="dcterms:W3CDTF">2023-10-28T21:43:03Z</dcterms:created>
  <dcterms:modified xsi:type="dcterms:W3CDTF">2026-04-14T23:37:58Z</dcterms:modified>
</cp:coreProperties>
</file>