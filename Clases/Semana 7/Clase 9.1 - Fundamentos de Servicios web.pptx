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9"/>
  </p:notesMasterIdLst>
  <p:handoutMasterIdLst>
    <p:handoutMasterId r:id="rId20"/>
  </p:handoutMasterIdLst>
  <p:sldIdLst>
    <p:sldId id="360" r:id="rId5"/>
    <p:sldId id="361" r:id="rId6"/>
    <p:sldId id="362" r:id="rId7"/>
    <p:sldId id="363" r:id="rId8"/>
    <p:sldId id="364" r:id="rId9"/>
    <p:sldId id="365" r:id="rId10"/>
    <p:sldId id="366" r:id="rId11"/>
    <p:sldId id="356" r:id="rId12"/>
    <p:sldId id="367" r:id="rId13"/>
    <p:sldId id="368" r:id="rId14"/>
    <p:sldId id="357" r:id="rId15"/>
    <p:sldId id="369" r:id="rId16"/>
    <p:sldId id="370" r:id="rId17"/>
    <p:sldId id="371" r:id="rId1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Junio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008473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999508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523629" cy="6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B78FCD9-1B98-46CB-664E-518378E60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487"/>
            <a:ext cx="10525217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41821468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374866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817818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718282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9360528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5962149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2216523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460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5229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2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guides/gs/rest-service/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91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40000-0DBF-7A18-BF58-057574340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Web </a:t>
            </a:r>
            <a:r>
              <a:rPr lang="es-PE" dirty="0" err="1"/>
              <a:t>Services</a:t>
            </a:r>
            <a:r>
              <a:rPr lang="es-PE" dirty="0"/>
              <a:t> REST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C6BA6-AAA4-9C50-299E-FFA1309EE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109889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6CDC4-1AE2-2760-73D9-B6901CFF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Servidores Web (Web </a:t>
            </a:r>
            <a:r>
              <a:rPr lang="es-ES" dirty="0" err="1">
                <a:solidFill>
                  <a:schemeClr val="bg2"/>
                </a:solidFill>
              </a:rPr>
              <a:t>Services</a:t>
            </a:r>
            <a:r>
              <a:rPr lang="es-ES" dirty="0">
                <a:solidFill>
                  <a:schemeClr val="bg2"/>
                </a:solidFill>
              </a:rPr>
              <a:t>)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1808411-80F8-009E-DDA7-7C8670D742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E70701-E8A2-0591-5A9D-ED4718746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Los servicios web son aplicaciones autónomas modulares que se pueden describir, publicar, localizar e invocar a través de una red.</a:t>
            </a:r>
          </a:p>
          <a:p>
            <a:pPr marL="0" indent="0">
              <a:buNone/>
            </a:pPr>
            <a:r>
              <a:rPr lang="es-ES" sz="2000" dirty="0"/>
              <a:t>Un </a:t>
            </a:r>
            <a:r>
              <a:rPr lang="es-ES" sz="2000" b="1" dirty="0"/>
              <a:t>servicio web</a:t>
            </a:r>
            <a:r>
              <a:rPr lang="es-ES" sz="2000" dirty="0"/>
              <a:t> es como un “mensajero digital” que permite que dos programas diferentes se comuniquen entre sí, aunque estén escritos en lenguajes distintos. Por ejemplo:</a:t>
            </a:r>
          </a:p>
          <a:p>
            <a:r>
              <a:rPr lang="es-ES" sz="2000" b="1" dirty="0"/>
              <a:t>Ejemplo:</a:t>
            </a:r>
            <a:r>
              <a:rPr lang="es-ES" sz="2000" dirty="0"/>
              <a:t> Imagina que tienes una app en tu celular que te muestra el clima. Esa app no calcula el clima, sino que le pide la información a un servicio web que está en otro lugar (por ejemplo, en la nube). El servicio web le responde con los datos del clima en formato que la app pueda entender.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10634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BC46F-32D7-4E7D-5192-F0DBA9D4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Servidores Web (Web </a:t>
            </a:r>
            <a:r>
              <a:rPr lang="es-ES" dirty="0" err="1">
                <a:solidFill>
                  <a:schemeClr val="bg2"/>
                </a:solidFill>
              </a:rPr>
              <a:t>Services</a:t>
            </a:r>
            <a:r>
              <a:rPr lang="es-ES" dirty="0">
                <a:solidFill>
                  <a:schemeClr val="bg2"/>
                </a:solidFill>
              </a:rPr>
              <a:t>)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D8205F-8404-1133-481D-AF6F7D9CF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ED3623A-6705-F927-5127-C7BA1411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600"/>
              </a:spcBef>
            </a:pPr>
            <a:r>
              <a:rPr lang="es-ES" sz="1800" b="1" dirty="0"/>
              <a:t>Aplicación web:</a:t>
            </a:r>
            <a:r>
              <a:rPr lang="es-ES" sz="1800" dirty="0"/>
              <a:t> Está hecha para que la use una persona, mostrando páginas con texto, imágenes y botones (HTML, CSS, JS)</a:t>
            </a:r>
          </a:p>
          <a:p>
            <a:pPr lvl="1">
              <a:spcBef>
                <a:spcPts val="1600"/>
              </a:spcBef>
            </a:pPr>
            <a:r>
              <a:rPr lang="es-ES" sz="1600" dirty="0"/>
              <a:t>Ejemplos: Facebook, Gmail, Mercado Libre</a:t>
            </a:r>
          </a:p>
          <a:p>
            <a:pPr>
              <a:spcBef>
                <a:spcPts val="1600"/>
              </a:spcBef>
            </a:pPr>
            <a:r>
              <a:rPr lang="es-ES" sz="1800" b="1" dirty="0"/>
              <a:t>Servicio web:</a:t>
            </a:r>
            <a:r>
              <a:rPr lang="es-ES" sz="1800" dirty="0"/>
              <a:t> Está hecho para que lo usen otros programas, no personas. Responde con datos en formatos como texto plano, JSON o XML.</a:t>
            </a:r>
          </a:p>
          <a:p>
            <a:pPr lvl="1">
              <a:spcBef>
                <a:spcPts val="1600"/>
              </a:spcBef>
            </a:pPr>
            <a:r>
              <a:rPr lang="es-ES" sz="1600" dirty="0"/>
              <a:t>Ejemplos: cuando la app de un banco consulta tu saldo, lo hace a través de un servicio web que le responde con datos JSON.</a:t>
            </a: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La comunicación entre aplicaciones es independiente del lenguaje de programación utilizado en ambos servidores.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Los servicios web definen un formato de comunicación que debe ser acordado previo a la comunicación.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3858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6CFB-C050-03B9-9E70-D7103011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4DEC1-85FC-1E46-A175-3100D492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Servicios Web - Ejemplos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8FD162-EB27-DC9C-F0CF-5655177DC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1C8E24-2195-B704-3295-303594FDA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14" y="1232299"/>
            <a:ext cx="7481349" cy="46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0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6075-3752-DFCD-19F5-919C7D9D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082D4A-6D91-28D4-508E-475959F2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Servicios Web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B75751D-9134-6F1D-E23D-30AC9F5AD8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192489-EB81-29EA-2F26-E4B0AB320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Existen dos tipos de servicios web: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b="1" dirty="0"/>
              <a:t>SOAP</a:t>
            </a:r>
            <a:r>
              <a:rPr lang="es-ES" sz="1800" dirty="0"/>
              <a:t>:</a:t>
            </a:r>
          </a:p>
          <a:p>
            <a:pPr lvl="1" indent="-317500" algn="just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Los servicios Web SOAP  (Simple </a:t>
            </a:r>
            <a:r>
              <a:rPr lang="es-ES" sz="1800" dirty="0" err="1"/>
              <a:t>Object</a:t>
            </a:r>
            <a:r>
              <a:rPr lang="es-ES" sz="1800" dirty="0"/>
              <a:t> Access </a:t>
            </a:r>
            <a:r>
              <a:rPr lang="es-ES" sz="1800" dirty="0" err="1"/>
              <a:t>Protocol</a:t>
            </a:r>
            <a:r>
              <a:rPr lang="es-ES" sz="1800" dirty="0"/>
              <a:t>) utilizan mensajes XML para intercomunicarse, lo cual le permite definir una arquitectura y formato de comunicación estándar. Los clientes SOAP contienen una descripción legible de las operaciones ofrecidas por el servicio, escrita en WSDL (Web </a:t>
            </a:r>
            <a:r>
              <a:rPr lang="es-ES" sz="1800" dirty="0" err="1"/>
              <a:t>Services</a:t>
            </a:r>
            <a:r>
              <a:rPr lang="es-ES" sz="1800" dirty="0"/>
              <a:t> </a:t>
            </a:r>
            <a:r>
              <a:rPr lang="es-ES" sz="1800" dirty="0" err="1"/>
              <a:t>Description</a:t>
            </a:r>
            <a:r>
              <a:rPr lang="es-ES" sz="1800" dirty="0"/>
              <a:t> </a:t>
            </a:r>
            <a:r>
              <a:rPr lang="es-ES" sz="1800" dirty="0" err="1"/>
              <a:t>Language</a:t>
            </a:r>
            <a:r>
              <a:rPr lang="es-ES" sz="1800" dirty="0"/>
              <a:t>), el cual es un documento XML que describe los servicios Web.</a:t>
            </a:r>
          </a:p>
          <a:p>
            <a:pPr lvl="1" indent="-317500" algn="just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Tienen reglas estrictas y un “contrato” que describe cómo debe comunicarse.</a:t>
            </a:r>
          </a:p>
          <a:p>
            <a:pPr lvl="1" indent="-317500" algn="just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400"/>
              <a:buFont typeface="Open Sans"/>
              <a:buChar char="○"/>
            </a:pPr>
            <a:r>
              <a:rPr lang="es-ES" sz="1800" dirty="0"/>
              <a:t>WSDL puede utilizarse para describir los detalles del contrato, que pueden incluir mensajes, operaciones, </a:t>
            </a:r>
            <a:r>
              <a:rPr lang="es-ES" sz="1800" dirty="0" err="1"/>
              <a:t>bindings</a:t>
            </a:r>
            <a:r>
              <a:rPr lang="es-ES" sz="1800" dirty="0"/>
              <a:t>, y la localización del servicio Web.</a:t>
            </a:r>
          </a:p>
          <a:p>
            <a:pPr lvl="2" indent="-317500" algn="just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400"/>
              <a:buFont typeface="Open Sans"/>
              <a:buChar char="○"/>
            </a:pPr>
            <a:r>
              <a:rPr lang="es-ES" sz="1800" dirty="0"/>
              <a:t>Ejemplo: enviar cartas siguiendo un formato específico, donde cada carta tiene que tener ciertos datos en cierto orden.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93975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A2F9-5905-6417-C723-8BF985D13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E1390-52F7-8E1B-5045-820669E4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Servicios Web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0646FE-A89A-9087-0F93-8AECFE0563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ECAF4C-1F60-9465-9F87-5DE014B07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Existen dos tipos de servicios web:</a:t>
            </a:r>
          </a:p>
          <a:p>
            <a:pPr marL="0" lvl="0" indent="0">
              <a:spcBef>
                <a:spcPts val="0"/>
              </a:spcBef>
              <a:buNone/>
            </a:pPr>
            <a:endParaRPr lang="es-ES" sz="18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b="1" dirty="0"/>
              <a:t>RESTful</a:t>
            </a:r>
            <a:r>
              <a:rPr lang="es-ES" sz="1800" dirty="0"/>
              <a:t>:</a:t>
            </a:r>
          </a:p>
          <a:p>
            <a:pPr lvl="1" indent="-317500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Los servicios Web RESTful son adecuados para escenarios de integración básicos ad-hoc. </a:t>
            </a:r>
          </a:p>
          <a:p>
            <a:pPr lvl="1" indent="-317500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Utilizar HTTP (mismo protocolo que usan las páginas web).</a:t>
            </a:r>
          </a:p>
          <a:p>
            <a:pPr lvl="1" indent="-317500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Es más flexible y fácil de usar.</a:t>
            </a:r>
          </a:p>
          <a:p>
            <a:pPr lvl="1" indent="-317500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Los servicios RESTful no contienen una estructura formal para exponer sus métodos, pero debe ser conocido de antemano por el consumidor para acceder al él.</a:t>
            </a:r>
          </a:p>
          <a:p>
            <a:pPr lvl="2" indent="-317500">
              <a:lnSpc>
                <a:spcPct val="100000"/>
              </a:lnSpc>
              <a:spcBef>
                <a:spcPts val="0"/>
              </a:spcBef>
              <a:buSzPts val="1400"/>
              <a:buChar char="○"/>
            </a:pPr>
            <a:r>
              <a:rPr lang="es-ES" sz="1800" dirty="0"/>
              <a:t>Ejemplo: es como enviar mensajes de texto, donde solo necesitas saber a quien enviar y qué decir, sin tanto protocolo.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4755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1206AED-2A85-5434-7202-3D3BA65E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Web </a:t>
            </a:r>
            <a:r>
              <a:rPr lang="es-ES" dirty="0" err="1"/>
              <a:t>Services</a:t>
            </a:r>
            <a:r>
              <a:rPr lang="es-ES" dirty="0"/>
              <a:t> REST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877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4B45-4BCC-BA07-0F23-66A3CF56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DD9D9-0D7E-671F-8198-FEA88EC2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Servicios web RESTful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37DD2CD-1324-61AF-5DEA-A18823B83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857B78-80EF-927F-21DC-AC2966EB3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487"/>
            <a:ext cx="10525217" cy="440356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1600" dirty="0"/>
              <a:t>Son aquellos que implementan la arquitectura REST (</a:t>
            </a:r>
            <a:r>
              <a:rPr lang="es-ES" sz="1600" dirty="0" err="1"/>
              <a:t>Representational</a:t>
            </a:r>
            <a:r>
              <a:rPr lang="es-ES" sz="1600" dirty="0"/>
              <a:t> State Transfer) sobre HTTP y cumplen con las siguientes 6 restricciones:</a:t>
            </a:r>
          </a:p>
          <a:p>
            <a:pPr lvl="0" indent="-317500">
              <a:lnSpc>
                <a:spcPct val="120000"/>
              </a:lnSpc>
              <a:spcBef>
                <a:spcPts val="0"/>
              </a:spcBef>
              <a:buSzPts val="1400"/>
              <a:buChar char="●"/>
            </a:pPr>
            <a:r>
              <a:rPr lang="es-ES" sz="1600" b="1" dirty="0"/>
              <a:t>Client-Server </a:t>
            </a:r>
            <a:r>
              <a:rPr lang="es-ES" sz="1600" dirty="0"/>
              <a:t>→ separación de responsabilidad. El cliente y el servidor tienen roles separados. </a:t>
            </a:r>
            <a:r>
              <a:rPr lang="es-ES" sz="1600" dirty="0" err="1"/>
              <a:t>Ej</a:t>
            </a:r>
            <a:r>
              <a:rPr lang="es-ES" sz="1600" dirty="0"/>
              <a:t>: el app pide información, el servidor responde.</a:t>
            </a:r>
          </a:p>
          <a:p>
            <a:pPr lvl="0" indent="-317500">
              <a:lnSpc>
                <a:spcPct val="120000"/>
              </a:lnSpc>
              <a:spcBef>
                <a:spcPts val="0"/>
              </a:spcBef>
              <a:buSzPts val="1400"/>
              <a:buChar char="●"/>
            </a:pPr>
            <a:r>
              <a:rPr lang="es-ES" sz="1600" b="1" dirty="0" err="1"/>
              <a:t>Stateless</a:t>
            </a:r>
            <a:r>
              <a:rPr lang="es-ES" sz="1600" dirty="0"/>
              <a:t>  → no guarda información de sesión, cada solicitud independiente. Ejemplo: preguntar la hora varias veces, te responde sin recordar lo anterior.</a:t>
            </a:r>
          </a:p>
          <a:p>
            <a:pPr lvl="0" indent="-317500">
              <a:lnSpc>
                <a:spcPct val="120000"/>
              </a:lnSpc>
              <a:spcBef>
                <a:spcPts val="0"/>
              </a:spcBef>
              <a:buSzPts val="1400"/>
              <a:buChar char="●"/>
            </a:pPr>
            <a:r>
              <a:rPr lang="es-ES" sz="1600" b="1" dirty="0" err="1"/>
              <a:t>Cacheable</a:t>
            </a:r>
            <a:r>
              <a:rPr lang="es-ES" sz="1600" dirty="0"/>
              <a:t> → permite almacenar en caché respuestas previas</a:t>
            </a:r>
          </a:p>
          <a:p>
            <a:pPr lvl="0" indent="-317500">
              <a:lnSpc>
                <a:spcPct val="120000"/>
              </a:lnSpc>
              <a:spcBef>
                <a:spcPts val="0"/>
              </a:spcBef>
              <a:buSzPts val="1400"/>
              <a:buChar char="●"/>
            </a:pPr>
            <a:r>
              <a:rPr lang="es-ES" sz="1600" b="1" dirty="0" err="1"/>
              <a:t>Uniform</a:t>
            </a:r>
            <a:r>
              <a:rPr lang="es-ES" sz="1600" b="1" dirty="0"/>
              <a:t> Interface</a:t>
            </a:r>
            <a:r>
              <a:rPr lang="es-ES" sz="1600" dirty="0"/>
              <a:t> → todos los recursos del servidor tienen un nombre en forma de URL, viajan sobre HTTP y el cliente debe poder realizar solicitudes sin conocerlos de antemano (ver siguiente diapositiva).</a:t>
            </a:r>
          </a:p>
          <a:p>
            <a:pPr lvl="0" indent="-317500">
              <a:lnSpc>
                <a:spcPct val="120000"/>
              </a:lnSpc>
              <a:spcBef>
                <a:spcPts val="0"/>
              </a:spcBef>
              <a:buSzPts val="1400"/>
              <a:buChar char="●"/>
            </a:pPr>
            <a:r>
              <a:rPr lang="es-ES" sz="1600" b="1" dirty="0" err="1"/>
              <a:t>Layered</a:t>
            </a:r>
            <a:r>
              <a:rPr lang="es-ES" sz="1600" b="1" dirty="0"/>
              <a:t> </a:t>
            </a:r>
            <a:r>
              <a:rPr lang="es-ES" sz="1600" b="1" dirty="0" err="1"/>
              <a:t>System</a:t>
            </a:r>
            <a:r>
              <a:rPr lang="es-ES" sz="1600" b="1" dirty="0"/>
              <a:t> </a:t>
            </a:r>
            <a:r>
              <a:rPr lang="es-ES" sz="1600" dirty="0"/>
              <a:t>→ el cliente no sabe si la petición se realiza directamente a un servidor, un sistema de cachés o a un proxy que lo redirige hacia un servidor final</a:t>
            </a:r>
          </a:p>
          <a:p>
            <a:pPr lvl="0" indent="-317500">
              <a:lnSpc>
                <a:spcPct val="120000"/>
              </a:lnSpc>
              <a:spcBef>
                <a:spcPts val="0"/>
              </a:spcBef>
              <a:buSzPts val="1400"/>
              <a:buChar char="●"/>
            </a:pPr>
            <a:r>
              <a:rPr lang="es-ES" sz="1600" b="1" dirty="0"/>
              <a:t>Code-</a:t>
            </a:r>
            <a:r>
              <a:rPr lang="es-ES" sz="1600" b="1" dirty="0" err="1"/>
              <a:t>on</a:t>
            </a:r>
            <a:r>
              <a:rPr lang="es-ES" sz="1600" b="1" dirty="0"/>
              <a:t>-</a:t>
            </a:r>
            <a:r>
              <a:rPr lang="es-ES" sz="1600" b="1" dirty="0" err="1"/>
              <a:t>demand</a:t>
            </a:r>
            <a:r>
              <a:rPr lang="es-ES" sz="1600" dirty="0"/>
              <a:t> → Permite al servidor extender las funcionalidades del cliente. Es la única opcional. </a:t>
            </a:r>
          </a:p>
          <a:p>
            <a:pPr marL="0" lvl="0" indent="0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600" dirty="0"/>
              <a:t>Cuando un servicio web REST cumple con al menos las 5 primeras, se puede decir que realmente es un servicio RESTful. Caso contrario, se le considera como un servicio web REST, es decir, expone recursos sobre el protocolo HTTP.</a:t>
            </a:r>
          </a:p>
        </p:txBody>
      </p:sp>
    </p:spTree>
    <p:extLst>
      <p:ext uri="{BB962C8B-B14F-4D97-AF65-F5344CB8AC3E}">
        <p14:creationId xmlns:p14="http://schemas.microsoft.com/office/powerpoint/2010/main" val="139184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D9F5-0711-0E05-E2F8-2419DF91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83F58-9B11-05CF-9F50-4777905F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Uniform</a:t>
            </a:r>
            <a:r>
              <a:rPr lang="es-ES" dirty="0"/>
              <a:t> Interface – Rutas RESTful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AD2D64F-8276-1C94-5CF7-24C0A29BB5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901B80-D8D0-8CDF-30DD-4EFCF56EB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considerar un servicio web como RESTful, se solicita que se siga el protocolo definido en el RFC 2616, para realizar un CRUD: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b="1" dirty="0"/>
              <a:t>GET</a:t>
            </a:r>
            <a:r>
              <a:rPr lang="es-ES" sz="2000" dirty="0"/>
              <a:t>: para obtener un recurso del servidor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/>
              <a:t>POST</a:t>
            </a:r>
            <a:r>
              <a:rPr lang="es-ES" sz="2000" dirty="0"/>
              <a:t>: para crear un recurso en el servidor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/>
              <a:t>PUT</a:t>
            </a:r>
            <a:r>
              <a:rPr lang="es-ES" sz="2000" dirty="0"/>
              <a:t>: para cambiar el estado de un recurso, o para actualizarlo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b="1" dirty="0"/>
              <a:t>DELETE</a:t>
            </a:r>
            <a:r>
              <a:rPr lang="es-ES" sz="2000" dirty="0"/>
              <a:t>: para borrar un recurso en el servidor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Si seguimos esta convención (más lo definido en la diapositiva anterior), podemos decir que tenemos un servicio web </a:t>
            </a:r>
            <a:r>
              <a:rPr lang="es-ES" sz="2000" b="1" dirty="0"/>
              <a:t>RESTful</a:t>
            </a:r>
            <a:r>
              <a:rPr lang="es-ES" sz="2000" dirty="0"/>
              <a:t>, caso contrario, tendremos un servicio web </a:t>
            </a:r>
            <a:r>
              <a:rPr lang="es-ES" sz="2000" b="1" dirty="0"/>
              <a:t>REST </a:t>
            </a:r>
            <a:r>
              <a:rPr lang="es-ES" sz="2000" dirty="0"/>
              <a:t>(ambos son correctos según el uso que se les quiera dar).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321059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EF983A3-56DD-0649-0137-A24B79A7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5400" dirty="0"/>
              <a:t>Formato de intercambio de datos</a:t>
            </a:r>
            <a:endParaRPr lang="es-PE" sz="5400" dirty="0"/>
          </a:p>
        </p:txBody>
      </p:sp>
    </p:spTree>
    <p:extLst>
      <p:ext uri="{BB962C8B-B14F-4D97-AF65-F5344CB8AC3E}">
        <p14:creationId xmlns:p14="http://schemas.microsoft.com/office/powerpoint/2010/main" val="3117568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97651-36E0-EEBB-AF0A-3B534F209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Intercambio de información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DC2699-59D0-ED3B-7EBC-0D00A0603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2051E3-A30B-72B2-ED75-5C37D515E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La información que se transmite entre el cliente y el servidor puede estar en diversos formatos, tales como texto plano, </a:t>
            </a:r>
            <a:r>
              <a:rPr lang="es-ES" dirty="0" err="1"/>
              <a:t>xml</a:t>
            </a:r>
            <a:r>
              <a:rPr lang="es-ES" dirty="0"/>
              <a:t> entre otros.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Un formato de intercambio de información muy popular es JSON, el cual permite estructurar la data enviada o recibida en forma de nodos, independientemente del lenguaje de programación que se use.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09877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06CC9-9453-605E-F4F5-E3C5B95F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JSON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3440CF1-EAC7-8EBB-A904-825484E5B5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B6DA18-F606-55E8-FD07-A08494CD4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JSON viene del acrónimo, JavaScript </a:t>
            </a:r>
            <a:r>
              <a:rPr lang="es-ES" dirty="0" err="1"/>
              <a:t>Object</a:t>
            </a:r>
            <a:r>
              <a:rPr lang="es-ES" dirty="0"/>
              <a:t> </a:t>
            </a:r>
            <a:r>
              <a:rPr lang="es-ES" dirty="0" err="1"/>
              <a:t>Notation</a:t>
            </a:r>
            <a:r>
              <a:rPr lang="es-ES" dirty="0"/>
              <a:t>, el cual permite estructurar la información que se intercambia entre cliente-servidor y servidor-servidor. Su esquema es llave-valor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b="1" dirty="0"/>
              <a:t>Ejemplo</a:t>
            </a:r>
            <a:r>
              <a:rPr lang="es-ES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sz="1600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Se tiene una llave “población” que tiene como valor un arreglo de elementos. Cada elemento tiene 2 llaves, “id” y “nombre”.</a:t>
            </a:r>
          </a:p>
          <a:p>
            <a:endParaRPr lang="es-PE" dirty="0"/>
          </a:p>
        </p:txBody>
      </p:sp>
      <p:pic>
        <p:nvPicPr>
          <p:cNvPr id="5" name="Google Shape;161;p23">
            <a:extLst>
              <a:ext uri="{FF2B5EF4-FFF2-40B4-BE49-F238E27FC236}">
                <a16:creationId xmlns:a16="http://schemas.microsoft.com/office/drawing/2014/main" id="{7AC5C7BC-74B1-CFEF-D8F1-D5BB741EE5D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01575" y="2372234"/>
            <a:ext cx="4988850" cy="1444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3673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2B5E-46FB-16C3-42D7-70AC1CFB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2DFCD-40AD-3581-1730-DF08490F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15CE037-1A68-1671-89E2-5E3BFBDD22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D9A3B7-7C65-C10E-7979-588F0A283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u="sng" dirty="0">
                <a:solidFill>
                  <a:schemeClr val="hlink"/>
                </a:solidFill>
                <a:hlinkClick r:id="rId2"/>
              </a:rPr>
              <a:t>https://spring.io/guides/gs/rest-service/</a:t>
            </a:r>
            <a:endParaRPr lang="es-419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29092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715</TotalTime>
  <Words>978</Words>
  <Application>Microsoft Office PowerPoint</Application>
  <PresentationFormat>Panorámica</PresentationFormat>
  <Paragraphs>70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Montserrat</vt:lpstr>
      <vt:lpstr>Montserrat Medium</vt:lpstr>
      <vt:lpstr>Open Sans</vt:lpstr>
      <vt:lpstr>Tema de Office</vt:lpstr>
      <vt:lpstr>1_Tema de Office</vt:lpstr>
      <vt:lpstr>Diseño personalizado</vt:lpstr>
      <vt:lpstr>Telecom Pucp</vt:lpstr>
      <vt:lpstr>Presentación de PowerPoint</vt:lpstr>
      <vt:lpstr>Web Services REST</vt:lpstr>
      <vt:lpstr>Servidores Web (Web Services)</vt:lpstr>
      <vt:lpstr>Servidores Web (Web Services)</vt:lpstr>
      <vt:lpstr>Servicios Web - Ejemplos</vt:lpstr>
      <vt:lpstr>Tipos de Servicios Web</vt:lpstr>
      <vt:lpstr>Tipos de Servicios Web</vt:lpstr>
      <vt:lpstr>Web Services REST</vt:lpstr>
      <vt:lpstr>Servicios web RESTful</vt:lpstr>
      <vt:lpstr>Uniform Interface – Rutas RESTful</vt:lpstr>
      <vt:lpstr>Formato de intercambio de datos</vt:lpstr>
      <vt:lpstr>Intercambio de información</vt:lpstr>
      <vt:lpstr>JSON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32</cp:revision>
  <dcterms:created xsi:type="dcterms:W3CDTF">2023-10-28T21:43:03Z</dcterms:created>
  <dcterms:modified xsi:type="dcterms:W3CDTF">2026-06-02T03:15:31Z</dcterms:modified>
</cp:coreProperties>
</file>