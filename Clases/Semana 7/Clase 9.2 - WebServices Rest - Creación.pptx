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 id="2147483660" r:id="rId3"/>
    <p:sldMasterId id="2147483680" r:id="rId4"/>
  </p:sldMasterIdLst>
  <p:notesMasterIdLst>
    <p:notesMasterId r:id="rId64"/>
  </p:notesMasterIdLst>
  <p:handoutMasterIdLst>
    <p:handoutMasterId r:id="rId65"/>
  </p:handoutMasterIdLst>
  <p:sldIdLst>
    <p:sldId id="401" r:id="rId5"/>
    <p:sldId id="402" r:id="rId6"/>
    <p:sldId id="403" r:id="rId7"/>
    <p:sldId id="404" r:id="rId8"/>
    <p:sldId id="405" r:id="rId9"/>
    <p:sldId id="406" r:id="rId10"/>
    <p:sldId id="407" r:id="rId11"/>
    <p:sldId id="408" r:id="rId12"/>
    <p:sldId id="409" r:id="rId13"/>
    <p:sldId id="410" r:id="rId14"/>
    <p:sldId id="411" r:id="rId15"/>
    <p:sldId id="412" r:id="rId16"/>
    <p:sldId id="413" r:id="rId17"/>
    <p:sldId id="361" r:id="rId18"/>
    <p:sldId id="414" r:id="rId19"/>
    <p:sldId id="356" r:id="rId20"/>
    <p:sldId id="357" r:id="rId21"/>
    <p:sldId id="358" r:id="rId22"/>
    <p:sldId id="370" r:id="rId23"/>
    <p:sldId id="415" r:id="rId24"/>
    <p:sldId id="416" r:id="rId25"/>
    <p:sldId id="417" r:id="rId26"/>
    <p:sldId id="418" r:id="rId27"/>
    <p:sldId id="419" r:id="rId28"/>
    <p:sldId id="420" r:id="rId29"/>
    <p:sldId id="421" r:id="rId30"/>
    <p:sldId id="422" r:id="rId31"/>
    <p:sldId id="423" r:id="rId32"/>
    <p:sldId id="424" r:id="rId33"/>
    <p:sldId id="425" r:id="rId34"/>
    <p:sldId id="426" r:id="rId35"/>
    <p:sldId id="378" r:id="rId36"/>
    <p:sldId id="427" r:id="rId37"/>
    <p:sldId id="428" r:id="rId38"/>
    <p:sldId id="429" r:id="rId39"/>
    <p:sldId id="431" r:id="rId40"/>
    <p:sldId id="432" r:id="rId41"/>
    <p:sldId id="430" r:id="rId42"/>
    <p:sldId id="433" r:id="rId43"/>
    <p:sldId id="434" r:id="rId44"/>
    <p:sldId id="385" r:id="rId45"/>
    <p:sldId id="435" r:id="rId46"/>
    <p:sldId id="436" r:id="rId47"/>
    <p:sldId id="437" r:id="rId48"/>
    <p:sldId id="438" r:id="rId49"/>
    <p:sldId id="439" r:id="rId50"/>
    <p:sldId id="440" r:id="rId51"/>
    <p:sldId id="441" r:id="rId52"/>
    <p:sldId id="393" r:id="rId53"/>
    <p:sldId id="442" r:id="rId54"/>
    <p:sldId id="443" r:id="rId55"/>
    <p:sldId id="444" r:id="rId56"/>
    <p:sldId id="445" r:id="rId57"/>
    <p:sldId id="446" r:id="rId58"/>
    <p:sldId id="400" r:id="rId59"/>
    <p:sldId id="447" r:id="rId60"/>
    <p:sldId id="448" r:id="rId61"/>
    <p:sldId id="449" r:id="rId62"/>
    <p:sldId id="450" r:id="rId6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FADC"/>
    <a:srgbClr val="7E32C8"/>
    <a:srgbClr val="0A2451"/>
    <a:srgbClr val="7F32C8"/>
    <a:srgbClr val="0096C8"/>
    <a:srgbClr val="009A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1" autoAdjust="0"/>
    <p:restoredTop sz="93792" autoAdjust="0"/>
  </p:normalViewPr>
  <p:slideViewPr>
    <p:cSldViewPr snapToGrid="0" snapToObjects="1">
      <p:cViewPr varScale="1">
        <p:scale>
          <a:sx n="107" d="100"/>
          <a:sy n="107" d="100"/>
        </p:scale>
        <p:origin x="678" y="1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F0BF7D0-ACCD-45E0-9075-7974351BA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dirty="0"/>
          </a:p>
        </p:txBody>
      </p:sp>
      <p:sp>
        <p:nvSpPr>
          <p:cNvPr id="3" name="Marcador de fecha 2">
            <a:extLst>
              <a:ext uri="{FF2B5EF4-FFF2-40B4-BE49-F238E27FC236}">
                <a16:creationId xmlns:a16="http://schemas.microsoft.com/office/drawing/2014/main" id="{63B6A517-4C1F-40CC-B607-62B10860738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240BD7-4B38-4A99-A6E7-5E1A97DAF11B}" type="datetimeFigureOut">
              <a:rPr lang="es-PE" smtClean="0"/>
              <a:t>1/06/2026</a:t>
            </a:fld>
            <a:endParaRPr lang="es-PE"/>
          </a:p>
        </p:txBody>
      </p:sp>
      <p:sp>
        <p:nvSpPr>
          <p:cNvPr id="4" name="Marcador de pie de página 3">
            <a:extLst>
              <a:ext uri="{FF2B5EF4-FFF2-40B4-BE49-F238E27FC236}">
                <a16:creationId xmlns:a16="http://schemas.microsoft.com/office/drawing/2014/main" id="{5DE1014B-0959-4D3A-8DC3-99369C9107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5A5F80A8-C49B-4372-B96A-23231D58BE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3D7DB4-D5A9-475B-BF72-4B93DC046C52}" type="slidenum">
              <a:rPr lang="es-PE" smtClean="0"/>
              <a:t>‹Nº›</a:t>
            </a:fld>
            <a:endParaRPr lang="es-PE"/>
          </a:p>
        </p:txBody>
      </p:sp>
    </p:spTree>
    <p:extLst>
      <p:ext uri="{BB962C8B-B14F-4D97-AF65-F5344CB8AC3E}">
        <p14:creationId xmlns:p14="http://schemas.microsoft.com/office/powerpoint/2010/main" val="1126361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2EFC3-66C1-4423-B1B2-E7C9DCCB5C75}" type="datetimeFigureOut">
              <a:rPr lang="es-PE" smtClean="0"/>
              <a:t>1/06/2026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75E41-3A85-45FC-A38E-3ABB827C81B6}" type="slidenum">
              <a:rPr lang="es-PE" smtClean="0"/>
              <a:t>‹Nº›</a:t>
            </a:fld>
            <a:endParaRPr lang="es-PE"/>
          </a:p>
        </p:txBody>
      </p:sp>
    </p:spTree>
    <p:extLst>
      <p:ext uri="{BB962C8B-B14F-4D97-AF65-F5344CB8AC3E}">
        <p14:creationId xmlns:p14="http://schemas.microsoft.com/office/powerpoint/2010/main" val="205376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Marcador de fecha 6">
            <a:extLst>
              <a:ext uri="{FF2B5EF4-FFF2-40B4-BE49-F238E27FC236}">
                <a16:creationId xmlns:a16="http://schemas.microsoft.com/office/drawing/2014/main" id="{ABBDFEDA-4707-4FCF-B728-8770DE811E89}"/>
              </a:ext>
            </a:extLst>
          </p:cNvPr>
          <p:cNvSpPr>
            <a:spLocks noGrp="1"/>
          </p:cNvSpPr>
          <p:nvPr>
            <p:ph type="dt" sz="half" idx="10"/>
          </p:nvPr>
        </p:nvSpPr>
        <p:spPr/>
        <p:txBody>
          <a:bodyPr/>
          <a:lstStyle/>
          <a:p>
            <a:fld id="{7B51C491-E0CA-4324-AB99-27795370E731}" type="datetime6">
              <a:rPr lang="es-PE" smtClean="0"/>
              <a:t>Junio de 2026</a:t>
            </a:fld>
            <a:endParaRPr lang="es-PE" dirty="0"/>
          </a:p>
        </p:txBody>
      </p:sp>
      <p:sp>
        <p:nvSpPr>
          <p:cNvPr id="8" name="Marcador de pie de página 7">
            <a:extLst>
              <a:ext uri="{FF2B5EF4-FFF2-40B4-BE49-F238E27FC236}">
                <a16:creationId xmlns:a16="http://schemas.microsoft.com/office/drawing/2014/main" id="{0FEC6C11-5534-41C2-AE3F-23A2E42B2787}"/>
              </a:ext>
            </a:extLst>
          </p:cNvPr>
          <p:cNvSpPr>
            <a:spLocks noGrp="1"/>
          </p:cNvSpPr>
          <p:nvPr>
            <p:ph type="ftr" sz="quarter" idx="11"/>
          </p:nvPr>
        </p:nvSpPr>
        <p:spPr/>
        <p:txBody>
          <a:bodyPr/>
          <a:lstStyle/>
          <a:p>
            <a:r>
              <a:rPr lang="es-PE"/>
              <a:t>Nombre de Curso</a:t>
            </a:r>
            <a:endParaRPr lang="es-PE" dirty="0"/>
          </a:p>
        </p:txBody>
      </p:sp>
      <p:sp>
        <p:nvSpPr>
          <p:cNvPr id="9" name="Marcador de número de diapositiva 8">
            <a:extLst>
              <a:ext uri="{FF2B5EF4-FFF2-40B4-BE49-F238E27FC236}">
                <a16:creationId xmlns:a16="http://schemas.microsoft.com/office/drawing/2014/main" id="{C596F09D-DC31-489D-B4ED-C366F8894D98}"/>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66910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EBB98E25-E046-416A-8AD2-E2EA35E0D47B}" type="datetime6">
              <a:rPr lang="es-PE" smtClean="0"/>
              <a:t>Junio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602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373F8130-A112-4F15-AFC2-368CC75448B6}" type="datetime6">
              <a:rPr lang="es-PE" smtClean="0"/>
              <a:t>Junio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
        <p:nvSpPr>
          <p:cNvPr id="2" name="Title 1">
            <a:extLst>
              <a:ext uri="{FF2B5EF4-FFF2-40B4-BE49-F238E27FC236}">
                <a16:creationId xmlns:a16="http://schemas.microsoft.com/office/drawing/2014/main" id="{1C996BDD-8036-732D-98BA-0F2E3735264C}"/>
              </a:ext>
            </a:extLst>
          </p:cNvPr>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3308758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D79D8E-AB04-8E45-9319-348AC3CB4E56}"/>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1049A28C-F211-4BC4-A82C-550C2815AB6D}" type="datetime6">
              <a:rPr lang="es-PE" smtClean="0"/>
              <a:t>Junio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297A3063-101A-4748-9BF4-BDCEAD74E9C2}"/>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78165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C011ED01-9170-4915-AD68-3CC34DFA2DBD}" type="datetime6">
              <a:rPr lang="es-PE" smtClean="0"/>
              <a:t>Junio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s-PE"/>
              <a:t>Nombre de Curso</a:t>
            </a:r>
            <a:endParaRPr lang="es-PE" dirty="0"/>
          </a:p>
        </p:txBody>
      </p:sp>
      <p:sp>
        <p:nvSpPr>
          <p:cNvPr id="7" name="Marcador de número de diapositiva 6">
            <a:extLst>
              <a:ext uri="{FF2B5EF4-FFF2-40B4-BE49-F238E27FC236}">
                <a16:creationId xmlns:a16="http://schemas.microsoft.com/office/drawing/2014/main" id="{F38F1C9D-46B9-3A4E-AB57-99CFCB4F8DD3}"/>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9506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A6E0DE35-9A49-4AAC-8B2C-BA4A347498EB}" type="datetime6">
              <a:rPr lang="es-PE" smtClean="0"/>
              <a:t>Junio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s-PE"/>
              <a:t>Nombre de Curso</a:t>
            </a:r>
          </a:p>
        </p:txBody>
      </p:sp>
      <p:sp>
        <p:nvSpPr>
          <p:cNvPr id="9" name="Marcador de número de diapositiva 8">
            <a:extLst>
              <a:ext uri="{FF2B5EF4-FFF2-40B4-BE49-F238E27FC236}">
                <a16:creationId xmlns:a16="http://schemas.microsoft.com/office/drawing/2014/main" id="{0C83630D-DB33-894E-A6FB-7C886A314F51}"/>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531018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F12BB3AF-5458-4635-87B4-F9A9B12C5458}" type="datetime6">
              <a:rPr lang="es-PE" smtClean="0"/>
              <a:t>Junio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C40BCAD-F69B-D846-B7D1-F816049E47BA}"/>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011520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EC194354-6BA5-49FF-BF43-87C4B22E98B4}" type="datetime6">
              <a:rPr lang="es-PE" smtClean="0"/>
              <a:t>Junio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D665C2B-C547-9D48-897C-C27108ED3FE5}"/>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656347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2C670608-F1FB-45F6-860F-922B6EF37ED4}" type="datetime6">
              <a:rPr lang="es-PE" smtClean="0"/>
              <a:t>Junio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609B5093-2547-5848-96C5-63FA5D8ACCB4}"/>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41929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93D078BD-AB8A-4345-9035-53D22F2B3257}" type="datetime6">
              <a:rPr lang="es-PE" smtClean="0"/>
              <a:t>Junio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7F95E045-43DC-F64F-8427-01C4927DE3DF}"/>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5393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a:xfrm>
            <a:off x="838200" y="1998617"/>
            <a:ext cx="10515600" cy="3304903"/>
          </a:xfrm>
          <a:prstGeom prst="rect">
            <a:avLst/>
          </a:prstGeom>
        </p:spPr>
        <p:txBody>
          <a:bodyPr/>
          <a:lstStyle>
            <a:lvl1pPr>
              <a:defRPr sz="2400"/>
            </a:lvl1pPr>
            <a:lvl2pPr>
              <a:defRPr sz="2200"/>
            </a:lvl2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67B51771-42A4-45B0-9E2A-31E6848B072B}" type="datetime6">
              <a:rPr lang="es-PE" smtClean="0"/>
              <a:t>Junio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título 1">
            <a:extLst>
              <a:ext uri="{FF2B5EF4-FFF2-40B4-BE49-F238E27FC236}">
                <a16:creationId xmlns:a16="http://schemas.microsoft.com/office/drawing/2014/main" id="{A687CBB4-B26D-433C-982F-3DCCCFE5C7DF}"/>
              </a:ext>
            </a:extLst>
          </p:cNvPr>
          <p:cNvSpPr>
            <a:spLocks noGrp="1"/>
          </p:cNvSpPr>
          <p:nvPr>
            <p:ph type="title"/>
          </p:nvPr>
        </p:nvSpPr>
        <p:spPr>
          <a:xfrm>
            <a:off x="838200" y="1118824"/>
            <a:ext cx="10515600"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2" name="Marcador de número de diapositiva 5">
            <a:extLst>
              <a:ext uri="{FF2B5EF4-FFF2-40B4-BE49-F238E27FC236}">
                <a16:creationId xmlns:a16="http://schemas.microsoft.com/office/drawing/2014/main" id="{D43F6072-5465-F57A-EF21-56204254D97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642845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6" name="Marcador de fecha 5">
            <a:extLst>
              <a:ext uri="{FF2B5EF4-FFF2-40B4-BE49-F238E27FC236}">
                <a16:creationId xmlns:a16="http://schemas.microsoft.com/office/drawing/2014/main" id="{5F0A72E7-2671-47A4-AF35-66459EA16402}"/>
              </a:ext>
            </a:extLst>
          </p:cNvPr>
          <p:cNvSpPr>
            <a:spLocks noGrp="1"/>
          </p:cNvSpPr>
          <p:nvPr>
            <p:ph type="dt" sz="half" idx="10"/>
          </p:nvPr>
        </p:nvSpPr>
        <p:spPr/>
        <p:txBody>
          <a:bodyPr/>
          <a:lstStyle/>
          <a:p>
            <a:fld id="{F700D25D-3002-4A58-8B13-21BD8EE61204}" type="datetime6">
              <a:rPr lang="es-PE" smtClean="0"/>
              <a:t>Junio de 2026</a:t>
            </a:fld>
            <a:endParaRPr lang="es-PE"/>
          </a:p>
        </p:txBody>
      </p:sp>
      <p:sp>
        <p:nvSpPr>
          <p:cNvPr id="8" name="Marcador de pie de página 7">
            <a:extLst>
              <a:ext uri="{FF2B5EF4-FFF2-40B4-BE49-F238E27FC236}">
                <a16:creationId xmlns:a16="http://schemas.microsoft.com/office/drawing/2014/main" id="{486C3314-7415-4B69-9C72-28C2155C4CD0}"/>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Marcador de número de diapositiva 5">
            <a:extLst>
              <a:ext uri="{FF2B5EF4-FFF2-40B4-BE49-F238E27FC236}">
                <a16:creationId xmlns:a16="http://schemas.microsoft.com/office/drawing/2014/main" id="{07477A4A-ECCB-8B69-A47C-30FB4783A444}"/>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655517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D791DECC-10B9-4F40-90A9-2F5BE622FB80}" type="datetime6">
              <a:rPr lang="es-PE" smtClean="0"/>
              <a:t>Junio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Title 1">
            <a:extLst>
              <a:ext uri="{FF2B5EF4-FFF2-40B4-BE49-F238E27FC236}">
                <a16:creationId xmlns:a16="http://schemas.microsoft.com/office/drawing/2014/main" id="{843278E2-83A6-F38B-4712-926F3DB9B8D5}"/>
              </a:ext>
            </a:extLst>
          </p:cNvPr>
          <p:cNvSpPr>
            <a:spLocks noGrp="1"/>
          </p:cNvSpPr>
          <p:nvPr>
            <p:ph type="title"/>
          </p:nvPr>
        </p:nvSpPr>
        <p:spPr/>
        <p:txBody>
          <a:bodyPr/>
          <a:lstStyle/>
          <a:p>
            <a:r>
              <a:rPr lang="en-US"/>
              <a:t>Click to edit Master title style</a:t>
            </a:r>
            <a:endParaRPr lang="es-PE"/>
          </a:p>
        </p:txBody>
      </p:sp>
      <p:sp>
        <p:nvSpPr>
          <p:cNvPr id="6" name="Marcador de número de diapositiva 5">
            <a:extLst>
              <a:ext uri="{FF2B5EF4-FFF2-40B4-BE49-F238E27FC236}">
                <a16:creationId xmlns:a16="http://schemas.microsoft.com/office/drawing/2014/main" id="{0E5A0FF8-286D-9381-1F09-B45262982152}"/>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256149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10" name="Marcador de fecha 9">
            <a:extLst>
              <a:ext uri="{FF2B5EF4-FFF2-40B4-BE49-F238E27FC236}">
                <a16:creationId xmlns:a16="http://schemas.microsoft.com/office/drawing/2014/main" id="{F008D962-BEC4-402A-A407-79C9AD9F26BE}"/>
              </a:ext>
            </a:extLst>
          </p:cNvPr>
          <p:cNvSpPr>
            <a:spLocks noGrp="1"/>
          </p:cNvSpPr>
          <p:nvPr>
            <p:ph type="dt" sz="half" idx="10"/>
          </p:nvPr>
        </p:nvSpPr>
        <p:spPr/>
        <p:txBody>
          <a:bodyPr/>
          <a:lstStyle/>
          <a:p>
            <a:fld id="{93BC0233-ABB9-4EC0-9B00-FB2CD5E81D0A}" type="datetime6">
              <a:rPr lang="es-PE" smtClean="0"/>
              <a:t>Junio de 2026</a:t>
            </a:fld>
            <a:endParaRPr lang="es-PE"/>
          </a:p>
        </p:txBody>
      </p:sp>
      <p:sp>
        <p:nvSpPr>
          <p:cNvPr id="11" name="Marcador de pie de página 10">
            <a:extLst>
              <a:ext uri="{FF2B5EF4-FFF2-40B4-BE49-F238E27FC236}">
                <a16:creationId xmlns:a16="http://schemas.microsoft.com/office/drawing/2014/main" id="{3750F3DD-81E0-4125-8E5B-E0A1E304810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4" name="Marcador de número de diapositiva 5">
            <a:extLst>
              <a:ext uri="{FF2B5EF4-FFF2-40B4-BE49-F238E27FC236}">
                <a16:creationId xmlns:a16="http://schemas.microsoft.com/office/drawing/2014/main" id="{9B72A45B-A8B6-53D1-D299-D8D234C35C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733004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a:xfrm>
            <a:off x="838200" y="860424"/>
            <a:ext cx="10515600" cy="779463"/>
          </a:xfrm>
          <a:prstGeom prst="rect">
            <a:avLst/>
          </a:prstGeom>
        </p:spPr>
        <p:txBody>
          <a:bodyPr/>
          <a:lstStyle/>
          <a:p>
            <a:r>
              <a:rPr lang="es-ES" dirty="0"/>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F9832517-B618-4C30-966E-4CE57A9A4AD9}" type="datetime6">
              <a:rPr lang="es-PE" smtClean="0"/>
              <a:t>Junio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975A041E-5422-B9D8-43AC-BC8E8410A5B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4055190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D786572F-C44F-4ECE-A2FB-0C63931A9A8E}" type="datetime6">
              <a:rPr lang="es-PE" smtClean="0"/>
              <a:t>Junio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10" name="Marcador de número de diapositiva 5">
            <a:extLst>
              <a:ext uri="{FF2B5EF4-FFF2-40B4-BE49-F238E27FC236}">
                <a16:creationId xmlns:a16="http://schemas.microsoft.com/office/drawing/2014/main" id="{024E81AF-5ACD-3527-83DB-C9AD4CA08FFF}"/>
              </a:ext>
            </a:extLst>
          </p:cNvPr>
          <p:cNvSpPr>
            <a:spLocks noGrp="1"/>
          </p:cNvSpPr>
          <p:nvPr>
            <p:ph type="sldNum" sz="quarter" idx="12"/>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108079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51E65C4A-DDA2-4FA4-84CD-631E9785E0C4}" type="datetime6">
              <a:rPr lang="es-PE" smtClean="0"/>
              <a:t>Junio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59D5B90D-729B-0333-8733-D407F4441309}"/>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4487264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7C576157-6C99-4927-8D4B-5792D6D36C68}" type="datetime6">
              <a:rPr lang="es-PE" smtClean="0"/>
              <a:t>Junio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C8F8A8AE-3D1C-5104-BD49-852FD075A3B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918953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a:xfrm>
            <a:off x="838200" y="1001711"/>
            <a:ext cx="10515600" cy="779463"/>
          </a:xfrm>
          <a:prstGeom prst="rect">
            <a:avLst/>
          </a:prstGeom>
        </p:spPr>
        <p:txBody>
          <a:bodyPr/>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a:xfrm>
            <a:off x="838200" y="2108197"/>
            <a:ext cx="10515600" cy="4068765"/>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F9ACE1B8-50E8-41AE-B289-DDEF242637E2}" type="datetime6">
              <a:rPr lang="es-PE" smtClean="0"/>
              <a:t>Junio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E4FC7515-E45E-EA9E-AB33-84FFF36BD2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522493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a:prstGeom prst="rect">
            <a:avLst/>
          </a:prstGeom>
        </p:spPr>
        <p:txBody>
          <a:bodyPr vert="eaVert"/>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A6B82286-761A-4DF9-BC80-ED7ACDE5A868}" type="datetime6">
              <a:rPr lang="es-PE" smtClean="0"/>
              <a:t>Junio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9245C2B-EA67-6FB3-B251-E41C031854F1}"/>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324469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E40041-0AC9-F54A-8CD6-2C6E25C00435}"/>
              </a:ext>
            </a:extLst>
          </p:cNvPr>
          <p:cNvSpPr>
            <a:spLocks noGrp="1"/>
          </p:cNvSpPr>
          <p:nvPr>
            <p:ph type="ctrTitle" hasCustomPrompt="1"/>
          </p:nvPr>
        </p:nvSpPr>
        <p:spPr>
          <a:xfrm>
            <a:off x="2628900" y="2314574"/>
            <a:ext cx="7181850" cy="2224781"/>
          </a:xfrm>
        </p:spPr>
        <p:txBody>
          <a:bodyPr anchor="b"/>
          <a:lstStyle>
            <a:lvl1pPr algn="ctr">
              <a:defRPr sz="6000">
                <a:solidFill>
                  <a:schemeClr val="accent1"/>
                </a:solidFill>
                <a:latin typeface="+mj-lt"/>
                <a:cs typeface="Arial" panose="020B0604020202020204" pitchFamily="34" charset="0"/>
              </a:defRPr>
            </a:lvl1pPr>
          </a:lstStyle>
          <a:p>
            <a:r>
              <a:rPr lang="es-ES" dirty="0"/>
              <a:t>Título de clase</a:t>
            </a:r>
            <a:endParaRPr lang="es-PE" dirty="0"/>
          </a:p>
        </p:txBody>
      </p:sp>
      <p:sp>
        <p:nvSpPr>
          <p:cNvPr id="3" name="Subtítulo 2">
            <a:extLst>
              <a:ext uri="{FF2B5EF4-FFF2-40B4-BE49-F238E27FC236}">
                <a16:creationId xmlns:a16="http://schemas.microsoft.com/office/drawing/2014/main" id="{3F940FCB-6F03-EA41-B8CA-B38BB6401CE1}"/>
              </a:ext>
            </a:extLst>
          </p:cNvPr>
          <p:cNvSpPr>
            <a:spLocks noGrp="1"/>
          </p:cNvSpPr>
          <p:nvPr>
            <p:ph type="subTitle" idx="1" hasCustomPrompt="1"/>
          </p:nvPr>
        </p:nvSpPr>
        <p:spPr>
          <a:xfrm>
            <a:off x="9810750" y="4539355"/>
            <a:ext cx="2131452" cy="651770"/>
          </a:xfrm>
        </p:spPr>
        <p:txBody>
          <a:bodyPr anchor="ctr">
            <a:normAutofit/>
          </a:bodyPr>
          <a:lstStyle>
            <a:lvl1pPr marL="0" indent="0" algn="ctr">
              <a:buNone/>
              <a:defRPr sz="4000" b="1">
                <a:solidFill>
                  <a:schemeClr val="bg1"/>
                </a:solidFill>
                <a:latin typeface="+mj-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2023</a:t>
            </a:r>
            <a:endParaRPr lang="es-PE" dirty="0"/>
          </a:p>
        </p:txBody>
      </p:sp>
      <p:sp>
        <p:nvSpPr>
          <p:cNvPr id="11" name="Marcador de pie de página 4">
            <a:extLst>
              <a:ext uri="{FF2B5EF4-FFF2-40B4-BE49-F238E27FC236}">
                <a16:creationId xmlns:a16="http://schemas.microsoft.com/office/drawing/2014/main" id="{409037FA-8AD4-46E6-D14A-A0B5918A9F7B}"/>
              </a:ext>
            </a:extLst>
          </p:cNvPr>
          <p:cNvSpPr>
            <a:spLocks noGrp="1"/>
          </p:cNvSpPr>
          <p:nvPr>
            <p:ph type="ftr" sz="quarter" idx="11"/>
          </p:nvPr>
        </p:nvSpPr>
        <p:spPr>
          <a:xfrm>
            <a:off x="2628900" y="326688"/>
            <a:ext cx="4114800" cy="365125"/>
          </a:xfrm>
        </p:spPr>
        <p:txBody>
          <a:bodyPr/>
          <a:lstStyle>
            <a:lvl1pPr>
              <a:defRPr>
                <a:solidFill>
                  <a:schemeClr val="bg1"/>
                </a:solidFill>
              </a:defRPr>
            </a:lvl1pPr>
          </a:lstStyle>
          <a:p>
            <a:r>
              <a:rPr lang="en-US" dirty="0" err="1"/>
              <a:t>Nombre</a:t>
            </a:r>
            <a:r>
              <a:rPr lang="en-US" dirty="0"/>
              <a:t> de </a:t>
            </a:r>
            <a:r>
              <a:rPr lang="en-US" dirty="0" err="1"/>
              <a:t>Curso</a:t>
            </a:r>
            <a:endParaRPr lang="es-PE" sz="800" dirty="0"/>
          </a:p>
        </p:txBody>
      </p:sp>
      <p:sp>
        <p:nvSpPr>
          <p:cNvPr id="6" name="Text Placeholder 5">
            <a:extLst>
              <a:ext uri="{FF2B5EF4-FFF2-40B4-BE49-F238E27FC236}">
                <a16:creationId xmlns:a16="http://schemas.microsoft.com/office/drawing/2014/main" id="{D1CC77DF-7156-87EC-5584-40C3F6286139}"/>
              </a:ext>
            </a:extLst>
          </p:cNvPr>
          <p:cNvSpPr>
            <a:spLocks noGrp="1"/>
          </p:cNvSpPr>
          <p:nvPr>
            <p:ph type="body" sz="quarter" idx="12" hasCustomPrompt="1"/>
          </p:nvPr>
        </p:nvSpPr>
        <p:spPr>
          <a:xfrm>
            <a:off x="374057" y="6089066"/>
            <a:ext cx="4100513" cy="440147"/>
          </a:xfrm>
        </p:spPr>
        <p:txBody>
          <a:bodyPr/>
          <a:lstStyle>
            <a:lvl1pPr marL="0" indent="0">
              <a:buClr>
                <a:schemeClr val="accent6"/>
              </a:buClr>
              <a:buNone/>
              <a:defRPr>
                <a:solidFill>
                  <a:schemeClr val="bg1"/>
                </a:solidFill>
              </a:defRPr>
            </a:lvl1pPr>
            <a:lvl2pPr>
              <a:buClr>
                <a:schemeClr val="accent6"/>
              </a:buClr>
              <a:defRPr>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n-US" dirty="0" err="1"/>
              <a:t>Nombre</a:t>
            </a:r>
            <a:r>
              <a:rPr lang="en-US" dirty="0"/>
              <a:t> de </a:t>
            </a:r>
            <a:r>
              <a:rPr lang="en-US" dirty="0" err="1"/>
              <a:t>Profesor</a:t>
            </a:r>
            <a:endParaRPr lang="es-PE" dirty="0"/>
          </a:p>
        </p:txBody>
      </p:sp>
    </p:spTree>
    <p:extLst>
      <p:ext uri="{BB962C8B-B14F-4D97-AF65-F5344CB8AC3E}">
        <p14:creationId xmlns:p14="http://schemas.microsoft.com/office/powerpoint/2010/main" val="3810030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93893" y="4999970"/>
            <a:ext cx="3339907" cy="717550"/>
          </a:xfrm>
        </p:spPr>
        <p:txBody>
          <a:bodyPr>
            <a:noAutofit/>
          </a:bodyPr>
          <a:lstStyle>
            <a:lvl1pPr algn="ctr">
              <a:defRPr sz="2800">
                <a:solidFill>
                  <a:schemeClr val="bg1"/>
                </a:solidFill>
                <a:latin typeface="+mj-lt"/>
                <a:cs typeface="Arial" panose="020B0604020202020204" pitchFamily="34" charset="0"/>
              </a:defRPr>
            </a:lvl1pPr>
          </a:lstStyle>
          <a:p>
            <a:r>
              <a:rPr lang="en-US" dirty="0" err="1"/>
              <a:t>Título</a:t>
            </a:r>
            <a:endParaRPr lang="es-PE" dirty="0"/>
          </a:p>
        </p:txBody>
      </p:sp>
      <p:sp>
        <p:nvSpPr>
          <p:cNvPr id="3" name="Marcador de contenido 2">
            <a:extLst>
              <a:ext uri="{FF2B5EF4-FFF2-40B4-BE49-F238E27FC236}">
                <a16:creationId xmlns:a16="http://schemas.microsoft.com/office/drawing/2014/main" id="{AE333C54-732D-4A5F-8493-6279F2718CD3}"/>
              </a:ext>
            </a:extLst>
          </p:cNvPr>
          <p:cNvSpPr>
            <a:spLocks noGrp="1"/>
          </p:cNvSpPr>
          <p:nvPr>
            <p:ph idx="1"/>
          </p:nvPr>
        </p:nvSpPr>
        <p:spPr>
          <a:xfrm>
            <a:off x="4622993" y="1285875"/>
            <a:ext cx="6851456" cy="4072870"/>
          </a:xfrm>
        </p:spPr>
        <p:txBody>
          <a:bodyPr/>
          <a:lstStyle>
            <a:lvl1pPr marL="228600" indent="-228600">
              <a:buClr>
                <a:schemeClr val="accent1"/>
              </a:buClr>
              <a:buFontTx/>
              <a:buChar char="•"/>
              <a:defRPr>
                <a:solidFill>
                  <a:schemeClr val="tx1"/>
                </a:solidFill>
              </a:defRPr>
            </a:lvl1pPr>
            <a:lvl2pPr marL="685800" indent="-228600">
              <a:buClr>
                <a:schemeClr val="accent1"/>
              </a:buClr>
              <a:buFontTx/>
              <a:buChar char="•"/>
              <a:defRPr>
                <a:solidFill>
                  <a:schemeClr val="tx1"/>
                </a:solidFill>
              </a:defRPr>
            </a:lvl2pPr>
            <a:lvl3pPr marL="1143000" indent="-228600">
              <a:buClr>
                <a:schemeClr val="accent1"/>
              </a:buClr>
              <a:buFontTx/>
              <a:buChar char="•"/>
              <a:defRPr>
                <a:solidFill>
                  <a:schemeClr val="tx1"/>
                </a:solidFill>
              </a:defRPr>
            </a:lvl3pPr>
            <a:lvl4pPr marL="1600200" indent="-228600">
              <a:buClr>
                <a:schemeClr val="accent1"/>
              </a:buClr>
              <a:buSzPct val="70000"/>
              <a:buFontTx/>
              <a:buChar char="•"/>
              <a:defRPr>
                <a:solidFill>
                  <a:schemeClr val="tx1"/>
                </a:solidFill>
              </a:defRPr>
            </a:lvl4pPr>
            <a:lvl5pPr marL="2057400" indent="-228600">
              <a:buClr>
                <a:schemeClr val="accent1"/>
              </a:buClr>
              <a:buSzPct val="50000"/>
              <a:buFontTx/>
              <a:buChar char="•"/>
              <a:defRPr>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F12D76C1-E4EF-42D1-88E3-B3E1BE457EF7}" type="datetime6">
              <a:rPr lang="es-PE" smtClean="0"/>
              <a:t>Junio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lvl1pPr>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37014226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936BE4A0-0EF9-4513-98D7-49E1F009126F}" type="datetime6">
              <a:rPr lang="es-PE" smtClean="0"/>
              <a:t>Junio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
        <p:nvSpPr>
          <p:cNvPr id="6" name="Rectangle 5">
            <a:extLst>
              <a:ext uri="{FF2B5EF4-FFF2-40B4-BE49-F238E27FC236}">
                <a16:creationId xmlns:a16="http://schemas.microsoft.com/office/drawing/2014/main" id="{C5722D55-BD67-C2D0-8DB9-2255495858E9}"/>
              </a:ext>
            </a:extLst>
          </p:cNvPr>
          <p:cNvSpPr/>
          <p:nvPr userDrawn="1"/>
        </p:nvSpPr>
        <p:spPr>
          <a:xfrm>
            <a:off x="-1" y="1888177"/>
            <a:ext cx="8737793" cy="224443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23849" y="2162175"/>
            <a:ext cx="8067675" cy="1695450"/>
          </a:xfrm>
        </p:spPr>
        <p:txBody>
          <a:bodyPr>
            <a:noAutofit/>
          </a:bodyPr>
          <a:lstStyle>
            <a:lvl1pPr>
              <a:defRPr sz="6000">
                <a:solidFill>
                  <a:schemeClr val="bg1"/>
                </a:solidFill>
                <a:latin typeface="+mj-lt"/>
                <a:cs typeface="Arial" panose="020B0604020202020204" pitchFamily="34" charset="0"/>
              </a:defRPr>
            </a:lvl1pPr>
          </a:lstStyle>
          <a:p>
            <a:r>
              <a:rPr lang="es-ES" dirty="0"/>
              <a:t>Nueva Sección</a:t>
            </a:r>
            <a:endParaRPr lang="es-PE" dirty="0"/>
          </a:p>
        </p:txBody>
      </p:sp>
    </p:spTree>
    <p:extLst>
      <p:ext uri="{BB962C8B-B14F-4D97-AF65-F5344CB8AC3E}">
        <p14:creationId xmlns:p14="http://schemas.microsoft.com/office/powerpoint/2010/main" val="1150541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CFF21E75-C2F6-4021-B002-DFF0EB1C555C}" type="datetime6">
              <a:rPr lang="es-PE" smtClean="0"/>
              <a:t>Junio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32324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Junio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49086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ángulo redondeado 9">
            <a:extLst>
              <a:ext uri="{FF2B5EF4-FFF2-40B4-BE49-F238E27FC236}">
                <a16:creationId xmlns:a16="http://schemas.microsoft.com/office/drawing/2014/main" id="{24F721D9-3A4E-DA31-4304-76691E23E80D}"/>
              </a:ext>
            </a:extLst>
          </p:cNvPr>
          <p:cNvSpPr/>
          <p:nvPr userDrawn="1"/>
        </p:nvSpPr>
        <p:spPr>
          <a:xfrm>
            <a:off x="838200" y="2024743"/>
            <a:ext cx="9716589" cy="3843644"/>
          </a:xfrm>
          <a:prstGeom prst="roundRect">
            <a:avLst>
              <a:gd name="adj" fmla="val 6011"/>
            </a:avLst>
          </a:prstGeom>
          <a:solidFill>
            <a:srgbClr val="0A2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tLang="es-PE" sz="2000" b="1" dirty="0">
              <a:solidFill>
                <a:schemeClr val="bg1"/>
              </a:solidFill>
              <a:latin typeface="Montserrat" pitchFamily="2" charset="77"/>
            </a:endParaRPr>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Junio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buClr>
                <a:schemeClr val="accent6"/>
              </a:buClr>
              <a:defRPr sz="2400">
                <a:solidFill>
                  <a:schemeClr val="bg1"/>
                </a:solidFill>
              </a:defRPr>
            </a:lvl1pPr>
            <a:lvl2pPr>
              <a:buClr>
                <a:schemeClr val="accent6"/>
              </a:buClr>
              <a:defRPr sz="2200">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Tree>
    <p:extLst>
      <p:ext uri="{BB962C8B-B14F-4D97-AF65-F5344CB8AC3E}">
        <p14:creationId xmlns:p14="http://schemas.microsoft.com/office/powerpoint/2010/main" val="195278651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p:nvPr>
        </p:nvSpPr>
        <p:spPr>
          <a:xfrm>
            <a:off x="2295525" y="2549525"/>
            <a:ext cx="5162550" cy="1555750"/>
          </a:xfrm>
        </p:spPr>
        <p:txBody>
          <a:bodyPr anchor="b">
            <a:normAutofit/>
          </a:bodyPr>
          <a:lstStyle>
            <a:lvl1pPr algn="ctr">
              <a:defRPr sz="36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pic>
        <p:nvPicPr>
          <p:cNvPr id="6" name="Imagen 5">
            <a:extLst>
              <a:ext uri="{FF2B5EF4-FFF2-40B4-BE49-F238E27FC236}">
                <a16:creationId xmlns:a16="http://schemas.microsoft.com/office/drawing/2014/main" id="{6D79D4C0-AA8A-45B0-85A5-1FD89F1DDE6D}"/>
              </a:ext>
            </a:extLst>
          </p:cNvPr>
          <p:cNvPicPr>
            <a:picLocks noChangeAspect="1"/>
          </p:cNvPicPr>
          <p:nvPr userDrawn="1"/>
        </p:nvPicPr>
        <p:blipFill>
          <a:blip r:embed="rId3"/>
          <a:stretch>
            <a:fillRect/>
          </a:stretch>
        </p:blipFill>
        <p:spPr>
          <a:xfrm>
            <a:off x="7503038" y="2635960"/>
            <a:ext cx="1314090" cy="1371600"/>
          </a:xfrm>
          <a:prstGeom prst="rect">
            <a:avLst/>
          </a:prstGeom>
        </p:spPr>
      </p:pic>
    </p:spTree>
    <p:extLst>
      <p:ext uri="{BB962C8B-B14F-4D97-AF65-F5344CB8AC3E}">
        <p14:creationId xmlns:p14="http://schemas.microsoft.com/office/powerpoint/2010/main" val="23283643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hasCustomPrompt="1"/>
          </p:nvPr>
        </p:nvSpPr>
        <p:spPr>
          <a:xfrm>
            <a:off x="3514724" y="663575"/>
            <a:ext cx="7762875" cy="1079500"/>
          </a:xfrm>
        </p:spPr>
        <p:txBody>
          <a:bodyPr anchor="ctr">
            <a:normAutofit/>
          </a:bodyPr>
          <a:lstStyle>
            <a:lvl1pPr algn="ctr">
              <a:defRPr sz="28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spTree>
    <p:extLst>
      <p:ext uri="{BB962C8B-B14F-4D97-AF65-F5344CB8AC3E}">
        <p14:creationId xmlns:p14="http://schemas.microsoft.com/office/powerpoint/2010/main" val="37647276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entrada" type="blank">
  <p:cSld name="entrada">
    <p:spTree>
      <p:nvGrpSpPr>
        <p:cNvPr id="1" name="Shape 14"/>
        <p:cNvGrpSpPr/>
        <p:nvPr/>
      </p:nvGrpSpPr>
      <p:grpSpPr>
        <a:xfrm>
          <a:off x="0" y="0"/>
          <a:ext cx="0" cy="0"/>
          <a:chOff x="0" y="0"/>
          <a:chExt cx="0" cy="0"/>
        </a:xfrm>
      </p:grpSpPr>
      <p:sp>
        <p:nvSpPr>
          <p:cNvPr id="15" name="Google Shape;15;p2"/>
          <p:cNvSpPr/>
          <p:nvPr/>
        </p:nvSpPr>
        <p:spPr>
          <a:xfrm>
            <a:off x="0" y="-17314"/>
            <a:ext cx="12192000" cy="6858000"/>
          </a:xfrm>
          <a:prstGeom prst="rect">
            <a:avLst/>
          </a:prstGeom>
          <a:solidFill>
            <a:srgbClr val="00B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7" name="Google Shape;17;p2"/>
          <p:cNvPicPr preferRelativeResize="0">
            <a:picLocks noChangeAspect="1"/>
          </p:cNvPicPr>
          <p:nvPr/>
        </p:nvPicPr>
        <p:blipFill>
          <a:blip r:embed="rId2"/>
          <a:srcRect/>
          <a:stretch/>
        </p:blipFill>
        <p:spPr>
          <a:xfrm>
            <a:off x="6672059" y="2777043"/>
            <a:ext cx="4686308" cy="1389600"/>
          </a:xfrm>
          <a:prstGeom prst="rect">
            <a:avLst/>
          </a:prstGeom>
          <a:noFill/>
          <a:ln>
            <a:noFill/>
          </a:ln>
        </p:spPr>
      </p:pic>
      <p:sp>
        <p:nvSpPr>
          <p:cNvPr id="2" name="Rectángulo 1">
            <a:extLst>
              <a:ext uri="{FF2B5EF4-FFF2-40B4-BE49-F238E27FC236}">
                <a16:creationId xmlns:a16="http://schemas.microsoft.com/office/drawing/2014/main" id="{C63A0B1C-38C6-4A94-BC53-9378BD6F4196}"/>
              </a:ext>
            </a:extLst>
          </p:cNvPr>
          <p:cNvSpPr/>
          <p:nvPr/>
        </p:nvSpPr>
        <p:spPr>
          <a:xfrm>
            <a:off x="604699"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lipse 2">
            <a:extLst>
              <a:ext uri="{FF2B5EF4-FFF2-40B4-BE49-F238E27FC236}">
                <a16:creationId xmlns:a16="http://schemas.microsoft.com/office/drawing/2014/main" id="{709FF01B-D296-4FC4-86C6-18C1AA1F0700}"/>
              </a:ext>
            </a:extLst>
          </p:cNvPr>
          <p:cNvSpPr>
            <a:spLocks noChangeAspect="1"/>
          </p:cNvSpPr>
          <p:nvPr/>
        </p:nvSpPr>
        <p:spPr>
          <a:xfrm>
            <a:off x="2087026" y="5059599"/>
            <a:ext cx="1476000" cy="1475999"/>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grama de flujo: retraso 3">
            <a:extLst>
              <a:ext uri="{FF2B5EF4-FFF2-40B4-BE49-F238E27FC236}">
                <a16:creationId xmlns:a16="http://schemas.microsoft.com/office/drawing/2014/main" id="{F33AB0F3-5E83-4F73-B1B3-E7FFB7FAC1CF}"/>
              </a:ext>
            </a:extLst>
          </p:cNvPr>
          <p:cNvSpPr>
            <a:spLocks/>
          </p:cNvSpPr>
          <p:nvPr/>
        </p:nvSpPr>
        <p:spPr>
          <a:xfrm>
            <a:off x="604699" y="3568509"/>
            <a:ext cx="1476000" cy="1476000"/>
          </a:xfrm>
          <a:prstGeom prst="flowChartDela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írculo parcial 4">
            <a:extLst>
              <a:ext uri="{FF2B5EF4-FFF2-40B4-BE49-F238E27FC236}">
                <a16:creationId xmlns:a16="http://schemas.microsoft.com/office/drawing/2014/main" id="{E01F752C-EAF0-4FBF-B895-7C40EAE76E6B}"/>
              </a:ext>
            </a:extLst>
          </p:cNvPr>
          <p:cNvSpPr>
            <a:spLocks noChangeAspect="1"/>
          </p:cNvSpPr>
          <p:nvPr/>
        </p:nvSpPr>
        <p:spPr>
          <a:xfrm>
            <a:off x="2080320" y="3578476"/>
            <a:ext cx="2934000" cy="2934000"/>
          </a:xfrm>
          <a:prstGeom prst="pie">
            <a:avLst>
              <a:gd name="adj1" fmla="val 16194402"/>
              <a:gd name="adj2" fmla="val 695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ángulo 8">
            <a:extLst>
              <a:ext uri="{FF2B5EF4-FFF2-40B4-BE49-F238E27FC236}">
                <a16:creationId xmlns:a16="http://schemas.microsoft.com/office/drawing/2014/main" id="{7508BC26-9C42-409E-A296-12A08043B847}"/>
              </a:ext>
            </a:extLst>
          </p:cNvPr>
          <p:cNvSpPr/>
          <p:nvPr/>
        </p:nvSpPr>
        <p:spPr>
          <a:xfrm>
            <a:off x="2072388" y="3577936"/>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írculo parcial 5">
            <a:extLst>
              <a:ext uri="{FF2B5EF4-FFF2-40B4-BE49-F238E27FC236}">
                <a16:creationId xmlns:a16="http://schemas.microsoft.com/office/drawing/2014/main" id="{A6B1ED3D-FC35-4A2C-AEA0-527CA60D93D8}"/>
              </a:ext>
            </a:extLst>
          </p:cNvPr>
          <p:cNvSpPr>
            <a:spLocks noChangeAspect="1"/>
          </p:cNvSpPr>
          <p:nvPr/>
        </p:nvSpPr>
        <p:spPr>
          <a:xfrm rot="10800000">
            <a:off x="-821269" y="574219"/>
            <a:ext cx="2857435" cy="2995143"/>
          </a:xfrm>
          <a:prstGeom prst="pie">
            <a:avLst>
              <a:gd name="adj1" fmla="val 5387486"/>
              <a:gd name="adj2" fmla="val 16200000"/>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 name="Grupo 7">
            <a:extLst>
              <a:ext uri="{FF2B5EF4-FFF2-40B4-BE49-F238E27FC236}">
                <a16:creationId xmlns:a16="http://schemas.microsoft.com/office/drawing/2014/main" id="{1EFD23FD-AE29-404D-8F53-1FD009AE807B}"/>
              </a:ext>
            </a:extLst>
          </p:cNvPr>
          <p:cNvGrpSpPr/>
          <p:nvPr/>
        </p:nvGrpSpPr>
        <p:grpSpPr>
          <a:xfrm>
            <a:off x="2087136" y="2123409"/>
            <a:ext cx="1448999" cy="1443249"/>
            <a:chOff x="2118675" y="2004020"/>
            <a:chExt cx="1448999" cy="1443249"/>
          </a:xfrm>
        </p:grpSpPr>
        <p:sp>
          <p:nvSpPr>
            <p:cNvPr id="7" name="Elipse 6">
              <a:extLst>
                <a:ext uri="{FF2B5EF4-FFF2-40B4-BE49-F238E27FC236}">
                  <a16:creationId xmlns:a16="http://schemas.microsoft.com/office/drawing/2014/main" id="{ECAC50A2-CB41-4C53-93C3-5260E20DE2E5}"/>
                </a:ext>
              </a:extLst>
            </p:cNvPr>
            <p:cNvSpPr>
              <a:spLocks noChangeAspect="1"/>
            </p:cNvSpPr>
            <p:nvPr/>
          </p:nvSpPr>
          <p:spPr>
            <a:xfrm>
              <a:off x="2847674" y="2004020"/>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a:extLst>
                <a:ext uri="{FF2B5EF4-FFF2-40B4-BE49-F238E27FC236}">
                  <a16:creationId xmlns:a16="http://schemas.microsoft.com/office/drawing/2014/main" id="{CE6D1487-82A4-4496-B087-91DD796DE7FE}"/>
                </a:ext>
              </a:extLst>
            </p:cNvPr>
            <p:cNvSpPr>
              <a:spLocks noChangeAspect="1"/>
            </p:cNvSpPr>
            <p:nvPr/>
          </p:nvSpPr>
          <p:spPr>
            <a:xfrm>
              <a:off x="2118675" y="2727269"/>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a:extLst>
                <a:ext uri="{FF2B5EF4-FFF2-40B4-BE49-F238E27FC236}">
                  <a16:creationId xmlns:a16="http://schemas.microsoft.com/office/drawing/2014/main" id="{C95F40AB-463C-4C6E-915C-5D6DF55A451C}"/>
                </a:ext>
              </a:extLst>
            </p:cNvPr>
            <p:cNvSpPr>
              <a:spLocks noChangeAspect="1"/>
            </p:cNvSpPr>
            <p:nvPr/>
          </p:nvSpPr>
          <p:spPr>
            <a:xfrm>
              <a:off x="2847674" y="2727269"/>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a:extLst>
                <a:ext uri="{FF2B5EF4-FFF2-40B4-BE49-F238E27FC236}">
                  <a16:creationId xmlns:a16="http://schemas.microsoft.com/office/drawing/2014/main" id="{A7CDF41D-9C35-41E7-8E2B-2AA7C91BEC03}"/>
                </a:ext>
              </a:extLst>
            </p:cNvPr>
            <p:cNvSpPr>
              <a:spLocks noChangeAspect="1"/>
            </p:cNvSpPr>
            <p:nvPr/>
          </p:nvSpPr>
          <p:spPr>
            <a:xfrm>
              <a:off x="2118675" y="200402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ángulo 17">
            <a:extLst>
              <a:ext uri="{FF2B5EF4-FFF2-40B4-BE49-F238E27FC236}">
                <a16:creationId xmlns:a16="http://schemas.microsoft.com/office/drawing/2014/main" id="{03FA7743-AFB1-4869-99F7-BBBF6B5081B5}"/>
              </a:ext>
            </a:extLst>
          </p:cNvPr>
          <p:cNvSpPr/>
          <p:nvPr/>
        </p:nvSpPr>
        <p:spPr>
          <a:xfrm>
            <a:off x="3540368"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írculo parcial 18">
            <a:extLst>
              <a:ext uri="{FF2B5EF4-FFF2-40B4-BE49-F238E27FC236}">
                <a16:creationId xmlns:a16="http://schemas.microsoft.com/office/drawing/2014/main" id="{9EEB8DCE-7E2B-489A-B839-B10110611D97}"/>
              </a:ext>
            </a:extLst>
          </p:cNvPr>
          <p:cNvSpPr>
            <a:spLocks noChangeAspect="1"/>
          </p:cNvSpPr>
          <p:nvPr/>
        </p:nvSpPr>
        <p:spPr>
          <a:xfrm>
            <a:off x="3552087" y="5048742"/>
            <a:ext cx="2934000" cy="2934000"/>
          </a:xfrm>
          <a:prstGeom prst="pie">
            <a:avLst>
              <a:gd name="adj1" fmla="val 16202562"/>
              <a:gd name="adj2" fmla="val 1644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30892124"/>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8"/>
        <p:cNvGrpSpPr/>
        <p:nvPr/>
      </p:nvGrpSpPr>
      <p:grpSpPr>
        <a:xfrm>
          <a:off x="0" y="0"/>
          <a:ext cx="0" cy="0"/>
          <a:chOff x="0" y="0"/>
          <a:chExt cx="0" cy="0"/>
        </a:xfrm>
      </p:grpSpPr>
      <p:pic>
        <p:nvPicPr>
          <p:cNvPr id="19" name="Google Shape;19;p3"/>
          <p:cNvPicPr preferRelativeResize="0">
            <a:picLocks noChangeAspect="1"/>
          </p:cNvPicPr>
          <p:nvPr/>
        </p:nvPicPr>
        <p:blipFill>
          <a:blip r:embed="rId2"/>
          <a:srcRect/>
          <a:stretch/>
        </p:blipFill>
        <p:spPr>
          <a:xfrm>
            <a:off x="3853671" y="5579102"/>
            <a:ext cx="4484658" cy="828000"/>
          </a:xfrm>
          <a:prstGeom prst="rect">
            <a:avLst/>
          </a:prstGeom>
          <a:noFill/>
          <a:ln>
            <a:noFill/>
          </a:ln>
        </p:spPr>
      </p:pic>
      <p:sp>
        <p:nvSpPr>
          <p:cNvPr id="20" name="Google Shape;2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4800"/>
              <a:buFont typeface="Arial"/>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dirty="0"/>
          </a:p>
        </p:txBody>
      </p:sp>
      <p:sp>
        <p:nvSpPr>
          <p:cNvPr id="21" name="Google Shape;21;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648585"/>
              </a:buClr>
              <a:buSzPts val="2400"/>
              <a:buNone/>
              <a:defRPr sz="2400" i="1">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s-ES"/>
              <a:t>Haga clic para modificar el estilo de subtítulo del patrón</a:t>
            </a:r>
            <a:endParaRPr dirty="0"/>
          </a:p>
        </p:txBody>
      </p:sp>
    </p:spTree>
    <p:extLst>
      <p:ext uri="{BB962C8B-B14F-4D97-AF65-F5344CB8AC3E}">
        <p14:creationId xmlns:p14="http://schemas.microsoft.com/office/powerpoint/2010/main" val="1900409351"/>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ido con título" userDrawn="1">
  <p:cSld name="Contenido con título">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839788" y="457200"/>
            <a:ext cx="10354982" cy="56373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dirty="0"/>
          </a:p>
        </p:txBody>
      </p:sp>
      <p:sp>
        <p:nvSpPr>
          <p:cNvPr id="26" name="Google Shape;26;p4"/>
          <p:cNvSpPr/>
          <p:nvPr/>
        </p:nvSpPr>
        <p:spPr>
          <a:xfrm>
            <a:off x="-44525" y="5717000"/>
            <a:ext cx="10127400" cy="939300"/>
          </a:xfrm>
          <a:prstGeom prst="rect">
            <a:avLst/>
          </a:prstGeom>
          <a:solidFill>
            <a:srgbClr val="0020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
          <p:cNvSpPr/>
          <p:nvPr/>
        </p:nvSpPr>
        <p:spPr>
          <a:xfrm>
            <a:off x="8753475" y="5717000"/>
            <a:ext cx="22666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1020286" y="5716955"/>
            <a:ext cx="939300" cy="939300"/>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Imagen 2">
            <a:extLst>
              <a:ext uri="{FF2B5EF4-FFF2-40B4-BE49-F238E27FC236}">
                <a16:creationId xmlns:a16="http://schemas.microsoft.com/office/drawing/2014/main" id="{A970058A-F152-4A93-A50A-BC853F5A4603}"/>
              </a:ext>
            </a:extLst>
          </p:cNvPr>
          <p:cNvPicPr>
            <a:picLocks noChangeAspect="1"/>
          </p:cNvPicPr>
          <p:nvPr/>
        </p:nvPicPr>
        <p:blipFill rotWithShape="1">
          <a:blip r:embed="rId2"/>
          <a:srcRect l="25217"/>
          <a:stretch/>
        </p:blipFill>
        <p:spPr>
          <a:xfrm>
            <a:off x="8929708" y="5954450"/>
            <a:ext cx="1856985" cy="464401"/>
          </a:xfrm>
          <a:prstGeom prst="rect">
            <a:avLst/>
          </a:prstGeom>
        </p:spPr>
      </p:pic>
      <p:sp>
        <p:nvSpPr>
          <p:cNvPr id="30" name="Google Shape;30;p4"/>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31" name="Google Shape;31;p4"/>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dirty="0">
                <a:solidFill>
                  <a:schemeClr val="lt1"/>
                </a:solidFill>
                <a:latin typeface="Arial"/>
                <a:ea typeface="Arial"/>
                <a:cs typeface="Arial"/>
                <a:sym typeface="Arial"/>
              </a:rPr>
              <a:t>Gestión de Servicios TICS</a:t>
            </a:r>
            <a:endParaRPr sz="1600" b="1" i="0" u="none" strike="noStrike" cap="none" dirty="0">
              <a:solidFill>
                <a:schemeClr val="lt1"/>
              </a:solidFill>
              <a:latin typeface="Arial"/>
              <a:ea typeface="Arial"/>
              <a:cs typeface="Arial"/>
              <a:sym typeface="Arial"/>
            </a:endParaRPr>
          </a:p>
        </p:txBody>
      </p:sp>
      <p:pic>
        <p:nvPicPr>
          <p:cNvPr id="13" name="Imagen 12">
            <a:extLst>
              <a:ext uri="{FF2B5EF4-FFF2-40B4-BE49-F238E27FC236}">
                <a16:creationId xmlns:a16="http://schemas.microsoft.com/office/drawing/2014/main" id="{A2396329-D7D9-4B93-942B-A183A1B92BE8}"/>
              </a:ext>
            </a:extLst>
          </p:cNvPr>
          <p:cNvPicPr>
            <a:picLocks noChangeAspect="1"/>
          </p:cNvPicPr>
          <p:nvPr/>
        </p:nvPicPr>
        <p:blipFill rotWithShape="1">
          <a:blip r:embed="rId2"/>
          <a:srcRect r="74783"/>
          <a:stretch/>
        </p:blipFill>
        <p:spPr>
          <a:xfrm>
            <a:off x="7975126" y="5954450"/>
            <a:ext cx="626177" cy="464401"/>
          </a:xfrm>
          <a:prstGeom prst="rect">
            <a:avLst/>
          </a:prstGeom>
        </p:spPr>
      </p:pic>
      <p:sp>
        <p:nvSpPr>
          <p:cNvPr id="2" name="Marcador de contenido 2">
            <a:extLst>
              <a:ext uri="{FF2B5EF4-FFF2-40B4-BE49-F238E27FC236}">
                <a16:creationId xmlns:a16="http://schemas.microsoft.com/office/drawing/2014/main" id="{7ECBAB5C-8012-96CA-82FC-448040DDDDFF}"/>
              </a:ext>
            </a:extLst>
          </p:cNvPr>
          <p:cNvSpPr>
            <a:spLocks noGrp="1"/>
          </p:cNvSpPr>
          <p:nvPr>
            <p:ph idx="1"/>
          </p:nvPr>
        </p:nvSpPr>
        <p:spPr>
          <a:xfrm>
            <a:off x="838200" y="1174983"/>
            <a:ext cx="10354982" cy="4304523"/>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3460903644"/>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ido con título" preserve="1" userDrawn="1">
  <p:cSld name="1_Contenido con título">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839788" y="457200"/>
            <a:ext cx="10354982" cy="56373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dirty="0"/>
          </a:p>
        </p:txBody>
      </p:sp>
      <p:sp>
        <p:nvSpPr>
          <p:cNvPr id="26" name="Google Shape;26;p4"/>
          <p:cNvSpPr/>
          <p:nvPr/>
        </p:nvSpPr>
        <p:spPr>
          <a:xfrm>
            <a:off x="-44525" y="5717000"/>
            <a:ext cx="10127400" cy="939300"/>
          </a:xfrm>
          <a:prstGeom prst="rect">
            <a:avLst/>
          </a:prstGeom>
          <a:solidFill>
            <a:srgbClr val="0020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
          <p:cNvSpPr/>
          <p:nvPr/>
        </p:nvSpPr>
        <p:spPr>
          <a:xfrm>
            <a:off x="8753475" y="5717000"/>
            <a:ext cx="22666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1020286" y="5716955"/>
            <a:ext cx="939300" cy="939300"/>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Imagen 2">
            <a:extLst>
              <a:ext uri="{FF2B5EF4-FFF2-40B4-BE49-F238E27FC236}">
                <a16:creationId xmlns:a16="http://schemas.microsoft.com/office/drawing/2014/main" id="{A970058A-F152-4A93-A50A-BC853F5A4603}"/>
              </a:ext>
            </a:extLst>
          </p:cNvPr>
          <p:cNvPicPr>
            <a:picLocks noChangeAspect="1"/>
          </p:cNvPicPr>
          <p:nvPr/>
        </p:nvPicPr>
        <p:blipFill rotWithShape="1">
          <a:blip r:embed="rId2"/>
          <a:srcRect l="25217"/>
          <a:stretch/>
        </p:blipFill>
        <p:spPr>
          <a:xfrm>
            <a:off x="8929708" y="5954450"/>
            <a:ext cx="1856985" cy="464401"/>
          </a:xfrm>
          <a:prstGeom prst="rect">
            <a:avLst/>
          </a:prstGeom>
        </p:spPr>
      </p:pic>
      <p:sp>
        <p:nvSpPr>
          <p:cNvPr id="30" name="Google Shape;30;p4"/>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31" name="Google Shape;31;p4"/>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dirty="0">
                <a:solidFill>
                  <a:schemeClr val="lt1"/>
                </a:solidFill>
                <a:latin typeface="Arial"/>
                <a:ea typeface="Arial"/>
                <a:cs typeface="Arial"/>
                <a:sym typeface="Arial"/>
              </a:rPr>
              <a:t>Gestión de Servicios TICS</a:t>
            </a:r>
            <a:endParaRPr sz="1600" b="1" i="0" u="none" strike="noStrike" cap="none" dirty="0">
              <a:solidFill>
                <a:schemeClr val="lt1"/>
              </a:solidFill>
              <a:latin typeface="Arial"/>
              <a:ea typeface="Arial"/>
              <a:cs typeface="Arial"/>
              <a:sym typeface="Arial"/>
            </a:endParaRPr>
          </a:p>
        </p:txBody>
      </p:sp>
      <p:pic>
        <p:nvPicPr>
          <p:cNvPr id="13" name="Imagen 12">
            <a:extLst>
              <a:ext uri="{FF2B5EF4-FFF2-40B4-BE49-F238E27FC236}">
                <a16:creationId xmlns:a16="http://schemas.microsoft.com/office/drawing/2014/main" id="{A2396329-D7D9-4B93-942B-A183A1B92BE8}"/>
              </a:ext>
            </a:extLst>
          </p:cNvPr>
          <p:cNvPicPr>
            <a:picLocks noChangeAspect="1"/>
          </p:cNvPicPr>
          <p:nvPr/>
        </p:nvPicPr>
        <p:blipFill rotWithShape="1">
          <a:blip r:embed="rId2"/>
          <a:srcRect r="74783"/>
          <a:stretch/>
        </p:blipFill>
        <p:spPr>
          <a:xfrm>
            <a:off x="7975126" y="5954450"/>
            <a:ext cx="626177" cy="464401"/>
          </a:xfrm>
          <a:prstGeom prst="rect">
            <a:avLst/>
          </a:prstGeom>
        </p:spPr>
      </p:pic>
    </p:spTree>
    <p:extLst>
      <p:ext uri="{BB962C8B-B14F-4D97-AF65-F5344CB8AC3E}">
        <p14:creationId xmlns:p14="http://schemas.microsoft.com/office/powerpoint/2010/main" val="1954306617"/>
      </p:ext>
    </p:extLst>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43" name="Google Shape;43;p6"/>
          <p:cNvSpPr txBox="1">
            <a:spLocks noGrp="1"/>
          </p:cNvSpPr>
          <p:nvPr>
            <p:ph type="body" idx="1"/>
          </p:nvPr>
        </p:nvSpPr>
        <p:spPr>
          <a:xfrm>
            <a:off x="838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4" name="Google Shape;44;p6"/>
          <p:cNvSpPr txBox="1">
            <a:spLocks noGrp="1"/>
          </p:cNvSpPr>
          <p:nvPr>
            <p:ph type="body" idx="2"/>
          </p:nvPr>
        </p:nvSpPr>
        <p:spPr>
          <a:xfrm>
            <a:off x="6172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5" name="Google Shape;45;p6"/>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6"/>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8" name="Google Shape;48;p6"/>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49" name="Google Shape;49;p6"/>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50" name="Google Shape;50;p6"/>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380558209"/>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53" name="Google Shape;53;p7"/>
          <p:cNvSpPr>
            <a:spLocks noGrp="1"/>
          </p:cNvSpPr>
          <p:nvPr>
            <p:ph type="pic" idx="2"/>
          </p:nvPr>
        </p:nvSpPr>
        <p:spPr>
          <a:xfrm>
            <a:off x="5183200" y="987425"/>
            <a:ext cx="6172200" cy="3204300"/>
          </a:xfrm>
          <a:prstGeom prst="rect">
            <a:avLst/>
          </a:prstGeom>
          <a:noFill/>
          <a:ln>
            <a:noFill/>
          </a:ln>
        </p:spPr>
      </p:sp>
      <p:sp>
        <p:nvSpPr>
          <p:cNvPr id="54" name="Google Shape;54;p7"/>
          <p:cNvSpPr txBox="1">
            <a:spLocks noGrp="1"/>
          </p:cNvSpPr>
          <p:nvPr>
            <p:ph type="body" idx="1"/>
          </p:nvPr>
        </p:nvSpPr>
        <p:spPr>
          <a:xfrm>
            <a:off x="839800" y="2057400"/>
            <a:ext cx="3932100" cy="2344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s-ES"/>
              <a:t>Haga clic para modificar los estilos de texto del patrón</a:t>
            </a:r>
          </a:p>
        </p:txBody>
      </p:sp>
      <p:sp>
        <p:nvSpPr>
          <p:cNvPr id="55" name="Google Shape;55;p7"/>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7"/>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7"/>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8" name="Google Shape;58;p7"/>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59" name="Google Shape;59;p7"/>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0" name="Google Shape;60;p7"/>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912560866"/>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63" name="Google Shape;63;p8"/>
          <p:cNvSpPr txBox="1">
            <a:spLocks noGrp="1"/>
          </p:cNvSpPr>
          <p:nvPr>
            <p:ph type="body" idx="1"/>
          </p:nvPr>
        </p:nvSpPr>
        <p:spPr>
          <a:xfrm rot="5400000">
            <a:off x="4161556" y="-1497730"/>
            <a:ext cx="386888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64" name="Google Shape;64;p8"/>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8"/>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8"/>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7" name="Google Shape;67;p8"/>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68" name="Google Shape;68;p8"/>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9" name="Google Shape;69;p8"/>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066214474"/>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rot="5400000">
            <a:off x="7363614" y="1726412"/>
            <a:ext cx="535147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72" name="Google Shape;72;p9"/>
          <p:cNvSpPr txBox="1">
            <a:spLocks noGrp="1"/>
          </p:cNvSpPr>
          <p:nvPr>
            <p:ph type="body" idx="1"/>
          </p:nvPr>
        </p:nvSpPr>
        <p:spPr>
          <a:xfrm rot="5400000">
            <a:off x="2029614" y="-826288"/>
            <a:ext cx="5351473"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73" name="Google Shape;73;p9"/>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9"/>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9"/>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6" name="Google Shape;76;p9"/>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77" name="Google Shape;77;p9"/>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78" name="Google Shape;78;p9"/>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896693524"/>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ítulo y objetos 1" type="obj">
  <p:cSld name="Título y objetos 1">
    <p:spTree>
      <p:nvGrpSpPr>
        <p:cNvPr id="1" name="Shape 79"/>
        <p:cNvGrpSpPr/>
        <p:nvPr/>
      </p:nvGrpSpPr>
      <p:grpSpPr>
        <a:xfrm>
          <a:off x="0" y="0"/>
          <a:ext cx="0" cy="0"/>
          <a:chOff x="0" y="0"/>
          <a:chExt cx="0" cy="0"/>
        </a:xfrm>
      </p:grpSpPr>
      <p:sp>
        <p:nvSpPr>
          <p:cNvPr id="80" name="Google Shape;80;p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1" name="Google Shape;81;p1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2" name="Google Shape;82;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Junio de 2026</a:t>
            </a:fld>
            <a:endParaRPr lang="es-PE" dirty="0"/>
          </a:p>
        </p:txBody>
      </p:sp>
      <p:sp>
        <p:nvSpPr>
          <p:cNvPr id="83" name="Google Shape;83;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84" name="Google Shape;84;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3799423326"/>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85"/>
        <p:cNvGrpSpPr/>
        <p:nvPr/>
      </p:nvGrpSpPr>
      <p:grpSpPr>
        <a:xfrm>
          <a:off x="0" y="0"/>
          <a:ext cx="0" cy="0"/>
          <a:chOff x="0" y="0"/>
          <a:chExt cx="0" cy="0"/>
        </a:xfrm>
      </p:grpSpPr>
      <p:sp>
        <p:nvSpPr>
          <p:cNvPr id="86" name="Google Shape;86;p11"/>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7" name="Google Shape;87;p11"/>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88" name="Google Shape;88;p11"/>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9" name="Google Shape;89;p11"/>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90" name="Google Shape;90;p11"/>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91" name="Google Shape;91;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Junio de 2026</a:t>
            </a:fld>
            <a:endParaRPr lang="es-PE" dirty="0"/>
          </a:p>
        </p:txBody>
      </p:sp>
      <p:sp>
        <p:nvSpPr>
          <p:cNvPr id="92" name="Google Shape;92;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93" name="Google Shape;93;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3721123552"/>
      </p:ext>
    </p:extLst>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CFF21E75-C2F6-4021-B002-DFF0EB1C555C}" type="datetime6">
              <a:rPr lang="es-PE" smtClean="0"/>
              <a:t>Junio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5690411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936BE4A0-0EF9-4513-98D7-49E1F009126F}" type="datetime6">
              <a:rPr lang="es-PE" smtClean="0"/>
              <a:t>Junio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
        <p:nvSpPr>
          <p:cNvPr id="6" name="Rectangle 5">
            <a:extLst>
              <a:ext uri="{FF2B5EF4-FFF2-40B4-BE49-F238E27FC236}">
                <a16:creationId xmlns:a16="http://schemas.microsoft.com/office/drawing/2014/main" id="{C5722D55-BD67-C2D0-8DB9-2255495858E9}"/>
              </a:ext>
            </a:extLst>
          </p:cNvPr>
          <p:cNvSpPr/>
          <p:nvPr userDrawn="1"/>
        </p:nvSpPr>
        <p:spPr>
          <a:xfrm>
            <a:off x="-1" y="1888177"/>
            <a:ext cx="8737793" cy="22444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23849" y="2162175"/>
            <a:ext cx="8067675" cy="1695450"/>
          </a:xfrm>
        </p:spPr>
        <p:txBody>
          <a:bodyPr>
            <a:noAutofit/>
          </a:bodyPr>
          <a:lstStyle>
            <a:lvl1pPr>
              <a:defRPr sz="6000">
                <a:solidFill>
                  <a:schemeClr val="bg1"/>
                </a:solidFill>
                <a:latin typeface="+mj-lt"/>
                <a:cs typeface="Arial" panose="020B0604020202020204" pitchFamily="34" charset="0"/>
              </a:defRPr>
            </a:lvl1pPr>
          </a:lstStyle>
          <a:p>
            <a:r>
              <a:rPr lang="es-ES" dirty="0"/>
              <a:t>Nueva Sección</a:t>
            </a:r>
            <a:endParaRPr lang="es-PE" dirty="0"/>
          </a:p>
        </p:txBody>
      </p:sp>
    </p:spTree>
    <p:extLst>
      <p:ext uri="{BB962C8B-B14F-4D97-AF65-F5344CB8AC3E}">
        <p14:creationId xmlns:p14="http://schemas.microsoft.com/office/powerpoint/2010/main" val="3383569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10" Type="http://schemas.openxmlformats.org/officeDocument/2006/relationships/image" Target="../media/image2.png"/><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4.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AE6F4FD-2238-AD4E-867E-E58E2DFA1692}"/>
              </a:ext>
            </a:extLst>
          </p:cNvPr>
          <p:cNvSpPr>
            <a:spLocks noGrp="1"/>
          </p:cNvSpPr>
          <p:nvPr>
            <p:ph type="title"/>
          </p:nvPr>
        </p:nvSpPr>
        <p:spPr>
          <a:xfrm>
            <a:off x="838200" y="1065212"/>
            <a:ext cx="9716589"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C60C6D7E-5BBC-B741-BB4C-3A3ED127A9AB}"/>
              </a:ext>
            </a:extLst>
          </p:cNvPr>
          <p:cNvSpPr>
            <a:spLocks noGrp="1"/>
          </p:cNvSpPr>
          <p:nvPr>
            <p:ph type="body" idx="1"/>
          </p:nvPr>
        </p:nvSpPr>
        <p:spPr>
          <a:xfrm>
            <a:off x="838200" y="2024743"/>
            <a:ext cx="9716589" cy="3843645"/>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2262"/>
            <a:ext cx="1638300" cy="365125"/>
          </a:xfrm>
          <a:prstGeom prst="rect">
            <a:avLst/>
          </a:prstGeom>
        </p:spPr>
        <p:txBody>
          <a:bodyPr vert="horz" lIns="91440" tIns="45720" rIns="91440" bIns="45720" rtlCol="0" anchor="ctr"/>
          <a:lstStyle>
            <a:lvl1pPr algn="l">
              <a:defRPr sz="1400">
                <a:solidFill>
                  <a:schemeClr val="tx1"/>
                </a:solidFill>
              </a:defRPr>
            </a:lvl1pPr>
          </a:lstStyle>
          <a:p>
            <a:fld id="{616E3388-8A49-4C51-A106-E2F4CF3977CF}" type="datetime6">
              <a:rPr lang="es-PE" smtClean="0"/>
              <a:t>Junio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6428" y="322262"/>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74F71EA6-14AA-5205-13FE-35911ED08C35}"/>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17102642"/>
      </p:ext>
    </p:extLst>
  </p:cSld>
  <p:clrMap bg1="lt1" tx1="dk1" bg2="lt2" tx2="dk2" accent1="accent1" accent2="accent2" accent3="accent3" accent4="accent4" accent5="accent5" accent6="accent6" hlink="hlink" folHlink="folHlink"/>
  <p:sldLayoutIdLst>
    <p:sldLayoutId id="2147483651" r:id="rId1"/>
    <p:sldLayoutId id="2147483654" r:id="rId2"/>
    <p:sldLayoutId id="2147483674" r:id="rId3"/>
    <p:sldLayoutId id="2147483650" r:id="rId4"/>
    <p:sldLayoutId id="2147483652" r:id="rId5"/>
    <p:sldLayoutId id="2147483653" r:id="rId6"/>
    <p:sldLayoutId id="2147483656" r:id="rId7"/>
    <p:sldLayoutId id="2147483657" r:id="rId8"/>
    <p:sldLayoutId id="2147483658" r:id="rId9"/>
    <p:sldLayoutId id="2147483659"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4230"/>
            <a:ext cx="1619250" cy="365125"/>
          </a:xfrm>
          <a:prstGeom prst="rect">
            <a:avLst/>
          </a:prstGeom>
        </p:spPr>
        <p:txBody>
          <a:bodyPr vert="horz" lIns="91440" tIns="45720" rIns="91440" bIns="45720" rtlCol="0" anchor="ctr"/>
          <a:lstStyle>
            <a:lvl1pPr algn="l">
              <a:defRPr sz="1400">
                <a:solidFill>
                  <a:schemeClr val="tx1"/>
                </a:solidFill>
              </a:defRPr>
            </a:lvl1pPr>
          </a:lstStyle>
          <a:p>
            <a:fld id="{0C9694A8-123C-4838-A10C-DF4D75E09A89}" type="datetime6">
              <a:rPr lang="es-PE" smtClean="0"/>
              <a:t>Junio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3680" y="323311"/>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10" name="Marcador de título 1">
            <a:extLst>
              <a:ext uri="{FF2B5EF4-FFF2-40B4-BE49-F238E27FC236}">
                <a16:creationId xmlns:a16="http://schemas.microsoft.com/office/drawing/2014/main" id="{144F2274-D960-4C0B-9748-88EE3F0DBEDD}"/>
              </a:ext>
            </a:extLst>
          </p:cNvPr>
          <p:cNvSpPr>
            <a:spLocks noGrp="1"/>
          </p:cNvSpPr>
          <p:nvPr>
            <p:ph type="title"/>
          </p:nvPr>
        </p:nvSpPr>
        <p:spPr>
          <a:xfrm>
            <a:off x="838199" y="1182069"/>
            <a:ext cx="10343606"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11" name="Marcador de texto 2">
            <a:extLst>
              <a:ext uri="{FF2B5EF4-FFF2-40B4-BE49-F238E27FC236}">
                <a16:creationId xmlns:a16="http://schemas.microsoft.com/office/drawing/2014/main" id="{9D6FEB95-3036-417E-9C50-CD57ED01FA94}"/>
              </a:ext>
            </a:extLst>
          </p:cNvPr>
          <p:cNvSpPr>
            <a:spLocks noGrp="1"/>
          </p:cNvSpPr>
          <p:nvPr>
            <p:ph type="body" idx="1"/>
          </p:nvPr>
        </p:nvSpPr>
        <p:spPr>
          <a:xfrm>
            <a:off x="838200" y="2024744"/>
            <a:ext cx="10343606" cy="329184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número de diapositiva 5">
            <a:extLst>
              <a:ext uri="{FF2B5EF4-FFF2-40B4-BE49-F238E27FC236}">
                <a16:creationId xmlns:a16="http://schemas.microsoft.com/office/drawing/2014/main" id="{1DCF4E30-8222-0A8A-8EB6-ACF70BC0FF3B}"/>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77794971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75" r:id="rId3"/>
    <p:sldLayoutId id="2147483667" r:id="rId4"/>
    <p:sldLayoutId id="2147483668" r:id="rId5"/>
    <p:sldLayoutId id="2147483669" r:id="rId6"/>
    <p:sldLayoutId id="2147483670" r:id="rId7"/>
    <p:sldLayoutId id="2147483671" r:id="rId8"/>
    <p:sldLayoutId id="2147483672" r:id="rId9"/>
    <p:sldLayoutId id="2147483673"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3B067A9-18EE-41F0-B696-9386E1AF8AC5}"/>
              </a:ext>
            </a:extLst>
          </p:cNvPr>
          <p:cNvSpPr>
            <a:spLocks noGrp="1"/>
          </p:cNvSpPr>
          <p:nvPr>
            <p:ph type="title"/>
          </p:nvPr>
        </p:nvSpPr>
        <p:spPr>
          <a:xfrm>
            <a:off x="838200" y="1045029"/>
            <a:ext cx="10515600" cy="645659"/>
          </a:xfrm>
          <a:prstGeom prst="rect">
            <a:avLst/>
          </a:prstGeom>
        </p:spPr>
        <p:txBody>
          <a:bodyPr vert="horz" lIns="91440" tIns="45720" rIns="91440" bIns="45720" rtlCol="0" anchor="ctr">
            <a:norm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E067C12A-CBBE-4AB2-8C8A-B75DDE302D12}"/>
              </a:ext>
            </a:extLst>
          </p:cNvPr>
          <p:cNvSpPr>
            <a:spLocks noGrp="1"/>
          </p:cNvSpPr>
          <p:nvPr>
            <p:ph type="body" idx="1"/>
          </p:nvPr>
        </p:nvSpPr>
        <p:spPr>
          <a:xfrm>
            <a:off x="838200" y="1986189"/>
            <a:ext cx="10515600" cy="329120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66C6ED39-B0EA-42B3-A3C3-7CA769E5EA7C}"/>
              </a:ext>
            </a:extLst>
          </p:cNvPr>
          <p:cNvSpPr>
            <a:spLocks noGrp="1"/>
          </p:cNvSpPr>
          <p:nvPr>
            <p:ph type="dt" sz="half" idx="2"/>
          </p:nvPr>
        </p:nvSpPr>
        <p:spPr>
          <a:xfrm>
            <a:off x="9982200" y="314064"/>
            <a:ext cx="1524000" cy="382973"/>
          </a:xfrm>
          <a:prstGeom prst="rect">
            <a:avLst/>
          </a:prstGeom>
        </p:spPr>
        <p:txBody>
          <a:bodyPr vert="horz" lIns="91440" tIns="45720" rIns="91440" bIns="45720" rtlCol="0" anchor="ctr"/>
          <a:lstStyle>
            <a:lvl1pPr algn="l">
              <a:defRPr sz="1400">
                <a:solidFill>
                  <a:schemeClr val="tx1"/>
                </a:solidFill>
              </a:defRPr>
            </a:lvl1pPr>
          </a:lstStyle>
          <a:p>
            <a:fld id="{0C8C20A4-1372-4EF1-AE37-02318244F0B2}" type="datetime6">
              <a:rPr lang="es-PE" smtClean="0"/>
              <a:t>Junio de 2026</a:t>
            </a:fld>
            <a:endParaRPr lang="es-PE" dirty="0"/>
          </a:p>
        </p:txBody>
      </p:sp>
      <p:sp>
        <p:nvSpPr>
          <p:cNvPr id="5" name="Marcador de pie de página 4">
            <a:extLst>
              <a:ext uri="{FF2B5EF4-FFF2-40B4-BE49-F238E27FC236}">
                <a16:creationId xmlns:a16="http://schemas.microsoft.com/office/drawing/2014/main" id="{16E1549C-7307-410E-AA79-42C4BDD3FDAE}"/>
              </a:ext>
            </a:extLst>
          </p:cNvPr>
          <p:cNvSpPr>
            <a:spLocks noGrp="1"/>
          </p:cNvSpPr>
          <p:nvPr>
            <p:ph type="ftr" sz="quarter" idx="3"/>
          </p:nvPr>
        </p:nvSpPr>
        <p:spPr>
          <a:xfrm>
            <a:off x="4622993" y="322989"/>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63B87C3E-7B33-EE8E-E722-04A7DDD4F5AC}"/>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9172523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77" r:id="rId4"/>
    <p:sldLayoutId id="2147483676" r:id="rId5"/>
    <p:sldLayoutId id="2147483678" r:id="rId6"/>
    <p:sldLayoutId id="2147483661" r:id="rId7"/>
    <p:sldLayoutId id="2147483679" r:id="rId8"/>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1"/>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2" name="Google Shape;12;p1"/>
          <p:cNvSpPr txBox="1">
            <a:spLocks noGrp="1"/>
          </p:cNvSpPr>
          <p:nvPr>
            <p:ph type="ftr" idx="11"/>
          </p:nvPr>
        </p:nvSpPr>
        <p:spPr>
          <a:xfrm>
            <a:off x="237435" y="6013034"/>
            <a:ext cx="6070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a:t>Nombre de Curso</a:t>
            </a:r>
            <a:endParaRPr lang="es-PE" dirty="0"/>
          </a:p>
        </p:txBody>
      </p:sp>
      <p:sp>
        <p:nvSpPr>
          <p:cNvPr id="13" name="Google Shape;13;p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2646479922"/>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94" r:id="rId4"/>
    <p:sldLayoutId id="2147483684" r:id="rId5"/>
    <p:sldLayoutId id="2147483685" r:id="rId6"/>
    <p:sldLayoutId id="2147483686" r:id="rId7"/>
    <p:sldLayoutId id="2147483687" r:id="rId8"/>
    <p:sldLayoutId id="2147483688" r:id="rId9"/>
    <p:sldLayoutId id="2147483689" r:id="rId10"/>
    <p:sldLayoutId id="2147483691" r:id="rId11"/>
    <p:sldLayoutId id="2147483692" r:id="rId12"/>
  </p:sldLayoutIdLst>
  <p:hf hdr="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brawni10/clase9ws20232-master.git" TargetMode="Externa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ostman.com/downloads" TargetMode="Externa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1.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1.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1.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2.xml"/></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2" Type="http://schemas.openxmlformats.org/officeDocument/2006/relationships/hyperlink" Target="https://spring.io/guides/gs/rest-service/" TargetMode="Externa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5386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3F4A3-5A84-8500-C84A-FB9A91734CA0}"/>
              </a:ext>
            </a:extLst>
          </p:cNvPr>
          <p:cNvSpPr>
            <a:spLocks noGrp="1"/>
          </p:cNvSpPr>
          <p:nvPr>
            <p:ph type="ctrTitle"/>
          </p:nvPr>
        </p:nvSpPr>
        <p:spPr/>
        <p:txBody>
          <a:bodyPr/>
          <a:lstStyle/>
          <a:p>
            <a:r>
              <a:rPr lang="es-ES" dirty="0"/>
              <a:t>Creación de Servicios Web con Spring Boot</a:t>
            </a:r>
            <a:endParaRPr lang="es-PE" dirty="0"/>
          </a:p>
        </p:txBody>
      </p:sp>
      <p:sp>
        <p:nvSpPr>
          <p:cNvPr id="3" name="Subtítulo 2">
            <a:extLst>
              <a:ext uri="{FF2B5EF4-FFF2-40B4-BE49-F238E27FC236}">
                <a16:creationId xmlns:a16="http://schemas.microsoft.com/office/drawing/2014/main" id="{0FDF19CF-E81E-5B1C-7591-5F6111DFADC2}"/>
              </a:ext>
            </a:extLst>
          </p:cNvPr>
          <p:cNvSpPr>
            <a:spLocks noGrp="1"/>
          </p:cNvSpPr>
          <p:nvPr>
            <p:ph type="subTitle" idx="1"/>
          </p:nvPr>
        </p:nvSpPr>
        <p:spPr/>
        <p:txBody>
          <a:bodyPr/>
          <a:lstStyle/>
          <a:p>
            <a:r>
              <a:rPr lang="es-PE" dirty="0"/>
              <a:t>Gestión de Servicios TICS</a:t>
            </a:r>
          </a:p>
        </p:txBody>
      </p:sp>
    </p:spTree>
    <p:extLst>
      <p:ext uri="{BB962C8B-B14F-4D97-AF65-F5344CB8AC3E}">
        <p14:creationId xmlns:p14="http://schemas.microsoft.com/office/powerpoint/2010/main" val="1680658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DC23E5-C3A0-37A4-02AD-AB4AEC84D52D}"/>
              </a:ext>
            </a:extLst>
          </p:cNvPr>
          <p:cNvSpPr>
            <a:spLocks noGrp="1"/>
          </p:cNvSpPr>
          <p:nvPr>
            <p:ph type="title"/>
          </p:nvPr>
        </p:nvSpPr>
        <p:spPr/>
        <p:txBody>
          <a:bodyPr>
            <a:normAutofit/>
          </a:bodyPr>
          <a:lstStyle/>
          <a:p>
            <a:r>
              <a:rPr lang="es-ES" dirty="0">
                <a:solidFill>
                  <a:schemeClr val="bg2"/>
                </a:solidFill>
              </a:rPr>
              <a:t>Creación de un servicio web REST</a:t>
            </a:r>
            <a:endParaRPr lang="es-PE" dirty="0">
              <a:solidFill>
                <a:schemeClr val="bg2"/>
              </a:solidFill>
            </a:endParaRPr>
          </a:p>
        </p:txBody>
      </p:sp>
      <p:sp>
        <p:nvSpPr>
          <p:cNvPr id="3" name="Marcador de número de diapositiva 2">
            <a:extLst>
              <a:ext uri="{FF2B5EF4-FFF2-40B4-BE49-F238E27FC236}">
                <a16:creationId xmlns:a16="http://schemas.microsoft.com/office/drawing/2014/main" id="{1866A9AB-43D6-0CDB-35C6-4746CE8EE815}"/>
              </a:ext>
            </a:extLst>
          </p:cNvPr>
          <p:cNvSpPr>
            <a:spLocks noGrp="1"/>
          </p:cNvSpPr>
          <p:nvPr>
            <p:ph type="sldNum" idx="12"/>
          </p:nvPr>
        </p:nvSpPr>
        <p:spPr/>
        <p:txBody>
          <a:bodyPr/>
          <a:lstStyle/>
          <a:p>
            <a:fld id="{52A29C8B-5F70-8945-A2A6-FBD7A17156DB}" type="slidenum">
              <a:rPr lang="es-PE" smtClean="0"/>
              <a:pPr/>
              <a:t>3</a:t>
            </a:fld>
            <a:endParaRPr lang="es-PE"/>
          </a:p>
        </p:txBody>
      </p:sp>
      <p:sp>
        <p:nvSpPr>
          <p:cNvPr id="4" name="Marcador de contenido 3">
            <a:extLst>
              <a:ext uri="{FF2B5EF4-FFF2-40B4-BE49-F238E27FC236}">
                <a16:creationId xmlns:a16="http://schemas.microsoft.com/office/drawing/2014/main" id="{F0C3EFEF-FBFB-4988-63C1-B4D1DAFE71F2}"/>
              </a:ext>
            </a:extLst>
          </p:cNvPr>
          <p:cNvSpPr>
            <a:spLocks noGrp="1"/>
          </p:cNvSpPr>
          <p:nvPr>
            <p:ph idx="1"/>
          </p:nvPr>
        </p:nvSpPr>
        <p:spPr/>
        <p:txBody>
          <a:bodyPr/>
          <a:lstStyle/>
          <a:p>
            <a:pPr marL="0" lvl="0" indent="0">
              <a:spcBef>
                <a:spcPts val="0"/>
              </a:spcBef>
              <a:buNone/>
            </a:pPr>
            <a:r>
              <a:rPr lang="es-ES" dirty="0"/>
              <a:t>Para comenzar con los </a:t>
            </a:r>
            <a:r>
              <a:rPr lang="es-ES" dirty="0" err="1"/>
              <a:t>webServices</a:t>
            </a:r>
            <a:r>
              <a:rPr lang="es-ES" dirty="0"/>
              <a:t>, se construirá una aplicación que brinde la información de la lista de productos de la tabla </a:t>
            </a:r>
            <a:r>
              <a:rPr lang="es-ES" dirty="0" err="1"/>
              <a:t>Northwind</a:t>
            </a:r>
            <a:r>
              <a:rPr lang="es-ES" dirty="0"/>
              <a:t> mediante un </a:t>
            </a:r>
            <a:r>
              <a:rPr lang="es-ES" dirty="0" err="1"/>
              <a:t>webservice</a:t>
            </a:r>
            <a:r>
              <a:rPr lang="es-ES" dirty="0"/>
              <a:t>.</a:t>
            </a:r>
          </a:p>
          <a:p>
            <a:pPr marL="0" lvl="0" indent="0">
              <a:spcBef>
                <a:spcPts val="1600"/>
              </a:spcBef>
              <a:buNone/>
            </a:pPr>
            <a:r>
              <a:rPr lang="es-ES" dirty="0"/>
              <a:t>A este servidor lo identificamos como “</a:t>
            </a:r>
            <a:r>
              <a:rPr lang="es-ES" b="1" dirty="0"/>
              <a:t>Servidor 1</a:t>
            </a:r>
            <a:r>
              <a:rPr lang="es-ES" dirty="0"/>
              <a:t>” o “</a:t>
            </a:r>
            <a:r>
              <a:rPr lang="es-ES" b="1" dirty="0"/>
              <a:t>Servidor REST</a:t>
            </a:r>
            <a:r>
              <a:rPr lang="es-ES" dirty="0"/>
              <a:t>”.</a:t>
            </a:r>
          </a:p>
          <a:p>
            <a:endParaRPr lang="es-PE" dirty="0"/>
          </a:p>
        </p:txBody>
      </p:sp>
      <p:grpSp>
        <p:nvGrpSpPr>
          <p:cNvPr id="5" name="Google Shape;84;p15">
            <a:extLst>
              <a:ext uri="{FF2B5EF4-FFF2-40B4-BE49-F238E27FC236}">
                <a16:creationId xmlns:a16="http://schemas.microsoft.com/office/drawing/2014/main" id="{9DDF7162-01ED-4120-5F25-F1471CD57ED8}"/>
              </a:ext>
            </a:extLst>
          </p:cNvPr>
          <p:cNvGrpSpPr/>
          <p:nvPr/>
        </p:nvGrpSpPr>
        <p:grpSpPr>
          <a:xfrm>
            <a:off x="3817100" y="3236849"/>
            <a:ext cx="4045200" cy="1691375"/>
            <a:chOff x="4567525" y="4926025"/>
            <a:chExt cx="4045200" cy="1691375"/>
          </a:xfrm>
        </p:grpSpPr>
        <p:sp>
          <p:nvSpPr>
            <p:cNvPr id="6" name="Google Shape;85;p15">
              <a:extLst>
                <a:ext uri="{FF2B5EF4-FFF2-40B4-BE49-F238E27FC236}">
                  <a16:creationId xmlns:a16="http://schemas.microsoft.com/office/drawing/2014/main" id="{6F0E38CA-4DE8-01FA-B672-42CB6AA18E45}"/>
                </a:ext>
              </a:extLst>
            </p:cNvPr>
            <p:cNvSpPr/>
            <p:nvPr/>
          </p:nvSpPr>
          <p:spPr>
            <a:xfrm>
              <a:off x="4567525" y="4926025"/>
              <a:ext cx="4045200" cy="1685700"/>
            </a:xfrm>
            <a:prstGeom prst="rect">
              <a:avLst/>
            </a:prstGeom>
            <a:noFill/>
            <a:ln w="19050" cap="flat" cmpd="sng">
              <a:solidFill>
                <a:schemeClr val="dk2"/>
              </a:solidFill>
              <a:prstDash val="dashDot"/>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s-419" sz="1600" b="1" i="1">
                  <a:solidFill>
                    <a:srgbClr val="4A86E8"/>
                  </a:solidFill>
                  <a:latin typeface="Caveat"/>
                  <a:ea typeface="Caveat"/>
                  <a:cs typeface="Caveat"/>
                  <a:sym typeface="Caveat"/>
                </a:rPr>
                <a:t>Servidor 1</a:t>
              </a:r>
              <a:endParaRPr sz="1600" b="1" i="1">
                <a:solidFill>
                  <a:srgbClr val="4A86E8"/>
                </a:solidFill>
                <a:latin typeface="Caveat"/>
                <a:ea typeface="Caveat"/>
                <a:cs typeface="Caveat"/>
                <a:sym typeface="Caveat"/>
              </a:endParaRPr>
            </a:p>
          </p:txBody>
        </p:sp>
        <p:sp>
          <p:nvSpPr>
            <p:cNvPr id="7" name="Google Shape;86;p15">
              <a:extLst>
                <a:ext uri="{FF2B5EF4-FFF2-40B4-BE49-F238E27FC236}">
                  <a16:creationId xmlns:a16="http://schemas.microsoft.com/office/drawing/2014/main" id="{6F077BC3-33DA-3250-9009-4FBA6D96D0E6}"/>
                </a:ext>
              </a:extLst>
            </p:cNvPr>
            <p:cNvSpPr/>
            <p:nvPr/>
          </p:nvSpPr>
          <p:spPr>
            <a:xfrm>
              <a:off x="4902550" y="5170325"/>
              <a:ext cx="1834800" cy="677100"/>
            </a:xfrm>
            <a:prstGeom prst="roundRect">
              <a:avLst>
                <a:gd name="adj" fmla="val 16667"/>
              </a:avLst>
            </a:prstGeom>
            <a:solidFill>
              <a:srgbClr val="E69138"/>
            </a:solidFill>
            <a:ln>
              <a:noFill/>
            </a:ln>
          </p:spPr>
          <p:txBody>
            <a:bodyPr spcFirstLastPara="1" wrap="square" lIns="0" tIns="0" rIns="0" bIns="0" anchor="ctr" anchorCtr="0">
              <a:noAutofit/>
            </a:bodyPr>
            <a:lstStyle/>
            <a:p>
              <a:pPr marL="0" lvl="0" indent="0" algn="ctr" rtl="0">
                <a:spcBef>
                  <a:spcPts val="0"/>
                </a:spcBef>
                <a:spcAft>
                  <a:spcPts val="0"/>
                </a:spcAft>
                <a:buNone/>
              </a:pPr>
              <a:r>
                <a:rPr lang="es-419" sz="1400" b="1" dirty="0">
                  <a:solidFill>
                    <a:srgbClr val="FFFFFF"/>
                  </a:solidFill>
                  <a:latin typeface="Caveat"/>
                  <a:ea typeface="Caveat"/>
                  <a:cs typeface="Caveat"/>
                  <a:sym typeface="Caveat"/>
                </a:rPr>
                <a:t>JAVA</a:t>
              </a:r>
              <a:endParaRPr sz="1400" b="1" dirty="0">
                <a:solidFill>
                  <a:srgbClr val="FFFFFF"/>
                </a:solidFill>
                <a:latin typeface="Caveat"/>
                <a:ea typeface="Caveat"/>
                <a:cs typeface="Caveat"/>
                <a:sym typeface="Caveat"/>
              </a:endParaRPr>
            </a:p>
            <a:p>
              <a:pPr marL="0" lvl="0" indent="0" algn="ctr" rtl="0">
                <a:spcBef>
                  <a:spcPts val="0"/>
                </a:spcBef>
                <a:spcAft>
                  <a:spcPts val="0"/>
                </a:spcAft>
                <a:buNone/>
              </a:pPr>
              <a:r>
                <a:rPr lang="es-419" sz="1400" b="1" dirty="0">
                  <a:solidFill>
                    <a:srgbClr val="FFFFFF"/>
                  </a:solidFill>
                  <a:latin typeface="Caveat"/>
                  <a:ea typeface="Caveat"/>
                  <a:cs typeface="Caveat"/>
                  <a:sym typeface="Caveat"/>
                </a:rPr>
                <a:t>WebService REST</a:t>
              </a:r>
              <a:endParaRPr sz="1400" b="1" dirty="0">
                <a:solidFill>
                  <a:srgbClr val="FFFFFF"/>
                </a:solidFill>
                <a:latin typeface="Caveat"/>
                <a:ea typeface="Caveat"/>
                <a:cs typeface="Caveat"/>
                <a:sym typeface="Caveat"/>
              </a:endParaRPr>
            </a:p>
          </p:txBody>
        </p:sp>
        <p:sp>
          <p:nvSpPr>
            <p:cNvPr id="8" name="Google Shape;87;p15">
              <a:extLst>
                <a:ext uri="{FF2B5EF4-FFF2-40B4-BE49-F238E27FC236}">
                  <a16:creationId xmlns:a16="http://schemas.microsoft.com/office/drawing/2014/main" id="{364E225F-73E1-29D5-3126-6A7451516F90}"/>
                </a:ext>
              </a:extLst>
            </p:cNvPr>
            <p:cNvSpPr/>
            <p:nvPr/>
          </p:nvSpPr>
          <p:spPr>
            <a:xfrm>
              <a:off x="7514325" y="5380425"/>
              <a:ext cx="842100" cy="776900"/>
            </a:xfrm>
            <a:prstGeom prst="flowChartMagneticDisk">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419" sz="1200"/>
                <a:t>DB</a:t>
              </a:r>
              <a:endParaRPr sz="1200"/>
            </a:p>
          </p:txBody>
        </p:sp>
        <p:cxnSp>
          <p:nvCxnSpPr>
            <p:cNvPr id="9" name="Google Shape;88;p15">
              <a:extLst>
                <a:ext uri="{FF2B5EF4-FFF2-40B4-BE49-F238E27FC236}">
                  <a16:creationId xmlns:a16="http://schemas.microsoft.com/office/drawing/2014/main" id="{810C3551-5A84-C275-4F14-4D82E43883E0}"/>
                </a:ext>
              </a:extLst>
            </p:cNvPr>
            <p:cNvCxnSpPr>
              <a:stCxn id="7" idx="3"/>
              <a:endCxn id="8" idx="2"/>
            </p:cNvCxnSpPr>
            <p:nvPr/>
          </p:nvCxnSpPr>
          <p:spPr>
            <a:xfrm>
              <a:off x="6737350" y="5508875"/>
              <a:ext cx="777000" cy="260100"/>
            </a:xfrm>
            <a:prstGeom prst="curvedConnector3">
              <a:avLst>
                <a:gd name="adj1" fmla="val 49998"/>
              </a:avLst>
            </a:prstGeom>
            <a:noFill/>
            <a:ln w="28575" cap="flat" cmpd="sng">
              <a:solidFill>
                <a:srgbClr val="4A86E8"/>
              </a:solidFill>
              <a:prstDash val="solid"/>
              <a:round/>
              <a:headEnd type="none" w="med" len="med"/>
              <a:tailEnd type="triangle" w="med" len="med"/>
            </a:ln>
          </p:spPr>
        </p:cxnSp>
        <p:sp>
          <p:nvSpPr>
            <p:cNvPr id="10" name="Google Shape;89;p15">
              <a:extLst>
                <a:ext uri="{FF2B5EF4-FFF2-40B4-BE49-F238E27FC236}">
                  <a16:creationId xmlns:a16="http://schemas.microsoft.com/office/drawing/2014/main" id="{DF6DB7D9-1B59-E0BD-FD2E-0C54C48F67E4}"/>
                </a:ext>
              </a:extLst>
            </p:cNvPr>
            <p:cNvSpPr/>
            <p:nvPr/>
          </p:nvSpPr>
          <p:spPr>
            <a:xfrm>
              <a:off x="4567525" y="6171600"/>
              <a:ext cx="1317900" cy="445800"/>
            </a:xfrm>
            <a:prstGeom prst="rect">
              <a:avLst/>
            </a:prstGeom>
            <a:noFill/>
            <a:ln w="19050" cap="flat" cmpd="sng">
              <a:solidFill>
                <a:schemeClr val="dk2"/>
              </a:solidFill>
              <a:prstDash val="dashDot"/>
              <a:round/>
              <a:headEnd type="none" w="sm" len="sm"/>
              <a:tailEnd type="none" w="sm" len="sm"/>
            </a:ln>
          </p:spPr>
          <p:txBody>
            <a:bodyPr spcFirstLastPara="1" wrap="square" lIns="91425" tIns="91425" rIns="91425" bIns="91425" anchor="b" anchorCtr="0">
              <a:noAutofit/>
            </a:bodyPr>
            <a:lstStyle/>
            <a:p>
              <a:pPr marL="0" marR="72000" lvl="0" indent="0" algn="l" rtl="0">
                <a:spcBef>
                  <a:spcPts val="0"/>
                </a:spcBef>
                <a:spcAft>
                  <a:spcPts val="0"/>
                </a:spcAft>
                <a:buNone/>
              </a:pPr>
              <a:endParaRPr sz="1600" b="1" i="1">
                <a:solidFill>
                  <a:srgbClr val="4A86E8"/>
                </a:solidFill>
                <a:latin typeface="Caveat"/>
                <a:ea typeface="Caveat"/>
                <a:cs typeface="Caveat"/>
                <a:sym typeface="Caveat"/>
              </a:endParaRPr>
            </a:p>
          </p:txBody>
        </p:sp>
      </p:grpSp>
    </p:spTree>
    <p:extLst>
      <p:ext uri="{BB962C8B-B14F-4D97-AF65-F5344CB8AC3E}">
        <p14:creationId xmlns:p14="http://schemas.microsoft.com/office/powerpoint/2010/main" val="2359563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75D31C-6030-CEFA-A223-BB5E479FBC43}"/>
              </a:ext>
            </a:extLst>
          </p:cNvPr>
          <p:cNvSpPr>
            <a:spLocks noGrp="1"/>
          </p:cNvSpPr>
          <p:nvPr>
            <p:ph type="title"/>
          </p:nvPr>
        </p:nvSpPr>
        <p:spPr/>
        <p:txBody>
          <a:bodyPr/>
          <a:lstStyle/>
          <a:p>
            <a:r>
              <a:rPr lang="es-ES" dirty="0"/>
              <a:t>Archivos Base</a:t>
            </a:r>
            <a:endParaRPr lang="es-PE" dirty="0"/>
          </a:p>
        </p:txBody>
      </p:sp>
      <p:sp>
        <p:nvSpPr>
          <p:cNvPr id="3" name="Marcador de número de diapositiva 2">
            <a:extLst>
              <a:ext uri="{FF2B5EF4-FFF2-40B4-BE49-F238E27FC236}">
                <a16:creationId xmlns:a16="http://schemas.microsoft.com/office/drawing/2014/main" id="{CE5C25FC-1C41-9140-D0B2-3AB8FA1122AE}"/>
              </a:ext>
            </a:extLst>
          </p:cNvPr>
          <p:cNvSpPr>
            <a:spLocks noGrp="1"/>
          </p:cNvSpPr>
          <p:nvPr>
            <p:ph type="sldNum" idx="12"/>
          </p:nvPr>
        </p:nvSpPr>
        <p:spPr/>
        <p:txBody>
          <a:bodyPr/>
          <a:lstStyle/>
          <a:p>
            <a:fld id="{52A29C8B-5F70-8945-A2A6-FBD7A17156DB}" type="slidenum">
              <a:rPr lang="es-PE" smtClean="0"/>
              <a:pPr/>
              <a:t>4</a:t>
            </a:fld>
            <a:endParaRPr lang="es-PE"/>
          </a:p>
        </p:txBody>
      </p:sp>
      <p:sp>
        <p:nvSpPr>
          <p:cNvPr id="4" name="Marcador de contenido 3">
            <a:extLst>
              <a:ext uri="{FF2B5EF4-FFF2-40B4-BE49-F238E27FC236}">
                <a16:creationId xmlns:a16="http://schemas.microsoft.com/office/drawing/2014/main" id="{B6E4A8BE-B16F-906D-6B98-09E5266A3822}"/>
              </a:ext>
            </a:extLst>
          </p:cNvPr>
          <p:cNvSpPr>
            <a:spLocks noGrp="1"/>
          </p:cNvSpPr>
          <p:nvPr>
            <p:ph idx="1"/>
          </p:nvPr>
        </p:nvSpPr>
        <p:spPr/>
        <p:txBody>
          <a:bodyPr>
            <a:normAutofit/>
          </a:bodyPr>
          <a:lstStyle/>
          <a:p>
            <a:pPr marL="0" lvl="0" indent="0">
              <a:spcBef>
                <a:spcPts val="0"/>
              </a:spcBef>
              <a:buNone/>
            </a:pPr>
            <a:r>
              <a:rPr lang="es-ES" sz="2000" dirty="0"/>
              <a:t>Podrá encontrar los archivos base de este proyecto en el siguiente repositorio:</a:t>
            </a:r>
          </a:p>
          <a:p>
            <a:pPr lvl="0" indent="-342900">
              <a:spcBef>
                <a:spcPts val="1600"/>
              </a:spcBef>
              <a:buSzPts val="1800"/>
              <a:buChar char="●"/>
            </a:pPr>
            <a:r>
              <a:rPr lang="es-ES" sz="2000" u="sng" dirty="0">
                <a:solidFill>
                  <a:schemeClr val="hlink"/>
                </a:solidFill>
                <a:hlinkClick r:id="rId2"/>
              </a:rPr>
              <a:t>https://github.com/brawni10/clase9ws20232-master.git</a:t>
            </a:r>
            <a:endParaRPr lang="es-ES" sz="2000" u="sng" dirty="0">
              <a:solidFill>
                <a:schemeClr val="hlink"/>
              </a:solidFill>
            </a:endParaRPr>
          </a:p>
          <a:p>
            <a:pPr lvl="0" indent="-342900">
              <a:spcBef>
                <a:spcPts val="1600"/>
              </a:spcBef>
              <a:buSzPts val="1800"/>
              <a:buChar char="●"/>
            </a:pPr>
            <a:r>
              <a:rPr lang="es-ES" sz="2000" dirty="0"/>
              <a:t>Los archivos contienen las configuraciones a base de datos de </a:t>
            </a:r>
            <a:r>
              <a:rPr lang="es-ES" sz="2000" dirty="0" err="1"/>
              <a:t>Northwind</a:t>
            </a:r>
            <a:r>
              <a:rPr lang="es-ES" sz="2000" dirty="0"/>
              <a:t>, la entidad Producto y su repositorio.</a:t>
            </a:r>
          </a:p>
          <a:p>
            <a:pPr marL="0" lvl="0" indent="0">
              <a:spcBef>
                <a:spcPts val="1600"/>
              </a:spcBef>
              <a:buNone/>
            </a:pPr>
            <a:r>
              <a:rPr lang="es-ES" sz="2000" b="1" dirty="0"/>
              <a:t>Observación</a:t>
            </a:r>
            <a:r>
              <a:rPr lang="es-ES" sz="2000" dirty="0"/>
              <a:t>:</a:t>
            </a:r>
          </a:p>
          <a:p>
            <a:pPr lvl="0" indent="-342900">
              <a:spcBef>
                <a:spcPts val="0"/>
              </a:spcBef>
              <a:buClr>
                <a:srgbClr val="FF0000"/>
              </a:buClr>
              <a:buSzPts val="1800"/>
              <a:buChar char="●"/>
            </a:pPr>
            <a:r>
              <a:rPr lang="es-ES" sz="2000" i="1" dirty="0">
                <a:highlight>
                  <a:srgbClr val="FFFF00"/>
                </a:highlight>
              </a:rPr>
              <a:t>Como este servidor no mostrará ninguna página web, no tiene incluida la dependencia de </a:t>
            </a:r>
            <a:r>
              <a:rPr lang="es-ES" sz="2000" i="1" dirty="0" err="1">
                <a:highlight>
                  <a:srgbClr val="FFFF00"/>
                </a:highlight>
              </a:rPr>
              <a:t>Thymeleaf</a:t>
            </a:r>
            <a:r>
              <a:rPr lang="es-ES" sz="2000" i="1" dirty="0">
                <a:highlight>
                  <a:srgbClr val="FFFF00"/>
                </a:highlight>
              </a:rPr>
              <a:t>.</a:t>
            </a:r>
          </a:p>
          <a:p>
            <a:endParaRPr lang="es-PE" sz="2000" dirty="0"/>
          </a:p>
        </p:txBody>
      </p:sp>
    </p:spTree>
    <p:extLst>
      <p:ext uri="{BB962C8B-B14F-4D97-AF65-F5344CB8AC3E}">
        <p14:creationId xmlns:p14="http://schemas.microsoft.com/office/powerpoint/2010/main" val="350800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D7BB-D481-1ED5-3688-433D1B1946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4BCDC5-CE12-1492-DDB8-C026823A6F9F}"/>
              </a:ext>
            </a:extLst>
          </p:cNvPr>
          <p:cNvSpPr>
            <a:spLocks noGrp="1"/>
          </p:cNvSpPr>
          <p:nvPr>
            <p:ph type="title"/>
          </p:nvPr>
        </p:nvSpPr>
        <p:spPr/>
        <p:txBody>
          <a:bodyPr/>
          <a:lstStyle/>
          <a:p>
            <a:r>
              <a:rPr lang="es-ES" dirty="0"/>
              <a:t>Controlador web </a:t>
            </a:r>
            <a:r>
              <a:rPr lang="es-ES" dirty="0" err="1"/>
              <a:t>service</a:t>
            </a:r>
            <a:endParaRPr lang="es-PE" dirty="0"/>
          </a:p>
        </p:txBody>
      </p:sp>
      <p:sp>
        <p:nvSpPr>
          <p:cNvPr id="3" name="Marcador de número de diapositiva 2">
            <a:extLst>
              <a:ext uri="{FF2B5EF4-FFF2-40B4-BE49-F238E27FC236}">
                <a16:creationId xmlns:a16="http://schemas.microsoft.com/office/drawing/2014/main" id="{DD2FE7F0-F3B4-DA0D-055E-26CF3F608EF3}"/>
              </a:ext>
            </a:extLst>
          </p:cNvPr>
          <p:cNvSpPr>
            <a:spLocks noGrp="1"/>
          </p:cNvSpPr>
          <p:nvPr>
            <p:ph type="sldNum" idx="12"/>
          </p:nvPr>
        </p:nvSpPr>
        <p:spPr/>
        <p:txBody>
          <a:bodyPr/>
          <a:lstStyle/>
          <a:p>
            <a:fld id="{52A29C8B-5F70-8945-A2A6-FBD7A17156DB}" type="slidenum">
              <a:rPr lang="es-PE" smtClean="0"/>
              <a:pPr/>
              <a:t>5</a:t>
            </a:fld>
            <a:endParaRPr lang="es-PE"/>
          </a:p>
        </p:txBody>
      </p:sp>
      <p:sp>
        <p:nvSpPr>
          <p:cNvPr id="4" name="Marcador de contenido 3">
            <a:extLst>
              <a:ext uri="{FF2B5EF4-FFF2-40B4-BE49-F238E27FC236}">
                <a16:creationId xmlns:a16="http://schemas.microsoft.com/office/drawing/2014/main" id="{4C32DF24-06B1-EC4E-4868-0BD56B718528}"/>
              </a:ext>
            </a:extLst>
          </p:cNvPr>
          <p:cNvSpPr>
            <a:spLocks noGrp="1"/>
          </p:cNvSpPr>
          <p:nvPr>
            <p:ph idx="1"/>
          </p:nvPr>
        </p:nvSpPr>
        <p:spPr/>
        <p:txBody>
          <a:bodyPr>
            <a:normAutofit/>
          </a:bodyPr>
          <a:lstStyle/>
          <a:p>
            <a:pPr marL="0" lvl="0" indent="0">
              <a:spcBef>
                <a:spcPts val="0"/>
              </a:spcBef>
              <a:buNone/>
            </a:pPr>
            <a:r>
              <a:rPr lang="es-ES" sz="2000" dirty="0"/>
              <a:t>Para que un método dentro de un controlador (</a:t>
            </a:r>
            <a:r>
              <a:rPr lang="es-ES" sz="2000" b="1" dirty="0">
                <a:latin typeface="Source Code Pro"/>
                <a:ea typeface="Source Code Pro"/>
                <a:cs typeface="Source Code Pro"/>
                <a:sym typeface="Source Code Pro"/>
              </a:rPr>
              <a:t>@Controller</a:t>
            </a:r>
            <a:r>
              <a:rPr lang="es-ES" sz="2000" dirty="0"/>
              <a:t>) devuelva información (y no una vista), se debe utilizar la anotación:</a:t>
            </a:r>
          </a:p>
          <a:p>
            <a:pPr lvl="0" indent="-342900">
              <a:spcBef>
                <a:spcPts val="1600"/>
              </a:spcBef>
              <a:spcAft>
                <a:spcPts val="1000"/>
              </a:spcAft>
              <a:buSzPts val="1800"/>
              <a:buChar char="●"/>
            </a:pPr>
            <a:r>
              <a:rPr lang="es-ES" sz="2000" b="1" dirty="0"/>
              <a:t>@ResponseBody</a:t>
            </a:r>
            <a:r>
              <a:rPr lang="es-ES" sz="2000" dirty="0"/>
              <a:t>: le indica a Spring que la respuesta del método será información y no una vista (tal como se </a:t>
            </a:r>
            <a:r>
              <a:rPr lang="es-ES" sz="2000" dirty="0" err="1"/>
              <a:t>vió</a:t>
            </a:r>
            <a:r>
              <a:rPr lang="es-ES" sz="2000" dirty="0"/>
              <a:t> en la primera clase).</a:t>
            </a:r>
          </a:p>
          <a:p>
            <a:endParaRPr lang="es-PE" sz="2000" dirty="0"/>
          </a:p>
        </p:txBody>
      </p:sp>
    </p:spTree>
    <p:extLst>
      <p:ext uri="{BB962C8B-B14F-4D97-AF65-F5344CB8AC3E}">
        <p14:creationId xmlns:p14="http://schemas.microsoft.com/office/powerpoint/2010/main" val="376142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49997-F120-BD67-F5DD-49E75A2D46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C516CE-A831-CCD0-8806-83569C91770F}"/>
              </a:ext>
            </a:extLst>
          </p:cNvPr>
          <p:cNvSpPr>
            <a:spLocks noGrp="1"/>
          </p:cNvSpPr>
          <p:nvPr>
            <p:ph type="title"/>
          </p:nvPr>
        </p:nvSpPr>
        <p:spPr/>
        <p:txBody>
          <a:bodyPr/>
          <a:lstStyle/>
          <a:p>
            <a:r>
              <a:rPr lang="es-ES" dirty="0"/>
              <a:t>Controlador web </a:t>
            </a:r>
            <a:r>
              <a:rPr lang="es-ES" dirty="0" err="1"/>
              <a:t>service</a:t>
            </a:r>
            <a:endParaRPr lang="es-PE" dirty="0"/>
          </a:p>
        </p:txBody>
      </p:sp>
      <p:sp>
        <p:nvSpPr>
          <p:cNvPr id="3" name="Marcador de número de diapositiva 2">
            <a:extLst>
              <a:ext uri="{FF2B5EF4-FFF2-40B4-BE49-F238E27FC236}">
                <a16:creationId xmlns:a16="http://schemas.microsoft.com/office/drawing/2014/main" id="{A9CF0592-55E9-6494-0B7B-6CCE09D39C68}"/>
              </a:ext>
            </a:extLst>
          </p:cNvPr>
          <p:cNvSpPr>
            <a:spLocks noGrp="1"/>
          </p:cNvSpPr>
          <p:nvPr>
            <p:ph type="sldNum" idx="12"/>
          </p:nvPr>
        </p:nvSpPr>
        <p:spPr/>
        <p:txBody>
          <a:bodyPr/>
          <a:lstStyle/>
          <a:p>
            <a:fld id="{52A29C8B-5F70-8945-A2A6-FBD7A17156DB}" type="slidenum">
              <a:rPr lang="es-PE" smtClean="0"/>
              <a:pPr/>
              <a:t>6</a:t>
            </a:fld>
            <a:endParaRPr lang="es-PE"/>
          </a:p>
        </p:txBody>
      </p:sp>
      <p:sp>
        <p:nvSpPr>
          <p:cNvPr id="4" name="Marcador de contenido 3">
            <a:extLst>
              <a:ext uri="{FF2B5EF4-FFF2-40B4-BE49-F238E27FC236}">
                <a16:creationId xmlns:a16="http://schemas.microsoft.com/office/drawing/2014/main" id="{1AB58DAF-FC48-9161-D42F-41FFEE946747}"/>
              </a:ext>
            </a:extLst>
          </p:cNvPr>
          <p:cNvSpPr>
            <a:spLocks noGrp="1"/>
          </p:cNvSpPr>
          <p:nvPr>
            <p:ph idx="1"/>
          </p:nvPr>
        </p:nvSpPr>
        <p:spPr/>
        <p:txBody>
          <a:bodyPr>
            <a:normAutofit/>
          </a:bodyPr>
          <a:lstStyle/>
          <a:p>
            <a:r>
              <a:rPr lang="es-ES" sz="2000" dirty="0"/>
              <a:t>El método </a:t>
            </a:r>
            <a:r>
              <a:rPr lang="es-ES" sz="2000" b="1" dirty="0" err="1">
                <a:latin typeface="Source Code Pro"/>
                <a:ea typeface="Source Code Pro"/>
                <a:cs typeface="Source Code Pro"/>
                <a:sym typeface="Source Code Pro"/>
              </a:rPr>
              <a:t>listarProductos</a:t>
            </a:r>
            <a:r>
              <a:rPr lang="es-ES" sz="2000" b="1" dirty="0">
                <a:latin typeface="Source Code Pro"/>
                <a:ea typeface="Source Code Pro"/>
                <a:cs typeface="Source Code Pro"/>
                <a:sym typeface="Source Code Pro"/>
              </a:rPr>
              <a:t>()</a:t>
            </a:r>
            <a:r>
              <a:rPr lang="es-ES" sz="2000" dirty="0"/>
              <a:t> devolverá en formato JSON una lista de los productos encontrados en el repositorio, con el método HTTP 200.</a:t>
            </a:r>
          </a:p>
          <a:p>
            <a:endParaRPr lang="es-PE" sz="2000" dirty="0"/>
          </a:p>
        </p:txBody>
      </p:sp>
      <p:sp>
        <p:nvSpPr>
          <p:cNvPr id="5" name="Google Shape;108;p18">
            <a:extLst>
              <a:ext uri="{FF2B5EF4-FFF2-40B4-BE49-F238E27FC236}">
                <a16:creationId xmlns:a16="http://schemas.microsoft.com/office/drawing/2014/main" id="{B684B8F1-8048-EC4A-9DE9-16DC119ACACA}"/>
              </a:ext>
            </a:extLst>
          </p:cNvPr>
          <p:cNvSpPr txBox="1"/>
          <p:nvPr/>
        </p:nvSpPr>
        <p:spPr>
          <a:xfrm>
            <a:off x="1355512" y="2355190"/>
            <a:ext cx="8520600" cy="2893069"/>
          </a:xfrm>
          <a:prstGeom prst="rect">
            <a:avLst/>
          </a:prstGeom>
          <a:solidFill>
            <a:srgbClr val="2B2B2B"/>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100" dirty="0">
                <a:solidFill>
                  <a:srgbClr val="BBB529"/>
                </a:solidFill>
                <a:highlight>
                  <a:srgbClr val="2B2B2B"/>
                </a:highlight>
                <a:latin typeface="Courier New"/>
                <a:ea typeface="Courier New"/>
                <a:cs typeface="Courier New"/>
                <a:sym typeface="Courier New"/>
              </a:rPr>
              <a:t>@Controller</a:t>
            </a:r>
            <a:endParaRPr sz="1100" dirty="0">
              <a:solidFill>
                <a:srgbClr val="BBB529"/>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err="1">
                <a:solidFill>
                  <a:srgbClr val="CC7832"/>
                </a:solidFill>
                <a:highlight>
                  <a:srgbClr val="2B2B2B"/>
                </a:highlight>
                <a:latin typeface="Courier New"/>
                <a:ea typeface="Courier New"/>
                <a:cs typeface="Courier New"/>
                <a:sym typeface="Courier New"/>
              </a:rPr>
              <a:t>public</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class</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A9B7C6"/>
                </a:solidFill>
                <a:highlight>
                  <a:srgbClr val="2B2B2B"/>
                </a:highlight>
                <a:latin typeface="Courier New"/>
                <a:ea typeface="Courier New"/>
                <a:cs typeface="Courier New"/>
                <a:sym typeface="Courier New"/>
              </a:rPr>
              <a:t>ProductoController</a:t>
            </a:r>
            <a:r>
              <a:rPr lang="es-419" sz="1100" dirty="0">
                <a:solidFill>
                  <a:srgbClr val="A9B7C6"/>
                </a:solidFill>
                <a:highlight>
                  <a:srgbClr val="2B2B2B"/>
                </a:highlight>
                <a:latin typeface="Courier New"/>
                <a:ea typeface="Courier New"/>
                <a:cs typeface="Courier New"/>
                <a:sym typeface="Courier New"/>
              </a:rPr>
              <a:t> {</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a:solidFill>
                  <a:srgbClr val="CC7832"/>
                </a:solidFill>
                <a:highlight>
                  <a:srgbClr val="2B2B2B"/>
                </a:highlight>
                <a:latin typeface="Courier New"/>
                <a:ea typeface="Courier New"/>
                <a:cs typeface="Courier New"/>
                <a:sym typeface="Courier New"/>
              </a:rPr>
              <a:t>final </a:t>
            </a:r>
            <a:r>
              <a:rPr lang="es-419" sz="1100" dirty="0" err="1">
                <a:solidFill>
                  <a:srgbClr val="A9B7C6"/>
                </a:solidFill>
                <a:highlight>
                  <a:srgbClr val="2B2B2B"/>
                </a:highlight>
                <a:latin typeface="Courier New"/>
                <a:ea typeface="Courier New"/>
                <a:cs typeface="Courier New"/>
                <a:sym typeface="Courier New"/>
              </a:rPr>
              <a:t>ProductRepository</a:t>
            </a: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9876AA"/>
                </a:solidFill>
                <a:highlight>
                  <a:srgbClr val="2B2B2B"/>
                </a:highlight>
                <a:latin typeface="Courier New"/>
                <a:ea typeface="Courier New"/>
                <a:cs typeface="Courier New"/>
                <a:sym typeface="Courier New"/>
              </a:rPr>
              <a:t>productRepository</a:t>
            </a:r>
            <a:r>
              <a:rPr lang="es-419" sz="1100" dirty="0">
                <a:solidFill>
                  <a:srgbClr val="CC7832"/>
                </a:solidFill>
                <a:highlight>
                  <a:srgbClr val="2B2B2B"/>
                </a:highlight>
                <a:latin typeface="Courier New"/>
                <a:ea typeface="Courier New"/>
                <a:cs typeface="Courier New"/>
                <a:sym typeface="Courier New"/>
              </a:rPr>
              <a:t>;</a:t>
            </a:r>
            <a:endParaRPr sz="1100" dirty="0">
              <a:solidFill>
                <a:srgbClr val="CC7832"/>
              </a:solidFill>
              <a:highlight>
                <a:srgbClr val="2B2B2B"/>
              </a:highlight>
              <a:latin typeface="Courier New"/>
              <a:ea typeface="Courier New"/>
              <a:cs typeface="Courier New"/>
              <a:sym typeface="Courier New"/>
            </a:endParaRPr>
          </a:p>
          <a:p>
            <a:pPr marL="0" lvl="0" indent="0" algn="l" rtl="0">
              <a:spcBef>
                <a:spcPts val="0"/>
              </a:spcBef>
              <a:spcAft>
                <a:spcPts val="0"/>
              </a:spcAft>
              <a:buNone/>
            </a:pPr>
            <a:endParaRPr sz="1100" dirty="0">
              <a:solidFill>
                <a:srgbClr val="CC7832"/>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public</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FFC66D"/>
                </a:solidFill>
                <a:highlight>
                  <a:srgbClr val="2B2B2B"/>
                </a:highlight>
                <a:latin typeface="Courier New"/>
                <a:ea typeface="Courier New"/>
                <a:cs typeface="Courier New"/>
                <a:sym typeface="Courier New"/>
              </a:rPr>
              <a:t>ProductoController</a:t>
            </a:r>
            <a:r>
              <a:rPr lang="es-419" sz="1100" dirty="0">
                <a:solidFill>
                  <a:srgbClr val="A9B7C6"/>
                </a:solidFill>
                <a:highlight>
                  <a:srgbClr val="2B2B2B"/>
                </a:highlight>
                <a:latin typeface="Courier New"/>
                <a:ea typeface="Courier New"/>
                <a:cs typeface="Courier New"/>
                <a:sym typeface="Courier New"/>
              </a:rPr>
              <a:t>(</a:t>
            </a:r>
            <a:r>
              <a:rPr lang="es-419" sz="1100" dirty="0" err="1">
                <a:solidFill>
                  <a:srgbClr val="A9B7C6"/>
                </a:solidFill>
                <a:highlight>
                  <a:srgbClr val="2B2B2B"/>
                </a:highlight>
                <a:latin typeface="Courier New"/>
                <a:ea typeface="Courier New"/>
                <a:cs typeface="Courier New"/>
                <a:sym typeface="Courier New"/>
              </a:rPr>
              <a:t>ProductRepository</a:t>
            </a: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A9B7C6"/>
                </a:solidFill>
                <a:highlight>
                  <a:srgbClr val="2B2B2B"/>
                </a:highlight>
                <a:latin typeface="Courier New"/>
                <a:ea typeface="Courier New"/>
                <a:cs typeface="Courier New"/>
                <a:sym typeface="Courier New"/>
              </a:rPr>
              <a:t>productRepository</a:t>
            </a:r>
            <a:r>
              <a:rPr lang="es-419" sz="1100" dirty="0">
                <a:solidFill>
                  <a:srgbClr val="A9B7C6"/>
                </a:solidFill>
                <a:highlight>
                  <a:srgbClr val="2B2B2B"/>
                </a:highlight>
                <a:latin typeface="Courier New"/>
                <a:ea typeface="Courier New"/>
                <a:cs typeface="Courier New"/>
                <a:sym typeface="Courier New"/>
              </a:rPr>
              <a:t>) {</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this</a:t>
            </a:r>
            <a:r>
              <a:rPr lang="es-419" sz="1100" dirty="0" err="1">
                <a:solidFill>
                  <a:srgbClr val="A9B7C6"/>
                </a:solidFill>
                <a:highlight>
                  <a:srgbClr val="2B2B2B"/>
                </a:highlight>
                <a:latin typeface="Courier New"/>
                <a:ea typeface="Courier New"/>
                <a:cs typeface="Courier New"/>
                <a:sym typeface="Courier New"/>
              </a:rPr>
              <a:t>.</a:t>
            </a:r>
            <a:r>
              <a:rPr lang="es-419" sz="1100" dirty="0" err="1">
                <a:solidFill>
                  <a:srgbClr val="9876AA"/>
                </a:solidFill>
                <a:highlight>
                  <a:srgbClr val="2B2B2B"/>
                </a:highlight>
                <a:latin typeface="Courier New"/>
                <a:ea typeface="Courier New"/>
                <a:cs typeface="Courier New"/>
                <a:sym typeface="Courier New"/>
              </a:rPr>
              <a:t>productRepository</a:t>
            </a:r>
            <a:r>
              <a:rPr lang="es-419" sz="1100" dirty="0">
                <a:solidFill>
                  <a:srgbClr val="9876AA"/>
                </a:solidFill>
                <a:highlight>
                  <a:srgbClr val="2B2B2B"/>
                </a:highlight>
                <a:latin typeface="Courier New"/>
                <a:ea typeface="Courier New"/>
                <a:cs typeface="Courier New"/>
                <a:sym typeface="Courier New"/>
              </a:rPr>
              <a:t> </a:t>
            </a: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A9B7C6"/>
                </a:solidFill>
                <a:highlight>
                  <a:srgbClr val="2B2B2B"/>
                </a:highlight>
                <a:latin typeface="Courier New"/>
                <a:ea typeface="Courier New"/>
                <a:cs typeface="Courier New"/>
                <a:sym typeface="Courier New"/>
              </a:rPr>
              <a:t>productRepository</a:t>
            </a:r>
            <a:r>
              <a:rPr lang="es-419" sz="1100" dirty="0">
                <a:solidFill>
                  <a:srgbClr val="CC7832"/>
                </a:solidFill>
                <a:highlight>
                  <a:srgbClr val="2B2B2B"/>
                </a:highlight>
                <a:latin typeface="Courier New"/>
                <a:ea typeface="Courier New"/>
                <a:cs typeface="Courier New"/>
                <a:sym typeface="Courier New"/>
              </a:rPr>
              <a:t>;</a:t>
            </a:r>
            <a:endParaRPr sz="1100" dirty="0">
              <a:solidFill>
                <a:srgbClr val="CC7832"/>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CC7832"/>
                </a:solidFill>
                <a:highlight>
                  <a:srgbClr val="2B2B2B"/>
                </a:highlight>
                <a:latin typeface="Courier New"/>
                <a:ea typeface="Courier New"/>
                <a:cs typeface="Courier New"/>
                <a:sym typeface="Courier New"/>
              </a:rPr>
              <a:t>   </a:t>
            </a: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a:solidFill>
                  <a:srgbClr val="BBB529"/>
                </a:solidFill>
                <a:highlight>
                  <a:srgbClr val="2B2B2B"/>
                </a:highlight>
                <a:latin typeface="Courier New"/>
                <a:ea typeface="Courier New"/>
                <a:cs typeface="Courier New"/>
                <a:sym typeface="Courier New"/>
              </a:rPr>
              <a:t>@ResponseBody</a:t>
            </a:r>
            <a:endParaRPr sz="1100" dirty="0">
              <a:solidFill>
                <a:srgbClr val="BBB529"/>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BBB529"/>
                </a:solidFill>
                <a:highlight>
                  <a:srgbClr val="2B2B2B"/>
                </a:highlight>
                <a:latin typeface="Courier New"/>
                <a:ea typeface="Courier New"/>
                <a:cs typeface="Courier New"/>
                <a:sym typeface="Courier New"/>
              </a:rPr>
              <a:t>   @GetMapping</a:t>
            </a:r>
            <a:r>
              <a:rPr lang="es-419" sz="1100" dirty="0">
                <a:solidFill>
                  <a:srgbClr val="A9B7C6"/>
                </a:solidFill>
                <a:highlight>
                  <a:srgbClr val="2B2B2B"/>
                </a:highlight>
                <a:latin typeface="Courier New"/>
                <a:ea typeface="Courier New"/>
                <a:cs typeface="Courier New"/>
                <a:sym typeface="Courier New"/>
              </a:rPr>
              <a:t>( </a:t>
            </a:r>
            <a:r>
              <a:rPr lang="es-419" sz="1100" dirty="0">
                <a:solidFill>
                  <a:srgbClr val="6A8759"/>
                </a:solidFill>
                <a:highlight>
                  <a:srgbClr val="2B2B2B"/>
                </a:highlight>
                <a:latin typeface="Courier New"/>
                <a:ea typeface="Courier New"/>
                <a:cs typeface="Courier New"/>
                <a:sym typeface="Courier New"/>
              </a:rPr>
              <a:t>"/</a:t>
            </a:r>
            <a:r>
              <a:rPr lang="es-419" sz="1100" dirty="0" err="1">
                <a:solidFill>
                  <a:srgbClr val="6A8759"/>
                </a:solidFill>
                <a:highlight>
                  <a:srgbClr val="2B2B2B"/>
                </a:highlight>
                <a:latin typeface="Courier New"/>
                <a:ea typeface="Courier New"/>
                <a:cs typeface="Courier New"/>
                <a:sym typeface="Courier New"/>
              </a:rPr>
              <a:t>product</a:t>
            </a:r>
            <a:r>
              <a:rPr lang="es-419" sz="1100" dirty="0">
                <a:solidFill>
                  <a:srgbClr val="6A8759"/>
                </a:solidFill>
                <a:highlight>
                  <a:srgbClr val="2B2B2B"/>
                </a:highlight>
                <a:latin typeface="Courier New"/>
                <a:ea typeface="Courier New"/>
                <a:cs typeface="Courier New"/>
                <a:sym typeface="Courier New"/>
              </a:rPr>
              <a:t>"</a:t>
            </a: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public</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A9B7C6"/>
                </a:solidFill>
                <a:highlight>
                  <a:srgbClr val="2B2B2B"/>
                </a:highlight>
                <a:latin typeface="Courier New"/>
                <a:ea typeface="Courier New"/>
                <a:cs typeface="Courier New"/>
                <a:sym typeface="Courier New"/>
              </a:rPr>
              <a:t>List</a:t>
            </a:r>
            <a:r>
              <a:rPr lang="es-419" sz="1100" dirty="0">
                <a:solidFill>
                  <a:srgbClr val="A9B7C6"/>
                </a:solidFill>
                <a:highlight>
                  <a:srgbClr val="2B2B2B"/>
                </a:highlight>
                <a:latin typeface="Courier New"/>
                <a:ea typeface="Courier New"/>
                <a:cs typeface="Courier New"/>
                <a:sym typeface="Courier New"/>
              </a:rPr>
              <a:t>&lt;</a:t>
            </a:r>
            <a:r>
              <a:rPr lang="es-419" sz="1100" dirty="0" err="1">
                <a:solidFill>
                  <a:srgbClr val="A9B7C6"/>
                </a:solidFill>
                <a:highlight>
                  <a:srgbClr val="2B2B2B"/>
                </a:highlight>
                <a:latin typeface="Courier New"/>
                <a:ea typeface="Courier New"/>
                <a:cs typeface="Courier New"/>
                <a:sym typeface="Courier New"/>
              </a:rPr>
              <a:t>Product</a:t>
            </a:r>
            <a:r>
              <a:rPr lang="es-419" sz="1100" dirty="0">
                <a:solidFill>
                  <a:srgbClr val="A9B7C6"/>
                </a:solidFill>
                <a:highlight>
                  <a:srgbClr val="2B2B2B"/>
                </a:highlight>
                <a:latin typeface="Courier New"/>
                <a:ea typeface="Courier New"/>
                <a:cs typeface="Courier New"/>
                <a:sym typeface="Courier New"/>
              </a:rPr>
              <a:t>&gt; </a:t>
            </a:r>
            <a:r>
              <a:rPr lang="es-419" sz="1100" dirty="0" err="1">
                <a:solidFill>
                  <a:srgbClr val="FFC66D"/>
                </a:solidFill>
                <a:highlight>
                  <a:srgbClr val="2B2B2B"/>
                </a:highlight>
                <a:latin typeface="Courier New"/>
                <a:ea typeface="Courier New"/>
                <a:cs typeface="Courier New"/>
                <a:sym typeface="Courier New"/>
              </a:rPr>
              <a:t>listarProductos</a:t>
            </a: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return</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9876AA"/>
                </a:solidFill>
                <a:highlight>
                  <a:srgbClr val="2B2B2B"/>
                </a:highlight>
                <a:latin typeface="Courier New"/>
                <a:ea typeface="Courier New"/>
                <a:cs typeface="Courier New"/>
                <a:sym typeface="Courier New"/>
              </a:rPr>
              <a:t>productRepository</a:t>
            </a:r>
            <a:r>
              <a:rPr lang="es-419" sz="1100" dirty="0" err="1">
                <a:solidFill>
                  <a:srgbClr val="A9B7C6"/>
                </a:solidFill>
                <a:highlight>
                  <a:srgbClr val="2B2B2B"/>
                </a:highlight>
                <a:latin typeface="Courier New"/>
                <a:ea typeface="Courier New"/>
                <a:cs typeface="Courier New"/>
                <a:sym typeface="Courier New"/>
              </a:rPr>
              <a:t>.findAll</a:t>
            </a:r>
            <a:r>
              <a:rPr lang="es-419" sz="1100" dirty="0">
                <a:solidFill>
                  <a:srgbClr val="A9B7C6"/>
                </a:solidFill>
                <a:highlight>
                  <a:srgbClr val="2B2B2B"/>
                </a:highlight>
                <a:latin typeface="Courier New"/>
                <a:ea typeface="Courier New"/>
                <a:cs typeface="Courier New"/>
                <a:sym typeface="Courier New"/>
              </a:rPr>
              <a:t>()</a:t>
            </a:r>
            <a:r>
              <a:rPr lang="es-419" sz="1100" dirty="0">
                <a:solidFill>
                  <a:srgbClr val="CC7832"/>
                </a:solidFill>
                <a:highlight>
                  <a:srgbClr val="2B2B2B"/>
                </a:highlight>
                <a:latin typeface="Courier New"/>
                <a:ea typeface="Courier New"/>
                <a:cs typeface="Courier New"/>
                <a:sym typeface="Courier New"/>
              </a:rPr>
              <a:t>;</a:t>
            </a:r>
            <a:endParaRPr sz="1100" dirty="0">
              <a:solidFill>
                <a:srgbClr val="CC7832"/>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CC7832"/>
                </a:solidFill>
                <a:highlight>
                  <a:srgbClr val="2B2B2B"/>
                </a:highlight>
                <a:latin typeface="Courier New"/>
                <a:ea typeface="Courier New"/>
                <a:cs typeface="Courier New"/>
                <a:sym typeface="Courier New"/>
              </a:rPr>
              <a:t>   </a:t>
            </a: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p:txBody>
      </p:sp>
      <p:sp>
        <p:nvSpPr>
          <p:cNvPr id="6" name="Google Shape;112;p18">
            <a:extLst>
              <a:ext uri="{FF2B5EF4-FFF2-40B4-BE49-F238E27FC236}">
                <a16:creationId xmlns:a16="http://schemas.microsoft.com/office/drawing/2014/main" id="{12673D95-8329-561A-2BD3-63D1D125E140}"/>
              </a:ext>
            </a:extLst>
          </p:cNvPr>
          <p:cNvSpPr txBox="1"/>
          <p:nvPr/>
        </p:nvSpPr>
        <p:spPr>
          <a:xfrm>
            <a:off x="5854768" y="4977149"/>
            <a:ext cx="3492900" cy="752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latin typeface="Open Sans"/>
                <a:ea typeface="Open Sans"/>
                <a:cs typeface="Open Sans"/>
                <a:sym typeface="Open Sans"/>
              </a:rPr>
              <a:t>La información que se desea devolver, en este caso, una lista de productos obtenidos del repositorio.</a:t>
            </a:r>
            <a:endParaRPr sz="1200" dirty="0">
              <a:latin typeface="Open Sans"/>
              <a:ea typeface="Open Sans"/>
              <a:cs typeface="Open Sans"/>
              <a:sym typeface="Open Sans"/>
            </a:endParaRPr>
          </a:p>
        </p:txBody>
      </p:sp>
      <p:cxnSp>
        <p:nvCxnSpPr>
          <p:cNvPr id="7" name="Google Shape;113;p18">
            <a:extLst>
              <a:ext uri="{FF2B5EF4-FFF2-40B4-BE49-F238E27FC236}">
                <a16:creationId xmlns:a16="http://schemas.microsoft.com/office/drawing/2014/main" id="{F6D07887-ED2E-DFC5-539A-CA3D42C44ED3}"/>
              </a:ext>
            </a:extLst>
          </p:cNvPr>
          <p:cNvCxnSpPr>
            <a:stCxn id="6" idx="1"/>
            <a:endCxn id="8" idx="1"/>
          </p:cNvCxnSpPr>
          <p:nvPr/>
        </p:nvCxnSpPr>
        <p:spPr>
          <a:xfrm rot="10800000">
            <a:off x="3940168" y="4864049"/>
            <a:ext cx="1914600" cy="489300"/>
          </a:xfrm>
          <a:prstGeom prst="straightConnector1">
            <a:avLst/>
          </a:prstGeom>
          <a:noFill/>
          <a:ln w="19050" cap="flat" cmpd="sng">
            <a:solidFill>
              <a:srgbClr val="FF0000"/>
            </a:solidFill>
            <a:prstDash val="solid"/>
            <a:round/>
            <a:headEnd type="none" w="med" len="med"/>
            <a:tailEnd type="triangle" w="med" len="med"/>
          </a:ln>
        </p:spPr>
      </p:cxnSp>
      <p:sp>
        <p:nvSpPr>
          <p:cNvPr id="8" name="Google Shape;114;p18">
            <a:extLst>
              <a:ext uri="{FF2B5EF4-FFF2-40B4-BE49-F238E27FC236}">
                <a16:creationId xmlns:a16="http://schemas.microsoft.com/office/drawing/2014/main" id="{8C7792F8-2AE4-3F0A-5E65-8D64F69F5E0C}"/>
              </a:ext>
            </a:extLst>
          </p:cNvPr>
          <p:cNvSpPr/>
          <p:nvPr/>
        </p:nvSpPr>
        <p:spPr>
          <a:xfrm rot="5400000">
            <a:off x="3817768" y="3374199"/>
            <a:ext cx="244800" cy="2734800"/>
          </a:xfrm>
          <a:prstGeom prst="rightBrace">
            <a:avLst>
              <a:gd name="adj1" fmla="val 0"/>
              <a:gd name="adj2" fmla="val 50000"/>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pic>
        <p:nvPicPr>
          <p:cNvPr id="9" name="Google Shape;115;p18">
            <a:extLst>
              <a:ext uri="{FF2B5EF4-FFF2-40B4-BE49-F238E27FC236}">
                <a16:creationId xmlns:a16="http://schemas.microsoft.com/office/drawing/2014/main" id="{EB5F819B-8D24-D0E3-222A-57647207A0D9}"/>
              </a:ext>
            </a:extLst>
          </p:cNvPr>
          <p:cNvPicPr preferRelativeResize="0"/>
          <p:nvPr/>
        </p:nvPicPr>
        <p:blipFill>
          <a:blip r:embed="rId2">
            <a:alphaModFix/>
          </a:blip>
          <a:stretch>
            <a:fillRect/>
          </a:stretch>
        </p:blipFill>
        <p:spPr>
          <a:xfrm>
            <a:off x="9547738" y="154758"/>
            <a:ext cx="2480267" cy="943200"/>
          </a:xfrm>
          <a:prstGeom prst="rect">
            <a:avLst/>
          </a:prstGeom>
          <a:noFill/>
          <a:ln>
            <a:noFill/>
          </a:ln>
        </p:spPr>
      </p:pic>
    </p:spTree>
    <p:extLst>
      <p:ext uri="{BB962C8B-B14F-4D97-AF65-F5344CB8AC3E}">
        <p14:creationId xmlns:p14="http://schemas.microsoft.com/office/powerpoint/2010/main" val="1505282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2F54F-763D-33FD-2C31-6CBD685C80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A2EAC9-CE23-4974-9EBC-9C52D1F70780}"/>
              </a:ext>
            </a:extLst>
          </p:cNvPr>
          <p:cNvSpPr>
            <a:spLocks noGrp="1"/>
          </p:cNvSpPr>
          <p:nvPr>
            <p:ph type="title"/>
          </p:nvPr>
        </p:nvSpPr>
        <p:spPr/>
        <p:txBody>
          <a:bodyPr/>
          <a:lstStyle/>
          <a:p>
            <a:r>
              <a:rPr lang="es-ES" dirty="0"/>
              <a:t>@RestController</a:t>
            </a:r>
            <a:endParaRPr lang="es-PE" dirty="0"/>
          </a:p>
        </p:txBody>
      </p:sp>
      <p:sp>
        <p:nvSpPr>
          <p:cNvPr id="3" name="Marcador de número de diapositiva 2">
            <a:extLst>
              <a:ext uri="{FF2B5EF4-FFF2-40B4-BE49-F238E27FC236}">
                <a16:creationId xmlns:a16="http://schemas.microsoft.com/office/drawing/2014/main" id="{74D15C26-F86D-0F94-0339-6DF97B7787BF}"/>
              </a:ext>
            </a:extLst>
          </p:cNvPr>
          <p:cNvSpPr>
            <a:spLocks noGrp="1"/>
          </p:cNvSpPr>
          <p:nvPr>
            <p:ph type="sldNum" idx="12"/>
          </p:nvPr>
        </p:nvSpPr>
        <p:spPr/>
        <p:txBody>
          <a:bodyPr/>
          <a:lstStyle/>
          <a:p>
            <a:fld id="{52A29C8B-5F70-8945-A2A6-FBD7A17156DB}" type="slidenum">
              <a:rPr lang="es-PE" smtClean="0"/>
              <a:pPr/>
              <a:t>7</a:t>
            </a:fld>
            <a:endParaRPr lang="es-PE"/>
          </a:p>
        </p:txBody>
      </p:sp>
      <p:sp>
        <p:nvSpPr>
          <p:cNvPr id="4" name="Marcador de contenido 3">
            <a:extLst>
              <a:ext uri="{FF2B5EF4-FFF2-40B4-BE49-F238E27FC236}">
                <a16:creationId xmlns:a16="http://schemas.microsoft.com/office/drawing/2014/main" id="{43546196-E6AF-CFCA-AAE6-F1B971385867}"/>
              </a:ext>
            </a:extLst>
          </p:cNvPr>
          <p:cNvSpPr>
            <a:spLocks noGrp="1"/>
          </p:cNvSpPr>
          <p:nvPr>
            <p:ph idx="1"/>
          </p:nvPr>
        </p:nvSpPr>
        <p:spPr/>
        <p:txBody>
          <a:bodyPr>
            <a:normAutofit/>
          </a:bodyPr>
          <a:lstStyle/>
          <a:p>
            <a:pPr marL="0" lvl="0" indent="0">
              <a:spcBef>
                <a:spcPts val="0"/>
              </a:spcBef>
              <a:buNone/>
            </a:pPr>
            <a:r>
              <a:rPr lang="es-ES" sz="2000" dirty="0"/>
              <a:t>Si tiene un controlador que solo brindará servicios web, puede anotarlo con </a:t>
            </a:r>
            <a:r>
              <a:rPr lang="es-ES" sz="2000" b="1" dirty="0"/>
              <a:t>@RestController</a:t>
            </a:r>
            <a:r>
              <a:rPr lang="es-ES" sz="2000" dirty="0"/>
              <a:t>, lo cual genera que todos los métodos incluyan @ResponseBody.</a:t>
            </a:r>
          </a:p>
          <a:p>
            <a:pPr marL="0" lvl="0" indent="0">
              <a:spcBef>
                <a:spcPts val="1600"/>
              </a:spcBef>
              <a:spcAft>
                <a:spcPts val="1600"/>
              </a:spcAft>
              <a:buNone/>
            </a:pPr>
            <a:r>
              <a:rPr lang="es-ES" sz="2000" dirty="0"/>
              <a:t>→ </a:t>
            </a:r>
            <a:r>
              <a:rPr lang="es-ES" sz="2000" b="1" dirty="0"/>
              <a:t>@RestController = @Controller + @ResponseBody</a:t>
            </a:r>
          </a:p>
          <a:p>
            <a:endParaRPr lang="es-PE" sz="2000" dirty="0"/>
          </a:p>
        </p:txBody>
      </p:sp>
      <p:sp>
        <p:nvSpPr>
          <p:cNvPr id="5" name="Google Shape;123;p19">
            <a:extLst>
              <a:ext uri="{FF2B5EF4-FFF2-40B4-BE49-F238E27FC236}">
                <a16:creationId xmlns:a16="http://schemas.microsoft.com/office/drawing/2014/main" id="{33B9D48D-F7CB-6213-6666-6A0371D9CF9B}"/>
              </a:ext>
            </a:extLst>
          </p:cNvPr>
          <p:cNvSpPr txBox="1"/>
          <p:nvPr/>
        </p:nvSpPr>
        <p:spPr>
          <a:xfrm>
            <a:off x="1662682" y="2400870"/>
            <a:ext cx="4761300" cy="1538853"/>
          </a:xfrm>
          <a:prstGeom prst="rect">
            <a:avLst/>
          </a:prstGeom>
          <a:solidFill>
            <a:srgbClr val="2B2B2B"/>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100" dirty="0">
                <a:solidFill>
                  <a:srgbClr val="BBB529"/>
                </a:solidFill>
                <a:highlight>
                  <a:srgbClr val="2B2B2B"/>
                </a:highlight>
                <a:latin typeface="Courier New"/>
                <a:ea typeface="Courier New"/>
                <a:cs typeface="Courier New"/>
                <a:sym typeface="Courier New"/>
              </a:rPr>
              <a:t>@Controller</a:t>
            </a:r>
            <a:endParaRPr sz="1100" dirty="0">
              <a:solidFill>
                <a:srgbClr val="BBB529"/>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err="1">
                <a:solidFill>
                  <a:srgbClr val="CC7832"/>
                </a:solidFill>
                <a:highlight>
                  <a:srgbClr val="2B2B2B"/>
                </a:highlight>
                <a:latin typeface="Courier New"/>
                <a:ea typeface="Courier New"/>
                <a:cs typeface="Courier New"/>
                <a:sym typeface="Courier New"/>
              </a:rPr>
              <a:t>public</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class</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A9B7C6"/>
                </a:solidFill>
                <a:highlight>
                  <a:srgbClr val="2B2B2B"/>
                </a:highlight>
                <a:latin typeface="Courier New"/>
                <a:ea typeface="Courier New"/>
                <a:cs typeface="Courier New"/>
                <a:sym typeface="Courier New"/>
              </a:rPr>
              <a:t>ProductoController</a:t>
            </a:r>
            <a:r>
              <a:rPr lang="es-419" sz="1100" dirty="0">
                <a:solidFill>
                  <a:srgbClr val="A9B7C6"/>
                </a:solidFill>
                <a:highlight>
                  <a:srgbClr val="2B2B2B"/>
                </a:highlight>
                <a:latin typeface="Courier New"/>
                <a:ea typeface="Courier New"/>
                <a:cs typeface="Courier New"/>
                <a:sym typeface="Courier New"/>
              </a:rPr>
              <a:t> {</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a:solidFill>
                  <a:srgbClr val="BBB529"/>
                </a:solidFill>
                <a:highlight>
                  <a:srgbClr val="2B2B2B"/>
                </a:highlight>
                <a:latin typeface="Courier New"/>
                <a:ea typeface="Courier New"/>
                <a:cs typeface="Courier New"/>
                <a:sym typeface="Courier New"/>
              </a:rPr>
              <a:t>@ResponseBody</a:t>
            </a:r>
            <a:endParaRPr sz="1100" dirty="0">
              <a:solidFill>
                <a:srgbClr val="BBB529"/>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BBB529"/>
                </a:solidFill>
                <a:highlight>
                  <a:srgbClr val="2B2B2B"/>
                </a:highlight>
                <a:latin typeface="Courier New"/>
                <a:ea typeface="Courier New"/>
                <a:cs typeface="Courier New"/>
                <a:sym typeface="Courier New"/>
              </a:rPr>
              <a:t>   @GetMapping</a:t>
            </a:r>
            <a:r>
              <a:rPr lang="es-419" sz="1100" dirty="0">
                <a:solidFill>
                  <a:srgbClr val="A9B7C6"/>
                </a:solidFill>
                <a:highlight>
                  <a:srgbClr val="2B2B2B"/>
                </a:highlight>
                <a:latin typeface="Courier New"/>
                <a:ea typeface="Courier New"/>
                <a:cs typeface="Courier New"/>
                <a:sym typeface="Courier New"/>
              </a:rPr>
              <a:t>( </a:t>
            </a:r>
            <a:r>
              <a:rPr lang="es-419" sz="1100" dirty="0">
                <a:solidFill>
                  <a:srgbClr val="6A8759"/>
                </a:solidFill>
                <a:highlight>
                  <a:srgbClr val="2B2B2B"/>
                </a:highlight>
                <a:latin typeface="Courier New"/>
                <a:ea typeface="Courier New"/>
                <a:cs typeface="Courier New"/>
                <a:sym typeface="Courier New"/>
              </a:rPr>
              <a:t>"/</a:t>
            </a:r>
            <a:r>
              <a:rPr lang="es-419" sz="1100" dirty="0" err="1">
                <a:solidFill>
                  <a:srgbClr val="6A8759"/>
                </a:solidFill>
                <a:highlight>
                  <a:srgbClr val="2B2B2B"/>
                </a:highlight>
                <a:latin typeface="Courier New"/>
                <a:ea typeface="Courier New"/>
                <a:cs typeface="Courier New"/>
                <a:sym typeface="Courier New"/>
              </a:rPr>
              <a:t>product</a:t>
            </a:r>
            <a:r>
              <a:rPr lang="es-419" sz="1100" dirty="0">
                <a:solidFill>
                  <a:srgbClr val="6A8759"/>
                </a:solidFill>
                <a:highlight>
                  <a:srgbClr val="2B2B2B"/>
                </a:highlight>
                <a:latin typeface="Courier New"/>
                <a:ea typeface="Courier New"/>
                <a:cs typeface="Courier New"/>
                <a:sym typeface="Courier New"/>
              </a:rPr>
              <a:t>"</a:t>
            </a: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public</a:t>
            </a:r>
            <a:r>
              <a:rPr lang="es-419" sz="1100" dirty="0">
                <a:solidFill>
                  <a:srgbClr val="CC7832"/>
                </a:solidFill>
                <a:highlight>
                  <a:srgbClr val="2B2B2B"/>
                </a:highlight>
                <a:latin typeface="Courier New"/>
                <a:ea typeface="Courier New"/>
                <a:cs typeface="Courier New"/>
                <a:sym typeface="Courier New"/>
              </a:rPr>
              <a:t> </a:t>
            </a:r>
            <a:r>
              <a:rPr lang="es-419" sz="1100" dirty="0">
                <a:solidFill>
                  <a:srgbClr val="A9B7C6"/>
                </a:solidFill>
                <a:highlight>
                  <a:srgbClr val="2B2B2B"/>
                </a:highlight>
                <a:latin typeface="Courier New"/>
                <a:ea typeface="Courier New"/>
                <a:cs typeface="Courier New"/>
                <a:sym typeface="Courier New"/>
              </a:rPr>
              <a:t>List&lt;</a:t>
            </a:r>
            <a:r>
              <a:rPr lang="es-419" sz="1100" dirty="0" err="1">
                <a:solidFill>
                  <a:srgbClr val="A9B7C6"/>
                </a:solidFill>
                <a:highlight>
                  <a:srgbClr val="2B2B2B"/>
                </a:highlight>
                <a:latin typeface="Courier New"/>
                <a:ea typeface="Courier New"/>
                <a:cs typeface="Courier New"/>
                <a:sym typeface="Courier New"/>
              </a:rPr>
              <a:t>Product</a:t>
            </a:r>
            <a:r>
              <a:rPr lang="es-419" sz="1100" dirty="0">
                <a:solidFill>
                  <a:srgbClr val="A9B7C6"/>
                </a:solidFill>
                <a:highlight>
                  <a:srgbClr val="2B2B2B"/>
                </a:highlight>
                <a:latin typeface="Courier New"/>
                <a:ea typeface="Courier New"/>
                <a:cs typeface="Courier New"/>
                <a:sym typeface="Courier New"/>
              </a:rPr>
              <a:t>&gt; </a:t>
            </a:r>
            <a:r>
              <a:rPr lang="es-419" sz="1100" dirty="0" err="1">
                <a:solidFill>
                  <a:srgbClr val="FFC66D"/>
                </a:solidFill>
                <a:highlight>
                  <a:srgbClr val="2B2B2B"/>
                </a:highlight>
                <a:latin typeface="Courier New"/>
                <a:ea typeface="Courier New"/>
                <a:cs typeface="Courier New"/>
                <a:sym typeface="Courier New"/>
              </a:rPr>
              <a:t>listarProductos</a:t>
            </a: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A9B7C6"/>
                </a:solidFill>
                <a:highlight>
                  <a:srgbClr val="2B2B2B"/>
                </a:highlight>
                <a:latin typeface="Courier New"/>
                <a:ea typeface="Courier New"/>
                <a:cs typeface="Courier New"/>
                <a:sym typeface="Courier New"/>
              </a:rPr>
              <a:t>       </a:t>
            </a:r>
            <a:r>
              <a:rPr lang="es-419" sz="1100" dirty="0" err="1">
                <a:solidFill>
                  <a:srgbClr val="CC7832"/>
                </a:solidFill>
                <a:highlight>
                  <a:srgbClr val="2B2B2B"/>
                </a:highlight>
                <a:latin typeface="Courier New"/>
                <a:ea typeface="Courier New"/>
                <a:cs typeface="Courier New"/>
                <a:sym typeface="Courier New"/>
              </a:rPr>
              <a:t>return</a:t>
            </a:r>
            <a:r>
              <a:rPr lang="es-419" sz="1100" dirty="0">
                <a:solidFill>
                  <a:srgbClr val="CC7832"/>
                </a:solidFill>
                <a:highlight>
                  <a:srgbClr val="2B2B2B"/>
                </a:highlight>
                <a:latin typeface="Courier New"/>
                <a:ea typeface="Courier New"/>
                <a:cs typeface="Courier New"/>
                <a:sym typeface="Courier New"/>
              </a:rPr>
              <a:t> </a:t>
            </a:r>
            <a:r>
              <a:rPr lang="es-419" sz="1100" dirty="0" err="1">
                <a:solidFill>
                  <a:srgbClr val="9876AA"/>
                </a:solidFill>
                <a:highlight>
                  <a:srgbClr val="2B2B2B"/>
                </a:highlight>
                <a:latin typeface="Courier New"/>
                <a:ea typeface="Courier New"/>
                <a:cs typeface="Courier New"/>
                <a:sym typeface="Courier New"/>
              </a:rPr>
              <a:t>productRepository</a:t>
            </a:r>
            <a:r>
              <a:rPr lang="es-419" sz="1100" dirty="0" err="1">
                <a:solidFill>
                  <a:srgbClr val="A9B7C6"/>
                </a:solidFill>
                <a:highlight>
                  <a:srgbClr val="2B2B2B"/>
                </a:highlight>
                <a:latin typeface="Courier New"/>
                <a:ea typeface="Courier New"/>
                <a:cs typeface="Courier New"/>
                <a:sym typeface="Courier New"/>
              </a:rPr>
              <a:t>.findAll</a:t>
            </a:r>
            <a:r>
              <a:rPr lang="es-419" sz="1100" dirty="0">
                <a:solidFill>
                  <a:srgbClr val="A9B7C6"/>
                </a:solidFill>
                <a:highlight>
                  <a:srgbClr val="2B2B2B"/>
                </a:highlight>
                <a:latin typeface="Courier New"/>
                <a:ea typeface="Courier New"/>
                <a:cs typeface="Courier New"/>
                <a:sym typeface="Courier New"/>
              </a:rPr>
              <a:t>()</a:t>
            </a:r>
            <a:r>
              <a:rPr lang="es-419" sz="1100" dirty="0">
                <a:solidFill>
                  <a:srgbClr val="CC7832"/>
                </a:solidFill>
                <a:highlight>
                  <a:srgbClr val="2B2B2B"/>
                </a:highlight>
                <a:latin typeface="Courier New"/>
                <a:ea typeface="Courier New"/>
                <a:cs typeface="Courier New"/>
                <a:sym typeface="Courier New"/>
              </a:rPr>
              <a:t>;</a:t>
            </a:r>
            <a:endParaRPr sz="1100" dirty="0">
              <a:solidFill>
                <a:srgbClr val="CC7832"/>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dirty="0">
                <a:solidFill>
                  <a:srgbClr val="CC7832"/>
                </a:solidFill>
                <a:highlight>
                  <a:srgbClr val="2B2B2B"/>
                </a:highlight>
                <a:latin typeface="Courier New"/>
                <a:ea typeface="Courier New"/>
                <a:cs typeface="Courier New"/>
                <a:sym typeface="Courier New"/>
              </a:rPr>
              <a:t>   </a:t>
            </a:r>
            <a:r>
              <a:rPr lang="es-419" sz="1100" dirty="0">
                <a:solidFill>
                  <a:srgbClr val="A9B7C6"/>
                </a:solidFill>
                <a:highlight>
                  <a:srgbClr val="2B2B2B"/>
                </a:highlight>
                <a:latin typeface="Courier New"/>
                <a:ea typeface="Courier New"/>
                <a:cs typeface="Courier New"/>
                <a:sym typeface="Courier New"/>
              </a:rPr>
              <a:t>}</a:t>
            </a:r>
            <a:endParaRPr sz="1100" dirty="0">
              <a:solidFill>
                <a:srgbClr val="A9B7C6"/>
              </a:solidFill>
              <a:highlight>
                <a:srgbClr val="2B2B2B"/>
              </a:highlight>
              <a:latin typeface="Courier New"/>
              <a:ea typeface="Courier New"/>
              <a:cs typeface="Courier New"/>
              <a:sym typeface="Courier New"/>
            </a:endParaRPr>
          </a:p>
        </p:txBody>
      </p:sp>
      <p:sp>
        <p:nvSpPr>
          <p:cNvPr id="6" name="Google Shape;124;p19">
            <a:extLst>
              <a:ext uri="{FF2B5EF4-FFF2-40B4-BE49-F238E27FC236}">
                <a16:creationId xmlns:a16="http://schemas.microsoft.com/office/drawing/2014/main" id="{8A5C99A3-6167-2812-FB4A-EBA2CAE773FF}"/>
              </a:ext>
            </a:extLst>
          </p:cNvPr>
          <p:cNvSpPr txBox="1"/>
          <p:nvPr/>
        </p:nvSpPr>
        <p:spPr>
          <a:xfrm>
            <a:off x="5934457" y="4263982"/>
            <a:ext cx="4556100" cy="1369575"/>
          </a:xfrm>
          <a:prstGeom prst="rect">
            <a:avLst/>
          </a:prstGeom>
          <a:solidFill>
            <a:srgbClr val="2B2B2B"/>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100">
                <a:solidFill>
                  <a:srgbClr val="BBB529"/>
                </a:solidFill>
                <a:highlight>
                  <a:srgbClr val="2B2B2B"/>
                </a:highlight>
                <a:latin typeface="Courier New"/>
                <a:ea typeface="Courier New"/>
                <a:cs typeface="Courier New"/>
                <a:sym typeface="Courier New"/>
              </a:rPr>
              <a:t>@RestController</a:t>
            </a:r>
            <a:endParaRPr sz="1100">
              <a:solidFill>
                <a:srgbClr val="BBB529"/>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a:solidFill>
                  <a:srgbClr val="CC7832"/>
                </a:solidFill>
                <a:highlight>
                  <a:srgbClr val="2B2B2B"/>
                </a:highlight>
                <a:latin typeface="Courier New"/>
                <a:ea typeface="Courier New"/>
                <a:cs typeface="Courier New"/>
                <a:sym typeface="Courier New"/>
              </a:rPr>
              <a:t>public class </a:t>
            </a:r>
            <a:r>
              <a:rPr lang="es-419" sz="1100">
                <a:solidFill>
                  <a:srgbClr val="A9B7C6"/>
                </a:solidFill>
                <a:highlight>
                  <a:srgbClr val="2B2B2B"/>
                </a:highlight>
                <a:latin typeface="Courier New"/>
                <a:ea typeface="Courier New"/>
                <a:cs typeface="Courier New"/>
                <a:sym typeface="Courier New"/>
              </a:rPr>
              <a:t>ProductoController {</a:t>
            </a:r>
            <a:endParaRPr sz="110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endParaRPr sz="110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a:solidFill>
                  <a:srgbClr val="A9B7C6"/>
                </a:solidFill>
                <a:highlight>
                  <a:srgbClr val="2B2B2B"/>
                </a:highlight>
                <a:latin typeface="Courier New"/>
                <a:ea typeface="Courier New"/>
                <a:cs typeface="Courier New"/>
                <a:sym typeface="Courier New"/>
              </a:rPr>
              <a:t>   </a:t>
            </a:r>
            <a:r>
              <a:rPr lang="es-419" sz="1100">
                <a:solidFill>
                  <a:srgbClr val="BBB529"/>
                </a:solidFill>
                <a:highlight>
                  <a:srgbClr val="2B2B2B"/>
                </a:highlight>
                <a:latin typeface="Courier New"/>
                <a:ea typeface="Courier New"/>
                <a:cs typeface="Courier New"/>
                <a:sym typeface="Courier New"/>
              </a:rPr>
              <a:t>@GetMapping</a:t>
            </a:r>
            <a:r>
              <a:rPr lang="es-419" sz="1100">
                <a:solidFill>
                  <a:srgbClr val="A9B7C6"/>
                </a:solidFill>
                <a:highlight>
                  <a:srgbClr val="2B2B2B"/>
                </a:highlight>
                <a:latin typeface="Courier New"/>
                <a:ea typeface="Courier New"/>
                <a:cs typeface="Courier New"/>
                <a:sym typeface="Courier New"/>
              </a:rPr>
              <a:t>(</a:t>
            </a:r>
            <a:r>
              <a:rPr lang="es-419" sz="1100">
                <a:solidFill>
                  <a:srgbClr val="6A8759"/>
                </a:solidFill>
                <a:highlight>
                  <a:srgbClr val="2B2B2B"/>
                </a:highlight>
                <a:latin typeface="Courier New"/>
                <a:ea typeface="Courier New"/>
                <a:cs typeface="Courier New"/>
                <a:sym typeface="Courier New"/>
              </a:rPr>
              <a:t>"/product"</a:t>
            </a:r>
            <a:r>
              <a:rPr lang="es-419"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a:solidFill>
                  <a:srgbClr val="A9B7C6"/>
                </a:solidFill>
                <a:highlight>
                  <a:srgbClr val="2B2B2B"/>
                </a:highlight>
                <a:latin typeface="Courier New"/>
                <a:ea typeface="Courier New"/>
                <a:cs typeface="Courier New"/>
                <a:sym typeface="Courier New"/>
              </a:rPr>
              <a:t>   </a:t>
            </a:r>
            <a:r>
              <a:rPr lang="es-419" sz="1100">
                <a:solidFill>
                  <a:srgbClr val="CC7832"/>
                </a:solidFill>
                <a:highlight>
                  <a:srgbClr val="2B2B2B"/>
                </a:highlight>
                <a:latin typeface="Courier New"/>
                <a:ea typeface="Courier New"/>
                <a:cs typeface="Courier New"/>
                <a:sym typeface="Courier New"/>
              </a:rPr>
              <a:t>public </a:t>
            </a:r>
            <a:r>
              <a:rPr lang="es-419" sz="1100">
                <a:solidFill>
                  <a:srgbClr val="A9B7C6"/>
                </a:solidFill>
                <a:highlight>
                  <a:srgbClr val="2B2B2B"/>
                </a:highlight>
                <a:latin typeface="Courier New"/>
                <a:ea typeface="Courier New"/>
                <a:cs typeface="Courier New"/>
                <a:sym typeface="Courier New"/>
              </a:rPr>
              <a:t>List&lt;Product&gt; </a:t>
            </a:r>
            <a:r>
              <a:rPr lang="es-419" sz="1100">
                <a:solidFill>
                  <a:srgbClr val="FFC66D"/>
                </a:solidFill>
                <a:highlight>
                  <a:srgbClr val="2B2B2B"/>
                </a:highlight>
                <a:latin typeface="Courier New"/>
                <a:ea typeface="Courier New"/>
                <a:cs typeface="Courier New"/>
                <a:sym typeface="Courier New"/>
              </a:rPr>
              <a:t>listarProductos</a:t>
            </a:r>
            <a:r>
              <a:rPr lang="es-419" sz="1100">
                <a:solidFill>
                  <a:srgbClr val="A9B7C6"/>
                </a:solidFill>
                <a:highlight>
                  <a:srgbClr val="2B2B2B"/>
                </a:highlight>
                <a:latin typeface="Courier New"/>
                <a:ea typeface="Courier New"/>
                <a:cs typeface="Courier New"/>
                <a:sym typeface="Courier New"/>
              </a:rPr>
              <a:t>() {</a:t>
            </a:r>
            <a:endParaRPr sz="1100">
              <a:solidFill>
                <a:srgbClr val="A9B7C6"/>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a:solidFill>
                  <a:srgbClr val="A9B7C6"/>
                </a:solidFill>
                <a:highlight>
                  <a:srgbClr val="2B2B2B"/>
                </a:highlight>
                <a:latin typeface="Courier New"/>
                <a:ea typeface="Courier New"/>
                <a:cs typeface="Courier New"/>
                <a:sym typeface="Courier New"/>
              </a:rPr>
              <a:t>       </a:t>
            </a:r>
            <a:r>
              <a:rPr lang="es-419" sz="1100">
                <a:solidFill>
                  <a:srgbClr val="CC7832"/>
                </a:solidFill>
                <a:highlight>
                  <a:srgbClr val="2B2B2B"/>
                </a:highlight>
                <a:latin typeface="Courier New"/>
                <a:ea typeface="Courier New"/>
                <a:cs typeface="Courier New"/>
                <a:sym typeface="Courier New"/>
              </a:rPr>
              <a:t>return </a:t>
            </a:r>
            <a:r>
              <a:rPr lang="es-419" sz="1100">
                <a:solidFill>
                  <a:srgbClr val="9876AA"/>
                </a:solidFill>
                <a:highlight>
                  <a:srgbClr val="2B2B2B"/>
                </a:highlight>
                <a:latin typeface="Courier New"/>
                <a:ea typeface="Courier New"/>
                <a:cs typeface="Courier New"/>
                <a:sym typeface="Courier New"/>
              </a:rPr>
              <a:t>productRepository</a:t>
            </a:r>
            <a:r>
              <a:rPr lang="es-419" sz="1100">
                <a:solidFill>
                  <a:srgbClr val="A9B7C6"/>
                </a:solidFill>
                <a:highlight>
                  <a:srgbClr val="2B2B2B"/>
                </a:highlight>
                <a:latin typeface="Courier New"/>
                <a:ea typeface="Courier New"/>
                <a:cs typeface="Courier New"/>
                <a:sym typeface="Courier New"/>
              </a:rPr>
              <a:t>.findAll()</a:t>
            </a:r>
            <a:r>
              <a:rPr lang="es-419" sz="1100">
                <a:solidFill>
                  <a:srgbClr val="CC7832"/>
                </a:solidFill>
                <a:highlight>
                  <a:srgbClr val="2B2B2B"/>
                </a:highlight>
                <a:latin typeface="Courier New"/>
                <a:ea typeface="Courier New"/>
                <a:cs typeface="Courier New"/>
                <a:sym typeface="Courier New"/>
              </a:rPr>
              <a:t>;</a:t>
            </a:r>
            <a:endParaRPr sz="1100">
              <a:solidFill>
                <a:srgbClr val="CC7832"/>
              </a:solidFill>
              <a:highlight>
                <a:srgbClr val="2B2B2B"/>
              </a:highlight>
              <a:latin typeface="Courier New"/>
              <a:ea typeface="Courier New"/>
              <a:cs typeface="Courier New"/>
              <a:sym typeface="Courier New"/>
            </a:endParaRPr>
          </a:p>
          <a:p>
            <a:pPr marL="0" lvl="0" indent="0" algn="l" rtl="0">
              <a:spcBef>
                <a:spcPts val="0"/>
              </a:spcBef>
              <a:spcAft>
                <a:spcPts val="0"/>
              </a:spcAft>
              <a:buNone/>
            </a:pPr>
            <a:r>
              <a:rPr lang="es-419" sz="1100">
                <a:solidFill>
                  <a:srgbClr val="CC7832"/>
                </a:solidFill>
                <a:highlight>
                  <a:srgbClr val="2B2B2B"/>
                </a:highlight>
                <a:latin typeface="Courier New"/>
                <a:ea typeface="Courier New"/>
                <a:cs typeface="Courier New"/>
                <a:sym typeface="Courier New"/>
              </a:rPr>
              <a:t>   </a:t>
            </a:r>
            <a:r>
              <a:rPr lang="es-419" sz="1100">
                <a:solidFill>
                  <a:srgbClr val="A9B7C6"/>
                </a:solidFill>
                <a:highlight>
                  <a:srgbClr val="2B2B2B"/>
                </a:highlight>
                <a:latin typeface="Courier New"/>
                <a:ea typeface="Courier New"/>
                <a:cs typeface="Courier New"/>
                <a:sym typeface="Courier New"/>
              </a:rPr>
              <a:t>}</a:t>
            </a:r>
            <a:endParaRPr sz="1100">
              <a:solidFill>
                <a:srgbClr val="A9B7C6"/>
              </a:solidFill>
              <a:highlight>
                <a:srgbClr val="2B2B2B"/>
              </a:highlight>
              <a:latin typeface="Courier New"/>
              <a:ea typeface="Courier New"/>
              <a:cs typeface="Courier New"/>
              <a:sym typeface="Courier New"/>
            </a:endParaRPr>
          </a:p>
        </p:txBody>
      </p:sp>
      <p:sp>
        <p:nvSpPr>
          <p:cNvPr id="7" name="Google Shape;125;p19">
            <a:extLst>
              <a:ext uri="{FF2B5EF4-FFF2-40B4-BE49-F238E27FC236}">
                <a16:creationId xmlns:a16="http://schemas.microsoft.com/office/drawing/2014/main" id="{2A849E12-3019-7E29-F4E9-5171DF936EBD}"/>
              </a:ext>
            </a:extLst>
          </p:cNvPr>
          <p:cNvSpPr/>
          <p:nvPr/>
        </p:nvSpPr>
        <p:spPr>
          <a:xfrm rot="1799516">
            <a:off x="5957630" y="3663809"/>
            <a:ext cx="500522" cy="685869"/>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Tree>
    <p:extLst>
      <p:ext uri="{BB962C8B-B14F-4D97-AF65-F5344CB8AC3E}">
        <p14:creationId xmlns:p14="http://schemas.microsoft.com/office/powerpoint/2010/main" val="1009393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8FAF-C8BA-D17E-CB37-3770DAA2CC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3EFAAE-E6B3-ABBA-C0F4-827E71F90170}"/>
              </a:ext>
            </a:extLst>
          </p:cNvPr>
          <p:cNvSpPr>
            <a:spLocks noGrp="1"/>
          </p:cNvSpPr>
          <p:nvPr>
            <p:ph type="title"/>
          </p:nvPr>
        </p:nvSpPr>
        <p:spPr/>
        <p:txBody>
          <a:bodyPr/>
          <a:lstStyle/>
          <a:p>
            <a:r>
              <a:rPr lang="es-ES" dirty="0"/>
              <a:t>Probando Web Service – Con Postman</a:t>
            </a:r>
            <a:endParaRPr lang="es-PE" dirty="0"/>
          </a:p>
        </p:txBody>
      </p:sp>
      <p:sp>
        <p:nvSpPr>
          <p:cNvPr id="3" name="Marcador de número de diapositiva 2">
            <a:extLst>
              <a:ext uri="{FF2B5EF4-FFF2-40B4-BE49-F238E27FC236}">
                <a16:creationId xmlns:a16="http://schemas.microsoft.com/office/drawing/2014/main" id="{86426DC0-A595-1117-AE06-2976BCC756D1}"/>
              </a:ext>
            </a:extLst>
          </p:cNvPr>
          <p:cNvSpPr>
            <a:spLocks noGrp="1"/>
          </p:cNvSpPr>
          <p:nvPr>
            <p:ph type="sldNum" idx="12"/>
          </p:nvPr>
        </p:nvSpPr>
        <p:spPr/>
        <p:txBody>
          <a:bodyPr/>
          <a:lstStyle/>
          <a:p>
            <a:fld id="{52A29C8B-5F70-8945-A2A6-FBD7A17156DB}" type="slidenum">
              <a:rPr lang="es-PE" smtClean="0"/>
              <a:pPr/>
              <a:t>8</a:t>
            </a:fld>
            <a:endParaRPr lang="es-PE"/>
          </a:p>
        </p:txBody>
      </p:sp>
      <p:sp>
        <p:nvSpPr>
          <p:cNvPr id="4" name="Marcador de contenido 3">
            <a:extLst>
              <a:ext uri="{FF2B5EF4-FFF2-40B4-BE49-F238E27FC236}">
                <a16:creationId xmlns:a16="http://schemas.microsoft.com/office/drawing/2014/main" id="{323DFB98-20C0-D387-6C7F-B6BD7D9307EE}"/>
              </a:ext>
            </a:extLst>
          </p:cNvPr>
          <p:cNvSpPr>
            <a:spLocks noGrp="1"/>
          </p:cNvSpPr>
          <p:nvPr>
            <p:ph idx="1"/>
          </p:nvPr>
        </p:nvSpPr>
        <p:spPr/>
        <p:txBody>
          <a:bodyPr/>
          <a:lstStyle/>
          <a:p>
            <a:pPr marL="0" lvl="0" indent="0">
              <a:spcBef>
                <a:spcPts val="0"/>
              </a:spcBef>
              <a:buNone/>
            </a:pPr>
            <a:r>
              <a:rPr lang="es-ES" dirty="0"/>
              <a:t>Para probar un servicio web, se puede usar un cliente que consuma </a:t>
            </a:r>
            <a:r>
              <a:rPr lang="es-ES" dirty="0" err="1"/>
              <a:t>WebServices</a:t>
            </a:r>
            <a:r>
              <a:rPr lang="es-ES" dirty="0"/>
              <a:t> como Postman. Existen muchos más en internet.</a:t>
            </a:r>
          </a:p>
          <a:p>
            <a:pPr marL="0" lvl="0" indent="0">
              <a:spcBef>
                <a:spcPts val="1600"/>
              </a:spcBef>
              <a:buNone/>
            </a:pPr>
            <a:r>
              <a:rPr lang="es-ES" dirty="0"/>
              <a:t>Descargar de: </a:t>
            </a:r>
            <a:r>
              <a:rPr lang="es-ES" u="sng" dirty="0">
                <a:solidFill>
                  <a:schemeClr val="hlink"/>
                </a:solidFill>
                <a:hlinkClick r:id="rId2"/>
              </a:rPr>
              <a:t>https://www.postman.com/downloads</a:t>
            </a:r>
            <a:endParaRPr lang="es-ES" dirty="0"/>
          </a:p>
          <a:p>
            <a:endParaRPr lang="es-PE" dirty="0"/>
          </a:p>
        </p:txBody>
      </p:sp>
      <p:pic>
        <p:nvPicPr>
          <p:cNvPr id="5" name="Google Shape;133;p20">
            <a:extLst>
              <a:ext uri="{FF2B5EF4-FFF2-40B4-BE49-F238E27FC236}">
                <a16:creationId xmlns:a16="http://schemas.microsoft.com/office/drawing/2014/main" id="{0DF71F9F-63A5-03DE-664E-2A48EB1B0E65}"/>
              </a:ext>
            </a:extLst>
          </p:cNvPr>
          <p:cNvPicPr preferRelativeResize="0"/>
          <p:nvPr/>
        </p:nvPicPr>
        <p:blipFill>
          <a:blip r:embed="rId3">
            <a:alphaModFix/>
          </a:blip>
          <a:stretch>
            <a:fillRect/>
          </a:stretch>
        </p:blipFill>
        <p:spPr>
          <a:xfrm>
            <a:off x="5296553" y="2958429"/>
            <a:ext cx="1438275" cy="1438275"/>
          </a:xfrm>
          <a:prstGeom prst="rect">
            <a:avLst/>
          </a:prstGeom>
          <a:noFill/>
          <a:ln>
            <a:noFill/>
          </a:ln>
        </p:spPr>
      </p:pic>
    </p:spTree>
    <p:extLst>
      <p:ext uri="{BB962C8B-B14F-4D97-AF65-F5344CB8AC3E}">
        <p14:creationId xmlns:p14="http://schemas.microsoft.com/office/powerpoint/2010/main" val="3498050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A0E7-4741-916F-1BBC-D0B9C7EDBC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27BC71-B216-7B4A-4075-FEAF8A9AB413}"/>
              </a:ext>
            </a:extLst>
          </p:cNvPr>
          <p:cNvSpPr>
            <a:spLocks noGrp="1"/>
          </p:cNvSpPr>
          <p:nvPr>
            <p:ph type="title"/>
          </p:nvPr>
        </p:nvSpPr>
        <p:spPr/>
        <p:txBody>
          <a:bodyPr/>
          <a:lstStyle/>
          <a:p>
            <a:r>
              <a:rPr lang="es-ES" dirty="0"/>
              <a:t>Postman</a:t>
            </a:r>
            <a:endParaRPr lang="es-PE" dirty="0"/>
          </a:p>
        </p:txBody>
      </p:sp>
      <p:sp>
        <p:nvSpPr>
          <p:cNvPr id="3" name="Marcador de número de diapositiva 2">
            <a:extLst>
              <a:ext uri="{FF2B5EF4-FFF2-40B4-BE49-F238E27FC236}">
                <a16:creationId xmlns:a16="http://schemas.microsoft.com/office/drawing/2014/main" id="{78E1364B-653F-0F83-73C7-A0E83305FE28}"/>
              </a:ext>
            </a:extLst>
          </p:cNvPr>
          <p:cNvSpPr>
            <a:spLocks noGrp="1"/>
          </p:cNvSpPr>
          <p:nvPr>
            <p:ph type="sldNum" idx="12"/>
          </p:nvPr>
        </p:nvSpPr>
        <p:spPr/>
        <p:txBody>
          <a:bodyPr/>
          <a:lstStyle/>
          <a:p>
            <a:fld id="{52A29C8B-5F70-8945-A2A6-FBD7A17156DB}" type="slidenum">
              <a:rPr lang="es-PE" smtClean="0"/>
              <a:pPr/>
              <a:t>9</a:t>
            </a:fld>
            <a:endParaRPr lang="es-PE"/>
          </a:p>
        </p:txBody>
      </p:sp>
      <p:sp>
        <p:nvSpPr>
          <p:cNvPr id="4" name="Marcador de contenido 3">
            <a:extLst>
              <a:ext uri="{FF2B5EF4-FFF2-40B4-BE49-F238E27FC236}">
                <a16:creationId xmlns:a16="http://schemas.microsoft.com/office/drawing/2014/main" id="{6722274E-87B2-2FC1-C528-A5CED1F853AB}"/>
              </a:ext>
            </a:extLst>
          </p:cNvPr>
          <p:cNvSpPr>
            <a:spLocks noGrp="1"/>
          </p:cNvSpPr>
          <p:nvPr>
            <p:ph idx="1"/>
          </p:nvPr>
        </p:nvSpPr>
        <p:spPr/>
        <p:txBody>
          <a:bodyPr>
            <a:normAutofit/>
          </a:bodyPr>
          <a:lstStyle/>
          <a:p>
            <a:r>
              <a:rPr lang="es-ES" sz="2000" dirty="0"/>
              <a:t>La ruta GET del controlador es: </a:t>
            </a:r>
            <a:r>
              <a:rPr lang="es-ES" sz="2000" b="1" dirty="0">
                <a:latin typeface="Source Code Pro"/>
                <a:ea typeface="Source Code Pro"/>
                <a:cs typeface="Source Code Pro"/>
                <a:sym typeface="Source Code Pro"/>
              </a:rPr>
              <a:t>localhost:8080/</a:t>
            </a:r>
            <a:r>
              <a:rPr lang="es-ES" sz="2000" b="1" dirty="0" err="1">
                <a:latin typeface="Source Code Pro"/>
                <a:ea typeface="Source Code Pro"/>
                <a:cs typeface="Source Code Pro"/>
                <a:sym typeface="Source Code Pro"/>
              </a:rPr>
              <a:t>product</a:t>
            </a:r>
            <a:endParaRPr lang="es-ES" sz="2000" b="1" dirty="0">
              <a:latin typeface="Source Code Pro"/>
              <a:ea typeface="Source Code Pro"/>
              <a:cs typeface="Source Code Pro"/>
              <a:sym typeface="Source Code Pro"/>
            </a:endParaRPr>
          </a:p>
          <a:p>
            <a:endParaRPr lang="es-PE" sz="2000" dirty="0"/>
          </a:p>
        </p:txBody>
      </p:sp>
      <p:pic>
        <p:nvPicPr>
          <p:cNvPr id="5" name="Google Shape;138;p21">
            <a:extLst>
              <a:ext uri="{FF2B5EF4-FFF2-40B4-BE49-F238E27FC236}">
                <a16:creationId xmlns:a16="http://schemas.microsoft.com/office/drawing/2014/main" id="{12DFA725-2908-B997-B8B0-5604811FC244}"/>
              </a:ext>
            </a:extLst>
          </p:cNvPr>
          <p:cNvPicPr preferRelativeResize="0"/>
          <p:nvPr/>
        </p:nvPicPr>
        <p:blipFill>
          <a:blip r:embed="rId2">
            <a:alphaModFix/>
          </a:blip>
          <a:stretch>
            <a:fillRect/>
          </a:stretch>
        </p:blipFill>
        <p:spPr>
          <a:xfrm>
            <a:off x="2350444" y="1619321"/>
            <a:ext cx="6611795" cy="4014236"/>
          </a:xfrm>
          <a:prstGeom prst="rect">
            <a:avLst/>
          </a:prstGeom>
          <a:noFill/>
          <a:ln>
            <a:noFill/>
          </a:ln>
        </p:spPr>
      </p:pic>
      <p:sp>
        <p:nvSpPr>
          <p:cNvPr id="6" name="Google Shape;142;p21">
            <a:extLst>
              <a:ext uri="{FF2B5EF4-FFF2-40B4-BE49-F238E27FC236}">
                <a16:creationId xmlns:a16="http://schemas.microsoft.com/office/drawing/2014/main" id="{C1F64476-1ACA-8DF1-1DDE-63F8C2E444A8}"/>
              </a:ext>
            </a:extLst>
          </p:cNvPr>
          <p:cNvSpPr/>
          <p:nvPr/>
        </p:nvSpPr>
        <p:spPr>
          <a:xfrm>
            <a:off x="4684144" y="1678203"/>
            <a:ext cx="548700" cy="3735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3;p21">
            <a:extLst>
              <a:ext uri="{FF2B5EF4-FFF2-40B4-BE49-F238E27FC236}">
                <a16:creationId xmlns:a16="http://schemas.microsoft.com/office/drawing/2014/main" id="{D9F18DB0-D41F-75E1-ED9D-64182CBEBAA6}"/>
              </a:ext>
            </a:extLst>
          </p:cNvPr>
          <p:cNvSpPr/>
          <p:nvPr/>
        </p:nvSpPr>
        <p:spPr>
          <a:xfrm>
            <a:off x="6016119" y="4743753"/>
            <a:ext cx="548700" cy="6393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6405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59E1E-AD47-9A98-A5DA-6E14C995A7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65C4EF-FBE3-D40F-8400-F9AB82A7A5C5}"/>
              </a:ext>
            </a:extLst>
          </p:cNvPr>
          <p:cNvSpPr>
            <a:spLocks noGrp="1"/>
          </p:cNvSpPr>
          <p:nvPr>
            <p:ph type="title"/>
          </p:nvPr>
        </p:nvSpPr>
        <p:spPr/>
        <p:txBody>
          <a:bodyPr/>
          <a:lstStyle/>
          <a:p>
            <a:r>
              <a:rPr lang="es-ES" dirty="0"/>
              <a:t>Observación </a:t>
            </a:r>
            <a:r>
              <a:rPr lang="es-ES" dirty="0">
                <a:sym typeface="Wingdings" panose="05000000000000000000" pitchFamily="2" charset="2"/>
              </a:rPr>
              <a:t> Omitir Campos</a:t>
            </a:r>
            <a:endParaRPr lang="es-PE" dirty="0"/>
          </a:p>
        </p:txBody>
      </p:sp>
      <p:sp>
        <p:nvSpPr>
          <p:cNvPr id="3" name="Marcador de número de diapositiva 2">
            <a:extLst>
              <a:ext uri="{FF2B5EF4-FFF2-40B4-BE49-F238E27FC236}">
                <a16:creationId xmlns:a16="http://schemas.microsoft.com/office/drawing/2014/main" id="{AC4D606A-0120-C09C-584B-E222659AB50C}"/>
              </a:ext>
            </a:extLst>
          </p:cNvPr>
          <p:cNvSpPr>
            <a:spLocks noGrp="1"/>
          </p:cNvSpPr>
          <p:nvPr>
            <p:ph type="sldNum" idx="12"/>
          </p:nvPr>
        </p:nvSpPr>
        <p:spPr/>
        <p:txBody>
          <a:bodyPr/>
          <a:lstStyle/>
          <a:p>
            <a:fld id="{52A29C8B-5F70-8945-A2A6-FBD7A17156DB}" type="slidenum">
              <a:rPr lang="es-PE" smtClean="0"/>
              <a:pPr/>
              <a:t>10</a:t>
            </a:fld>
            <a:endParaRPr lang="es-PE"/>
          </a:p>
        </p:txBody>
      </p:sp>
      <p:sp>
        <p:nvSpPr>
          <p:cNvPr id="4" name="Marcador de contenido 3">
            <a:extLst>
              <a:ext uri="{FF2B5EF4-FFF2-40B4-BE49-F238E27FC236}">
                <a16:creationId xmlns:a16="http://schemas.microsoft.com/office/drawing/2014/main" id="{E5282105-732C-C554-C991-EDA5AFA9C0D4}"/>
              </a:ext>
            </a:extLst>
          </p:cNvPr>
          <p:cNvSpPr>
            <a:spLocks noGrp="1"/>
          </p:cNvSpPr>
          <p:nvPr>
            <p:ph idx="1"/>
          </p:nvPr>
        </p:nvSpPr>
        <p:spPr/>
        <p:txBody>
          <a:bodyPr>
            <a:normAutofit/>
          </a:bodyPr>
          <a:lstStyle/>
          <a:p>
            <a:pPr marL="0" lvl="0" indent="0">
              <a:spcBef>
                <a:spcPts val="0"/>
              </a:spcBef>
              <a:buNone/>
            </a:pPr>
            <a:r>
              <a:rPr lang="es-ES" sz="1800" dirty="0"/>
              <a:t>Si recorre un poco más los resultados obtenidos en </a:t>
            </a:r>
            <a:r>
              <a:rPr lang="es-ES" sz="1800" dirty="0" err="1"/>
              <a:t>postman</a:t>
            </a:r>
            <a:r>
              <a:rPr lang="es-ES" sz="1800" dirty="0"/>
              <a:t>, observará que el campo </a:t>
            </a:r>
            <a:r>
              <a:rPr lang="es-ES" sz="1800" b="1" dirty="0" err="1"/>
              <a:t>picture</a:t>
            </a:r>
            <a:r>
              <a:rPr lang="es-ES" sz="1800" b="1" dirty="0"/>
              <a:t> </a:t>
            </a:r>
            <a:r>
              <a:rPr lang="es-ES" sz="1800" dirty="0"/>
              <a:t>de la tabla </a:t>
            </a:r>
            <a:r>
              <a:rPr lang="es-ES" sz="1800" b="1" dirty="0" err="1"/>
              <a:t>category</a:t>
            </a:r>
            <a:r>
              <a:rPr lang="es-ES" sz="1800" b="1" dirty="0"/>
              <a:t> </a:t>
            </a:r>
            <a:r>
              <a:rPr lang="es-ES" sz="1800" dirty="0"/>
              <a:t>es demasiado grande. </a:t>
            </a:r>
          </a:p>
          <a:p>
            <a:pPr marL="0" lvl="0" indent="0">
              <a:spcBef>
                <a:spcPts val="1600"/>
              </a:spcBef>
              <a:buNone/>
            </a:pPr>
            <a:endParaRPr lang="es-ES" sz="1800" dirty="0"/>
          </a:p>
          <a:p>
            <a:pPr marL="0" lvl="0" indent="0">
              <a:spcBef>
                <a:spcPts val="1600"/>
              </a:spcBef>
              <a:buNone/>
            </a:pPr>
            <a:endParaRPr lang="es-ES" sz="1800" dirty="0"/>
          </a:p>
          <a:p>
            <a:pPr marL="0" lvl="0" indent="0">
              <a:spcBef>
                <a:spcPts val="1600"/>
              </a:spcBef>
              <a:buNone/>
            </a:pPr>
            <a:endParaRPr lang="es-ES" sz="1800" dirty="0"/>
          </a:p>
          <a:p>
            <a:pPr marL="0" lvl="0" indent="0">
              <a:spcBef>
                <a:spcPts val="1600"/>
              </a:spcBef>
              <a:buNone/>
            </a:pPr>
            <a:r>
              <a:rPr lang="es-ES" sz="1800" dirty="0"/>
              <a:t>Si desea obviar un campo como parte del resultado JSON, en la entidad debe adicionar la anotación:</a:t>
            </a:r>
          </a:p>
          <a:p>
            <a:pPr marL="0" lvl="0" indent="0">
              <a:spcBef>
                <a:spcPts val="0"/>
              </a:spcBef>
              <a:spcAft>
                <a:spcPts val="1600"/>
              </a:spcAft>
              <a:buNone/>
            </a:pPr>
            <a:r>
              <a:rPr lang="es-ES" sz="1800" dirty="0"/>
              <a:t>→ </a:t>
            </a:r>
            <a:r>
              <a:rPr lang="es-ES" sz="1800" b="1" dirty="0">
                <a:latin typeface="Source Code Pro"/>
                <a:ea typeface="Source Code Pro"/>
                <a:cs typeface="Source Code Pro"/>
                <a:sym typeface="Source Code Pro"/>
              </a:rPr>
              <a:t>@JsonIgnoreProperties({campo1, campo2, </a:t>
            </a:r>
            <a:r>
              <a:rPr lang="es-ES" sz="1800" b="1" dirty="0" err="1">
                <a:latin typeface="Source Code Pro"/>
                <a:ea typeface="Source Code Pro"/>
                <a:cs typeface="Source Code Pro"/>
                <a:sym typeface="Source Code Pro"/>
              </a:rPr>
              <a:t>etc</a:t>
            </a:r>
            <a:r>
              <a:rPr lang="es-ES" sz="1800" b="1" dirty="0">
                <a:latin typeface="Source Code Pro"/>
                <a:ea typeface="Source Code Pro"/>
                <a:cs typeface="Source Code Pro"/>
                <a:sym typeface="Source Code Pro"/>
              </a:rPr>
              <a:t>})</a:t>
            </a:r>
            <a:r>
              <a:rPr lang="es-ES" sz="1800" dirty="0"/>
              <a:t>.</a:t>
            </a:r>
          </a:p>
          <a:p>
            <a:endParaRPr lang="es-PE" sz="1800" dirty="0"/>
          </a:p>
        </p:txBody>
      </p:sp>
      <p:pic>
        <p:nvPicPr>
          <p:cNvPr id="5" name="Google Shape;154;p22">
            <a:extLst>
              <a:ext uri="{FF2B5EF4-FFF2-40B4-BE49-F238E27FC236}">
                <a16:creationId xmlns:a16="http://schemas.microsoft.com/office/drawing/2014/main" id="{44CECB1E-0BDD-AD04-82A8-DC57464DDCA0}"/>
              </a:ext>
            </a:extLst>
          </p:cNvPr>
          <p:cNvPicPr preferRelativeResize="0"/>
          <p:nvPr/>
        </p:nvPicPr>
        <p:blipFill rotWithShape="1">
          <a:blip r:embed="rId2">
            <a:alphaModFix/>
          </a:blip>
          <a:srcRect b="20527"/>
          <a:stretch/>
        </p:blipFill>
        <p:spPr>
          <a:xfrm>
            <a:off x="3262264" y="1764790"/>
            <a:ext cx="5882626" cy="1288879"/>
          </a:xfrm>
          <a:prstGeom prst="rect">
            <a:avLst/>
          </a:prstGeom>
          <a:noFill/>
          <a:ln w="9525" cap="flat" cmpd="sng">
            <a:solidFill>
              <a:srgbClr val="999999"/>
            </a:solidFill>
            <a:prstDash val="solid"/>
            <a:round/>
            <a:headEnd type="none" w="sm" len="sm"/>
            <a:tailEnd type="none" w="sm" len="sm"/>
          </a:ln>
        </p:spPr>
      </p:pic>
      <p:sp>
        <p:nvSpPr>
          <p:cNvPr id="6" name="Google Shape;151;p22">
            <a:extLst>
              <a:ext uri="{FF2B5EF4-FFF2-40B4-BE49-F238E27FC236}">
                <a16:creationId xmlns:a16="http://schemas.microsoft.com/office/drawing/2014/main" id="{DD3A0EBE-F546-1363-F3C9-DB8D5CF7CCFB}"/>
              </a:ext>
            </a:extLst>
          </p:cNvPr>
          <p:cNvSpPr/>
          <p:nvPr/>
        </p:nvSpPr>
        <p:spPr>
          <a:xfrm rot="10800000">
            <a:off x="5721652" y="4556175"/>
            <a:ext cx="346200" cy="437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152;p22">
            <a:extLst>
              <a:ext uri="{FF2B5EF4-FFF2-40B4-BE49-F238E27FC236}">
                <a16:creationId xmlns:a16="http://schemas.microsoft.com/office/drawing/2014/main" id="{BC9EA7D7-9DA7-6863-4A38-DDCEE8CB9700}"/>
              </a:ext>
            </a:extLst>
          </p:cNvPr>
          <p:cNvPicPr preferRelativeResize="0"/>
          <p:nvPr/>
        </p:nvPicPr>
        <p:blipFill>
          <a:blip r:embed="rId3">
            <a:alphaModFix/>
          </a:blip>
          <a:stretch>
            <a:fillRect/>
          </a:stretch>
        </p:blipFill>
        <p:spPr>
          <a:xfrm>
            <a:off x="2090252" y="4269900"/>
            <a:ext cx="3514725" cy="1171575"/>
          </a:xfrm>
          <a:prstGeom prst="rect">
            <a:avLst/>
          </a:prstGeom>
          <a:noFill/>
          <a:ln>
            <a:noFill/>
          </a:ln>
        </p:spPr>
      </p:pic>
      <p:sp>
        <p:nvSpPr>
          <p:cNvPr id="8" name="Google Shape;153;p22">
            <a:extLst>
              <a:ext uri="{FF2B5EF4-FFF2-40B4-BE49-F238E27FC236}">
                <a16:creationId xmlns:a16="http://schemas.microsoft.com/office/drawing/2014/main" id="{128D40C8-1F3C-1463-E32C-616DA24C16D9}"/>
              </a:ext>
            </a:extLst>
          </p:cNvPr>
          <p:cNvSpPr/>
          <p:nvPr/>
        </p:nvSpPr>
        <p:spPr>
          <a:xfrm rot="10800000">
            <a:off x="1862777" y="4631175"/>
            <a:ext cx="346200" cy="287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155;p22">
            <a:extLst>
              <a:ext uri="{FF2B5EF4-FFF2-40B4-BE49-F238E27FC236}">
                <a16:creationId xmlns:a16="http://schemas.microsoft.com/office/drawing/2014/main" id="{2C0CD863-7AF8-378B-825D-BA6948A28E3A}"/>
              </a:ext>
            </a:extLst>
          </p:cNvPr>
          <p:cNvPicPr preferRelativeResize="0"/>
          <p:nvPr/>
        </p:nvPicPr>
        <p:blipFill>
          <a:blip r:embed="rId4">
            <a:alphaModFix/>
          </a:blip>
          <a:stretch>
            <a:fillRect/>
          </a:stretch>
        </p:blipFill>
        <p:spPr>
          <a:xfrm>
            <a:off x="6184527" y="4346100"/>
            <a:ext cx="4152900" cy="857250"/>
          </a:xfrm>
          <a:prstGeom prst="rect">
            <a:avLst/>
          </a:prstGeom>
          <a:noFill/>
          <a:ln>
            <a:noFill/>
          </a:ln>
        </p:spPr>
      </p:pic>
    </p:spTree>
    <p:extLst>
      <p:ext uri="{BB962C8B-B14F-4D97-AF65-F5344CB8AC3E}">
        <p14:creationId xmlns:p14="http://schemas.microsoft.com/office/powerpoint/2010/main" val="333471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2328E-8054-6BB1-8C5B-10789246C3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36C4BD-D7DC-2065-6FAB-696399FF6568}"/>
              </a:ext>
            </a:extLst>
          </p:cNvPr>
          <p:cNvSpPr>
            <a:spLocks noGrp="1"/>
          </p:cNvSpPr>
          <p:nvPr>
            <p:ph type="title"/>
          </p:nvPr>
        </p:nvSpPr>
        <p:spPr/>
        <p:txBody>
          <a:bodyPr/>
          <a:lstStyle/>
          <a:p>
            <a:r>
              <a:rPr lang="es-ES" dirty="0"/>
              <a:t>Observación </a:t>
            </a:r>
            <a:r>
              <a:rPr lang="es-ES" dirty="0">
                <a:sym typeface="Wingdings" panose="05000000000000000000" pitchFamily="2" charset="2"/>
              </a:rPr>
              <a:t> CORS</a:t>
            </a:r>
            <a:endParaRPr lang="es-PE" dirty="0"/>
          </a:p>
        </p:txBody>
      </p:sp>
      <p:sp>
        <p:nvSpPr>
          <p:cNvPr id="3" name="Marcador de número de diapositiva 2">
            <a:extLst>
              <a:ext uri="{FF2B5EF4-FFF2-40B4-BE49-F238E27FC236}">
                <a16:creationId xmlns:a16="http://schemas.microsoft.com/office/drawing/2014/main" id="{84682888-461C-EFDA-B6B7-3F577A323FDA}"/>
              </a:ext>
            </a:extLst>
          </p:cNvPr>
          <p:cNvSpPr>
            <a:spLocks noGrp="1"/>
          </p:cNvSpPr>
          <p:nvPr>
            <p:ph type="sldNum" idx="12"/>
          </p:nvPr>
        </p:nvSpPr>
        <p:spPr/>
        <p:txBody>
          <a:bodyPr/>
          <a:lstStyle/>
          <a:p>
            <a:fld id="{52A29C8B-5F70-8945-A2A6-FBD7A17156DB}" type="slidenum">
              <a:rPr lang="es-PE" smtClean="0"/>
              <a:pPr/>
              <a:t>11</a:t>
            </a:fld>
            <a:endParaRPr lang="es-PE"/>
          </a:p>
        </p:txBody>
      </p:sp>
      <p:sp>
        <p:nvSpPr>
          <p:cNvPr id="4" name="Marcador de contenido 3">
            <a:extLst>
              <a:ext uri="{FF2B5EF4-FFF2-40B4-BE49-F238E27FC236}">
                <a16:creationId xmlns:a16="http://schemas.microsoft.com/office/drawing/2014/main" id="{C617C12F-0C2F-7A3A-4745-1137E9F42904}"/>
              </a:ext>
            </a:extLst>
          </p:cNvPr>
          <p:cNvSpPr>
            <a:spLocks noGrp="1"/>
          </p:cNvSpPr>
          <p:nvPr>
            <p:ph idx="1"/>
          </p:nvPr>
        </p:nvSpPr>
        <p:spPr/>
        <p:txBody>
          <a:bodyPr>
            <a:normAutofit/>
          </a:bodyPr>
          <a:lstStyle/>
          <a:p>
            <a:pPr marL="0" lvl="0" indent="0">
              <a:spcBef>
                <a:spcPts val="0"/>
              </a:spcBef>
              <a:buNone/>
            </a:pPr>
            <a:r>
              <a:rPr lang="es-ES" sz="1800" dirty="0"/>
              <a:t>Si al tratar de consumir el servicio desde otra IP diferente a localhost (como en la nube), obtiene el error de </a:t>
            </a:r>
            <a:r>
              <a:rPr lang="es-ES" sz="1800" b="1" dirty="0"/>
              <a:t>Cross-</a:t>
            </a:r>
            <a:r>
              <a:rPr lang="es-ES" sz="1800" b="1" dirty="0" err="1"/>
              <a:t>Origin</a:t>
            </a:r>
            <a:r>
              <a:rPr lang="es-ES" sz="1800" b="1" dirty="0"/>
              <a:t> </a:t>
            </a:r>
            <a:r>
              <a:rPr lang="es-ES" sz="1800" b="1" dirty="0" err="1"/>
              <a:t>Resource</a:t>
            </a:r>
            <a:r>
              <a:rPr lang="es-ES" sz="1800" b="1" dirty="0"/>
              <a:t> </a:t>
            </a:r>
            <a:r>
              <a:rPr lang="es-ES" sz="1800" b="1" dirty="0" err="1"/>
              <a:t>Sharing</a:t>
            </a:r>
            <a:r>
              <a:rPr lang="es-ES" sz="1800" dirty="0"/>
              <a:t> (</a:t>
            </a:r>
            <a:r>
              <a:rPr lang="es-ES" sz="1800" b="1" dirty="0"/>
              <a:t>CORS</a:t>
            </a:r>
            <a:r>
              <a:rPr lang="es-ES" sz="1800" dirty="0"/>
              <a:t>):</a:t>
            </a:r>
          </a:p>
          <a:p>
            <a:pPr lvl="0" indent="-342900">
              <a:spcBef>
                <a:spcPts val="1600"/>
              </a:spcBef>
              <a:buSzPts val="1800"/>
              <a:buChar char="●"/>
            </a:pPr>
            <a:r>
              <a:rPr lang="es-ES" sz="1800" dirty="0"/>
              <a:t>No 'Access-Control-</a:t>
            </a:r>
            <a:r>
              <a:rPr lang="es-ES" sz="1800" dirty="0" err="1"/>
              <a:t>Allow</a:t>
            </a:r>
            <a:r>
              <a:rPr lang="es-ES" sz="1800" dirty="0"/>
              <a:t>-</a:t>
            </a:r>
            <a:r>
              <a:rPr lang="es-ES" sz="1800" dirty="0" err="1"/>
              <a:t>Origin</a:t>
            </a:r>
            <a:r>
              <a:rPr lang="es-ES" sz="1800" dirty="0"/>
              <a:t>'</a:t>
            </a:r>
          </a:p>
          <a:p>
            <a:pPr marL="0" lvl="0" indent="0">
              <a:spcBef>
                <a:spcPts val="1600"/>
              </a:spcBef>
              <a:buNone/>
            </a:pPr>
            <a:r>
              <a:rPr lang="es-ES" sz="1800" dirty="0"/>
              <a:t>Esto significa que el servidor solo responderá a solicitudes que tengan su misma IP por seguridad. Para permitir solicitudes de otros IP debe adicionar la anotación </a:t>
            </a:r>
            <a:r>
              <a:rPr lang="es-ES" sz="1800" b="1" dirty="0"/>
              <a:t>@CrossOrigin</a:t>
            </a:r>
            <a:r>
              <a:rPr lang="es-ES" sz="1800" dirty="0"/>
              <a:t>, a nivel de la clase o del método.</a:t>
            </a:r>
          </a:p>
          <a:p>
            <a:pPr marL="0" lvl="0" indent="0">
              <a:spcBef>
                <a:spcPts val="1600"/>
              </a:spcBef>
              <a:buNone/>
            </a:pPr>
            <a:endParaRPr lang="es-ES" sz="1800" dirty="0"/>
          </a:p>
          <a:p>
            <a:pPr marL="0" lvl="0" indent="0">
              <a:spcBef>
                <a:spcPts val="1600"/>
              </a:spcBef>
              <a:buNone/>
            </a:pPr>
            <a:endParaRPr lang="es-ES" sz="1800" dirty="0"/>
          </a:p>
          <a:p>
            <a:pPr marL="0" lvl="0" indent="0">
              <a:spcBef>
                <a:spcPts val="1600"/>
              </a:spcBef>
              <a:spcAft>
                <a:spcPts val="1600"/>
              </a:spcAft>
              <a:buNone/>
            </a:pPr>
            <a:r>
              <a:rPr lang="es-ES" sz="1800" dirty="0"/>
              <a:t>Así mismo si tiene problemas con el juego de caracteres enviado desde el servidor, puede forzar el uso de utf-8 (o algún otro juego de caracteres), en la opción </a:t>
            </a:r>
            <a:r>
              <a:rPr lang="es-ES" sz="1800" b="1" dirty="0"/>
              <a:t>produces</a:t>
            </a:r>
            <a:r>
              <a:rPr lang="es-ES" sz="1800" dirty="0"/>
              <a:t>:</a:t>
            </a:r>
          </a:p>
          <a:p>
            <a:endParaRPr lang="es-PE" sz="1800" dirty="0"/>
          </a:p>
        </p:txBody>
      </p:sp>
      <p:pic>
        <p:nvPicPr>
          <p:cNvPr id="5" name="Google Shape;164;p23">
            <a:extLst>
              <a:ext uri="{FF2B5EF4-FFF2-40B4-BE49-F238E27FC236}">
                <a16:creationId xmlns:a16="http://schemas.microsoft.com/office/drawing/2014/main" id="{D78BB818-FC62-A35F-CC8D-9895E0DDF544}"/>
              </a:ext>
            </a:extLst>
          </p:cNvPr>
          <p:cNvPicPr preferRelativeResize="0"/>
          <p:nvPr/>
        </p:nvPicPr>
        <p:blipFill>
          <a:blip r:embed="rId2">
            <a:alphaModFix/>
          </a:blip>
          <a:stretch>
            <a:fillRect/>
          </a:stretch>
        </p:blipFill>
        <p:spPr>
          <a:xfrm>
            <a:off x="4210050" y="2957512"/>
            <a:ext cx="3771900" cy="942975"/>
          </a:xfrm>
          <a:prstGeom prst="rect">
            <a:avLst/>
          </a:prstGeom>
          <a:noFill/>
          <a:ln>
            <a:noFill/>
          </a:ln>
        </p:spPr>
      </p:pic>
      <p:sp>
        <p:nvSpPr>
          <p:cNvPr id="6" name="Google Shape;165;p23">
            <a:extLst>
              <a:ext uri="{FF2B5EF4-FFF2-40B4-BE49-F238E27FC236}">
                <a16:creationId xmlns:a16="http://schemas.microsoft.com/office/drawing/2014/main" id="{27820976-E442-3E30-E029-6D79150BCD28}"/>
              </a:ext>
            </a:extLst>
          </p:cNvPr>
          <p:cNvSpPr/>
          <p:nvPr/>
        </p:nvSpPr>
        <p:spPr>
          <a:xfrm rot="10800000">
            <a:off x="3704675" y="3252275"/>
            <a:ext cx="647700" cy="2499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163;p23">
            <a:extLst>
              <a:ext uri="{FF2B5EF4-FFF2-40B4-BE49-F238E27FC236}">
                <a16:creationId xmlns:a16="http://schemas.microsoft.com/office/drawing/2014/main" id="{F3763F50-1C6D-E3BA-DF2A-525CF8F37770}"/>
              </a:ext>
            </a:extLst>
          </p:cNvPr>
          <p:cNvPicPr preferRelativeResize="0"/>
          <p:nvPr/>
        </p:nvPicPr>
        <p:blipFill>
          <a:blip r:embed="rId3">
            <a:alphaModFix/>
          </a:blip>
          <a:stretch>
            <a:fillRect/>
          </a:stretch>
        </p:blipFill>
        <p:spPr>
          <a:xfrm>
            <a:off x="2963903" y="5087785"/>
            <a:ext cx="5336000" cy="230000"/>
          </a:xfrm>
          <a:prstGeom prst="rect">
            <a:avLst/>
          </a:prstGeom>
          <a:noFill/>
          <a:ln>
            <a:noFill/>
          </a:ln>
        </p:spPr>
      </p:pic>
    </p:spTree>
    <p:extLst>
      <p:ext uri="{BB962C8B-B14F-4D97-AF65-F5344CB8AC3E}">
        <p14:creationId xmlns:p14="http://schemas.microsoft.com/office/powerpoint/2010/main" val="3529227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C572-5641-E226-BFCD-68008E37C2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E16CE7-26C4-E5F7-AF7C-A64D06B6A7B3}"/>
              </a:ext>
            </a:extLst>
          </p:cNvPr>
          <p:cNvSpPr>
            <a:spLocks noGrp="1"/>
          </p:cNvSpPr>
          <p:nvPr>
            <p:ph type="title"/>
          </p:nvPr>
        </p:nvSpPr>
        <p:spPr/>
        <p:txBody>
          <a:bodyPr/>
          <a:lstStyle/>
          <a:p>
            <a:r>
              <a:rPr lang="es-ES" dirty="0"/>
              <a:t>Observación </a:t>
            </a:r>
            <a:r>
              <a:rPr lang="es-ES" dirty="0">
                <a:sym typeface="Wingdings" panose="05000000000000000000" pitchFamily="2" charset="2"/>
              </a:rPr>
              <a:t> </a:t>
            </a:r>
            <a:r>
              <a:rPr lang="es-ES" dirty="0" err="1">
                <a:sym typeface="Wingdings" panose="05000000000000000000" pitchFamily="2" charset="2"/>
              </a:rPr>
              <a:t>Charset</a:t>
            </a:r>
            <a:endParaRPr lang="es-PE" dirty="0"/>
          </a:p>
        </p:txBody>
      </p:sp>
      <p:sp>
        <p:nvSpPr>
          <p:cNvPr id="3" name="Marcador de número de diapositiva 2">
            <a:extLst>
              <a:ext uri="{FF2B5EF4-FFF2-40B4-BE49-F238E27FC236}">
                <a16:creationId xmlns:a16="http://schemas.microsoft.com/office/drawing/2014/main" id="{E75C7900-21E3-3CC3-E60F-B54AD672A887}"/>
              </a:ext>
            </a:extLst>
          </p:cNvPr>
          <p:cNvSpPr>
            <a:spLocks noGrp="1"/>
          </p:cNvSpPr>
          <p:nvPr>
            <p:ph type="sldNum" idx="12"/>
          </p:nvPr>
        </p:nvSpPr>
        <p:spPr/>
        <p:txBody>
          <a:bodyPr/>
          <a:lstStyle/>
          <a:p>
            <a:fld id="{52A29C8B-5F70-8945-A2A6-FBD7A17156DB}" type="slidenum">
              <a:rPr lang="es-PE" smtClean="0"/>
              <a:pPr/>
              <a:t>12</a:t>
            </a:fld>
            <a:endParaRPr lang="es-PE"/>
          </a:p>
        </p:txBody>
      </p:sp>
      <p:sp>
        <p:nvSpPr>
          <p:cNvPr id="4" name="Marcador de contenido 3">
            <a:extLst>
              <a:ext uri="{FF2B5EF4-FFF2-40B4-BE49-F238E27FC236}">
                <a16:creationId xmlns:a16="http://schemas.microsoft.com/office/drawing/2014/main" id="{F8B89E79-8E33-C5DE-7E5A-B58DB2FEB8DB}"/>
              </a:ext>
            </a:extLst>
          </p:cNvPr>
          <p:cNvSpPr>
            <a:spLocks noGrp="1"/>
          </p:cNvSpPr>
          <p:nvPr>
            <p:ph idx="1"/>
          </p:nvPr>
        </p:nvSpPr>
        <p:spPr/>
        <p:txBody>
          <a:bodyPr/>
          <a:lstStyle/>
          <a:p>
            <a:r>
              <a:rPr lang="es-ES" dirty="0"/>
              <a:t>Si tiene problemas con el juego de caracteres enviado desde el servidor (ñ o tildes), puede forzar el uso de utf-8 (o algún otro juego de caracteres), en la opción </a:t>
            </a:r>
            <a:r>
              <a:rPr lang="es-ES" b="1" dirty="0"/>
              <a:t>produces</a:t>
            </a:r>
            <a:r>
              <a:rPr lang="es-ES" dirty="0"/>
              <a:t>:</a:t>
            </a:r>
          </a:p>
          <a:p>
            <a:endParaRPr lang="es-PE" dirty="0"/>
          </a:p>
        </p:txBody>
      </p:sp>
      <p:pic>
        <p:nvPicPr>
          <p:cNvPr id="5" name="Google Shape;173;p24">
            <a:extLst>
              <a:ext uri="{FF2B5EF4-FFF2-40B4-BE49-F238E27FC236}">
                <a16:creationId xmlns:a16="http://schemas.microsoft.com/office/drawing/2014/main" id="{CA835DF6-F078-93C8-FAF3-557F1A7EE56F}"/>
              </a:ext>
            </a:extLst>
          </p:cNvPr>
          <p:cNvPicPr preferRelativeResize="0"/>
          <p:nvPr/>
        </p:nvPicPr>
        <p:blipFill>
          <a:blip r:embed="rId2">
            <a:alphaModFix/>
          </a:blip>
          <a:stretch>
            <a:fillRect/>
          </a:stretch>
        </p:blipFill>
        <p:spPr>
          <a:xfrm>
            <a:off x="1345716" y="3239879"/>
            <a:ext cx="9144000" cy="1232297"/>
          </a:xfrm>
          <a:prstGeom prst="rect">
            <a:avLst/>
          </a:prstGeom>
          <a:noFill/>
          <a:ln>
            <a:noFill/>
          </a:ln>
        </p:spPr>
      </p:pic>
      <p:sp>
        <p:nvSpPr>
          <p:cNvPr id="6" name="Google Shape;174;p24">
            <a:extLst>
              <a:ext uri="{FF2B5EF4-FFF2-40B4-BE49-F238E27FC236}">
                <a16:creationId xmlns:a16="http://schemas.microsoft.com/office/drawing/2014/main" id="{9EC4D641-1ED2-1502-58FB-0E464CD1956A}"/>
              </a:ext>
            </a:extLst>
          </p:cNvPr>
          <p:cNvSpPr/>
          <p:nvPr/>
        </p:nvSpPr>
        <p:spPr>
          <a:xfrm rot="-5400000">
            <a:off x="4632691" y="2830825"/>
            <a:ext cx="561900" cy="4470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2901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29D28-9005-6033-9407-48A568CA93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1335C2-028C-3D64-1B07-E81B23AE15F7}"/>
              </a:ext>
            </a:extLst>
          </p:cNvPr>
          <p:cNvSpPr>
            <a:spLocks noGrp="1"/>
          </p:cNvSpPr>
          <p:nvPr>
            <p:ph type="title"/>
          </p:nvPr>
        </p:nvSpPr>
        <p:spPr/>
        <p:txBody>
          <a:bodyPr/>
          <a:lstStyle/>
          <a:p>
            <a:r>
              <a:rPr lang="es-ES" dirty="0"/>
              <a:t>Documentación</a:t>
            </a:r>
            <a:endParaRPr lang="es-PE" dirty="0"/>
          </a:p>
        </p:txBody>
      </p:sp>
      <p:sp>
        <p:nvSpPr>
          <p:cNvPr id="3" name="Marcador de número de diapositiva 2">
            <a:extLst>
              <a:ext uri="{FF2B5EF4-FFF2-40B4-BE49-F238E27FC236}">
                <a16:creationId xmlns:a16="http://schemas.microsoft.com/office/drawing/2014/main" id="{C646A94F-4B3E-EAE4-E797-02639CF5140B}"/>
              </a:ext>
            </a:extLst>
          </p:cNvPr>
          <p:cNvSpPr>
            <a:spLocks noGrp="1"/>
          </p:cNvSpPr>
          <p:nvPr>
            <p:ph type="sldNum" idx="12"/>
          </p:nvPr>
        </p:nvSpPr>
        <p:spPr/>
        <p:txBody>
          <a:bodyPr/>
          <a:lstStyle/>
          <a:p>
            <a:fld id="{52A29C8B-5F70-8945-A2A6-FBD7A17156DB}" type="slidenum">
              <a:rPr lang="es-PE" smtClean="0"/>
              <a:pPr/>
              <a:t>13</a:t>
            </a:fld>
            <a:endParaRPr lang="es-PE"/>
          </a:p>
        </p:txBody>
      </p:sp>
      <p:sp>
        <p:nvSpPr>
          <p:cNvPr id="4" name="Marcador de contenido 3">
            <a:extLst>
              <a:ext uri="{FF2B5EF4-FFF2-40B4-BE49-F238E27FC236}">
                <a16:creationId xmlns:a16="http://schemas.microsoft.com/office/drawing/2014/main" id="{E750AFF9-6DF6-F750-04E3-EE0CA86A5CBA}"/>
              </a:ext>
            </a:extLst>
          </p:cNvPr>
          <p:cNvSpPr>
            <a:spLocks noGrp="1"/>
          </p:cNvSpPr>
          <p:nvPr>
            <p:ph idx="1"/>
          </p:nvPr>
        </p:nvSpPr>
        <p:spPr/>
        <p:txBody>
          <a:bodyPr>
            <a:normAutofit/>
          </a:bodyPr>
          <a:lstStyle/>
          <a:p>
            <a:pPr marL="0" lvl="0" indent="0">
              <a:spcBef>
                <a:spcPts val="0"/>
              </a:spcBef>
              <a:buNone/>
            </a:pPr>
            <a:r>
              <a:rPr lang="es-ES" sz="2000" dirty="0"/>
              <a:t>Al terminar de configurar y probar un WebService, este se debe documentar para que los potenciales clientes sepan cómo consumirlo correctamente.</a:t>
            </a:r>
          </a:p>
          <a:p>
            <a:pPr marL="0" lvl="0" indent="0">
              <a:spcBef>
                <a:spcPts val="1600"/>
              </a:spcBef>
              <a:buNone/>
            </a:pPr>
            <a:endParaRPr lang="es-ES" sz="2000" dirty="0"/>
          </a:p>
          <a:p>
            <a:pPr marL="0" lvl="0" indent="0">
              <a:spcBef>
                <a:spcPts val="1600"/>
              </a:spcBef>
              <a:buNone/>
            </a:pPr>
            <a:r>
              <a:rPr lang="es-ES" sz="2000" dirty="0"/>
              <a:t>Puede ver un ejemplo aquí en el archivo:</a:t>
            </a:r>
          </a:p>
          <a:p>
            <a:pPr marL="0" lvl="0" indent="0">
              <a:spcBef>
                <a:spcPts val="0"/>
              </a:spcBef>
              <a:buNone/>
            </a:pPr>
            <a:r>
              <a:rPr lang="es-ES" sz="2000" dirty="0"/>
              <a:t>→ Clase 9.2 - </a:t>
            </a:r>
            <a:r>
              <a:rPr lang="es-ES" sz="2000" dirty="0" err="1"/>
              <a:t>WebServices</a:t>
            </a:r>
            <a:r>
              <a:rPr lang="es-ES" sz="2000" dirty="0"/>
              <a:t> Rest - Documentación listar Productos</a:t>
            </a:r>
          </a:p>
          <a:p>
            <a:endParaRPr lang="es-PE" sz="2000" dirty="0"/>
          </a:p>
        </p:txBody>
      </p:sp>
    </p:spTree>
    <p:extLst>
      <p:ext uri="{BB962C8B-B14F-4D97-AF65-F5344CB8AC3E}">
        <p14:creationId xmlns:p14="http://schemas.microsoft.com/office/powerpoint/2010/main" val="2765282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0D6412-5DB9-1588-965B-A45CF33FAEC8}"/>
              </a:ext>
            </a:extLst>
          </p:cNvPr>
          <p:cNvSpPr>
            <a:spLocks noGrp="1"/>
          </p:cNvSpPr>
          <p:nvPr>
            <p:ph type="dt" sz="half" idx="10"/>
          </p:nvPr>
        </p:nvSpPr>
        <p:spPr/>
        <p:txBody>
          <a:bodyPr/>
          <a:lstStyle/>
          <a:p>
            <a:r>
              <a:rPr lang="es-PE" dirty="0"/>
              <a:t>2025</a:t>
            </a:r>
          </a:p>
        </p:txBody>
      </p:sp>
      <p:sp>
        <p:nvSpPr>
          <p:cNvPr id="3" name="Marcador de pie de página 2">
            <a:extLst>
              <a:ext uri="{FF2B5EF4-FFF2-40B4-BE49-F238E27FC236}">
                <a16:creationId xmlns:a16="http://schemas.microsoft.com/office/drawing/2014/main" id="{A53046AB-35C4-7A51-CA53-B245E7A46705}"/>
              </a:ext>
            </a:extLst>
          </p:cNvPr>
          <p:cNvSpPr>
            <a:spLocks noGrp="1"/>
          </p:cNvSpPr>
          <p:nvPr>
            <p:ph type="ftr" sz="quarter" idx="11"/>
          </p:nvPr>
        </p:nvSpPr>
        <p:spPr/>
        <p:txBody>
          <a:bodyPr/>
          <a:lstStyle/>
          <a:p>
            <a:r>
              <a:rPr lang="en-US" dirty="0" err="1"/>
              <a:t>Gestión</a:t>
            </a:r>
            <a:r>
              <a:rPr lang="en-US" dirty="0"/>
              <a:t> de </a:t>
            </a:r>
            <a:r>
              <a:rPr lang="en-US" dirty="0" err="1"/>
              <a:t>Servicios</a:t>
            </a:r>
            <a:r>
              <a:rPr lang="en-US" dirty="0"/>
              <a:t> TICS</a:t>
            </a:r>
            <a:endParaRPr lang="es-PE" dirty="0"/>
          </a:p>
        </p:txBody>
      </p:sp>
      <p:sp>
        <p:nvSpPr>
          <p:cNvPr id="4" name="Marcador de número de diapositiva 3">
            <a:extLst>
              <a:ext uri="{FF2B5EF4-FFF2-40B4-BE49-F238E27FC236}">
                <a16:creationId xmlns:a16="http://schemas.microsoft.com/office/drawing/2014/main" id="{FA36716F-4F59-0FAE-0149-E897A30A38A2}"/>
              </a:ext>
            </a:extLst>
          </p:cNvPr>
          <p:cNvSpPr>
            <a:spLocks noGrp="1"/>
          </p:cNvSpPr>
          <p:nvPr>
            <p:ph type="sldNum" sz="quarter" idx="4"/>
          </p:nvPr>
        </p:nvSpPr>
        <p:spPr/>
        <p:txBody>
          <a:bodyPr/>
          <a:lstStyle/>
          <a:p>
            <a:fld id="{52A29C8B-5F70-8945-A2A6-FBD7A17156DB}" type="slidenum">
              <a:rPr lang="es-PE" smtClean="0"/>
              <a:pPr/>
              <a:t>14</a:t>
            </a:fld>
            <a:endParaRPr lang="es-PE"/>
          </a:p>
        </p:txBody>
      </p:sp>
      <p:sp>
        <p:nvSpPr>
          <p:cNvPr id="5" name="Título 4">
            <a:extLst>
              <a:ext uri="{FF2B5EF4-FFF2-40B4-BE49-F238E27FC236}">
                <a16:creationId xmlns:a16="http://schemas.microsoft.com/office/drawing/2014/main" id="{58F0ABD6-30B9-3D21-7F97-EEF42BB9556E}"/>
              </a:ext>
            </a:extLst>
          </p:cNvPr>
          <p:cNvSpPr>
            <a:spLocks noGrp="1"/>
          </p:cNvSpPr>
          <p:nvPr>
            <p:ph type="title"/>
          </p:nvPr>
        </p:nvSpPr>
        <p:spPr/>
        <p:txBody>
          <a:bodyPr/>
          <a:lstStyle/>
          <a:p>
            <a:r>
              <a:rPr lang="es-ES" sz="4400" dirty="0"/>
              <a:t>Creación de un servicio web </a:t>
            </a:r>
            <a:r>
              <a:rPr lang="es-ES" sz="4400" dirty="0" err="1"/>
              <a:t>RESTful</a:t>
            </a:r>
            <a:r>
              <a:rPr lang="es-ES" sz="4400" dirty="0"/>
              <a:t> </a:t>
            </a:r>
            <a:br>
              <a:rPr lang="es-ES" sz="4400" dirty="0"/>
            </a:br>
            <a:r>
              <a:rPr lang="es-ES" sz="4400" dirty="0"/>
              <a:t>CRUD de productos</a:t>
            </a:r>
            <a:endParaRPr lang="es-PE" sz="4400" dirty="0"/>
          </a:p>
        </p:txBody>
      </p:sp>
    </p:spTree>
    <p:extLst>
      <p:ext uri="{BB962C8B-B14F-4D97-AF65-F5344CB8AC3E}">
        <p14:creationId xmlns:p14="http://schemas.microsoft.com/office/powerpoint/2010/main" val="1872491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48FE1-6A41-96F6-36EC-AA039E48B6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E0D9E8-1444-7AAB-8D69-86892AB5405E}"/>
              </a:ext>
            </a:extLst>
          </p:cNvPr>
          <p:cNvSpPr>
            <a:spLocks noGrp="1"/>
          </p:cNvSpPr>
          <p:nvPr>
            <p:ph type="title"/>
          </p:nvPr>
        </p:nvSpPr>
        <p:spPr/>
        <p:txBody>
          <a:bodyPr/>
          <a:lstStyle/>
          <a:p>
            <a:endParaRPr lang="es-PE"/>
          </a:p>
        </p:txBody>
      </p:sp>
      <p:sp>
        <p:nvSpPr>
          <p:cNvPr id="3" name="Marcador de número de diapositiva 2">
            <a:extLst>
              <a:ext uri="{FF2B5EF4-FFF2-40B4-BE49-F238E27FC236}">
                <a16:creationId xmlns:a16="http://schemas.microsoft.com/office/drawing/2014/main" id="{0A906887-E9FD-9FB4-5FDB-E6146142B53D}"/>
              </a:ext>
            </a:extLst>
          </p:cNvPr>
          <p:cNvSpPr>
            <a:spLocks noGrp="1"/>
          </p:cNvSpPr>
          <p:nvPr>
            <p:ph type="sldNum" idx="12"/>
          </p:nvPr>
        </p:nvSpPr>
        <p:spPr/>
        <p:txBody>
          <a:bodyPr/>
          <a:lstStyle/>
          <a:p>
            <a:fld id="{52A29C8B-5F70-8945-A2A6-FBD7A17156DB}" type="slidenum">
              <a:rPr lang="es-PE" smtClean="0"/>
              <a:pPr/>
              <a:t>15</a:t>
            </a:fld>
            <a:endParaRPr lang="es-PE"/>
          </a:p>
        </p:txBody>
      </p:sp>
      <p:sp>
        <p:nvSpPr>
          <p:cNvPr id="4" name="Marcador de contenido 3">
            <a:extLst>
              <a:ext uri="{FF2B5EF4-FFF2-40B4-BE49-F238E27FC236}">
                <a16:creationId xmlns:a16="http://schemas.microsoft.com/office/drawing/2014/main" id="{F287BFE5-9E7A-6EDF-94DD-6E831926E361}"/>
              </a:ext>
            </a:extLst>
          </p:cNvPr>
          <p:cNvSpPr>
            <a:spLocks noGrp="1"/>
          </p:cNvSpPr>
          <p:nvPr>
            <p:ph idx="1"/>
          </p:nvPr>
        </p:nvSpPr>
        <p:spPr/>
        <p:txBody>
          <a:bodyPr/>
          <a:lstStyle/>
          <a:p>
            <a:endParaRPr lang="es-PE"/>
          </a:p>
        </p:txBody>
      </p:sp>
    </p:spTree>
    <p:extLst>
      <p:ext uri="{BB962C8B-B14F-4D97-AF65-F5344CB8AC3E}">
        <p14:creationId xmlns:p14="http://schemas.microsoft.com/office/powerpoint/2010/main" val="525008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0653E0C-AD00-8D9B-0739-D95263ED9348}"/>
              </a:ext>
            </a:extLst>
          </p:cNvPr>
          <p:cNvSpPr>
            <a:spLocks noGrp="1"/>
          </p:cNvSpPr>
          <p:nvPr>
            <p:ph type="dt" sz="half" idx="10"/>
          </p:nvPr>
        </p:nvSpPr>
        <p:spPr/>
        <p:txBody>
          <a:bodyPr/>
          <a:lstStyle/>
          <a:p>
            <a:r>
              <a:rPr lang="es-PE" dirty="0"/>
              <a:t>2025</a:t>
            </a:r>
          </a:p>
        </p:txBody>
      </p:sp>
      <p:sp>
        <p:nvSpPr>
          <p:cNvPr id="3" name="Marcador de pie de página 2">
            <a:extLst>
              <a:ext uri="{FF2B5EF4-FFF2-40B4-BE49-F238E27FC236}">
                <a16:creationId xmlns:a16="http://schemas.microsoft.com/office/drawing/2014/main" id="{2C22E17D-8435-4DC7-EB69-434CCA3C130D}"/>
              </a:ext>
            </a:extLst>
          </p:cNvPr>
          <p:cNvSpPr>
            <a:spLocks noGrp="1"/>
          </p:cNvSpPr>
          <p:nvPr>
            <p:ph type="ftr" sz="quarter" idx="11"/>
          </p:nvPr>
        </p:nvSpPr>
        <p:spPr/>
        <p:txBody>
          <a:bodyPr/>
          <a:lstStyle/>
          <a:p>
            <a:r>
              <a:rPr lang="en-US" dirty="0" err="1"/>
              <a:t>Gestión</a:t>
            </a:r>
            <a:r>
              <a:rPr lang="en-US" dirty="0"/>
              <a:t> de </a:t>
            </a:r>
            <a:r>
              <a:rPr lang="en-US" dirty="0" err="1"/>
              <a:t>Servicios</a:t>
            </a:r>
            <a:r>
              <a:rPr lang="en-US" dirty="0"/>
              <a:t> TICS</a:t>
            </a:r>
            <a:endParaRPr lang="es-PE" dirty="0"/>
          </a:p>
        </p:txBody>
      </p:sp>
      <p:sp>
        <p:nvSpPr>
          <p:cNvPr id="4" name="Marcador de número de diapositiva 3">
            <a:extLst>
              <a:ext uri="{FF2B5EF4-FFF2-40B4-BE49-F238E27FC236}">
                <a16:creationId xmlns:a16="http://schemas.microsoft.com/office/drawing/2014/main" id="{DB3FAEDC-E514-F7AE-0384-132CE26492CC}"/>
              </a:ext>
            </a:extLst>
          </p:cNvPr>
          <p:cNvSpPr>
            <a:spLocks noGrp="1"/>
          </p:cNvSpPr>
          <p:nvPr>
            <p:ph type="sldNum" sz="quarter" idx="4"/>
          </p:nvPr>
        </p:nvSpPr>
        <p:spPr/>
        <p:txBody>
          <a:bodyPr/>
          <a:lstStyle/>
          <a:p>
            <a:fld id="{52A29C8B-5F70-8945-A2A6-FBD7A17156DB}" type="slidenum">
              <a:rPr lang="es-PE" smtClean="0"/>
              <a:pPr/>
              <a:t>16</a:t>
            </a:fld>
            <a:endParaRPr lang="es-PE"/>
          </a:p>
        </p:txBody>
      </p:sp>
      <p:sp>
        <p:nvSpPr>
          <p:cNvPr id="5" name="Título 4">
            <a:extLst>
              <a:ext uri="{FF2B5EF4-FFF2-40B4-BE49-F238E27FC236}">
                <a16:creationId xmlns:a16="http://schemas.microsoft.com/office/drawing/2014/main" id="{B378D7E7-77BF-22DF-CAF9-729EA8C68C68}"/>
              </a:ext>
            </a:extLst>
          </p:cNvPr>
          <p:cNvSpPr>
            <a:spLocks noGrp="1"/>
          </p:cNvSpPr>
          <p:nvPr>
            <p:ph type="title"/>
          </p:nvPr>
        </p:nvSpPr>
        <p:spPr/>
        <p:txBody>
          <a:bodyPr/>
          <a:lstStyle/>
          <a:p>
            <a:r>
              <a:rPr lang="es-ES" dirty="0"/>
              <a:t>Servicio web </a:t>
            </a:r>
            <a:r>
              <a:rPr lang="es-ES" dirty="0" err="1"/>
              <a:t>RESTful</a:t>
            </a:r>
            <a:endParaRPr lang="es-PE" dirty="0"/>
          </a:p>
        </p:txBody>
      </p:sp>
      <p:sp>
        <p:nvSpPr>
          <p:cNvPr id="6" name="Marcador de contenido 5">
            <a:extLst>
              <a:ext uri="{FF2B5EF4-FFF2-40B4-BE49-F238E27FC236}">
                <a16:creationId xmlns:a16="http://schemas.microsoft.com/office/drawing/2014/main" id="{5CFD9766-F7B8-AC3A-4FA4-B3EFE66B922A}"/>
              </a:ext>
            </a:extLst>
          </p:cNvPr>
          <p:cNvSpPr>
            <a:spLocks noGrp="1"/>
          </p:cNvSpPr>
          <p:nvPr>
            <p:ph idx="1"/>
          </p:nvPr>
        </p:nvSpPr>
        <p:spPr/>
        <p:txBody>
          <a:bodyPr/>
          <a:lstStyle/>
          <a:p>
            <a:pPr marL="0" lvl="0" indent="0" algn="l" rtl="0">
              <a:spcBef>
                <a:spcPts val="0"/>
              </a:spcBef>
              <a:spcAft>
                <a:spcPts val="0"/>
              </a:spcAft>
              <a:buNone/>
            </a:pPr>
            <a:r>
              <a:rPr lang="es-ES" sz="2000" dirty="0"/>
              <a:t>Ahora, en base al ejemplo anterior, se adicionarán las opciones para convertir el servicio web REST en </a:t>
            </a:r>
            <a:r>
              <a:rPr lang="es-ES" sz="2000" dirty="0" err="1"/>
              <a:t>RESTful</a:t>
            </a:r>
            <a:r>
              <a:rPr lang="es-ES" sz="2000" dirty="0"/>
              <a:t>. </a:t>
            </a:r>
          </a:p>
          <a:p>
            <a:pPr marL="0" lvl="0" indent="0" algn="l" rtl="0">
              <a:spcBef>
                <a:spcPts val="1600"/>
              </a:spcBef>
              <a:spcAft>
                <a:spcPts val="0"/>
              </a:spcAft>
              <a:buNone/>
            </a:pPr>
            <a:r>
              <a:rPr lang="es-ES" sz="2000" dirty="0"/>
              <a:t>Con el servicio </a:t>
            </a:r>
            <a:r>
              <a:rPr lang="es-ES" sz="2000" dirty="0" err="1"/>
              <a:t>RESTful</a:t>
            </a:r>
            <a:r>
              <a:rPr lang="es-ES" sz="2000" dirty="0"/>
              <a:t> debemos realizar el CRUD de productos, </a:t>
            </a:r>
          </a:p>
          <a:p>
            <a:pPr marL="457200" lvl="0" indent="-342900" algn="l" rtl="0">
              <a:spcBef>
                <a:spcPts val="1600"/>
              </a:spcBef>
              <a:spcAft>
                <a:spcPts val="0"/>
              </a:spcAft>
              <a:buSzPts val="1800"/>
              <a:buChar char="●"/>
            </a:pPr>
            <a:r>
              <a:rPr lang="es-ES" sz="2000" b="1" dirty="0"/>
              <a:t>GET</a:t>
            </a:r>
            <a:r>
              <a:rPr lang="es-ES" sz="2000" dirty="0"/>
              <a:t> → obtener un recurso</a:t>
            </a:r>
          </a:p>
          <a:p>
            <a:pPr marL="457200" lvl="0" indent="-342900" algn="l" rtl="0">
              <a:spcBef>
                <a:spcPts val="0"/>
              </a:spcBef>
              <a:spcAft>
                <a:spcPts val="0"/>
              </a:spcAft>
              <a:buSzPts val="1800"/>
              <a:buChar char="●"/>
            </a:pPr>
            <a:r>
              <a:rPr lang="es-ES" sz="2000" b="1" dirty="0"/>
              <a:t>POST</a:t>
            </a:r>
            <a:r>
              <a:rPr lang="es-ES" sz="2000" dirty="0"/>
              <a:t> → crear un recurso</a:t>
            </a:r>
          </a:p>
          <a:p>
            <a:pPr marL="457200" lvl="0" indent="-342900" algn="l" rtl="0">
              <a:spcBef>
                <a:spcPts val="0"/>
              </a:spcBef>
              <a:spcAft>
                <a:spcPts val="0"/>
              </a:spcAft>
              <a:buSzPts val="1800"/>
              <a:buChar char="●"/>
            </a:pPr>
            <a:r>
              <a:rPr lang="es-ES" sz="2000" b="1" dirty="0"/>
              <a:t>PUT</a:t>
            </a:r>
            <a:r>
              <a:rPr lang="es-ES" sz="2000" dirty="0"/>
              <a:t> → cambiar el estado de un recurso</a:t>
            </a:r>
          </a:p>
          <a:p>
            <a:pPr marL="457200" lvl="0" indent="-342900" algn="l" rtl="0">
              <a:spcBef>
                <a:spcPts val="0"/>
              </a:spcBef>
              <a:spcAft>
                <a:spcPts val="0"/>
              </a:spcAft>
              <a:buSzPts val="1800"/>
              <a:buChar char="●"/>
            </a:pPr>
            <a:r>
              <a:rPr lang="es-ES" sz="2000" b="1" dirty="0"/>
              <a:t>DELETE </a:t>
            </a:r>
            <a:r>
              <a:rPr lang="es-ES" sz="2000" dirty="0"/>
              <a:t> → eliminar un recurso</a:t>
            </a:r>
          </a:p>
          <a:p>
            <a:endParaRPr lang="es-PE" dirty="0"/>
          </a:p>
        </p:txBody>
      </p:sp>
    </p:spTree>
    <p:extLst>
      <p:ext uri="{BB962C8B-B14F-4D97-AF65-F5344CB8AC3E}">
        <p14:creationId xmlns:p14="http://schemas.microsoft.com/office/powerpoint/2010/main" val="1107010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0653E0C-AD00-8D9B-0739-D95263ED9348}"/>
              </a:ext>
            </a:extLst>
          </p:cNvPr>
          <p:cNvSpPr>
            <a:spLocks noGrp="1"/>
          </p:cNvSpPr>
          <p:nvPr>
            <p:ph type="dt" sz="half" idx="10"/>
          </p:nvPr>
        </p:nvSpPr>
        <p:spPr/>
        <p:txBody>
          <a:bodyPr/>
          <a:lstStyle/>
          <a:p>
            <a:r>
              <a:rPr lang="es-PE" dirty="0"/>
              <a:t>2025</a:t>
            </a:r>
          </a:p>
        </p:txBody>
      </p:sp>
      <p:sp>
        <p:nvSpPr>
          <p:cNvPr id="3" name="Marcador de pie de página 2">
            <a:extLst>
              <a:ext uri="{FF2B5EF4-FFF2-40B4-BE49-F238E27FC236}">
                <a16:creationId xmlns:a16="http://schemas.microsoft.com/office/drawing/2014/main" id="{2C22E17D-8435-4DC7-EB69-434CCA3C130D}"/>
              </a:ext>
            </a:extLst>
          </p:cNvPr>
          <p:cNvSpPr>
            <a:spLocks noGrp="1"/>
          </p:cNvSpPr>
          <p:nvPr>
            <p:ph type="ftr" sz="quarter" idx="11"/>
          </p:nvPr>
        </p:nvSpPr>
        <p:spPr/>
        <p:txBody>
          <a:bodyPr/>
          <a:lstStyle/>
          <a:p>
            <a:r>
              <a:rPr lang="en-US" dirty="0" err="1"/>
              <a:t>Gestión</a:t>
            </a:r>
            <a:r>
              <a:rPr lang="en-US" dirty="0"/>
              <a:t> de </a:t>
            </a:r>
            <a:r>
              <a:rPr lang="en-US" dirty="0" err="1"/>
              <a:t>Servicios</a:t>
            </a:r>
            <a:r>
              <a:rPr lang="en-US" dirty="0"/>
              <a:t> TICS</a:t>
            </a:r>
            <a:endParaRPr lang="es-PE" dirty="0"/>
          </a:p>
        </p:txBody>
      </p:sp>
      <p:sp>
        <p:nvSpPr>
          <p:cNvPr id="4" name="Marcador de número de diapositiva 3">
            <a:extLst>
              <a:ext uri="{FF2B5EF4-FFF2-40B4-BE49-F238E27FC236}">
                <a16:creationId xmlns:a16="http://schemas.microsoft.com/office/drawing/2014/main" id="{DB3FAEDC-E514-F7AE-0384-132CE26492CC}"/>
              </a:ext>
            </a:extLst>
          </p:cNvPr>
          <p:cNvSpPr>
            <a:spLocks noGrp="1"/>
          </p:cNvSpPr>
          <p:nvPr>
            <p:ph type="sldNum" sz="quarter" idx="4"/>
          </p:nvPr>
        </p:nvSpPr>
        <p:spPr/>
        <p:txBody>
          <a:bodyPr/>
          <a:lstStyle/>
          <a:p>
            <a:fld id="{52A29C8B-5F70-8945-A2A6-FBD7A17156DB}" type="slidenum">
              <a:rPr lang="es-PE" smtClean="0"/>
              <a:pPr/>
              <a:t>17</a:t>
            </a:fld>
            <a:endParaRPr lang="es-PE"/>
          </a:p>
        </p:txBody>
      </p:sp>
      <p:sp>
        <p:nvSpPr>
          <p:cNvPr id="5" name="Título 4">
            <a:extLst>
              <a:ext uri="{FF2B5EF4-FFF2-40B4-BE49-F238E27FC236}">
                <a16:creationId xmlns:a16="http://schemas.microsoft.com/office/drawing/2014/main" id="{B378D7E7-77BF-22DF-CAF9-729EA8C68C68}"/>
              </a:ext>
            </a:extLst>
          </p:cNvPr>
          <p:cNvSpPr>
            <a:spLocks noGrp="1"/>
          </p:cNvSpPr>
          <p:nvPr>
            <p:ph type="title"/>
          </p:nvPr>
        </p:nvSpPr>
        <p:spPr/>
        <p:txBody>
          <a:bodyPr/>
          <a:lstStyle/>
          <a:p>
            <a:r>
              <a:rPr lang="es-ES" dirty="0"/>
              <a:t>Controlador</a:t>
            </a:r>
            <a:endParaRPr lang="es-PE" dirty="0"/>
          </a:p>
        </p:txBody>
      </p:sp>
      <p:sp>
        <p:nvSpPr>
          <p:cNvPr id="6" name="Marcador de contenido 5">
            <a:extLst>
              <a:ext uri="{FF2B5EF4-FFF2-40B4-BE49-F238E27FC236}">
                <a16:creationId xmlns:a16="http://schemas.microsoft.com/office/drawing/2014/main" id="{5CFD9766-F7B8-AC3A-4FA4-B3EFE66B922A}"/>
              </a:ext>
            </a:extLst>
          </p:cNvPr>
          <p:cNvSpPr>
            <a:spLocks noGrp="1"/>
          </p:cNvSpPr>
          <p:nvPr>
            <p:ph idx="1"/>
          </p:nvPr>
        </p:nvSpPr>
        <p:spPr/>
        <p:txBody>
          <a:bodyPr>
            <a:normAutofit/>
          </a:bodyPr>
          <a:lstStyle/>
          <a:p>
            <a:pPr marL="0" lvl="0" indent="0" algn="l" rtl="0">
              <a:spcBef>
                <a:spcPts val="0"/>
              </a:spcBef>
              <a:spcAft>
                <a:spcPts val="0"/>
              </a:spcAft>
              <a:buNone/>
            </a:pPr>
            <a:r>
              <a:rPr lang="es-ES" sz="2000" dirty="0"/>
              <a:t>Las rutas necesarias para el servicio web </a:t>
            </a:r>
            <a:r>
              <a:rPr lang="es-ES" sz="2000" dirty="0" err="1"/>
              <a:t>RESTful</a:t>
            </a:r>
            <a:r>
              <a:rPr lang="es-ES" sz="2000" dirty="0"/>
              <a:t> son las siguientes:</a:t>
            </a:r>
          </a:p>
          <a:p>
            <a:pPr marL="457200" lvl="0" indent="-342900" algn="l" rtl="0">
              <a:spcBef>
                <a:spcPts val="1600"/>
              </a:spcBef>
              <a:spcAft>
                <a:spcPts val="0"/>
              </a:spcAft>
              <a:buSzPts val="1800"/>
              <a:buChar char="●"/>
            </a:pPr>
            <a:r>
              <a:rPr lang="es-ES" sz="2000" b="1" dirty="0">
                <a:latin typeface="Source Code Pro"/>
                <a:ea typeface="Source Code Pro"/>
                <a:cs typeface="Source Code Pro"/>
                <a:sym typeface="Source Code Pro"/>
              </a:rPr>
              <a:t>GET /</a:t>
            </a:r>
            <a:r>
              <a:rPr lang="es-ES" sz="2000" b="1" dirty="0" err="1">
                <a:latin typeface="Source Code Pro"/>
                <a:ea typeface="Source Code Pro"/>
                <a:cs typeface="Source Code Pro"/>
                <a:sym typeface="Source Code Pro"/>
              </a:rPr>
              <a:t>product</a:t>
            </a:r>
            <a:r>
              <a:rPr lang="es-ES" sz="2000" b="1" dirty="0"/>
              <a:t> </a:t>
            </a:r>
            <a:r>
              <a:rPr lang="es-ES" sz="2000" dirty="0"/>
              <a:t>→ obtener lista de productos (ya está)</a:t>
            </a:r>
          </a:p>
          <a:p>
            <a:pPr marL="457200" lvl="0" indent="-342900" algn="l" rtl="0">
              <a:spcBef>
                <a:spcPts val="0"/>
              </a:spcBef>
              <a:spcAft>
                <a:spcPts val="0"/>
              </a:spcAft>
              <a:buSzPts val="1800"/>
              <a:buChar char="●"/>
            </a:pPr>
            <a:r>
              <a:rPr lang="es-ES" sz="2000" b="1" dirty="0">
                <a:latin typeface="Source Code Pro"/>
                <a:ea typeface="Source Code Pro"/>
                <a:cs typeface="Source Code Pro"/>
                <a:sym typeface="Source Code Pro"/>
              </a:rPr>
              <a:t>GET /</a:t>
            </a:r>
            <a:r>
              <a:rPr lang="es-ES" sz="2000" b="1" dirty="0" err="1">
                <a:latin typeface="Source Code Pro"/>
                <a:ea typeface="Source Code Pro"/>
                <a:cs typeface="Source Code Pro"/>
                <a:sym typeface="Source Code Pro"/>
              </a:rPr>
              <a:t>product</a:t>
            </a:r>
            <a:r>
              <a:rPr lang="es-ES" sz="2000" b="1" dirty="0">
                <a:latin typeface="Source Code Pro"/>
                <a:ea typeface="Source Code Pro"/>
                <a:cs typeface="Source Code Pro"/>
                <a:sym typeface="Source Code Pro"/>
              </a:rPr>
              <a:t>/id</a:t>
            </a:r>
            <a:r>
              <a:rPr lang="es-ES" sz="2000" dirty="0"/>
              <a:t> → obtener un producto por id</a:t>
            </a:r>
          </a:p>
          <a:p>
            <a:pPr marL="457200" lvl="0" indent="-342900" algn="l" rtl="0">
              <a:spcBef>
                <a:spcPts val="0"/>
              </a:spcBef>
              <a:spcAft>
                <a:spcPts val="0"/>
              </a:spcAft>
              <a:buSzPts val="1800"/>
              <a:buChar char="●"/>
            </a:pPr>
            <a:r>
              <a:rPr lang="es-ES" sz="2000" b="1" dirty="0">
                <a:latin typeface="Source Code Pro"/>
                <a:ea typeface="Source Code Pro"/>
                <a:cs typeface="Source Code Pro"/>
                <a:sym typeface="Source Code Pro"/>
              </a:rPr>
              <a:t>POST /</a:t>
            </a:r>
            <a:r>
              <a:rPr lang="es-ES" sz="2000" b="1" dirty="0" err="1">
                <a:latin typeface="Source Code Pro"/>
                <a:ea typeface="Source Code Pro"/>
                <a:cs typeface="Source Code Pro"/>
                <a:sym typeface="Source Code Pro"/>
              </a:rPr>
              <a:t>product</a:t>
            </a:r>
            <a:r>
              <a:rPr lang="es-ES" sz="2000" b="1" dirty="0"/>
              <a:t> </a:t>
            </a:r>
            <a:r>
              <a:rPr lang="es-ES" sz="2000" dirty="0"/>
              <a:t>→ crear un producto en el servidor</a:t>
            </a:r>
          </a:p>
          <a:p>
            <a:pPr marL="457200" lvl="0" indent="-342900" algn="l" rtl="0">
              <a:spcBef>
                <a:spcPts val="0"/>
              </a:spcBef>
              <a:spcAft>
                <a:spcPts val="0"/>
              </a:spcAft>
              <a:buSzPts val="1800"/>
              <a:buChar char="●"/>
            </a:pPr>
            <a:r>
              <a:rPr lang="es-ES" sz="2000" b="1" dirty="0">
                <a:latin typeface="Source Code Pro"/>
                <a:ea typeface="Source Code Pro"/>
                <a:cs typeface="Source Code Pro"/>
                <a:sym typeface="Source Code Pro"/>
              </a:rPr>
              <a:t>PUT /</a:t>
            </a:r>
            <a:r>
              <a:rPr lang="es-ES" sz="2000" b="1" dirty="0" err="1">
                <a:latin typeface="Source Code Pro"/>
                <a:ea typeface="Source Code Pro"/>
                <a:cs typeface="Source Code Pro"/>
                <a:sym typeface="Source Code Pro"/>
              </a:rPr>
              <a:t>product</a:t>
            </a:r>
            <a:r>
              <a:rPr lang="es-ES" sz="2000" dirty="0"/>
              <a:t> → cambiar el estado de un producto</a:t>
            </a:r>
          </a:p>
          <a:p>
            <a:pPr marL="457200" lvl="0" indent="-342900" algn="l" rtl="0">
              <a:spcBef>
                <a:spcPts val="0"/>
              </a:spcBef>
              <a:spcAft>
                <a:spcPts val="0"/>
              </a:spcAft>
              <a:buSzPts val="1800"/>
              <a:buChar char="●"/>
            </a:pPr>
            <a:r>
              <a:rPr lang="es-ES" sz="2000" b="1" dirty="0">
                <a:latin typeface="Source Code Pro"/>
                <a:ea typeface="Source Code Pro"/>
                <a:cs typeface="Source Code Pro"/>
                <a:sym typeface="Source Code Pro"/>
              </a:rPr>
              <a:t>DELETE /</a:t>
            </a:r>
            <a:r>
              <a:rPr lang="es-ES" sz="2000" b="1" dirty="0" err="1">
                <a:latin typeface="Source Code Pro"/>
                <a:ea typeface="Source Code Pro"/>
                <a:cs typeface="Source Code Pro"/>
                <a:sym typeface="Source Code Pro"/>
              </a:rPr>
              <a:t>product</a:t>
            </a:r>
            <a:r>
              <a:rPr lang="es-ES" sz="2000" b="1" dirty="0">
                <a:latin typeface="Source Code Pro"/>
                <a:ea typeface="Source Code Pro"/>
                <a:cs typeface="Source Code Pro"/>
                <a:sym typeface="Source Code Pro"/>
              </a:rPr>
              <a:t>/id</a:t>
            </a:r>
            <a:r>
              <a:rPr lang="es-ES" sz="2000" dirty="0"/>
              <a:t> → eliminar un producto por id</a:t>
            </a:r>
          </a:p>
          <a:p>
            <a:pPr marL="0" lvl="0" indent="0" algn="l" rtl="0">
              <a:spcBef>
                <a:spcPts val="1600"/>
              </a:spcBef>
              <a:spcAft>
                <a:spcPts val="0"/>
              </a:spcAft>
              <a:buNone/>
            </a:pPr>
            <a:r>
              <a:rPr lang="es-ES" sz="2000" dirty="0"/>
              <a:t>Además, para que un cliente pueda crear un producto, va a necesitar la lista de categorías y de proveedores, por ende se necesitarán:</a:t>
            </a:r>
          </a:p>
          <a:p>
            <a:pPr marL="457200" lvl="0" indent="-342900" algn="l" rtl="0">
              <a:spcBef>
                <a:spcPts val="1600"/>
              </a:spcBef>
              <a:spcAft>
                <a:spcPts val="0"/>
              </a:spcAft>
              <a:buSzPts val="1800"/>
              <a:buChar char="●"/>
            </a:pPr>
            <a:r>
              <a:rPr lang="es-ES" sz="2000" b="1" dirty="0">
                <a:latin typeface="Source Code Pro"/>
                <a:ea typeface="Source Code Pro"/>
                <a:cs typeface="Source Code Pro"/>
                <a:sym typeface="Source Code Pro"/>
              </a:rPr>
              <a:t>GET /</a:t>
            </a:r>
            <a:r>
              <a:rPr lang="es-ES" sz="2000" b="1" dirty="0" err="1">
                <a:latin typeface="Source Code Pro"/>
                <a:ea typeface="Source Code Pro"/>
                <a:cs typeface="Source Code Pro"/>
                <a:sym typeface="Source Code Pro"/>
              </a:rPr>
              <a:t>category</a:t>
            </a:r>
            <a:r>
              <a:rPr lang="es-ES" sz="2000" dirty="0"/>
              <a:t> → lista de categorías</a:t>
            </a:r>
          </a:p>
          <a:p>
            <a:pPr marL="457200" lvl="0" indent="-342900" algn="l" rtl="0">
              <a:spcBef>
                <a:spcPts val="0"/>
              </a:spcBef>
              <a:spcAft>
                <a:spcPts val="0"/>
              </a:spcAft>
              <a:buSzPts val="1800"/>
              <a:buChar char="●"/>
            </a:pPr>
            <a:r>
              <a:rPr lang="es-ES" sz="2000" b="1" dirty="0">
                <a:latin typeface="Source Code Pro"/>
                <a:ea typeface="Source Code Pro"/>
                <a:cs typeface="Source Code Pro"/>
                <a:sym typeface="Source Code Pro"/>
              </a:rPr>
              <a:t>GET /</a:t>
            </a:r>
            <a:r>
              <a:rPr lang="es-ES" sz="2000" b="1" dirty="0" err="1">
                <a:latin typeface="Source Code Pro"/>
                <a:ea typeface="Source Code Pro"/>
                <a:cs typeface="Source Code Pro"/>
                <a:sym typeface="Source Code Pro"/>
              </a:rPr>
              <a:t>supplier</a:t>
            </a:r>
            <a:r>
              <a:rPr lang="es-ES" sz="2000" dirty="0"/>
              <a:t> → lista de proveedores</a:t>
            </a:r>
          </a:p>
          <a:p>
            <a:endParaRPr lang="es-PE" dirty="0"/>
          </a:p>
        </p:txBody>
      </p:sp>
    </p:spTree>
    <p:extLst>
      <p:ext uri="{BB962C8B-B14F-4D97-AF65-F5344CB8AC3E}">
        <p14:creationId xmlns:p14="http://schemas.microsoft.com/office/powerpoint/2010/main" val="996536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0653E0C-AD00-8D9B-0739-D95263ED9348}"/>
              </a:ext>
            </a:extLst>
          </p:cNvPr>
          <p:cNvSpPr>
            <a:spLocks noGrp="1"/>
          </p:cNvSpPr>
          <p:nvPr>
            <p:ph type="dt" sz="half" idx="10"/>
          </p:nvPr>
        </p:nvSpPr>
        <p:spPr/>
        <p:txBody>
          <a:bodyPr/>
          <a:lstStyle/>
          <a:p>
            <a:r>
              <a:rPr lang="es-PE" dirty="0"/>
              <a:t>2025</a:t>
            </a:r>
          </a:p>
        </p:txBody>
      </p:sp>
      <p:sp>
        <p:nvSpPr>
          <p:cNvPr id="3" name="Marcador de pie de página 2">
            <a:extLst>
              <a:ext uri="{FF2B5EF4-FFF2-40B4-BE49-F238E27FC236}">
                <a16:creationId xmlns:a16="http://schemas.microsoft.com/office/drawing/2014/main" id="{2C22E17D-8435-4DC7-EB69-434CCA3C130D}"/>
              </a:ext>
            </a:extLst>
          </p:cNvPr>
          <p:cNvSpPr>
            <a:spLocks noGrp="1"/>
          </p:cNvSpPr>
          <p:nvPr>
            <p:ph type="ftr" sz="quarter" idx="11"/>
          </p:nvPr>
        </p:nvSpPr>
        <p:spPr/>
        <p:txBody>
          <a:bodyPr/>
          <a:lstStyle/>
          <a:p>
            <a:r>
              <a:rPr lang="en-US" dirty="0" err="1"/>
              <a:t>Gestión</a:t>
            </a:r>
            <a:r>
              <a:rPr lang="en-US" dirty="0"/>
              <a:t> de </a:t>
            </a:r>
            <a:r>
              <a:rPr lang="en-US" dirty="0" err="1"/>
              <a:t>Servicios</a:t>
            </a:r>
            <a:r>
              <a:rPr lang="en-US" dirty="0"/>
              <a:t> TICS</a:t>
            </a:r>
            <a:endParaRPr lang="es-PE" dirty="0"/>
          </a:p>
        </p:txBody>
      </p:sp>
      <p:sp>
        <p:nvSpPr>
          <p:cNvPr id="4" name="Marcador de número de diapositiva 3">
            <a:extLst>
              <a:ext uri="{FF2B5EF4-FFF2-40B4-BE49-F238E27FC236}">
                <a16:creationId xmlns:a16="http://schemas.microsoft.com/office/drawing/2014/main" id="{DB3FAEDC-E514-F7AE-0384-132CE26492CC}"/>
              </a:ext>
            </a:extLst>
          </p:cNvPr>
          <p:cNvSpPr>
            <a:spLocks noGrp="1"/>
          </p:cNvSpPr>
          <p:nvPr>
            <p:ph type="sldNum" sz="quarter" idx="4"/>
          </p:nvPr>
        </p:nvSpPr>
        <p:spPr/>
        <p:txBody>
          <a:bodyPr/>
          <a:lstStyle/>
          <a:p>
            <a:fld id="{52A29C8B-5F70-8945-A2A6-FBD7A17156DB}" type="slidenum">
              <a:rPr lang="es-PE" smtClean="0"/>
              <a:pPr/>
              <a:t>18</a:t>
            </a:fld>
            <a:endParaRPr lang="es-PE"/>
          </a:p>
        </p:txBody>
      </p:sp>
      <p:sp>
        <p:nvSpPr>
          <p:cNvPr id="5" name="Título 4">
            <a:extLst>
              <a:ext uri="{FF2B5EF4-FFF2-40B4-BE49-F238E27FC236}">
                <a16:creationId xmlns:a16="http://schemas.microsoft.com/office/drawing/2014/main" id="{B378D7E7-77BF-22DF-CAF9-729EA8C68C68}"/>
              </a:ext>
            </a:extLst>
          </p:cNvPr>
          <p:cNvSpPr>
            <a:spLocks noGrp="1"/>
          </p:cNvSpPr>
          <p:nvPr>
            <p:ph type="title"/>
          </p:nvPr>
        </p:nvSpPr>
        <p:spPr/>
        <p:txBody>
          <a:bodyPr/>
          <a:lstStyle/>
          <a:p>
            <a:r>
              <a:rPr lang="es-ES" dirty="0"/>
              <a:t>GET / producto </a:t>
            </a:r>
            <a:r>
              <a:rPr lang="es-ES" dirty="0">
                <a:sym typeface="Wingdings" panose="05000000000000000000" pitchFamily="2" charset="2"/>
              </a:rPr>
              <a:t> lista </a:t>
            </a:r>
            <a:r>
              <a:rPr lang="es-ES" dirty="0" err="1">
                <a:sym typeface="Wingdings" panose="05000000000000000000" pitchFamily="2" charset="2"/>
              </a:rPr>
              <a:t>dep</a:t>
            </a:r>
            <a:r>
              <a:rPr lang="es-ES" dirty="0">
                <a:sym typeface="Wingdings" panose="05000000000000000000" pitchFamily="2" charset="2"/>
              </a:rPr>
              <a:t> </a:t>
            </a:r>
            <a:r>
              <a:rPr lang="es-ES" dirty="0" err="1">
                <a:sym typeface="Wingdings" panose="05000000000000000000" pitchFamily="2" charset="2"/>
              </a:rPr>
              <a:t>roductos</a:t>
            </a:r>
            <a:endParaRPr lang="es-PE" dirty="0"/>
          </a:p>
        </p:txBody>
      </p:sp>
      <p:sp>
        <p:nvSpPr>
          <p:cNvPr id="6" name="Marcador de contenido 5">
            <a:extLst>
              <a:ext uri="{FF2B5EF4-FFF2-40B4-BE49-F238E27FC236}">
                <a16:creationId xmlns:a16="http://schemas.microsoft.com/office/drawing/2014/main" id="{5CFD9766-F7B8-AC3A-4FA4-B3EFE66B922A}"/>
              </a:ext>
            </a:extLst>
          </p:cNvPr>
          <p:cNvSpPr>
            <a:spLocks noGrp="1"/>
          </p:cNvSpPr>
          <p:nvPr>
            <p:ph idx="1"/>
          </p:nvPr>
        </p:nvSpPr>
        <p:spPr/>
        <p:txBody>
          <a:bodyPr/>
          <a:lstStyle/>
          <a:p>
            <a:r>
              <a:rPr lang="es-ES" dirty="0"/>
              <a:t>Esta ruta ya está lista, no se realiza ninguna modificación:</a:t>
            </a:r>
          </a:p>
          <a:p>
            <a:endParaRPr lang="es-PE" dirty="0"/>
          </a:p>
        </p:txBody>
      </p:sp>
      <p:pic>
        <p:nvPicPr>
          <p:cNvPr id="7" name="Google Shape;209;p29">
            <a:extLst>
              <a:ext uri="{FF2B5EF4-FFF2-40B4-BE49-F238E27FC236}">
                <a16:creationId xmlns:a16="http://schemas.microsoft.com/office/drawing/2014/main" id="{4DDB6381-7F70-A164-2C15-8B44CD27FF08}"/>
              </a:ext>
            </a:extLst>
          </p:cNvPr>
          <p:cNvPicPr preferRelativeResize="0"/>
          <p:nvPr/>
        </p:nvPicPr>
        <p:blipFill>
          <a:blip r:embed="rId2">
            <a:alphaModFix/>
          </a:blip>
          <a:stretch>
            <a:fillRect/>
          </a:stretch>
        </p:blipFill>
        <p:spPr>
          <a:xfrm>
            <a:off x="4033837" y="3164657"/>
            <a:ext cx="4124325" cy="1304925"/>
          </a:xfrm>
          <a:prstGeom prst="rect">
            <a:avLst/>
          </a:prstGeom>
          <a:noFill/>
          <a:ln>
            <a:noFill/>
          </a:ln>
        </p:spPr>
      </p:pic>
    </p:spTree>
    <p:extLst>
      <p:ext uri="{BB962C8B-B14F-4D97-AF65-F5344CB8AC3E}">
        <p14:creationId xmlns:p14="http://schemas.microsoft.com/office/powerpoint/2010/main" val="2395130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5F5326E8-FED5-13A8-08CB-73825B8E7F21}"/>
              </a:ext>
            </a:extLst>
          </p:cNvPr>
          <p:cNvSpPr>
            <a:spLocks noGrp="1"/>
          </p:cNvSpPr>
          <p:nvPr>
            <p:ph type="title"/>
          </p:nvPr>
        </p:nvSpPr>
        <p:spPr/>
        <p:txBody>
          <a:bodyPr/>
          <a:lstStyle/>
          <a:p>
            <a:r>
              <a:rPr lang="es-ES" dirty="0"/>
              <a:t>Obtener producto</a:t>
            </a:r>
            <a:endParaRPr lang="es-PE" dirty="0"/>
          </a:p>
        </p:txBody>
      </p:sp>
    </p:spTree>
    <p:extLst>
      <p:ext uri="{BB962C8B-B14F-4D97-AF65-F5344CB8AC3E}">
        <p14:creationId xmlns:p14="http://schemas.microsoft.com/office/powerpoint/2010/main" val="1464500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E946A0-DA61-BEFD-ECE6-4AA41DC0BF02}"/>
              </a:ext>
            </a:extLst>
          </p:cNvPr>
          <p:cNvSpPr>
            <a:spLocks noGrp="1"/>
          </p:cNvSpPr>
          <p:nvPr>
            <p:ph type="title"/>
          </p:nvPr>
        </p:nvSpPr>
        <p:spPr/>
        <p:txBody>
          <a:bodyPr/>
          <a:lstStyle/>
          <a:p>
            <a:r>
              <a:rPr lang="es-ES" dirty="0"/>
              <a:t>GET/producto/id </a:t>
            </a:r>
            <a:r>
              <a:rPr lang="es-ES" dirty="0">
                <a:sym typeface="Wingdings" panose="05000000000000000000" pitchFamily="2" charset="2"/>
              </a:rPr>
              <a:t> obtener un producto por id</a:t>
            </a:r>
            <a:endParaRPr lang="es-PE" dirty="0"/>
          </a:p>
        </p:txBody>
      </p:sp>
      <p:sp>
        <p:nvSpPr>
          <p:cNvPr id="3" name="Marcador de número de diapositiva 2">
            <a:extLst>
              <a:ext uri="{FF2B5EF4-FFF2-40B4-BE49-F238E27FC236}">
                <a16:creationId xmlns:a16="http://schemas.microsoft.com/office/drawing/2014/main" id="{CDC27349-24E8-1453-3455-5D0D147F3EA6}"/>
              </a:ext>
            </a:extLst>
          </p:cNvPr>
          <p:cNvSpPr>
            <a:spLocks noGrp="1"/>
          </p:cNvSpPr>
          <p:nvPr>
            <p:ph type="sldNum" idx="12"/>
          </p:nvPr>
        </p:nvSpPr>
        <p:spPr/>
        <p:txBody>
          <a:bodyPr/>
          <a:lstStyle/>
          <a:p>
            <a:fld id="{52A29C8B-5F70-8945-A2A6-FBD7A17156DB}" type="slidenum">
              <a:rPr lang="es-PE" smtClean="0"/>
              <a:pPr/>
              <a:t>20</a:t>
            </a:fld>
            <a:endParaRPr lang="es-PE"/>
          </a:p>
        </p:txBody>
      </p:sp>
      <p:sp>
        <p:nvSpPr>
          <p:cNvPr id="4" name="Marcador de contenido 3">
            <a:extLst>
              <a:ext uri="{FF2B5EF4-FFF2-40B4-BE49-F238E27FC236}">
                <a16:creationId xmlns:a16="http://schemas.microsoft.com/office/drawing/2014/main" id="{D3C559A7-9D78-2EB1-35E3-F35B15711488}"/>
              </a:ext>
            </a:extLst>
          </p:cNvPr>
          <p:cNvSpPr>
            <a:spLocks noGrp="1"/>
          </p:cNvSpPr>
          <p:nvPr>
            <p:ph idx="1"/>
          </p:nvPr>
        </p:nvSpPr>
        <p:spPr/>
        <p:txBody>
          <a:bodyPr>
            <a:normAutofit/>
          </a:bodyPr>
          <a:lstStyle/>
          <a:p>
            <a:pPr marL="0" lvl="0" indent="0">
              <a:spcBef>
                <a:spcPts val="0"/>
              </a:spcBef>
              <a:buNone/>
            </a:pPr>
            <a:r>
              <a:rPr lang="es-ES" sz="1800" dirty="0"/>
              <a:t>Se retornará un producto en función del ID recibido por GET </a:t>
            </a:r>
            <a:r>
              <a:rPr lang="es-ES" sz="1800" b="1" dirty="0"/>
              <a:t>/</a:t>
            </a:r>
            <a:r>
              <a:rPr lang="es-ES" sz="1800" b="1" dirty="0" err="1"/>
              <a:t>product</a:t>
            </a:r>
            <a:r>
              <a:rPr lang="es-ES" sz="1800" b="1" dirty="0"/>
              <a:t>/&lt;id&gt;</a:t>
            </a:r>
          </a:p>
          <a:p>
            <a:pPr marL="0" lvl="0" indent="0">
              <a:buNone/>
            </a:pPr>
            <a:r>
              <a:rPr lang="es-ES" sz="1800" dirty="0"/>
              <a:t>El ID se recibe como String para gestionar manualmente la excepción al convertirlo a </a:t>
            </a:r>
            <a:r>
              <a:rPr lang="es-ES" sz="1800" dirty="0" err="1"/>
              <a:t>int</a:t>
            </a:r>
            <a:r>
              <a:rPr lang="es-ES" sz="1800" dirty="0"/>
              <a:t> (en caso existiera). La estructura general sería:</a:t>
            </a:r>
          </a:p>
          <a:p>
            <a:endParaRPr lang="es-PE" sz="1800" dirty="0"/>
          </a:p>
        </p:txBody>
      </p:sp>
      <p:pic>
        <p:nvPicPr>
          <p:cNvPr id="5" name="Google Shape;223;p31">
            <a:extLst>
              <a:ext uri="{FF2B5EF4-FFF2-40B4-BE49-F238E27FC236}">
                <a16:creationId xmlns:a16="http://schemas.microsoft.com/office/drawing/2014/main" id="{2A71D5AA-7019-7102-894E-36A0F9FBCAC8}"/>
              </a:ext>
            </a:extLst>
          </p:cNvPr>
          <p:cNvPicPr preferRelativeResize="0"/>
          <p:nvPr/>
        </p:nvPicPr>
        <p:blipFill>
          <a:blip r:embed="rId2">
            <a:alphaModFix/>
          </a:blip>
          <a:stretch>
            <a:fillRect/>
          </a:stretch>
        </p:blipFill>
        <p:spPr>
          <a:xfrm>
            <a:off x="2990438" y="2143397"/>
            <a:ext cx="6211124" cy="3657126"/>
          </a:xfrm>
          <a:prstGeom prst="rect">
            <a:avLst/>
          </a:prstGeom>
          <a:noFill/>
          <a:ln>
            <a:noFill/>
          </a:ln>
        </p:spPr>
      </p:pic>
      <p:sp>
        <p:nvSpPr>
          <p:cNvPr id="6" name="Google Shape;224;p31">
            <a:extLst>
              <a:ext uri="{FF2B5EF4-FFF2-40B4-BE49-F238E27FC236}">
                <a16:creationId xmlns:a16="http://schemas.microsoft.com/office/drawing/2014/main" id="{8F759E75-A535-0CF9-2740-B82347711CE6}"/>
              </a:ext>
            </a:extLst>
          </p:cNvPr>
          <p:cNvSpPr/>
          <p:nvPr/>
        </p:nvSpPr>
        <p:spPr>
          <a:xfrm>
            <a:off x="1614575" y="2893897"/>
            <a:ext cx="1488000" cy="349500"/>
          </a:xfrm>
          <a:prstGeom prst="roundRect">
            <a:avLst>
              <a:gd name="adj" fmla="val 16667"/>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419" sz="1200" dirty="0"/>
              <a:t>Si hay producto</a:t>
            </a:r>
            <a:endParaRPr sz="1200" dirty="0"/>
          </a:p>
        </p:txBody>
      </p:sp>
      <p:sp>
        <p:nvSpPr>
          <p:cNvPr id="7" name="Google Shape;225;p31">
            <a:extLst>
              <a:ext uri="{FF2B5EF4-FFF2-40B4-BE49-F238E27FC236}">
                <a16:creationId xmlns:a16="http://schemas.microsoft.com/office/drawing/2014/main" id="{45416280-53F7-194E-A07C-13B1D9CA796B}"/>
              </a:ext>
            </a:extLst>
          </p:cNvPr>
          <p:cNvSpPr/>
          <p:nvPr/>
        </p:nvSpPr>
        <p:spPr>
          <a:xfrm>
            <a:off x="1614575" y="3641522"/>
            <a:ext cx="1488000" cy="740400"/>
          </a:xfrm>
          <a:prstGeom prst="roundRect">
            <a:avLst>
              <a:gd name="adj" fmla="val 16667"/>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419" sz="1200" dirty="0"/>
              <a:t>Si no hay el  producto con el ID enviado</a:t>
            </a:r>
            <a:endParaRPr sz="1200" dirty="0"/>
          </a:p>
        </p:txBody>
      </p:sp>
      <p:sp>
        <p:nvSpPr>
          <p:cNvPr id="8" name="Google Shape;226;p31">
            <a:extLst>
              <a:ext uri="{FF2B5EF4-FFF2-40B4-BE49-F238E27FC236}">
                <a16:creationId xmlns:a16="http://schemas.microsoft.com/office/drawing/2014/main" id="{1344A3E2-BCD4-B9FA-A739-67661C72E6B7}"/>
              </a:ext>
            </a:extLst>
          </p:cNvPr>
          <p:cNvSpPr/>
          <p:nvPr/>
        </p:nvSpPr>
        <p:spPr>
          <a:xfrm>
            <a:off x="1614575" y="4531497"/>
            <a:ext cx="1488000" cy="740400"/>
          </a:xfrm>
          <a:prstGeom prst="roundRect">
            <a:avLst>
              <a:gd name="adj" fmla="val 16667"/>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419" sz="1200"/>
              <a:t>Si ocurrió un error al parsear el ID</a:t>
            </a:r>
            <a:endParaRPr sz="1200"/>
          </a:p>
        </p:txBody>
      </p:sp>
      <p:cxnSp>
        <p:nvCxnSpPr>
          <p:cNvPr id="9" name="Google Shape;227;p31">
            <a:extLst>
              <a:ext uri="{FF2B5EF4-FFF2-40B4-BE49-F238E27FC236}">
                <a16:creationId xmlns:a16="http://schemas.microsoft.com/office/drawing/2014/main" id="{9754079A-D39D-1A75-58CB-327C2079EBD4}"/>
              </a:ext>
            </a:extLst>
          </p:cNvPr>
          <p:cNvCxnSpPr>
            <a:stCxn id="6" idx="3"/>
          </p:cNvCxnSpPr>
          <p:nvPr/>
        </p:nvCxnSpPr>
        <p:spPr>
          <a:xfrm>
            <a:off x="3102575" y="3068647"/>
            <a:ext cx="634200" cy="976800"/>
          </a:xfrm>
          <a:prstGeom prst="straightConnector1">
            <a:avLst/>
          </a:prstGeom>
          <a:noFill/>
          <a:ln w="19050" cap="flat" cmpd="sng">
            <a:solidFill>
              <a:srgbClr val="FF0000"/>
            </a:solidFill>
            <a:prstDash val="solid"/>
            <a:round/>
            <a:headEnd type="none" w="med" len="med"/>
            <a:tailEnd type="triangle" w="med" len="med"/>
          </a:ln>
        </p:spPr>
      </p:cxnSp>
      <p:cxnSp>
        <p:nvCxnSpPr>
          <p:cNvPr id="10" name="Google Shape;228;p31">
            <a:extLst>
              <a:ext uri="{FF2B5EF4-FFF2-40B4-BE49-F238E27FC236}">
                <a16:creationId xmlns:a16="http://schemas.microsoft.com/office/drawing/2014/main" id="{43C107AF-85AA-75FB-AED9-53444EDECFBF}"/>
              </a:ext>
            </a:extLst>
          </p:cNvPr>
          <p:cNvCxnSpPr>
            <a:stCxn id="7" idx="3"/>
          </p:cNvCxnSpPr>
          <p:nvPr/>
        </p:nvCxnSpPr>
        <p:spPr>
          <a:xfrm>
            <a:off x="3102575" y="4011722"/>
            <a:ext cx="660000" cy="473700"/>
          </a:xfrm>
          <a:prstGeom prst="straightConnector1">
            <a:avLst/>
          </a:prstGeom>
          <a:noFill/>
          <a:ln w="19050" cap="flat" cmpd="sng">
            <a:solidFill>
              <a:srgbClr val="FF0000"/>
            </a:solidFill>
            <a:prstDash val="solid"/>
            <a:round/>
            <a:headEnd type="none" w="med" len="med"/>
            <a:tailEnd type="triangle" w="med" len="med"/>
          </a:ln>
        </p:spPr>
      </p:cxnSp>
      <p:cxnSp>
        <p:nvCxnSpPr>
          <p:cNvPr id="11" name="Google Shape;229;p31">
            <a:extLst>
              <a:ext uri="{FF2B5EF4-FFF2-40B4-BE49-F238E27FC236}">
                <a16:creationId xmlns:a16="http://schemas.microsoft.com/office/drawing/2014/main" id="{5E086B41-5DA2-B58C-F209-5DE28FD0BC02}"/>
              </a:ext>
            </a:extLst>
          </p:cNvPr>
          <p:cNvCxnSpPr>
            <a:stCxn id="8" idx="3"/>
          </p:cNvCxnSpPr>
          <p:nvPr/>
        </p:nvCxnSpPr>
        <p:spPr>
          <a:xfrm>
            <a:off x="3102575" y="4901697"/>
            <a:ext cx="453000" cy="373200"/>
          </a:xfrm>
          <a:prstGeom prst="straightConnector1">
            <a:avLst/>
          </a:prstGeom>
          <a:noFill/>
          <a:ln w="19050" cap="flat" cmpd="sng">
            <a:solidFill>
              <a:srgbClr val="FF0000"/>
            </a:solidFill>
            <a:prstDash val="solid"/>
            <a:round/>
            <a:headEnd type="none" w="med" len="med"/>
            <a:tailEnd type="triangle" w="med" len="med"/>
          </a:ln>
        </p:spPr>
      </p:cxnSp>
    </p:spTree>
    <p:extLst>
      <p:ext uri="{BB962C8B-B14F-4D97-AF65-F5344CB8AC3E}">
        <p14:creationId xmlns:p14="http://schemas.microsoft.com/office/powerpoint/2010/main" val="2711803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3E852-4E93-E2D0-B037-9A55365530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579A24-0657-0634-4B89-4FA105843B8F}"/>
              </a:ext>
            </a:extLst>
          </p:cNvPr>
          <p:cNvSpPr>
            <a:spLocks noGrp="1"/>
          </p:cNvSpPr>
          <p:nvPr>
            <p:ph type="title"/>
          </p:nvPr>
        </p:nvSpPr>
        <p:spPr/>
        <p:txBody>
          <a:bodyPr/>
          <a:lstStyle/>
          <a:p>
            <a:r>
              <a:rPr lang="es-ES" dirty="0"/>
              <a:t>GET/producto/id </a:t>
            </a:r>
            <a:r>
              <a:rPr lang="es-ES" dirty="0">
                <a:sym typeface="Wingdings" panose="05000000000000000000" pitchFamily="2" charset="2"/>
              </a:rPr>
              <a:t> obtener un producto por id</a:t>
            </a:r>
            <a:endParaRPr lang="es-PE" dirty="0"/>
          </a:p>
        </p:txBody>
      </p:sp>
      <p:sp>
        <p:nvSpPr>
          <p:cNvPr id="3" name="Marcador de número de diapositiva 2">
            <a:extLst>
              <a:ext uri="{FF2B5EF4-FFF2-40B4-BE49-F238E27FC236}">
                <a16:creationId xmlns:a16="http://schemas.microsoft.com/office/drawing/2014/main" id="{A539224D-F7DE-D594-235A-B8F535C34172}"/>
              </a:ext>
            </a:extLst>
          </p:cNvPr>
          <p:cNvSpPr>
            <a:spLocks noGrp="1"/>
          </p:cNvSpPr>
          <p:nvPr>
            <p:ph type="sldNum" idx="12"/>
          </p:nvPr>
        </p:nvSpPr>
        <p:spPr/>
        <p:txBody>
          <a:bodyPr/>
          <a:lstStyle/>
          <a:p>
            <a:fld id="{52A29C8B-5F70-8945-A2A6-FBD7A17156DB}" type="slidenum">
              <a:rPr lang="es-PE" smtClean="0"/>
              <a:pPr/>
              <a:t>21</a:t>
            </a:fld>
            <a:endParaRPr lang="es-PE"/>
          </a:p>
        </p:txBody>
      </p:sp>
      <p:sp>
        <p:nvSpPr>
          <p:cNvPr id="4" name="Marcador de contenido 3">
            <a:extLst>
              <a:ext uri="{FF2B5EF4-FFF2-40B4-BE49-F238E27FC236}">
                <a16:creationId xmlns:a16="http://schemas.microsoft.com/office/drawing/2014/main" id="{96609EB2-6D05-8190-DB83-75E5F1A504E1}"/>
              </a:ext>
            </a:extLst>
          </p:cNvPr>
          <p:cNvSpPr>
            <a:spLocks noGrp="1"/>
          </p:cNvSpPr>
          <p:nvPr>
            <p:ph idx="1"/>
          </p:nvPr>
        </p:nvSpPr>
        <p:spPr/>
        <p:txBody>
          <a:bodyPr/>
          <a:lstStyle/>
          <a:p>
            <a:r>
              <a:rPr lang="es-ES" dirty="0"/>
              <a:t>Si se obtiene el ID, devolvemos el objeto; caso contrario, nulo.</a:t>
            </a:r>
          </a:p>
          <a:p>
            <a:endParaRPr lang="es-PE" dirty="0"/>
          </a:p>
        </p:txBody>
      </p:sp>
      <p:pic>
        <p:nvPicPr>
          <p:cNvPr id="5" name="Google Shape;237;p32">
            <a:extLst>
              <a:ext uri="{FF2B5EF4-FFF2-40B4-BE49-F238E27FC236}">
                <a16:creationId xmlns:a16="http://schemas.microsoft.com/office/drawing/2014/main" id="{5A7E2759-1890-2B7C-4F91-1A53491FA9B5}"/>
              </a:ext>
            </a:extLst>
          </p:cNvPr>
          <p:cNvPicPr preferRelativeResize="0"/>
          <p:nvPr/>
        </p:nvPicPr>
        <p:blipFill>
          <a:blip r:embed="rId2">
            <a:alphaModFix/>
          </a:blip>
          <a:stretch>
            <a:fillRect/>
          </a:stretch>
        </p:blipFill>
        <p:spPr>
          <a:xfrm>
            <a:off x="2520016" y="1734353"/>
            <a:ext cx="6462619" cy="3745153"/>
          </a:xfrm>
          <a:prstGeom prst="rect">
            <a:avLst/>
          </a:prstGeom>
          <a:noFill/>
          <a:ln>
            <a:noFill/>
          </a:ln>
        </p:spPr>
      </p:pic>
    </p:spTree>
    <p:extLst>
      <p:ext uri="{BB962C8B-B14F-4D97-AF65-F5344CB8AC3E}">
        <p14:creationId xmlns:p14="http://schemas.microsoft.com/office/powerpoint/2010/main" val="312998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696796-5692-1A6B-9BE4-8EEC8E435BB4}"/>
              </a:ext>
            </a:extLst>
          </p:cNvPr>
          <p:cNvSpPr>
            <a:spLocks noGrp="1"/>
          </p:cNvSpPr>
          <p:nvPr>
            <p:ph type="title"/>
          </p:nvPr>
        </p:nvSpPr>
        <p:spPr/>
        <p:txBody>
          <a:bodyPr/>
          <a:lstStyle/>
          <a:p>
            <a:r>
              <a:rPr lang="es-ES" dirty="0"/>
              <a:t>Probando – id válido</a:t>
            </a:r>
            <a:endParaRPr lang="es-PE" dirty="0"/>
          </a:p>
        </p:txBody>
      </p:sp>
      <p:sp>
        <p:nvSpPr>
          <p:cNvPr id="3" name="Marcador de número de diapositiva 2">
            <a:extLst>
              <a:ext uri="{FF2B5EF4-FFF2-40B4-BE49-F238E27FC236}">
                <a16:creationId xmlns:a16="http://schemas.microsoft.com/office/drawing/2014/main" id="{C35F1AEF-A51C-160C-7D02-A3DDE42840DC}"/>
              </a:ext>
            </a:extLst>
          </p:cNvPr>
          <p:cNvSpPr>
            <a:spLocks noGrp="1"/>
          </p:cNvSpPr>
          <p:nvPr>
            <p:ph type="sldNum" idx="12"/>
          </p:nvPr>
        </p:nvSpPr>
        <p:spPr/>
        <p:txBody>
          <a:bodyPr/>
          <a:lstStyle/>
          <a:p>
            <a:fld id="{52A29C8B-5F70-8945-A2A6-FBD7A17156DB}" type="slidenum">
              <a:rPr lang="es-PE" smtClean="0"/>
              <a:pPr/>
              <a:t>22</a:t>
            </a:fld>
            <a:endParaRPr lang="es-PE"/>
          </a:p>
        </p:txBody>
      </p:sp>
      <p:pic>
        <p:nvPicPr>
          <p:cNvPr id="4" name="Google Shape;244;p33">
            <a:extLst>
              <a:ext uri="{FF2B5EF4-FFF2-40B4-BE49-F238E27FC236}">
                <a16:creationId xmlns:a16="http://schemas.microsoft.com/office/drawing/2014/main" id="{7A052AC7-EE2C-6774-0312-91F9798E9376}"/>
              </a:ext>
            </a:extLst>
          </p:cNvPr>
          <p:cNvPicPr preferRelativeResize="0"/>
          <p:nvPr/>
        </p:nvPicPr>
        <p:blipFill>
          <a:blip r:embed="rId2">
            <a:alphaModFix/>
          </a:blip>
          <a:stretch>
            <a:fillRect/>
          </a:stretch>
        </p:blipFill>
        <p:spPr>
          <a:xfrm>
            <a:off x="3415788" y="1020932"/>
            <a:ext cx="5202981" cy="4455738"/>
          </a:xfrm>
          <a:prstGeom prst="rect">
            <a:avLst/>
          </a:prstGeom>
          <a:noFill/>
          <a:ln>
            <a:noFill/>
          </a:ln>
        </p:spPr>
      </p:pic>
    </p:spTree>
    <p:extLst>
      <p:ext uri="{BB962C8B-B14F-4D97-AF65-F5344CB8AC3E}">
        <p14:creationId xmlns:p14="http://schemas.microsoft.com/office/powerpoint/2010/main" val="2853365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E31A-5CC7-2300-DA28-9657F17A82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2395A6-4F65-1879-5B68-72D3393D5073}"/>
              </a:ext>
            </a:extLst>
          </p:cNvPr>
          <p:cNvSpPr>
            <a:spLocks noGrp="1"/>
          </p:cNvSpPr>
          <p:nvPr>
            <p:ph type="title"/>
          </p:nvPr>
        </p:nvSpPr>
        <p:spPr/>
        <p:txBody>
          <a:bodyPr/>
          <a:lstStyle/>
          <a:p>
            <a:r>
              <a:rPr lang="es-ES" dirty="0"/>
              <a:t>Probando – id válido o como texto</a:t>
            </a:r>
            <a:endParaRPr lang="es-PE" dirty="0"/>
          </a:p>
        </p:txBody>
      </p:sp>
      <p:sp>
        <p:nvSpPr>
          <p:cNvPr id="3" name="Marcador de número de diapositiva 2">
            <a:extLst>
              <a:ext uri="{FF2B5EF4-FFF2-40B4-BE49-F238E27FC236}">
                <a16:creationId xmlns:a16="http://schemas.microsoft.com/office/drawing/2014/main" id="{8954BBA1-8FF5-A686-BBCD-61E75673ABD9}"/>
              </a:ext>
            </a:extLst>
          </p:cNvPr>
          <p:cNvSpPr>
            <a:spLocks noGrp="1"/>
          </p:cNvSpPr>
          <p:nvPr>
            <p:ph type="sldNum" idx="12"/>
          </p:nvPr>
        </p:nvSpPr>
        <p:spPr/>
        <p:txBody>
          <a:bodyPr/>
          <a:lstStyle/>
          <a:p>
            <a:fld id="{52A29C8B-5F70-8945-A2A6-FBD7A17156DB}" type="slidenum">
              <a:rPr lang="es-PE" smtClean="0"/>
              <a:pPr/>
              <a:t>23</a:t>
            </a:fld>
            <a:endParaRPr lang="es-PE"/>
          </a:p>
        </p:txBody>
      </p:sp>
      <p:pic>
        <p:nvPicPr>
          <p:cNvPr id="4" name="Google Shape;251;p34">
            <a:extLst>
              <a:ext uri="{FF2B5EF4-FFF2-40B4-BE49-F238E27FC236}">
                <a16:creationId xmlns:a16="http://schemas.microsoft.com/office/drawing/2014/main" id="{662340C1-D20D-C4FB-DF2C-3318F27DFDB4}"/>
              </a:ext>
            </a:extLst>
          </p:cNvPr>
          <p:cNvPicPr preferRelativeResize="0"/>
          <p:nvPr/>
        </p:nvPicPr>
        <p:blipFill>
          <a:blip r:embed="rId2">
            <a:alphaModFix/>
          </a:blip>
          <a:stretch>
            <a:fillRect/>
          </a:stretch>
        </p:blipFill>
        <p:spPr>
          <a:xfrm>
            <a:off x="2806974" y="1505282"/>
            <a:ext cx="6838950" cy="1819275"/>
          </a:xfrm>
          <a:prstGeom prst="rect">
            <a:avLst/>
          </a:prstGeom>
          <a:noFill/>
          <a:ln>
            <a:noFill/>
          </a:ln>
        </p:spPr>
      </p:pic>
      <p:pic>
        <p:nvPicPr>
          <p:cNvPr id="5" name="Google Shape;252;p34">
            <a:extLst>
              <a:ext uri="{FF2B5EF4-FFF2-40B4-BE49-F238E27FC236}">
                <a16:creationId xmlns:a16="http://schemas.microsoft.com/office/drawing/2014/main" id="{91AC6EC4-09AF-0FCD-E98A-7A58E4B6A36D}"/>
              </a:ext>
            </a:extLst>
          </p:cNvPr>
          <p:cNvPicPr preferRelativeResize="0"/>
          <p:nvPr/>
        </p:nvPicPr>
        <p:blipFill>
          <a:blip r:embed="rId3">
            <a:alphaModFix/>
          </a:blip>
          <a:stretch>
            <a:fillRect/>
          </a:stretch>
        </p:blipFill>
        <p:spPr>
          <a:xfrm>
            <a:off x="2806974" y="3605744"/>
            <a:ext cx="6867525" cy="1981200"/>
          </a:xfrm>
          <a:prstGeom prst="rect">
            <a:avLst/>
          </a:prstGeom>
          <a:noFill/>
          <a:ln>
            <a:noFill/>
          </a:ln>
        </p:spPr>
      </p:pic>
      <p:sp>
        <p:nvSpPr>
          <p:cNvPr id="6" name="Google Shape;253;p34">
            <a:extLst>
              <a:ext uri="{FF2B5EF4-FFF2-40B4-BE49-F238E27FC236}">
                <a16:creationId xmlns:a16="http://schemas.microsoft.com/office/drawing/2014/main" id="{AE8E2796-E9D3-B374-CE5F-53FCF99F6F1C}"/>
              </a:ext>
            </a:extLst>
          </p:cNvPr>
          <p:cNvSpPr/>
          <p:nvPr/>
        </p:nvSpPr>
        <p:spPr>
          <a:xfrm rot="1794356">
            <a:off x="5471147" y="1154883"/>
            <a:ext cx="370654" cy="524669"/>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54;p34">
            <a:extLst>
              <a:ext uri="{FF2B5EF4-FFF2-40B4-BE49-F238E27FC236}">
                <a16:creationId xmlns:a16="http://schemas.microsoft.com/office/drawing/2014/main" id="{8DF9808F-40E2-98F9-D7D8-27952A7F837C}"/>
              </a:ext>
            </a:extLst>
          </p:cNvPr>
          <p:cNvSpPr/>
          <p:nvPr/>
        </p:nvSpPr>
        <p:spPr>
          <a:xfrm rot="1794356">
            <a:off x="5471147" y="3284358"/>
            <a:ext cx="370654" cy="524669"/>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5637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E2C9C5-5E8B-F1CD-28D0-452811C92951}"/>
              </a:ext>
            </a:extLst>
          </p:cNvPr>
          <p:cNvSpPr>
            <a:spLocks noGrp="1"/>
          </p:cNvSpPr>
          <p:nvPr>
            <p:ph type="title"/>
          </p:nvPr>
        </p:nvSpPr>
        <p:spPr/>
        <p:txBody>
          <a:bodyPr/>
          <a:lstStyle/>
          <a:p>
            <a:r>
              <a:rPr lang="es-ES" dirty="0"/>
              <a:t>Análisis</a:t>
            </a:r>
            <a:endParaRPr lang="es-PE" dirty="0"/>
          </a:p>
        </p:txBody>
      </p:sp>
      <p:sp>
        <p:nvSpPr>
          <p:cNvPr id="3" name="Marcador de número de diapositiva 2">
            <a:extLst>
              <a:ext uri="{FF2B5EF4-FFF2-40B4-BE49-F238E27FC236}">
                <a16:creationId xmlns:a16="http://schemas.microsoft.com/office/drawing/2014/main" id="{CC10036F-2A18-0E2C-3EA0-F11EDB3FD94B}"/>
              </a:ext>
            </a:extLst>
          </p:cNvPr>
          <p:cNvSpPr>
            <a:spLocks noGrp="1"/>
          </p:cNvSpPr>
          <p:nvPr>
            <p:ph type="sldNum" idx="12"/>
          </p:nvPr>
        </p:nvSpPr>
        <p:spPr/>
        <p:txBody>
          <a:bodyPr/>
          <a:lstStyle/>
          <a:p>
            <a:fld id="{52A29C8B-5F70-8945-A2A6-FBD7A17156DB}" type="slidenum">
              <a:rPr lang="es-PE" smtClean="0"/>
              <a:pPr/>
              <a:t>24</a:t>
            </a:fld>
            <a:endParaRPr lang="es-PE"/>
          </a:p>
        </p:txBody>
      </p:sp>
      <p:sp>
        <p:nvSpPr>
          <p:cNvPr id="4" name="Marcador de contenido 3">
            <a:extLst>
              <a:ext uri="{FF2B5EF4-FFF2-40B4-BE49-F238E27FC236}">
                <a16:creationId xmlns:a16="http://schemas.microsoft.com/office/drawing/2014/main" id="{F50EF1DE-A84F-9398-89D2-89821FD6C707}"/>
              </a:ext>
            </a:extLst>
          </p:cNvPr>
          <p:cNvSpPr>
            <a:spLocks noGrp="1"/>
          </p:cNvSpPr>
          <p:nvPr>
            <p:ph idx="1"/>
          </p:nvPr>
        </p:nvSpPr>
        <p:spPr/>
        <p:txBody>
          <a:bodyPr>
            <a:normAutofit/>
          </a:bodyPr>
          <a:lstStyle/>
          <a:p>
            <a:pPr marL="0" lvl="0" indent="0">
              <a:spcBef>
                <a:spcPts val="0"/>
              </a:spcBef>
              <a:buNone/>
            </a:pPr>
            <a:r>
              <a:rPr lang="es-ES" sz="2000" dirty="0"/>
              <a:t>Cuando el ID es correcto, el programa muestra la información adecuada; sin embargo, cuando ID no existe o es un texto, la respuesta del </a:t>
            </a:r>
            <a:r>
              <a:rPr lang="es-ES" sz="2000" dirty="0" err="1"/>
              <a:t>ws</a:t>
            </a:r>
            <a:r>
              <a:rPr lang="es-ES" sz="2000" dirty="0"/>
              <a:t> es vacía y el código HTTP es 200, dando a indicar que la solicitud fue correcta.</a:t>
            </a:r>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spcAft>
                <a:spcPts val="1600"/>
              </a:spcAft>
              <a:buNone/>
            </a:pPr>
            <a:r>
              <a:rPr lang="es-ES" sz="2000" b="1" dirty="0"/>
              <a:t>Para alguien/algo que consumirá este </a:t>
            </a:r>
            <a:r>
              <a:rPr lang="es-ES" sz="2000" b="1" dirty="0" err="1"/>
              <a:t>webservice</a:t>
            </a:r>
            <a:r>
              <a:rPr lang="es-ES" sz="2000" b="1" dirty="0"/>
              <a:t>, brindar siempre un código HTTP 200, aún cuando existió un error, no es lo más adecuado.</a:t>
            </a:r>
          </a:p>
          <a:p>
            <a:endParaRPr lang="es-PE" sz="2000" dirty="0"/>
          </a:p>
        </p:txBody>
      </p:sp>
      <p:pic>
        <p:nvPicPr>
          <p:cNvPr id="5" name="Google Shape;262;p35">
            <a:extLst>
              <a:ext uri="{FF2B5EF4-FFF2-40B4-BE49-F238E27FC236}">
                <a16:creationId xmlns:a16="http://schemas.microsoft.com/office/drawing/2014/main" id="{6134540F-6CDD-94A0-D31F-1B63933E6E38}"/>
              </a:ext>
            </a:extLst>
          </p:cNvPr>
          <p:cNvPicPr preferRelativeResize="0"/>
          <p:nvPr/>
        </p:nvPicPr>
        <p:blipFill>
          <a:blip r:embed="rId2">
            <a:alphaModFix/>
          </a:blip>
          <a:stretch>
            <a:fillRect/>
          </a:stretch>
        </p:blipFill>
        <p:spPr>
          <a:xfrm>
            <a:off x="2841097" y="2559261"/>
            <a:ext cx="6867525" cy="1981200"/>
          </a:xfrm>
          <a:prstGeom prst="rect">
            <a:avLst/>
          </a:prstGeom>
          <a:noFill/>
          <a:ln>
            <a:noFill/>
          </a:ln>
        </p:spPr>
      </p:pic>
      <p:cxnSp>
        <p:nvCxnSpPr>
          <p:cNvPr id="6" name="Google Shape;263;p35">
            <a:extLst>
              <a:ext uri="{FF2B5EF4-FFF2-40B4-BE49-F238E27FC236}">
                <a16:creationId xmlns:a16="http://schemas.microsoft.com/office/drawing/2014/main" id="{0470DE34-6A67-2ADA-75FB-A2F52DE98983}"/>
              </a:ext>
            </a:extLst>
          </p:cNvPr>
          <p:cNvCxnSpPr>
            <a:cxnSpLocks/>
          </p:cNvCxnSpPr>
          <p:nvPr/>
        </p:nvCxnSpPr>
        <p:spPr>
          <a:xfrm>
            <a:off x="2945732" y="2137790"/>
            <a:ext cx="4243427" cy="1355471"/>
          </a:xfrm>
          <a:prstGeom prst="straightConnector1">
            <a:avLst/>
          </a:prstGeom>
          <a:noFill/>
          <a:ln w="19050" cap="flat" cmpd="sng">
            <a:solidFill>
              <a:srgbClr val="FF0000"/>
            </a:solidFill>
            <a:prstDash val="solid"/>
            <a:round/>
            <a:headEnd type="none" w="med" len="med"/>
            <a:tailEnd type="triangle" w="med" len="med"/>
          </a:ln>
        </p:spPr>
      </p:cxnSp>
    </p:spTree>
    <p:extLst>
      <p:ext uri="{BB962C8B-B14F-4D97-AF65-F5344CB8AC3E}">
        <p14:creationId xmlns:p14="http://schemas.microsoft.com/office/powerpoint/2010/main" val="877398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C3B3-D9EE-1579-E2D1-3C5488D021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1FC906-C8A4-4B4B-827F-5EC22F6BEF31}"/>
              </a:ext>
            </a:extLst>
          </p:cNvPr>
          <p:cNvSpPr>
            <a:spLocks noGrp="1"/>
          </p:cNvSpPr>
          <p:nvPr>
            <p:ph type="title"/>
          </p:nvPr>
        </p:nvSpPr>
        <p:spPr/>
        <p:txBody>
          <a:bodyPr/>
          <a:lstStyle/>
          <a:p>
            <a:r>
              <a:rPr lang="es-ES" dirty="0" err="1"/>
              <a:t>RespondeEntity</a:t>
            </a:r>
            <a:endParaRPr lang="es-PE" dirty="0"/>
          </a:p>
        </p:txBody>
      </p:sp>
      <p:sp>
        <p:nvSpPr>
          <p:cNvPr id="3" name="Marcador de número de diapositiva 2">
            <a:extLst>
              <a:ext uri="{FF2B5EF4-FFF2-40B4-BE49-F238E27FC236}">
                <a16:creationId xmlns:a16="http://schemas.microsoft.com/office/drawing/2014/main" id="{4E831760-114E-1D15-12FB-67CC92604B34}"/>
              </a:ext>
            </a:extLst>
          </p:cNvPr>
          <p:cNvSpPr>
            <a:spLocks noGrp="1"/>
          </p:cNvSpPr>
          <p:nvPr>
            <p:ph type="sldNum" idx="12"/>
          </p:nvPr>
        </p:nvSpPr>
        <p:spPr/>
        <p:txBody>
          <a:bodyPr/>
          <a:lstStyle/>
          <a:p>
            <a:fld id="{52A29C8B-5F70-8945-A2A6-FBD7A17156DB}" type="slidenum">
              <a:rPr lang="es-PE" smtClean="0"/>
              <a:pPr/>
              <a:t>25</a:t>
            </a:fld>
            <a:endParaRPr lang="es-PE"/>
          </a:p>
        </p:txBody>
      </p:sp>
      <p:sp>
        <p:nvSpPr>
          <p:cNvPr id="4" name="Marcador de contenido 3">
            <a:extLst>
              <a:ext uri="{FF2B5EF4-FFF2-40B4-BE49-F238E27FC236}">
                <a16:creationId xmlns:a16="http://schemas.microsoft.com/office/drawing/2014/main" id="{4E7BEBFB-9AC0-475C-9449-4CE1C452262F}"/>
              </a:ext>
            </a:extLst>
          </p:cNvPr>
          <p:cNvSpPr>
            <a:spLocks noGrp="1"/>
          </p:cNvSpPr>
          <p:nvPr>
            <p:ph idx="1"/>
          </p:nvPr>
        </p:nvSpPr>
        <p:spPr/>
        <p:txBody>
          <a:bodyPr>
            <a:normAutofit fontScale="92500" lnSpcReduction="10000"/>
          </a:bodyPr>
          <a:lstStyle/>
          <a:p>
            <a:pPr marL="0" lvl="0" indent="0">
              <a:spcBef>
                <a:spcPts val="0"/>
              </a:spcBef>
              <a:buNone/>
            </a:pPr>
            <a:r>
              <a:rPr lang="es-ES" sz="1800" dirty="0"/>
              <a:t>Para poder modificar las cabeceras, el código del cuerpo u otro parámetro que responderá el </a:t>
            </a:r>
            <a:r>
              <a:rPr lang="es-ES" sz="1800" dirty="0" err="1"/>
              <a:t>webservice</a:t>
            </a:r>
            <a:r>
              <a:rPr lang="es-ES" sz="1800" dirty="0"/>
              <a:t>, se debe utilizar la clase </a:t>
            </a:r>
            <a:r>
              <a:rPr lang="es-ES" sz="1800" dirty="0" err="1"/>
              <a:t>ResponseEntity</a:t>
            </a:r>
            <a:r>
              <a:rPr lang="es-ES" sz="1800" dirty="0"/>
              <a:t>.</a:t>
            </a:r>
          </a:p>
          <a:p>
            <a:pPr marL="0" lvl="0" indent="0">
              <a:buNone/>
            </a:pPr>
            <a:endParaRPr lang="es-ES" sz="1800" dirty="0"/>
          </a:p>
          <a:p>
            <a:pPr marL="0" lvl="0" indent="0">
              <a:buNone/>
            </a:pPr>
            <a:endParaRPr lang="es-ES" sz="1800" dirty="0"/>
          </a:p>
          <a:p>
            <a:pPr marL="0" lvl="0" indent="0">
              <a:buNone/>
            </a:pPr>
            <a:endParaRPr lang="es-ES" sz="1800" dirty="0"/>
          </a:p>
          <a:p>
            <a:pPr marL="0" lvl="0" indent="0">
              <a:buNone/>
            </a:pPr>
            <a:endParaRPr lang="es-ES" sz="2800" dirty="0"/>
          </a:p>
          <a:p>
            <a:pPr marL="0" lvl="0" indent="0">
              <a:buNone/>
            </a:pPr>
            <a:endParaRPr lang="es-ES" sz="1800" dirty="0"/>
          </a:p>
          <a:p>
            <a:pPr marL="0" lvl="0" indent="0">
              <a:buNone/>
            </a:pPr>
            <a:endParaRPr lang="es-ES" sz="1800" dirty="0"/>
          </a:p>
          <a:p>
            <a:pPr marL="0" lvl="0" indent="0">
              <a:buNone/>
            </a:pPr>
            <a:endParaRPr lang="es-ES" sz="1800" dirty="0"/>
          </a:p>
          <a:p>
            <a:pPr marL="0" lvl="0" indent="0">
              <a:buNone/>
            </a:pPr>
            <a:endParaRPr lang="es-ES" sz="1800" dirty="0"/>
          </a:p>
          <a:p>
            <a:pPr marL="0" lvl="0" indent="0">
              <a:spcAft>
                <a:spcPts val="1000"/>
              </a:spcAft>
              <a:buNone/>
            </a:pPr>
            <a:r>
              <a:rPr lang="es-ES" sz="1800" dirty="0"/>
              <a:t>En la interfaz diamante &lt; &gt; se coloca el tipo de dato que se enviará como cuerpo del mensaje, en este caso, un </a:t>
            </a:r>
            <a:r>
              <a:rPr lang="es-ES" sz="1800" b="1" dirty="0" err="1"/>
              <a:t>HashMap</a:t>
            </a:r>
            <a:r>
              <a:rPr lang="es-ES" sz="1800" b="1" dirty="0"/>
              <a:t> de &lt;</a:t>
            </a:r>
            <a:r>
              <a:rPr lang="es-ES" sz="1800" b="1" dirty="0" err="1"/>
              <a:t>String,Object</a:t>
            </a:r>
            <a:r>
              <a:rPr lang="es-ES" sz="1800" b="1" dirty="0"/>
              <a:t>&gt;</a:t>
            </a:r>
            <a:r>
              <a:rPr lang="es-ES" sz="1800" dirty="0"/>
              <a:t>, pues este tipo de dato, responde al formato </a:t>
            </a:r>
            <a:r>
              <a:rPr lang="es-ES" sz="1800" b="1" dirty="0"/>
              <a:t>JSON </a:t>
            </a:r>
            <a:r>
              <a:rPr lang="es-ES" sz="1800" dirty="0"/>
              <a:t>de </a:t>
            </a:r>
            <a:r>
              <a:rPr lang="es-ES" sz="1800" b="1" dirty="0"/>
              <a:t>llave: valor</a:t>
            </a:r>
          </a:p>
          <a:p>
            <a:endParaRPr lang="es-PE" sz="1800" dirty="0"/>
          </a:p>
        </p:txBody>
      </p:sp>
      <p:pic>
        <p:nvPicPr>
          <p:cNvPr id="5" name="Google Shape;272;p36">
            <a:extLst>
              <a:ext uri="{FF2B5EF4-FFF2-40B4-BE49-F238E27FC236}">
                <a16:creationId xmlns:a16="http://schemas.microsoft.com/office/drawing/2014/main" id="{7D8AAF88-17AC-0219-7F94-D78D7DC8EF59}"/>
              </a:ext>
            </a:extLst>
          </p:cNvPr>
          <p:cNvPicPr preferRelativeResize="0"/>
          <p:nvPr/>
        </p:nvPicPr>
        <p:blipFill>
          <a:blip r:embed="rId2">
            <a:alphaModFix/>
          </a:blip>
          <a:stretch>
            <a:fillRect/>
          </a:stretch>
        </p:blipFill>
        <p:spPr>
          <a:xfrm>
            <a:off x="2661397" y="1757144"/>
            <a:ext cx="7058025" cy="752475"/>
          </a:xfrm>
          <a:prstGeom prst="rect">
            <a:avLst/>
          </a:prstGeom>
          <a:noFill/>
          <a:ln>
            <a:noFill/>
          </a:ln>
        </p:spPr>
      </p:pic>
      <p:sp>
        <p:nvSpPr>
          <p:cNvPr id="6" name="Google Shape;273;p36">
            <a:extLst>
              <a:ext uri="{FF2B5EF4-FFF2-40B4-BE49-F238E27FC236}">
                <a16:creationId xmlns:a16="http://schemas.microsoft.com/office/drawing/2014/main" id="{582FCF16-B2BD-7429-D53B-D48FD1065B13}"/>
              </a:ext>
            </a:extLst>
          </p:cNvPr>
          <p:cNvSpPr/>
          <p:nvPr/>
        </p:nvSpPr>
        <p:spPr>
          <a:xfrm>
            <a:off x="3791499" y="2608946"/>
            <a:ext cx="892800" cy="4140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Google Shape;274;p36">
            <a:extLst>
              <a:ext uri="{FF2B5EF4-FFF2-40B4-BE49-F238E27FC236}">
                <a16:creationId xmlns:a16="http://schemas.microsoft.com/office/drawing/2014/main" id="{BBF9ABC7-4B32-BD6F-28AB-85DC2374AC7E}"/>
              </a:ext>
            </a:extLst>
          </p:cNvPr>
          <p:cNvPicPr preferRelativeResize="0"/>
          <p:nvPr/>
        </p:nvPicPr>
        <p:blipFill>
          <a:blip r:embed="rId3">
            <a:alphaModFix/>
          </a:blip>
          <a:stretch>
            <a:fillRect/>
          </a:stretch>
        </p:blipFill>
        <p:spPr>
          <a:xfrm>
            <a:off x="2661397" y="3078550"/>
            <a:ext cx="7155326" cy="1251089"/>
          </a:xfrm>
          <a:prstGeom prst="rect">
            <a:avLst/>
          </a:prstGeom>
          <a:noFill/>
          <a:ln>
            <a:noFill/>
          </a:ln>
        </p:spPr>
      </p:pic>
    </p:spTree>
    <p:extLst>
      <p:ext uri="{BB962C8B-B14F-4D97-AF65-F5344CB8AC3E}">
        <p14:creationId xmlns:p14="http://schemas.microsoft.com/office/powerpoint/2010/main" val="686622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DBA1-FAA4-7E8D-6DE3-A9B69D1582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56D779-AE65-99FB-5880-86D13A85EE21}"/>
              </a:ext>
            </a:extLst>
          </p:cNvPr>
          <p:cNvSpPr>
            <a:spLocks noGrp="1"/>
          </p:cNvSpPr>
          <p:nvPr>
            <p:ph type="title"/>
          </p:nvPr>
        </p:nvSpPr>
        <p:spPr/>
        <p:txBody>
          <a:bodyPr/>
          <a:lstStyle/>
          <a:p>
            <a:r>
              <a:rPr lang="es-ES" dirty="0" err="1"/>
              <a:t>ResponseEntity</a:t>
            </a:r>
            <a:r>
              <a:rPr lang="es-ES" dirty="0"/>
              <a:t> – HTTP 200 (ok)</a:t>
            </a:r>
            <a:endParaRPr lang="es-PE" dirty="0"/>
          </a:p>
        </p:txBody>
      </p:sp>
      <p:sp>
        <p:nvSpPr>
          <p:cNvPr id="3" name="Marcador de número de diapositiva 2">
            <a:extLst>
              <a:ext uri="{FF2B5EF4-FFF2-40B4-BE49-F238E27FC236}">
                <a16:creationId xmlns:a16="http://schemas.microsoft.com/office/drawing/2014/main" id="{275D4FF5-1E6C-0937-9D08-3DA8862A6E30}"/>
              </a:ext>
            </a:extLst>
          </p:cNvPr>
          <p:cNvSpPr>
            <a:spLocks noGrp="1"/>
          </p:cNvSpPr>
          <p:nvPr>
            <p:ph type="sldNum" idx="12"/>
          </p:nvPr>
        </p:nvSpPr>
        <p:spPr/>
        <p:txBody>
          <a:bodyPr/>
          <a:lstStyle/>
          <a:p>
            <a:fld id="{52A29C8B-5F70-8945-A2A6-FBD7A17156DB}" type="slidenum">
              <a:rPr lang="es-PE" smtClean="0"/>
              <a:pPr/>
              <a:t>26</a:t>
            </a:fld>
            <a:endParaRPr lang="es-PE"/>
          </a:p>
        </p:txBody>
      </p:sp>
      <p:sp>
        <p:nvSpPr>
          <p:cNvPr id="4" name="Marcador de contenido 3">
            <a:extLst>
              <a:ext uri="{FF2B5EF4-FFF2-40B4-BE49-F238E27FC236}">
                <a16:creationId xmlns:a16="http://schemas.microsoft.com/office/drawing/2014/main" id="{7A076732-4468-7C93-D830-F71E8D27DD40}"/>
              </a:ext>
            </a:extLst>
          </p:cNvPr>
          <p:cNvSpPr>
            <a:spLocks noGrp="1"/>
          </p:cNvSpPr>
          <p:nvPr>
            <p:ph idx="1"/>
          </p:nvPr>
        </p:nvSpPr>
        <p:spPr/>
        <p:txBody>
          <a:bodyPr>
            <a:normAutofit/>
          </a:bodyPr>
          <a:lstStyle/>
          <a:p>
            <a:r>
              <a:rPr lang="es-ES" sz="2000" dirty="0"/>
              <a:t>Para responder con un HTTP 200, usamos el método </a:t>
            </a:r>
            <a:r>
              <a:rPr lang="es-ES" sz="2000" b="1" dirty="0">
                <a:latin typeface="Source Code Pro"/>
                <a:ea typeface="Source Code Pro"/>
                <a:cs typeface="Source Code Pro"/>
                <a:sym typeface="Source Code Pro"/>
              </a:rPr>
              <a:t>.ok(&lt;</a:t>
            </a:r>
            <a:r>
              <a:rPr lang="es-ES" sz="2000" b="1" dirty="0" err="1">
                <a:latin typeface="Source Code Pro"/>
                <a:ea typeface="Source Code Pro"/>
                <a:cs typeface="Source Code Pro"/>
                <a:sym typeface="Source Code Pro"/>
              </a:rPr>
              <a:t>body</a:t>
            </a:r>
            <a:r>
              <a:rPr lang="es-ES" sz="2000" b="1" dirty="0">
                <a:latin typeface="Source Code Pro"/>
                <a:ea typeface="Source Code Pro"/>
                <a:cs typeface="Source Code Pro"/>
                <a:sym typeface="Source Code Pro"/>
              </a:rPr>
              <a:t>&gt;)</a:t>
            </a:r>
            <a:r>
              <a:rPr lang="es-ES" sz="2000" dirty="0"/>
              <a:t>, en el cual se coloca al interior el objeto que se desea devolver.</a:t>
            </a:r>
          </a:p>
          <a:p>
            <a:endParaRPr lang="es-PE" sz="2000" dirty="0"/>
          </a:p>
        </p:txBody>
      </p:sp>
      <p:pic>
        <p:nvPicPr>
          <p:cNvPr id="13" name="Imagen 12">
            <a:extLst>
              <a:ext uri="{FF2B5EF4-FFF2-40B4-BE49-F238E27FC236}">
                <a16:creationId xmlns:a16="http://schemas.microsoft.com/office/drawing/2014/main" id="{D98A320D-06FE-967D-1517-83C913F66FB8}"/>
              </a:ext>
            </a:extLst>
          </p:cNvPr>
          <p:cNvPicPr>
            <a:picLocks noChangeAspect="1"/>
          </p:cNvPicPr>
          <p:nvPr/>
        </p:nvPicPr>
        <p:blipFill>
          <a:blip r:embed="rId2"/>
          <a:stretch>
            <a:fillRect/>
          </a:stretch>
        </p:blipFill>
        <p:spPr>
          <a:xfrm>
            <a:off x="2372039" y="1980148"/>
            <a:ext cx="7447922" cy="3499358"/>
          </a:xfrm>
          <a:prstGeom prst="rect">
            <a:avLst/>
          </a:prstGeom>
        </p:spPr>
      </p:pic>
    </p:spTree>
    <p:extLst>
      <p:ext uri="{BB962C8B-B14F-4D97-AF65-F5344CB8AC3E}">
        <p14:creationId xmlns:p14="http://schemas.microsoft.com/office/powerpoint/2010/main" val="4227417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8C512-3C7E-F3F5-1122-C551AB34DA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593E03-A6B0-14A0-19F3-2D7F49D94BFB}"/>
              </a:ext>
            </a:extLst>
          </p:cNvPr>
          <p:cNvSpPr>
            <a:spLocks noGrp="1"/>
          </p:cNvSpPr>
          <p:nvPr>
            <p:ph type="title"/>
          </p:nvPr>
        </p:nvSpPr>
        <p:spPr/>
        <p:txBody>
          <a:bodyPr/>
          <a:lstStyle/>
          <a:p>
            <a:r>
              <a:rPr lang="es-ES"/>
              <a:t>ResponseEntity – HTTP 400 (bad request)</a:t>
            </a:r>
            <a:endParaRPr lang="es-PE"/>
          </a:p>
        </p:txBody>
      </p:sp>
      <p:sp>
        <p:nvSpPr>
          <p:cNvPr id="3" name="Marcador de número de diapositiva 2">
            <a:extLst>
              <a:ext uri="{FF2B5EF4-FFF2-40B4-BE49-F238E27FC236}">
                <a16:creationId xmlns:a16="http://schemas.microsoft.com/office/drawing/2014/main" id="{F2EABD70-0AB2-CF85-972B-728382219B82}"/>
              </a:ext>
            </a:extLst>
          </p:cNvPr>
          <p:cNvSpPr>
            <a:spLocks noGrp="1"/>
          </p:cNvSpPr>
          <p:nvPr>
            <p:ph type="sldNum" idx="12"/>
          </p:nvPr>
        </p:nvSpPr>
        <p:spPr/>
        <p:txBody>
          <a:bodyPr/>
          <a:lstStyle/>
          <a:p>
            <a:fld id="{52A29C8B-5F70-8945-A2A6-FBD7A17156DB}" type="slidenum">
              <a:rPr lang="es-PE" smtClean="0"/>
              <a:pPr/>
              <a:t>27</a:t>
            </a:fld>
            <a:endParaRPr lang="es-PE"/>
          </a:p>
        </p:txBody>
      </p:sp>
      <p:sp>
        <p:nvSpPr>
          <p:cNvPr id="4" name="Marcador de contenido 3">
            <a:extLst>
              <a:ext uri="{FF2B5EF4-FFF2-40B4-BE49-F238E27FC236}">
                <a16:creationId xmlns:a16="http://schemas.microsoft.com/office/drawing/2014/main" id="{179677EA-5971-0362-2DE4-56A30CF8F8A6}"/>
              </a:ext>
            </a:extLst>
          </p:cNvPr>
          <p:cNvSpPr>
            <a:spLocks noGrp="1"/>
          </p:cNvSpPr>
          <p:nvPr>
            <p:ph idx="1"/>
          </p:nvPr>
        </p:nvSpPr>
        <p:spPr/>
        <p:txBody>
          <a:bodyPr>
            <a:normAutofit/>
          </a:bodyPr>
          <a:lstStyle/>
          <a:p>
            <a:pPr marL="0" lvl="0" indent="0">
              <a:spcBef>
                <a:spcPts val="0"/>
              </a:spcBef>
              <a:buNone/>
            </a:pPr>
            <a:r>
              <a:rPr lang="es-ES" sz="2000" dirty="0"/>
              <a:t>Para las respuestas erróneas, se pueden usar los códigos 400 (por ejemplo). Aquí se utiliza el método </a:t>
            </a:r>
            <a:r>
              <a:rPr lang="es-ES" sz="2000" b="1" dirty="0">
                <a:latin typeface="Source Code Pro"/>
                <a:ea typeface="Source Code Pro"/>
                <a:cs typeface="Source Code Pro"/>
                <a:sym typeface="Source Code Pro"/>
              </a:rPr>
              <a:t>.</a:t>
            </a:r>
            <a:r>
              <a:rPr lang="es-ES" sz="2000" b="1" dirty="0" err="1">
                <a:latin typeface="Source Code Pro"/>
                <a:ea typeface="Source Code Pro"/>
                <a:cs typeface="Source Code Pro"/>
                <a:sym typeface="Source Code Pro"/>
              </a:rPr>
              <a:t>badRequest</a:t>
            </a:r>
            <a:r>
              <a:rPr lang="es-ES" sz="2000" b="1" dirty="0">
                <a:latin typeface="Source Code Pro"/>
                <a:ea typeface="Source Code Pro"/>
                <a:cs typeface="Source Code Pro"/>
                <a:sym typeface="Source Code Pro"/>
              </a:rPr>
              <a:t>()</a:t>
            </a:r>
            <a:r>
              <a:rPr lang="es-ES" sz="2000" dirty="0"/>
              <a:t> y luego el método .</a:t>
            </a:r>
            <a:r>
              <a:rPr lang="es-ES" sz="2000" b="1" dirty="0" err="1">
                <a:latin typeface="Source Code Pro"/>
                <a:ea typeface="Source Code Pro"/>
                <a:cs typeface="Source Code Pro"/>
                <a:sym typeface="Source Code Pro"/>
              </a:rPr>
              <a:t>body</a:t>
            </a:r>
            <a:r>
              <a:rPr lang="es-ES" sz="2000" b="1" dirty="0">
                <a:latin typeface="Source Code Pro"/>
                <a:ea typeface="Source Code Pro"/>
                <a:cs typeface="Source Code Pro"/>
                <a:sym typeface="Source Code Pro"/>
              </a:rPr>
              <a:t>()</a:t>
            </a:r>
            <a:r>
              <a:rPr lang="es-ES" sz="2000" dirty="0"/>
              <a:t>, donde se enviará el contenido del mensaje, en este caso, </a:t>
            </a:r>
            <a:r>
              <a:rPr lang="es-ES" sz="2000" b="1" dirty="0"/>
              <a:t>información con el error</a:t>
            </a:r>
            <a:r>
              <a:rPr lang="es-ES" sz="2000" dirty="0"/>
              <a:t>. </a:t>
            </a:r>
          </a:p>
          <a:p>
            <a:pPr marL="0" lvl="0" indent="0">
              <a:spcBef>
                <a:spcPts val="1600"/>
              </a:spcBef>
              <a:spcAft>
                <a:spcPts val="1600"/>
              </a:spcAft>
              <a:buNone/>
            </a:pPr>
            <a:r>
              <a:rPr lang="es-ES" sz="2000" dirty="0"/>
              <a:t>No siempre es necesario indicar el error, este caso es un ejemplo.</a:t>
            </a:r>
          </a:p>
          <a:p>
            <a:endParaRPr lang="es-PE" sz="2000" dirty="0"/>
          </a:p>
        </p:txBody>
      </p:sp>
      <p:pic>
        <p:nvPicPr>
          <p:cNvPr id="5" name="Google Shape;297;p38">
            <a:extLst>
              <a:ext uri="{FF2B5EF4-FFF2-40B4-BE49-F238E27FC236}">
                <a16:creationId xmlns:a16="http://schemas.microsoft.com/office/drawing/2014/main" id="{F1B080F6-80EE-1826-06C5-608A586704A3}"/>
              </a:ext>
            </a:extLst>
          </p:cNvPr>
          <p:cNvPicPr preferRelativeResize="0"/>
          <p:nvPr/>
        </p:nvPicPr>
        <p:blipFill>
          <a:blip r:embed="rId2">
            <a:alphaModFix/>
          </a:blip>
          <a:stretch>
            <a:fillRect/>
          </a:stretch>
        </p:blipFill>
        <p:spPr>
          <a:xfrm>
            <a:off x="2466150" y="3051520"/>
            <a:ext cx="7259700" cy="2503350"/>
          </a:xfrm>
          <a:prstGeom prst="rect">
            <a:avLst/>
          </a:prstGeom>
          <a:noFill/>
          <a:ln>
            <a:noFill/>
          </a:ln>
        </p:spPr>
      </p:pic>
    </p:spTree>
    <p:extLst>
      <p:ext uri="{BB962C8B-B14F-4D97-AF65-F5344CB8AC3E}">
        <p14:creationId xmlns:p14="http://schemas.microsoft.com/office/powerpoint/2010/main" val="1097174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91E75-804E-2954-DE34-91DCABC905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EC34BB-AFA2-0353-33E4-D53B7E457809}"/>
              </a:ext>
            </a:extLst>
          </p:cNvPr>
          <p:cNvSpPr>
            <a:spLocks noGrp="1"/>
          </p:cNvSpPr>
          <p:nvPr>
            <p:ph type="title"/>
          </p:nvPr>
        </p:nvSpPr>
        <p:spPr/>
        <p:txBody>
          <a:bodyPr/>
          <a:lstStyle/>
          <a:p>
            <a:r>
              <a:rPr lang="es-ES" dirty="0"/>
              <a:t>Método Completo</a:t>
            </a:r>
            <a:endParaRPr lang="es-PE" dirty="0"/>
          </a:p>
        </p:txBody>
      </p:sp>
      <p:sp>
        <p:nvSpPr>
          <p:cNvPr id="3" name="Marcador de número de diapositiva 2">
            <a:extLst>
              <a:ext uri="{FF2B5EF4-FFF2-40B4-BE49-F238E27FC236}">
                <a16:creationId xmlns:a16="http://schemas.microsoft.com/office/drawing/2014/main" id="{42189665-4646-3085-A5A4-B07E16DC6A4F}"/>
              </a:ext>
            </a:extLst>
          </p:cNvPr>
          <p:cNvSpPr>
            <a:spLocks noGrp="1"/>
          </p:cNvSpPr>
          <p:nvPr>
            <p:ph type="sldNum" idx="12"/>
          </p:nvPr>
        </p:nvSpPr>
        <p:spPr/>
        <p:txBody>
          <a:bodyPr/>
          <a:lstStyle/>
          <a:p>
            <a:fld id="{52A29C8B-5F70-8945-A2A6-FBD7A17156DB}" type="slidenum">
              <a:rPr lang="es-PE" smtClean="0"/>
              <a:pPr/>
              <a:t>28</a:t>
            </a:fld>
            <a:endParaRPr lang="es-PE"/>
          </a:p>
        </p:txBody>
      </p:sp>
      <p:pic>
        <p:nvPicPr>
          <p:cNvPr id="5" name="Google Shape;304;p39">
            <a:extLst>
              <a:ext uri="{FF2B5EF4-FFF2-40B4-BE49-F238E27FC236}">
                <a16:creationId xmlns:a16="http://schemas.microsoft.com/office/drawing/2014/main" id="{84B5E46B-49A7-203C-D90A-32B71F638FDF}"/>
              </a:ext>
            </a:extLst>
          </p:cNvPr>
          <p:cNvPicPr preferRelativeResize="0"/>
          <p:nvPr/>
        </p:nvPicPr>
        <p:blipFill>
          <a:blip r:embed="rId2">
            <a:alphaModFix/>
          </a:blip>
          <a:stretch>
            <a:fillRect/>
          </a:stretch>
        </p:blipFill>
        <p:spPr>
          <a:xfrm>
            <a:off x="1741275" y="1020932"/>
            <a:ext cx="8709450" cy="4385756"/>
          </a:xfrm>
          <a:prstGeom prst="rect">
            <a:avLst/>
          </a:prstGeom>
          <a:noFill/>
          <a:ln>
            <a:noFill/>
          </a:ln>
        </p:spPr>
      </p:pic>
    </p:spTree>
    <p:extLst>
      <p:ext uri="{BB962C8B-B14F-4D97-AF65-F5344CB8AC3E}">
        <p14:creationId xmlns:p14="http://schemas.microsoft.com/office/powerpoint/2010/main" val="2421757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3CC2-2B3D-2BFC-5C39-867826D07F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77AAA4-D20E-8A24-7979-A6134AF6C07E}"/>
              </a:ext>
            </a:extLst>
          </p:cNvPr>
          <p:cNvSpPr>
            <a:spLocks noGrp="1"/>
          </p:cNvSpPr>
          <p:nvPr>
            <p:ph type="title"/>
          </p:nvPr>
        </p:nvSpPr>
        <p:spPr/>
        <p:txBody>
          <a:bodyPr/>
          <a:lstStyle/>
          <a:p>
            <a:r>
              <a:rPr lang="es-ES" dirty="0"/>
              <a:t>Probando – solicitud correcta</a:t>
            </a:r>
            <a:endParaRPr lang="es-PE" dirty="0"/>
          </a:p>
        </p:txBody>
      </p:sp>
      <p:sp>
        <p:nvSpPr>
          <p:cNvPr id="3" name="Marcador de número de diapositiva 2">
            <a:extLst>
              <a:ext uri="{FF2B5EF4-FFF2-40B4-BE49-F238E27FC236}">
                <a16:creationId xmlns:a16="http://schemas.microsoft.com/office/drawing/2014/main" id="{8FF53EA8-5843-CCDB-147C-92D8F3EE9BD9}"/>
              </a:ext>
            </a:extLst>
          </p:cNvPr>
          <p:cNvSpPr>
            <a:spLocks noGrp="1"/>
          </p:cNvSpPr>
          <p:nvPr>
            <p:ph type="sldNum" idx="12"/>
          </p:nvPr>
        </p:nvSpPr>
        <p:spPr/>
        <p:txBody>
          <a:bodyPr/>
          <a:lstStyle/>
          <a:p>
            <a:fld id="{52A29C8B-5F70-8945-A2A6-FBD7A17156DB}" type="slidenum">
              <a:rPr lang="es-PE" smtClean="0"/>
              <a:pPr/>
              <a:t>29</a:t>
            </a:fld>
            <a:endParaRPr lang="es-PE"/>
          </a:p>
        </p:txBody>
      </p:sp>
      <p:sp>
        <p:nvSpPr>
          <p:cNvPr id="4" name="Marcador de contenido 3">
            <a:extLst>
              <a:ext uri="{FF2B5EF4-FFF2-40B4-BE49-F238E27FC236}">
                <a16:creationId xmlns:a16="http://schemas.microsoft.com/office/drawing/2014/main" id="{5FF94D75-2141-851A-9FA0-E09E3490920F}"/>
              </a:ext>
            </a:extLst>
          </p:cNvPr>
          <p:cNvSpPr>
            <a:spLocks noGrp="1"/>
          </p:cNvSpPr>
          <p:nvPr>
            <p:ph idx="1"/>
          </p:nvPr>
        </p:nvSpPr>
        <p:spPr>
          <a:xfrm>
            <a:off x="838200" y="1174983"/>
            <a:ext cx="4110318" cy="4304523"/>
          </a:xfrm>
        </p:spPr>
        <p:txBody>
          <a:bodyPr/>
          <a:lstStyle/>
          <a:p>
            <a:r>
              <a:rPr lang="es-ES" dirty="0"/>
              <a:t>Ahora tenemos información en la respuesta si la consulta fue correcta (aparte del producto en sí).</a:t>
            </a:r>
          </a:p>
          <a:p>
            <a:endParaRPr lang="es-PE" dirty="0"/>
          </a:p>
        </p:txBody>
      </p:sp>
      <p:pic>
        <p:nvPicPr>
          <p:cNvPr id="5" name="Google Shape;312;p40">
            <a:extLst>
              <a:ext uri="{FF2B5EF4-FFF2-40B4-BE49-F238E27FC236}">
                <a16:creationId xmlns:a16="http://schemas.microsoft.com/office/drawing/2014/main" id="{7324BF84-4C41-A35C-A43A-DFE4A26112B2}"/>
              </a:ext>
            </a:extLst>
          </p:cNvPr>
          <p:cNvPicPr preferRelativeResize="0"/>
          <p:nvPr/>
        </p:nvPicPr>
        <p:blipFill>
          <a:blip r:embed="rId2">
            <a:alphaModFix/>
          </a:blip>
          <a:stretch>
            <a:fillRect/>
          </a:stretch>
        </p:blipFill>
        <p:spPr>
          <a:xfrm>
            <a:off x="7016789" y="548713"/>
            <a:ext cx="4269775" cy="4930793"/>
          </a:xfrm>
          <a:prstGeom prst="rect">
            <a:avLst/>
          </a:prstGeom>
          <a:noFill/>
          <a:ln>
            <a:noFill/>
          </a:ln>
        </p:spPr>
      </p:pic>
      <p:sp>
        <p:nvSpPr>
          <p:cNvPr id="6" name="Google Shape;313;p40">
            <a:extLst>
              <a:ext uri="{FF2B5EF4-FFF2-40B4-BE49-F238E27FC236}">
                <a16:creationId xmlns:a16="http://schemas.microsoft.com/office/drawing/2014/main" id="{CE9CC9D3-99EC-4AE4-3DDB-7BFEEB74FCAE}"/>
              </a:ext>
            </a:extLst>
          </p:cNvPr>
          <p:cNvSpPr/>
          <p:nvPr/>
        </p:nvSpPr>
        <p:spPr>
          <a:xfrm>
            <a:off x="6379439" y="2060675"/>
            <a:ext cx="1274700" cy="1800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334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A284-4AF1-D49E-A8C0-D2861ADD5E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298A72-530C-3D4B-BFE4-D5609075C39B}"/>
              </a:ext>
            </a:extLst>
          </p:cNvPr>
          <p:cNvSpPr>
            <a:spLocks noGrp="1"/>
          </p:cNvSpPr>
          <p:nvPr>
            <p:ph type="title"/>
          </p:nvPr>
        </p:nvSpPr>
        <p:spPr/>
        <p:txBody>
          <a:bodyPr/>
          <a:lstStyle/>
          <a:p>
            <a:r>
              <a:rPr lang="es-ES" dirty="0"/>
              <a:t>Probando – http 400</a:t>
            </a:r>
            <a:endParaRPr lang="es-PE" dirty="0"/>
          </a:p>
        </p:txBody>
      </p:sp>
      <p:sp>
        <p:nvSpPr>
          <p:cNvPr id="3" name="Marcador de número de diapositiva 2">
            <a:extLst>
              <a:ext uri="{FF2B5EF4-FFF2-40B4-BE49-F238E27FC236}">
                <a16:creationId xmlns:a16="http://schemas.microsoft.com/office/drawing/2014/main" id="{C51F3F33-6860-CB34-1CB2-14789544AE15}"/>
              </a:ext>
            </a:extLst>
          </p:cNvPr>
          <p:cNvSpPr>
            <a:spLocks noGrp="1"/>
          </p:cNvSpPr>
          <p:nvPr>
            <p:ph type="sldNum" idx="12"/>
          </p:nvPr>
        </p:nvSpPr>
        <p:spPr/>
        <p:txBody>
          <a:bodyPr/>
          <a:lstStyle/>
          <a:p>
            <a:fld id="{52A29C8B-5F70-8945-A2A6-FBD7A17156DB}" type="slidenum">
              <a:rPr lang="es-PE" smtClean="0"/>
              <a:pPr/>
              <a:t>30</a:t>
            </a:fld>
            <a:endParaRPr lang="es-PE"/>
          </a:p>
        </p:txBody>
      </p:sp>
      <p:sp>
        <p:nvSpPr>
          <p:cNvPr id="4" name="Marcador de contenido 3">
            <a:extLst>
              <a:ext uri="{FF2B5EF4-FFF2-40B4-BE49-F238E27FC236}">
                <a16:creationId xmlns:a16="http://schemas.microsoft.com/office/drawing/2014/main" id="{566063E1-1490-AF6C-CCE4-972647C57047}"/>
              </a:ext>
            </a:extLst>
          </p:cNvPr>
          <p:cNvSpPr>
            <a:spLocks noGrp="1"/>
          </p:cNvSpPr>
          <p:nvPr>
            <p:ph idx="1"/>
          </p:nvPr>
        </p:nvSpPr>
        <p:spPr/>
        <p:txBody>
          <a:bodyPr>
            <a:normAutofit/>
          </a:bodyPr>
          <a:lstStyle/>
          <a:p>
            <a:r>
              <a:rPr lang="es-ES" sz="2000" dirty="0"/>
              <a:t>Ahora, al recibir una solicitud con un dato no válido, se observa el código 400, con el mensaje informativo.</a:t>
            </a:r>
          </a:p>
          <a:p>
            <a:endParaRPr lang="es-PE" sz="2000" dirty="0"/>
          </a:p>
        </p:txBody>
      </p:sp>
      <p:pic>
        <p:nvPicPr>
          <p:cNvPr id="5" name="Google Shape;321;p41">
            <a:extLst>
              <a:ext uri="{FF2B5EF4-FFF2-40B4-BE49-F238E27FC236}">
                <a16:creationId xmlns:a16="http://schemas.microsoft.com/office/drawing/2014/main" id="{9499EB75-E0D8-DD3F-0574-CFEA57A86DF1}"/>
              </a:ext>
            </a:extLst>
          </p:cNvPr>
          <p:cNvPicPr preferRelativeResize="0"/>
          <p:nvPr/>
        </p:nvPicPr>
        <p:blipFill>
          <a:blip r:embed="rId2">
            <a:alphaModFix/>
          </a:blip>
          <a:stretch>
            <a:fillRect/>
          </a:stretch>
        </p:blipFill>
        <p:spPr>
          <a:xfrm>
            <a:off x="1476375" y="1966772"/>
            <a:ext cx="4619625" cy="2352675"/>
          </a:xfrm>
          <a:prstGeom prst="rect">
            <a:avLst/>
          </a:prstGeom>
          <a:noFill/>
          <a:ln>
            <a:noFill/>
          </a:ln>
        </p:spPr>
      </p:pic>
      <p:sp>
        <p:nvSpPr>
          <p:cNvPr id="6" name="Google Shape;322;p41">
            <a:extLst>
              <a:ext uri="{FF2B5EF4-FFF2-40B4-BE49-F238E27FC236}">
                <a16:creationId xmlns:a16="http://schemas.microsoft.com/office/drawing/2014/main" id="{8C8555D4-35D6-DE6C-A13D-37C3FD3E739C}"/>
              </a:ext>
            </a:extLst>
          </p:cNvPr>
          <p:cNvSpPr/>
          <p:nvPr/>
        </p:nvSpPr>
        <p:spPr>
          <a:xfrm>
            <a:off x="4751437" y="2792009"/>
            <a:ext cx="1449300" cy="323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Google Shape;323;p41">
            <a:extLst>
              <a:ext uri="{FF2B5EF4-FFF2-40B4-BE49-F238E27FC236}">
                <a16:creationId xmlns:a16="http://schemas.microsoft.com/office/drawing/2014/main" id="{8455D130-4D85-B658-00F2-1498F0B11610}"/>
              </a:ext>
            </a:extLst>
          </p:cNvPr>
          <p:cNvPicPr preferRelativeResize="0"/>
          <p:nvPr/>
        </p:nvPicPr>
        <p:blipFill>
          <a:blip r:embed="rId3">
            <a:alphaModFix/>
          </a:blip>
          <a:stretch>
            <a:fillRect/>
          </a:stretch>
        </p:blipFill>
        <p:spPr>
          <a:xfrm>
            <a:off x="6466355" y="3204682"/>
            <a:ext cx="4572000" cy="2428875"/>
          </a:xfrm>
          <a:prstGeom prst="rect">
            <a:avLst/>
          </a:prstGeom>
          <a:noFill/>
          <a:ln>
            <a:noFill/>
          </a:ln>
        </p:spPr>
      </p:pic>
      <p:sp>
        <p:nvSpPr>
          <p:cNvPr id="7" name="Google Shape;324;p41">
            <a:extLst>
              <a:ext uri="{FF2B5EF4-FFF2-40B4-BE49-F238E27FC236}">
                <a16:creationId xmlns:a16="http://schemas.microsoft.com/office/drawing/2014/main" id="{29C93D41-9D7E-CE3E-59DE-6697268A7FFB}"/>
              </a:ext>
            </a:extLst>
          </p:cNvPr>
          <p:cNvSpPr/>
          <p:nvPr/>
        </p:nvSpPr>
        <p:spPr>
          <a:xfrm>
            <a:off x="9666469" y="3996047"/>
            <a:ext cx="1449300" cy="323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2187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CD04-4EC8-6D28-0FAB-ECE2D2C5F8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72E41F-F0CD-91EC-A0F7-397511E1FA1A}"/>
              </a:ext>
            </a:extLst>
          </p:cNvPr>
          <p:cNvSpPr>
            <a:spLocks noGrp="1"/>
          </p:cNvSpPr>
          <p:nvPr>
            <p:ph type="title"/>
          </p:nvPr>
        </p:nvSpPr>
        <p:spPr/>
        <p:txBody>
          <a:bodyPr/>
          <a:lstStyle/>
          <a:p>
            <a:r>
              <a:rPr lang="es-ES" dirty="0"/>
              <a:t>Documentación – obtener producto</a:t>
            </a:r>
            <a:endParaRPr lang="es-PE" dirty="0"/>
          </a:p>
        </p:txBody>
      </p:sp>
      <p:sp>
        <p:nvSpPr>
          <p:cNvPr id="3" name="Marcador de número de diapositiva 2">
            <a:extLst>
              <a:ext uri="{FF2B5EF4-FFF2-40B4-BE49-F238E27FC236}">
                <a16:creationId xmlns:a16="http://schemas.microsoft.com/office/drawing/2014/main" id="{23C08220-2E66-A4D8-B2B1-6AC74A633697}"/>
              </a:ext>
            </a:extLst>
          </p:cNvPr>
          <p:cNvSpPr>
            <a:spLocks noGrp="1"/>
          </p:cNvSpPr>
          <p:nvPr>
            <p:ph type="sldNum" idx="12"/>
          </p:nvPr>
        </p:nvSpPr>
        <p:spPr/>
        <p:txBody>
          <a:bodyPr/>
          <a:lstStyle/>
          <a:p>
            <a:fld id="{52A29C8B-5F70-8945-A2A6-FBD7A17156DB}" type="slidenum">
              <a:rPr lang="es-PE" smtClean="0"/>
              <a:pPr/>
              <a:t>31</a:t>
            </a:fld>
            <a:endParaRPr lang="es-PE"/>
          </a:p>
        </p:txBody>
      </p:sp>
      <p:sp>
        <p:nvSpPr>
          <p:cNvPr id="4" name="Marcador de contenido 3">
            <a:extLst>
              <a:ext uri="{FF2B5EF4-FFF2-40B4-BE49-F238E27FC236}">
                <a16:creationId xmlns:a16="http://schemas.microsoft.com/office/drawing/2014/main" id="{B374190B-7EDA-A8B8-3011-FE05BC7921F0}"/>
              </a:ext>
            </a:extLst>
          </p:cNvPr>
          <p:cNvSpPr>
            <a:spLocks noGrp="1"/>
          </p:cNvSpPr>
          <p:nvPr>
            <p:ph idx="1"/>
          </p:nvPr>
        </p:nvSpPr>
        <p:spPr/>
        <p:txBody>
          <a:bodyPr/>
          <a:lstStyle/>
          <a:p>
            <a:pPr marL="0" lvl="0" indent="0">
              <a:spcBef>
                <a:spcPts val="0"/>
              </a:spcBef>
              <a:buNone/>
            </a:pPr>
            <a:r>
              <a:rPr lang="es-ES" dirty="0"/>
              <a:t>La documentación completa del </a:t>
            </a:r>
            <a:r>
              <a:rPr lang="es-ES" dirty="0" err="1"/>
              <a:t>webservice</a:t>
            </a:r>
            <a:r>
              <a:rPr lang="es-ES" dirty="0"/>
              <a:t> la puede encontrar en el archivo de la clase: </a:t>
            </a:r>
          </a:p>
          <a:p>
            <a:pPr marL="0" lvl="0" indent="0">
              <a:spcBef>
                <a:spcPts val="1600"/>
              </a:spcBef>
              <a:buNone/>
            </a:pPr>
            <a:r>
              <a:rPr lang="es-ES" dirty="0"/>
              <a:t>→ Clase 9.2 - </a:t>
            </a:r>
            <a:r>
              <a:rPr lang="es-ES" dirty="0" err="1"/>
              <a:t>WebServices</a:t>
            </a:r>
            <a:r>
              <a:rPr lang="es-ES" dirty="0"/>
              <a:t> Rest - Documentación obtener Productos</a:t>
            </a:r>
          </a:p>
          <a:p>
            <a:endParaRPr lang="es-PE" dirty="0"/>
          </a:p>
        </p:txBody>
      </p:sp>
    </p:spTree>
    <p:extLst>
      <p:ext uri="{BB962C8B-B14F-4D97-AF65-F5344CB8AC3E}">
        <p14:creationId xmlns:p14="http://schemas.microsoft.com/office/powerpoint/2010/main" val="22630644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340115C9-93DD-7898-1D4A-707D5E58B10E}"/>
              </a:ext>
            </a:extLst>
          </p:cNvPr>
          <p:cNvSpPr>
            <a:spLocks noGrp="1"/>
          </p:cNvSpPr>
          <p:nvPr>
            <p:ph type="title"/>
          </p:nvPr>
        </p:nvSpPr>
        <p:spPr/>
        <p:txBody>
          <a:bodyPr/>
          <a:lstStyle/>
          <a:p>
            <a:r>
              <a:rPr lang="es-ES" dirty="0"/>
              <a:t>Crear producto</a:t>
            </a:r>
            <a:endParaRPr lang="es-PE" dirty="0"/>
          </a:p>
        </p:txBody>
      </p:sp>
    </p:spTree>
    <p:extLst>
      <p:ext uri="{BB962C8B-B14F-4D97-AF65-F5344CB8AC3E}">
        <p14:creationId xmlns:p14="http://schemas.microsoft.com/office/powerpoint/2010/main" val="2439062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8A3C0-0C6B-C6D7-CFA2-1DF15727E1D8}"/>
              </a:ext>
            </a:extLst>
          </p:cNvPr>
          <p:cNvSpPr>
            <a:spLocks noGrp="1"/>
          </p:cNvSpPr>
          <p:nvPr>
            <p:ph type="title"/>
          </p:nvPr>
        </p:nvSpPr>
        <p:spPr/>
        <p:txBody>
          <a:bodyPr/>
          <a:lstStyle/>
          <a:p>
            <a:r>
              <a:rPr lang="es-ES" dirty="0"/>
              <a:t>POST / </a:t>
            </a:r>
            <a:r>
              <a:rPr lang="es-ES" dirty="0" err="1"/>
              <a:t>product</a:t>
            </a:r>
            <a:r>
              <a:rPr lang="es-ES" dirty="0"/>
              <a:t> </a:t>
            </a:r>
            <a:r>
              <a:rPr lang="es-ES" dirty="0">
                <a:sym typeface="Wingdings" panose="05000000000000000000" pitchFamily="2" charset="2"/>
              </a:rPr>
              <a:t> crear un producto en el servidor</a:t>
            </a:r>
            <a:endParaRPr lang="es-PE" dirty="0"/>
          </a:p>
        </p:txBody>
      </p:sp>
      <p:sp>
        <p:nvSpPr>
          <p:cNvPr id="3" name="Marcador de número de diapositiva 2">
            <a:extLst>
              <a:ext uri="{FF2B5EF4-FFF2-40B4-BE49-F238E27FC236}">
                <a16:creationId xmlns:a16="http://schemas.microsoft.com/office/drawing/2014/main" id="{6A943B3A-E2C2-7443-B34A-2141B01163E7}"/>
              </a:ext>
            </a:extLst>
          </p:cNvPr>
          <p:cNvSpPr>
            <a:spLocks noGrp="1"/>
          </p:cNvSpPr>
          <p:nvPr>
            <p:ph type="sldNum" idx="12"/>
          </p:nvPr>
        </p:nvSpPr>
        <p:spPr/>
        <p:txBody>
          <a:bodyPr/>
          <a:lstStyle/>
          <a:p>
            <a:fld id="{52A29C8B-5F70-8945-A2A6-FBD7A17156DB}" type="slidenum">
              <a:rPr lang="es-PE" smtClean="0"/>
              <a:pPr/>
              <a:t>33</a:t>
            </a:fld>
            <a:endParaRPr lang="es-PE"/>
          </a:p>
        </p:txBody>
      </p:sp>
      <p:sp>
        <p:nvSpPr>
          <p:cNvPr id="4" name="Marcador de contenido 3">
            <a:extLst>
              <a:ext uri="{FF2B5EF4-FFF2-40B4-BE49-F238E27FC236}">
                <a16:creationId xmlns:a16="http://schemas.microsoft.com/office/drawing/2014/main" id="{CDB5BBBD-E72E-6D17-9F49-7F2882A80791}"/>
              </a:ext>
            </a:extLst>
          </p:cNvPr>
          <p:cNvSpPr>
            <a:spLocks noGrp="1"/>
          </p:cNvSpPr>
          <p:nvPr>
            <p:ph idx="1"/>
          </p:nvPr>
        </p:nvSpPr>
        <p:spPr/>
        <p:txBody>
          <a:bodyPr>
            <a:normAutofit/>
          </a:bodyPr>
          <a:lstStyle/>
          <a:p>
            <a:pPr marL="0" lvl="0" indent="0">
              <a:spcBef>
                <a:spcPts val="0"/>
              </a:spcBef>
              <a:buNone/>
            </a:pPr>
            <a:r>
              <a:rPr lang="es-ES" sz="2000" dirty="0"/>
              <a:t>La información del producto que se creará será recibida en formato JSON, por el método POST y a la ruta </a:t>
            </a:r>
            <a:r>
              <a:rPr lang="es-ES" sz="2000" b="1" dirty="0"/>
              <a:t>/</a:t>
            </a:r>
            <a:r>
              <a:rPr lang="es-ES" sz="2000" b="1" dirty="0" err="1"/>
              <a:t>product</a:t>
            </a:r>
            <a:endParaRPr lang="es-ES" sz="2000" b="1" dirty="0"/>
          </a:p>
          <a:p>
            <a:pPr marL="0" lvl="0" indent="0">
              <a:spcBef>
                <a:spcPts val="1600"/>
              </a:spcBef>
              <a:buNone/>
            </a:pPr>
            <a:r>
              <a:rPr lang="es-ES" sz="2000" dirty="0"/>
              <a:t>Consideraciones:</a:t>
            </a:r>
          </a:p>
          <a:p>
            <a:pPr lvl="0" indent="-342900">
              <a:buSzPts val="1800"/>
              <a:buChar char="●"/>
            </a:pPr>
            <a:r>
              <a:rPr lang="es-ES" sz="2000" dirty="0"/>
              <a:t>Para mapear el contenido de un formulario recibido por POST en formato </a:t>
            </a:r>
            <a:r>
              <a:rPr lang="es-ES" sz="2000" b="1" dirty="0"/>
              <a:t>JSON, </a:t>
            </a:r>
            <a:r>
              <a:rPr lang="es-ES" sz="2000" dirty="0"/>
              <a:t>a una entidad (similar al </a:t>
            </a:r>
            <a:r>
              <a:rPr lang="es-ES" sz="2000" dirty="0" err="1"/>
              <a:t>databinding</a:t>
            </a:r>
            <a:r>
              <a:rPr lang="es-ES" sz="2000" dirty="0"/>
              <a:t>) se usa la anotación </a:t>
            </a:r>
            <a:r>
              <a:rPr lang="es-ES" sz="2000" b="1" dirty="0"/>
              <a:t>@RequestBody.</a:t>
            </a:r>
            <a:endParaRPr lang="es-ES" sz="2000" dirty="0"/>
          </a:p>
          <a:p>
            <a:pPr lvl="0" indent="-342900">
              <a:spcBef>
                <a:spcPts val="0"/>
              </a:spcBef>
              <a:buSzPts val="1800"/>
              <a:buChar char="●"/>
            </a:pPr>
            <a:r>
              <a:rPr lang="es-ES" sz="2000" dirty="0"/>
              <a:t>Se adicionará también, la opción de devolver el último ID creado si se envía por GET el parámetro </a:t>
            </a:r>
            <a:r>
              <a:rPr lang="es-ES" sz="2000" b="1" dirty="0" err="1"/>
              <a:t>fetchId</a:t>
            </a:r>
            <a:r>
              <a:rPr lang="es-ES" sz="2000" b="1" dirty="0"/>
              <a:t> = true </a:t>
            </a:r>
            <a:r>
              <a:rPr lang="es-ES" sz="2000" dirty="0"/>
              <a:t>(este parámetro es opcional).</a:t>
            </a:r>
          </a:p>
          <a:p>
            <a:pPr lvl="0" indent="-342900">
              <a:spcBef>
                <a:spcPts val="0"/>
              </a:spcBef>
              <a:buSzPts val="1800"/>
              <a:buChar char="●"/>
            </a:pPr>
            <a:r>
              <a:rPr lang="es-ES" sz="2000" dirty="0"/>
              <a:t>Se debe devolver un parámetro “estado” = “creado”, en caso se haya realizado de forma exitosa.</a:t>
            </a:r>
          </a:p>
          <a:p>
            <a:endParaRPr lang="es-PE" sz="2000" dirty="0"/>
          </a:p>
        </p:txBody>
      </p:sp>
    </p:spTree>
    <p:extLst>
      <p:ext uri="{BB962C8B-B14F-4D97-AF65-F5344CB8AC3E}">
        <p14:creationId xmlns:p14="http://schemas.microsoft.com/office/powerpoint/2010/main" val="3636339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6922E9-7A13-896D-65B6-4AF158E38092}"/>
              </a:ext>
            </a:extLst>
          </p:cNvPr>
          <p:cNvSpPr>
            <a:spLocks noGrp="1"/>
          </p:cNvSpPr>
          <p:nvPr>
            <p:ph type="title"/>
          </p:nvPr>
        </p:nvSpPr>
        <p:spPr/>
        <p:txBody>
          <a:bodyPr/>
          <a:lstStyle/>
          <a:p>
            <a:r>
              <a:rPr lang="es-ES" dirty="0"/>
              <a:t>POST / </a:t>
            </a:r>
            <a:r>
              <a:rPr lang="es-ES" dirty="0" err="1"/>
              <a:t>product</a:t>
            </a:r>
            <a:endParaRPr lang="es-PE" dirty="0"/>
          </a:p>
        </p:txBody>
      </p:sp>
      <p:sp>
        <p:nvSpPr>
          <p:cNvPr id="3" name="Marcador de número de diapositiva 2">
            <a:extLst>
              <a:ext uri="{FF2B5EF4-FFF2-40B4-BE49-F238E27FC236}">
                <a16:creationId xmlns:a16="http://schemas.microsoft.com/office/drawing/2014/main" id="{A8811C30-3B72-1F1B-B85D-1195DEC7B13C}"/>
              </a:ext>
            </a:extLst>
          </p:cNvPr>
          <p:cNvSpPr>
            <a:spLocks noGrp="1"/>
          </p:cNvSpPr>
          <p:nvPr>
            <p:ph type="sldNum" idx="12"/>
          </p:nvPr>
        </p:nvSpPr>
        <p:spPr/>
        <p:txBody>
          <a:bodyPr/>
          <a:lstStyle/>
          <a:p>
            <a:fld id="{52A29C8B-5F70-8945-A2A6-FBD7A17156DB}" type="slidenum">
              <a:rPr lang="es-PE" smtClean="0"/>
              <a:pPr/>
              <a:t>34</a:t>
            </a:fld>
            <a:endParaRPr lang="es-PE"/>
          </a:p>
        </p:txBody>
      </p:sp>
      <p:sp>
        <p:nvSpPr>
          <p:cNvPr id="4" name="Marcador de contenido 3">
            <a:extLst>
              <a:ext uri="{FF2B5EF4-FFF2-40B4-BE49-F238E27FC236}">
                <a16:creationId xmlns:a16="http://schemas.microsoft.com/office/drawing/2014/main" id="{F43EC123-4744-EC25-68C2-1D9F53E64FBC}"/>
              </a:ext>
            </a:extLst>
          </p:cNvPr>
          <p:cNvSpPr>
            <a:spLocks noGrp="1"/>
          </p:cNvSpPr>
          <p:nvPr>
            <p:ph idx="1"/>
          </p:nvPr>
        </p:nvSpPr>
        <p:spPr/>
        <p:txBody>
          <a:bodyPr>
            <a:normAutofit/>
          </a:bodyPr>
          <a:lstStyle/>
          <a:p>
            <a:pPr marL="0" lvl="0" indent="0">
              <a:spcBef>
                <a:spcPts val="0"/>
              </a:spcBef>
              <a:buNone/>
            </a:pPr>
            <a:r>
              <a:rPr lang="es-ES" sz="2000" dirty="0"/>
              <a:t>El formato que esperamos devolver en caso se haya creado un nuevo producto es:</a:t>
            </a:r>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spcAft>
                <a:spcPts val="1600"/>
              </a:spcAft>
              <a:buNone/>
            </a:pPr>
            <a:r>
              <a:rPr lang="es-ES" sz="2000" dirty="0"/>
              <a:t>En caso el usuario haya solicitado el ID </a:t>
            </a:r>
            <a:r>
              <a:rPr lang="es-ES" sz="2000" dirty="0" err="1"/>
              <a:t>reción</a:t>
            </a:r>
            <a:r>
              <a:rPr lang="es-ES" sz="2000" dirty="0"/>
              <a:t> creado:</a:t>
            </a:r>
          </a:p>
          <a:p>
            <a:endParaRPr lang="es-PE" sz="2000" dirty="0"/>
          </a:p>
        </p:txBody>
      </p:sp>
      <p:sp>
        <p:nvSpPr>
          <p:cNvPr id="5" name="Google Shape;352;p45">
            <a:extLst>
              <a:ext uri="{FF2B5EF4-FFF2-40B4-BE49-F238E27FC236}">
                <a16:creationId xmlns:a16="http://schemas.microsoft.com/office/drawing/2014/main" id="{8A278CCF-3D7F-E2C7-99E4-B216A2997A75}"/>
              </a:ext>
            </a:extLst>
          </p:cNvPr>
          <p:cNvSpPr txBox="1"/>
          <p:nvPr/>
        </p:nvSpPr>
        <p:spPr>
          <a:xfrm>
            <a:off x="3843020" y="1532604"/>
            <a:ext cx="2523300" cy="1046410"/>
          </a:xfrm>
          <a:prstGeom prst="rect">
            <a:avLst/>
          </a:prstGeom>
          <a:noFill/>
          <a:ln w="9525" cap="flat" cmpd="sng">
            <a:solidFill>
              <a:srgbClr val="80808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419" sz="1400" b="1" dirty="0">
                <a:latin typeface="Source Code Pro"/>
                <a:ea typeface="Source Code Pro"/>
                <a:cs typeface="Source Code Pro"/>
                <a:sym typeface="Source Code Pro"/>
              </a:rPr>
              <a:t>{</a:t>
            </a:r>
            <a:endParaRPr sz="1400" b="1" dirty="0">
              <a:latin typeface="Source Code Pro"/>
              <a:ea typeface="Source Code Pro"/>
              <a:cs typeface="Source Code Pro"/>
              <a:sym typeface="Source Code Pro"/>
            </a:endParaRPr>
          </a:p>
          <a:p>
            <a:pPr marL="0" lvl="0" indent="0" algn="l" rtl="0">
              <a:spcBef>
                <a:spcPts val="0"/>
              </a:spcBef>
              <a:spcAft>
                <a:spcPts val="0"/>
              </a:spcAft>
              <a:buNone/>
            </a:pPr>
            <a:r>
              <a:rPr lang="es-419" sz="1400" b="1" dirty="0">
                <a:latin typeface="Source Code Pro"/>
                <a:ea typeface="Source Code Pro"/>
                <a:cs typeface="Source Code Pro"/>
                <a:sym typeface="Source Code Pro"/>
              </a:rPr>
              <a:t>	estado: “creado”</a:t>
            </a:r>
            <a:endParaRPr sz="1400" b="1" dirty="0">
              <a:latin typeface="Source Code Pro"/>
              <a:ea typeface="Source Code Pro"/>
              <a:cs typeface="Source Code Pro"/>
              <a:sym typeface="Source Code Pro"/>
            </a:endParaRPr>
          </a:p>
          <a:p>
            <a:pPr marL="0" lvl="0" indent="0" algn="l" rtl="0">
              <a:spcBef>
                <a:spcPts val="0"/>
              </a:spcBef>
              <a:spcAft>
                <a:spcPts val="0"/>
              </a:spcAft>
              <a:buNone/>
            </a:pPr>
            <a:r>
              <a:rPr lang="es-419" sz="1400" b="1" dirty="0">
                <a:latin typeface="Source Code Pro"/>
                <a:ea typeface="Source Code Pro"/>
                <a:cs typeface="Source Code Pro"/>
                <a:sym typeface="Source Code Pro"/>
              </a:rPr>
              <a:t>}</a:t>
            </a:r>
            <a:endParaRPr sz="1400" b="1" dirty="0">
              <a:latin typeface="Source Code Pro"/>
              <a:ea typeface="Source Code Pro"/>
              <a:cs typeface="Source Code Pro"/>
              <a:sym typeface="Source Code Pro"/>
            </a:endParaRPr>
          </a:p>
        </p:txBody>
      </p:sp>
      <p:sp>
        <p:nvSpPr>
          <p:cNvPr id="6" name="Google Shape;353;p45">
            <a:extLst>
              <a:ext uri="{FF2B5EF4-FFF2-40B4-BE49-F238E27FC236}">
                <a16:creationId xmlns:a16="http://schemas.microsoft.com/office/drawing/2014/main" id="{8C06E6D7-5EAB-3A51-96E3-2F3041D373BB}"/>
              </a:ext>
            </a:extLst>
          </p:cNvPr>
          <p:cNvSpPr txBox="1"/>
          <p:nvPr/>
        </p:nvSpPr>
        <p:spPr>
          <a:xfrm>
            <a:off x="3853364" y="3660424"/>
            <a:ext cx="2523300" cy="1477297"/>
          </a:xfrm>
          <a:prstGeom prst="rect">
            <a:avLst/>
          </a:prstGeom>
          <a:noFill/>
          <a:ln w="9525" cap="flat" cmpd="sng">
            <a:solidFill>
              <a:srgbClr val="80808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419" sz="1400" b="1" dirty="0">
                <a:latin typeface="Source Code Pro"/>
                <a:ea typeface="Source Code Pro"/>
                <a:cs typeface="Source Code Pro"/>
                <a:sym typeface="Source Code Pro"/>
              </a:rPr>
              <a:t>{</a:t>
            </a:r>
            <a:endParaRPr sz="1400" b="1" dirty="0">
              <a:latin typeface="Source Code Pro"/>
              <a:ea typeface="Source Code Pro"/>
              <a:cs typeface="Source Code Pro"/>
              <a:sym typeface="Source Code Pro"/>
            </a:endParaRPr>
          </a:p>
          <a:p>
            <a:pPr marL="0" lvl="0" indent="0" algn="l" rtl="0">
              <a:spcBef>
                <a:spcPts val="0"/>
              </a:spcBef>
              <a:spcAft>
                <a:spcPts val="0"/>
              </a:spcAft>
              <a:buNone/>
            </a:pPr>
            <a:r>
              <a:rPr lang="es-419" sz="1400" b="1" dirty="0">
                <a:latin typeface="Source Code Pro"/>
                <a:ea typeface="Source Code Pro"/>
                <a:cs typeface="Source Code Pro"/>
                <a:sym typeface="Source Code Pro"/>
              </a:rPr>
              <a:t>	estado: “creado”,</a:t>
            </a:r>
            <a:endParaRPr sz="1400" b="1" dirty="0">
              <a:latin typeface="Source Code Pro"/>
              <a:ea typeface="Source Code Pro"/>
              <a:cs typeface="Source Code Pro"/>
              <a:sym typeface="Source Code Pro"/>
            </a:endParaRPr>
          </a:p>
          <a:p>
            <a:pPr marL="0" lvl="0" indent="0" algn="l" rtl="0">
              <a:spcBef>
                <a:spcPts val="0"/>
              </a:spcBef>
              <a:spcAft>
                <a:spcPts val="0"/>
              </a:spcAft>
              <a:buNone/>
            </a:pPr>
            <a:r>
              <a:rPr lang="es-419" sz="1400" b="1" dirty="0">
                <a:latin typeface="Source Code Pro"/>
                <a:ea typeface="Source Code Pro"/>
                <a:cs typeface="Source Code Pro"/>
                <a:sym typeface="Source Code Pro"/>
              </a:rPr>
              <a:t>	id: &lt;</a:t>
            </a:r>
            <a:r>
              <a:rPr lang="es-419" sz="1400" b="1" dirty="0" err="1">
                <a:latin typeface="Source Code Pro"/>
                <a:ea typeface="Source Code Pro"/>
                <a:cs typeface="Source Code Pro"/>
                <a:sym typeface="Source Code Pro"/>
              </a:rPr>
              <a:t>id_creado</a:t>
            </a:r>
            <a:r>
              <a:rPr lang="es-419" sz="1400" b="1" dirty="0">
                <a:latin typeface="Source Code Pro"/>
                <a:ea typeface="Source Code Pro"/>
                <a:cs typeface="Source Code Pro"/>
                <a:sym typeface="Source Code Pro"/>
              </a:rPr>
              <a:t>&gt;</a:t>
            </a:r>
            <a:endParaRPr sz="1400" b="1" dirty="0">
              <a:latin typeface="Source Code Pro"/>
              <a:ea typeface="Source Code Pro"/>
              <a:cs typeface="Source Code Pro"/>
              <a:sym typeface="Source Code Pro"/>
            </a:endParaRPr>
          </a:p>
          <a:p>
            <a:pPr marL="0" lvl="0" indent="0" algn="l" rtl="0">
              <a:spcBef>
                <a:spcPts val="0"/>
              </a:spcBef>
              <a:spcAft>
                <a:spcPts val="0"/>
              </a:spcAft>
              <a:buNone/>
            </a:pPr>
            <a:r>
              <a:rPr lang="es-419" sz="1400" b="1" dirty="0">
                <a:latin typeface="Source Code Pro"/>
                <a:ea typeface="Source Code Pro"/>
                <a:cs typeface="Source Code Pro"/>
                <a:sym typeface="Source Code Pro"/>
              </a:rPr>
              <a:t>}</a:t>
            </a:r>
            <a:endParaRPr sz="1400" b="1" dirty="0">
              <a:latin typeface="Source Code Pro"/>
              <a:ea typeface="Source Code Pro"/>
              <a:cs typeface="Source Code Pro"/>
              <a:sym typeface="Source Code Pro"/>
            </a:endParaRPr>
          </a:p>
        </p:txBody>
      </p:sp>
    </p:spTree>
    <p:extLst>
      <p:ext uri="{BB962C8B-B14F-4D97-AF65-F5344CB8AC3E}">
        <p14:creationId xmlns:p14="http://schemas.microsoft.com/office/powerpoint/2010/main" val="422827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A751A-DD0D-5545-A19D-51EC1FCEEE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74D477-3B47-DD1A-3056-8B9954856DD5}"/>
              </a:ext>
            </a:extLst>
          </p:cNvPr>
          <p:cNvSpPr>
            <a:spLocks noGrp="1"/>
          </p:cNvSpPr>
          <p:nvPr>
            <p:ph type="title"/>
          </p:nvPr>
        </p:nvSpPr>
        <p:spPr/>
        <p:txBody>
          <a:bodyPr/>
          <a:lstStyle/>
          <a:p>
            <a:r>
              <a:rPr lang="es-ES" dirty="0"/>
              <a:t>POST / </a:t>
            </a:r>
            <a:r>
              <a:rPr lang="es-ES" dirty="0" err="1"/>
              <a:t>product</a:t>
            </a:r>
            <a:endParaRPr lang="es-PE" dirty="0"/>
          </a:p>
        </p:txBody>
      </p:sp>
      <p:sp>
        <p:nvSpPr>
          <p:cNvPr id="3" name="Marcador de número de diapositiva 2">
            <a:extLst>
              <a:ext uri="{FF2B5EF4-FFF2-40B4-BE49-F238E27FC236}">
                <a16:creationId xmlns:a16="http://schemas.microsoft.com/office/drawing/2014/main" id="{9BC06B62-A6FC-17AF-DCD8-E691FACF811F}"/>
              </a:ext>
            </a:extLst>
          </p:cNvPr>
          <p:cNvSpPr>
            <a:spLocks noGrp="1"/>
          </p:cNvSpPr>
          <p:nvPr>
            <p:ph type="sldNum" idx="12"/>
          </p:nvPr>
        </p:nvSpPr>
        <p:spPr/>
        <p:txBody>
          <a:bodyPr/>
          <a:lstStyle/>
          <a:p>
            <a:fld id="{52A29C8B-5F70-8945-A2A6-FBD7A17156DB}" type="slidenum">
              <a:rPr lang="es-PE" smtClean="0"/>
              <a:pPr/>
              <a:t>35</a:t>
            </a:fld>
            <a:endParaRPr lang="es-PE"/>
          </a:p>
        </p:txBody>
      </p:sp>
      <p:sp>
        <p:nvSpPr>
          <p:cNvPr id="4" name="Marcador de contenido 3">
            <a:extLst>
              <a:ext uri="{FF2B5EF4-FFF2-40B4-BE49-F238E27FC236}">
                <a16:creationId xmlns:a16="http://schemas.microsoft.com/office/drawing/2014/main" id="{CB94217F-9025-9F06-3C23-4A3A30060A1A}"/>
              </a:ext>
            </a:extLst>
          </p:cNvPr>
          <p:cNvSpPr>
            <a:spLocks noGrp="1"/>
          </p:cNvSpPr>
          <p:nvPr>
            <p:ph idx="1"/>
          </p:nvPr>
        </p:nvSpPr>
        <p:spPr/>
        <p:txBody>
          <a:bodyPr>
            <a:normAutofit/>
          </a:bodyPr>
          <a:lstStyle/>
          <a:p>
            <a:r>
              <a:rPr lang="es-ES" sz="2000" dirty="0"/>
              <a:t>En esta ocasión se enviará como respuesta el código </a:t>
            </a:r>
            <a:r>
              <a:rPr lang="es-ES" sz="2000" b="1" dirty="0"/>
              <a:t>HTTP 201 </a:t>
            </a:r>
            <a:r>
              <a:rPr lang="es-ES" sz="2000" b="1" dirty="0" err="1"/>
              <a:t>Created</a:t>
            </a:r>
            <a:r>
              <a:rPr lang="es-ES" sz="2000" dirty="0"/>
              <a:t> si se creó exitosamente el producto y en caso se haya solicitado, el ID.</a:t>
            </a:r>
          </a:p>
          <a:p>
            <a:endParaRPr lang="es-PE" sz="2000" dirty="0"/>
          </a:p>
        </p:txBody>
      </p:sp>
      <p:pic>
        <p:nvPicPr>
          <p:cNvPr id="5" name="Google Shape;361;p46">
            <a:extLst>
              <a:ext uri="{FF2B5EF4-FFF2-40B4-BE49-F238E27FC236}">
                <a16:creationId xmlns:a16="http://schemas.microsoft.com/office/drawing/2014/main" id="{1B387764-6286-DFB8-C4D4-989FD659BF0A}"/>
              </a:ext>
            </a:extLst>
          </p:cNvPr>
          <p:cNvPicPr preferRelativeResize="0"/>
          <p:nvPr/>
        </p:nvPicPr>
        <p:blipFill>
          <a:blip r:embed="rId2">
            <a:alphaModFix/>
          </a:blip>
          <a:stretch>
            <a:fillRect/>
          </a:stretch>
        </p:blipFill>
        <p:spPr>
          <a:xfrm>
            <a:off x="2634715" y="2003648"/>
            <a:ext cx="6761951" cy="3629909"/>
          </a:xfrm>
          <a:prstGeom prst="rect">
            <a:avLst/>
          </a:prstGeom>
          <a:noFill/>
          <a:ln>
            <a:noFill/>
          </a:ln>
        </p:spPr>
      </p:pic>
    </p:spTree>
    <p:extLst>
      <p:ext uri="{BB962C8B-B14F-4D97-AF65-F5344CB8AC3E}">
        <p14:creationId xmlns:p14="http://schemas.microsoft.com/office/powerpoint/2010/main" val="1089595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B664F0-428A-879B-AF0C-2C19C4544897}"/>
              </a:ext>
            </a:extLst>
          </p:cNvPr>
          <p:cNvSpPr>
            <a:spLocks noGrp="1"/>
          </p:cNvSpPr>
          <p:nvPr>
            <p:ph type="title"/>
          </p:nvPr>
        </p:nvSpPr>
        <p:spPr/>
        <p:txBody>
          <a:bodyPr/>
          <a:lstStyle/>
          <a:p>
            <a:r>
              <a:rPr lang="es-ES" dirty="0"/>
              <a:t>Probando con Postman</a:t>
            </a:r>
            <a:endParaRPr lang="es-PE" dirty="0"/>
          </a:p>
        </p:txBody>
      </p:sp>
      <p:sp>
        <p:nvSpPr>
          <p:cNvPr id="3" name="Marcador de número de diapositiva 2">
            <a:extLst>
              <a:ext uri="{FF2B5EF4-FFF2-40B4-BE49-F238E27FC236}">
                <a16:creationId xmlns:a16="http://schemas.microsoft.com/office/drawing/2014/main" id="{7429A7FD-2AE6-8F6C-DD4D-4F9540082E2E}"/>
              </a:ext>
            </a:extLst>
          </p:cNvPr>
          <p:cNvSpPr>
            <a:spLocks noGrp="1"/>
          </p:cNvSpPr>
          <p:nvPr>
            <p:ph type="sldNum" idx="12"/>
          </p:nvPr>
        </p:nvSpPr>
        <p:spPr/>
        <p:txBody>
          <a:bodyPr/>
          <a:lstStyle/>
          <a:p>
            <a:fld id="{52A29C8B-5F70-8945-A2A6-FBD7A17156DB}" type="slidenum">
              <a:rPr lang="es-PE" smtClean="0"/>
              <a:pPr/>
              <a:t>36</a:t>
            </a:fld>
            <a:endParaRPr lang="es-PE"/>
          </a:p>
        </p:txBody>
      </p:sp>
      <p:pic>
        <p:nvPicPr>
          <p:cNvPr id="4" name="Google Shape;368;p47">
            <a:extLst>
              <a:ext uri="{FF2B5EF4-FFF2-40B4-BE49-F238E27FC236}">
                <a16:creationId xmlns:a16="http://schemas.microsoft.com/office/drawing/2014/main" id="{B9EFE970-7C2C-1B22-BBA0-AF8F12325719}"/>
              </a:ext>
            </a:extLst>
          </p:cNvPr>
          <p:cNvPicPr preferRelativeResize="0"/>
          <p:nvPr/>
        </p:nvPicPr>
        <p:blipFill>
          <a:blip r:embed="rId2">
            <a:alphaModFix/>
          </a:blip>
          <a:stretch>
            <a:fillRect/>
          </a:stretch>
        </p:blipFill>
        <p:spPr>
          <a:xfrm>
            <a:off x="1238973" y="1554325"/>
            <a:ext cx="3951591" cy="3668813"/>
          </a:xfrm>
          <a:prstGeom prst="rect">
            <a:avLst/>
          </a:prstGeom>
          <a:noFill/>
          <a:ln w="9525" cap="flat" cmpd="sng">
            <a:solidFill>
              <a:srgbClr val="B7B7B7"/>
            </a:solidFill>
            <a:prstDash val="solid"/>
            <a:round/>
            <a:headEnd type="none" w="sm" len="sm"/>
            <a:tailEnd type="none" w="sm" len="sm"/>
          </a:ln>
        </p:spPr>
      </p:pic>
      <p:pic>
        <p:nvPicPr>
          <p:cNvPr id="5" name="Google Shape;369;p47">
            <a:extLst>
              <a:ext uri="{FF2B5EF4-FFF2-40B4-BE49-F238E27FC236}">
                <a16:creationId xmlns:a16="http://schemas.microsoft.com/office/drawing/2014/main" id="{E0F9DCFE-8CB0-D59C-B2D8-942A8325F0AD}"/>
              </a:ext>
            </a:extLst>
          </p:cNvPr>
          <p:cNvPicPr preferRelativeResize="0"/>
          <p:nvPr/>
        </p:nvPicPr>
        <p:blipFill rotWithShape="1">
          <a:blip r:embed="rId3">
            <a:alphaModFix/>
          </a:blip>
          <a:srcRect b="13464"/>
          <a:stretch/>
        </p:blipFill>
        <p:spPr>
          <a:xfrm>
            <a:off x="5813145" y="3867933"/>
            <a:ext cx="5381625" cy="1360025"/>
          </a:xfrm>
          <a:prstGeom prst="rect">
            <a:avLst/>
          </a:prstGeom>
          <a:noFill/>
          <a:ln w="9525" cap="flat" cmpd="sng">
            <a:solidFill>
              <a:srgbClr val="999999"/>
            </a:solidFill>
            <a:prstDash val="solid"/>
            <a:round/>
            <a:headEnd type="none" w="sm" len="sm"/>
            <a:tailEnd type="none" w="sm" len="sm"/>
          </a:ln>
        </p:spPr>
      </p:pic>
      <p:sp>
        <p:nvSpPr>
          <p:cNvPr id="6" name="Google Shape;370;p47">
            <a:extLst>
              <a:ext uri="{FF2B5EF4-FFF2-40B4-BE49-F238E27FC236}">
                <a16:creationId xmlns:a16="http://schemas.microsoft.com/office/drawing/2014/main" id="{0CF72800-23FE-6B62-6E7B-A4E0B77C8478}"/>
              </a:ext>
            </a:extLst>
          </p:cNvPr>
          <p:cNvSpPr/>
          <p:nvPr/>
        </p:nvSpPr>
        <p:spPr>
          <a:xfrm>
            <a:off x="9619738" y="3893529"/>
            <a:ext cx="743700" cy="288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8738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41F12-DEFA-1057-5798-DE739B8DAB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7D3D05-9A4E-8F72-278B-49FC6C405B7B}"/>
              </a:ext>
            </a:extLst>
          </p:cNvPr>
          <p:cNvSpPr>
            <a:spLocks noGrp="1"/>
          </p:cNvSpPr>
          <p:nvPr>
            <p:ph type="title"/>
          </p:nvPr>
        </p:nvSpPr>
        <p:spPr/>
        <p:txBody>
          <a:bodyPr/>
          <a:lstStyle/>
          <a:p>
            <a:r>
              <a:rPr lang="es-ES" dirty="0"/>
              <a:t>Probando con Postman</a:t>
            </a:r>
            <a:endParaRPr lang="es-PE" dirty="0"/>
          </a:p>
        </p:txBody>
      </p:sp>
      <p:sp>
        <p:nvSpPr>
          <p:cNvPr id="3" name="Marcador de número de diapositiva 2">
            <a:extLst>
              <a:ext uri="{FF2B5EF4-FFF2-40B4-BE49-F238E27FC236}">
                <a16:creationId xmlns:a16="http://schemas.microsoft.com/office/drawing/2014/main" id="{953B3E9F-ECBD-0F44-B791-28F4E380284D}"/>
              </a:ext>
            </a:extLst>
          </p:cNvPr>
          <p:cNvSpPr>
            <a:spLocks noGrp="1"/>
          </p:cNvSpPr>
          <p:nvPr>
            <p:ph type="sldNum" idx="12"/>
          </p:nvPr>
        </p:nvSpPr>
        <p:spPr/>
        <p:txBody>
          <a:bodyPr/>
          <a:lstStyle/>
          <a:p>
            <a:fld id="{52A29C8B-5F70-8945-A2A6-FBD7A17156DB}" type="slidenum">
              <a:rPr lang="es-PE" smtClean="0"/>
              <a:pPr/>
              <a:t>37</a:t>
            </a:fld>
            <a:endParaRPr lang="es-PE"/>
          </a:p>
        </p:txBody>
      </p:sp>
      <p:pic>
        <p:nvPicPr>
          <p:cNvPr id="4" name="Google Shape;377;p48">
            <a:extLst>
              <a:ext uri="{FF2B5EF4-FFF2-40B4-BE49-F238E27FC236}">
                <a16:creationId xmlns:a16="http://schemas.microsoft.com/office/drawing/2014/main" id="{1161A514-9C60-A0FD-26A5-4683A1D2F5CB}"/>
              </a:ext>
            </a:extLst>
          </p:cNvPr>
          <p:cNvPicPr preferRelativeResize="0"/>
          <p:nvPr/>
        </p:nvPicPr>
        <p:blipFill>
          <a:blip r:embed="rId2">
            <a:alphaModFix/>
          </a:blip>
          <a:stretch>
            <a:fillRect/>
          </a:stretch>
        </p:blipFill>
        <p:spPr>
          <a:xfrm>
            <a:off x="1059983" y="1478559"/>
            <a:ext cx="4191000" cy="3867150"/>
          </a:xfrm>
          <a:prstGeom prst="rect">
            <a:avLst/>
          </a:prstGeom>
          <a:noFill/>
          <a:ln>
            <a:noFill/>
          </a:ln>
        </p:spPr>
      </p:pic>
      <p:pic>
        <p:nvPicPr>
          <p:cNvPr id="5" name="Google Shape;378;p48">
            <a:extLst>
              <a:ext uri="{FF2B5EF4-FFF2-40B4-BE49-F238E27FC236}">
                <a16:creationId xmlns:a16="http://schemas.microsoft.com/office/drawing/2014/main" id="{1E3394C3-119A-43ED-E08D-DEA7304A47A2}"/>
              </a:ext>
            </a:extLst>
          </p:cNvPr>
          <p:cNvPicPr preferRelativeResize="0"/>
          <p:nvPr/>
        </p:nvPicPr>
        <p:blipFill>
          <a:blip r:embed="rId3">
            <a:alphaModFix/>
          </a:blip>
          <a:stretch>
            <a:fillRect/>
          </a:stretch>
        </p:blipFill>
        <p:spPr>
          <a:xfrm>
            <a:off x="5822670" y="3742202"/>
            <a:ext cx="5372100" cy="1628775"/>
          </a:xfrm>
          <a:prstGeom prst="rect">
            <a:avLst/>
          </a:prstGeom>
          <a:noFill/>
          <a:ln w="9525" cap="flat" cmpd="sng">
            <a:solidFill>
              <a:srgbClr val="666666"/>
            </a:solidFill>
            <a:prstDash val="solid"/>
            <a:round/>
            <a:headEnd type="none" w="sm" len="sm"/>
            <a:tailEnd type="none" w="sm" len="sm"/>
          </a:ln>
        </p:spPr>
      </p:pic>
      <p:sp>
        <p:nvSpPr>
          <p:cNvPr id="6" name="Google Shape;379;p48">
            <a:extLst>
              <a:ext uri="{FF2B5EF4-FFF2-40B4-BE49-F238E27FC236}">
                <a16:creationId xmlns:a16="http://schemas.microsoft.com/office/drawing/2014/main" id="{1FD036E8-7D0C-A0B7-155D-BAA4FED52805}"/>
              </a:ext>
            </a:extLst>
          </p:cNvPr>
          <p:cNvSpPr/>
          <p:nvPr/>
        </p:nvSpPr>
        <p:spPr>
          <a:xfrm>
            <a:off x="9771595" y="3374214"/>
            <a:ext cx="476100" cy="4314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80;p48">
            <a:extLst>
              <a:ext uri="{FF2B5EF4-FFF2-40B4-BE49-F238E27FC236}">
                <a16:creationId xmlns:a16="http://schemas.microsoft.com/office/drawing/2014/main" id="{7148A4DF-A1B1-9297-A00F-B3879BA79058}"/>
              </a:ext>
            </a:extLst>
          </p:cNvPr>
          <p:cNvSpPr/>
          <p:nvPr/>
        </p:nvSpPr>
        <p:spPr>
          <a:xfrm rot="5400000">
            <a:off x="4464833" y="1540175"/>
            <a:ext cx="352800" cy="431400"/>
          </a:xfrm>
          <a:prstGeom prst="down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171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406A5-E695-7E0F-CBF8-AC18A2AFE2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26109F-1B42-8799-BC7D-A8DFDAEE171F}"/>
              </a:ext>
            </a:extLst>
          </p:cNvPr>
          <p:cNvSpPr>
            <a:spLocks noGrp="1"/>
          </p:cNvSpPr>
          <p:nvPr>
            <p:ph type="title"/>
          </p:nvPr>
        </p:nvSpPr>
        <p:spPr/>
        <p:txBody>
          <a:bodyPr/>
          <a:lstStyle/>
          <a:p>
            <a:r>
              <a:rPr lang="es-ES" dirty="0"/>
              <a:t>Probando con Postman – sin enviar fotos</a:t>
            </a:r>
            <a:endParaRPr lang="es-PE" dirty="0"/>
          </a:p>
        </p:txBody>
      </p:sp>
      <p:sp>
        <p:nvSpPr>
          <p:cNvPr id="3" name="Marcador de número de diapositiva 2">
            <a:extLst>
              <a:ext uri="{FF2B5EF4-FFF2-40B4-BE49-F238E27FC236}">
                <a16:creationId xmlns:a16="http://schemas.microsoft.com/office/drawing/2014/main" id="{7707C453-F576-DE6D-AA9D-5435C8FEF674}"/>
              </a:ext>
            </a:extLst>
          </p:cNvPr>
          <p:cNvSpPr>
            <a:spLocks noGrp="1"/>
          </p:cNvSpPr>
          <p:nvPr>
            <p:ph type="sldNum" idx="12"/>
          </p:nvPr>
        </p:nvSpPr>
        <p:spPr/>
        <p:txBody>
          <a:bodyPr/>
          <a:lstStyle/>
          <a:p>
            <a:fld id="{52A29C8B-5F70-8945-A2A6-FBD7A17156DB}" type="slidenum">
              <a:rPr lang="es-PE" smtClean="0"/>
              <a:pPr/>
              <a:t>38</a:t>
            </a:fld>
            <a:endParaRPr lang="es-PE"/>
          </a:p>
        </p:txBody>
      </p:sp>
      <p:sp>
        <p:nvSpPr>
          <p:cNvPr id="4" name="Marcador de contenido 3">
            <a:extLst>
              <a:ext uri="{FF2B5EF4-FFF2-40B4-BE49-F238E27FC236}">
                <a16:creationId xmlns:a16="http://schemas.microsoft.com/office/drawing/2014/main" id="{401FB397-79FC-AB71-C8FA-C2FE68D2B27A}"/>
              </a:ext>
            </a:extLst>
          </p:cNvPr>
          <p:cNvSpPr>
            <a:spLocks noGrp="1"/>
          </p:cNvSpPr>
          <p:nvPr>
            <p:ph idx="1"/>
          </p:nvPr>
        </p:nvSpPr>
        <p:spPr/>
        <p:txBody>
          <a:bodyPr>
            <a:normAutofit fontScale="92500" lnSpcReduction="10000"/>
          </a:bodyPr>
          <a:lstStyle/>
          <a:p>
            <a:pPr marL="0" lvl="0" indent="0">
              <a:spcBef>
                <a:spcPts val="0"/>
              </a:spcBef>
              <a:buNone/>
            </a:pPr>
            <a:r>
              <a:rPr lang="es-ES" sz="2000" dirty="0"/>
              <a:t>Observe lo que sucede al </a:t>
            </a:r>
            <a:r>
              <a:rPr lang="es-ES" sz="2000" b="1" dirty="0"/>
              <a:t>no enviar un producto</a:t>
            </a:r>
            <a:r>
              <a:rPr lang="es-ES" sz="2000" dirty="0"/>
              <a:t>:</a:t>
            </a:r>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spcAft>
                <a:spcPts val="1600"/>
              </a:spcAft>
              <a:buNone/>
            </a:pPr>
            <a:r>
              <a:rPr lang="es-ES" sz="2000" dirty="0"/>
              <a:t>Sucedió una excepción, la cual no puede ser gestionada por el </a:t>
            </a:r>
            <a:r>
              <a:rPr lang="es-ES" sz="2000" dirty="0" err="1"/>
              <a:t>databinding</a:t>
            </a:r>
            <a:r>
              <a:rPr lang="es-ES" sz="2000" dirty="0"/>
              <a:t> en JSON y se debe gestionar manualmente.</a:t>
            </a:r>
          </a:p>
        </p:txBody>
      </p:sp>
      <p:pic>
        <p:nvPicPr>
          <p:cNvPr id="5" name="Google Shape;388;p49">
            <a:extLst>
              <a:ext uri="{FF2B5EF4-FFF2-40B4-BE49-F238E27FC236}">
                <a16:creationId xmlns:a16="http://schemas.microsoft.com/office/drawing/2014/main" id="{56B750CC-0A13-F3E4-B8AB-DE1BDF7F0E6D}"/>
              </a:ext>
            </a:extLst>
          </p:cNvPr>
          <p:cNvPicPr preferRelativeResize="0"/>
          <p:nvPr/>
        </p:nvPicPr>
        <p:blipFill>
          <a:blip r:embed="rId2">
            <a:alphaModFix/>
          </a:blip>
          <a:stretch>
            <a:fillRect/>
          </a:stretch>
        </p:blipFill>
        <p:spPr>
          <a:xfrm>
            <a:off x="3564637" y="1588699"/>
            <a:ext cx="4902108" cy="2941265"/>
          </a:xfrm>
          <a:prstGeom prst="rect">
            <a:avLst/>
          </a:prstGeom>
          <a:noFill/>
          <a:ln>
            <a:noFill/>
          </a:ln>
        </p:spPr>
      </p:pic>
    </p:spTree>
    <p:extLst>
      <p:ext uri="{BB962C8B-B14F-4D97-AF65-F5344CB8AC3E}">
        <p14:creationId xmlns:p14="http://schemas.microsoft.com/office/powerpoint/2010/main" val="3463000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15C5BD-C451-EC2D-0B7C-68A23DF88E93}"/>
              </a:ext>
            </a:extLst>
          </p:cNvPr>
          <p:cNvSpPr>
            <a:spLocks noGrp="1"/>
          </p:cNvSpPr>
          <p:nvPr>
            <p:ph type="title"/>
          </p:nvPr>
        </p:nvSpPr>
        <p:spPr/>
        <p:txBody>
          <a:bodyPr/>
          <a:lstStyle/>
          <a:p>
            <a:r>
              <a:rPr lang="es-ES" dirty="0"/>
              <a:t>Gestión de la excepción</a:t>
            </a:r>
            <a:endParaRPr lang="es-PE" dirty="0"/>
          </a:p>
        </p:txBody>
      </p:sp>
      <p:sp>
        <p:nvSpPr>
          <p:cNvPr id="3" name="Marcador de número de diapositiva 2">
            <a:extLst>
              <a:ext uri="{FF2B5EF4-FFF2-40B4-BE49-F238E27FC236}">
                <a16:creationId xmlns:a16="http://schemas.microsoft.com/office/drawing/2014/main" id="{A64CCF9D-1BF3-55AA-F2F5-9D6C72831BF8}"/>
              </a:ext>
            </a:extLst>
          </p:cNvPr>
          <p:cNvSpPr>
            <a:spLocks noGrp="1"/>
          </p:cNvSpPr>
          <p:nvPr>
            <p:ph type="sldNum" idx="12"/>
          </p:nvPr>
        </p:nvSpPr>
        <p:spPr/>
        <p:txBody>
          <a:bodyPr/>
          <a:lstStyle/>
          <a:p>
            <a:fld id="{52A29C8B-5F70-8945-A2A6-FBD7A17156DB}" type="slidenum">
              <a:rPr lang="es-PE" smtClean="0"/>
              <a:pPr/>
              <a:t>39</a:t>
            </a:fld>
            <a:endParaRPr lang="es-PE"/>
          </a:p>
        </p:txBody>
      </p:sp>
      <p:sp>
        <p:nvSpPr>
          <p:cNvPr id="4" name="Marcador de contenido 3">
            <a:extLst>
              <a:ext uri="{FF2B5EF4-FFF2-40B4-BE49-F238E27FC236}">
                <a16:creationId xmlns:a16="http://schemas.microsoft.com/office/drawing/2014/main" id="{DAF8BD42-3AA7-ECB0-ABEC-B8B66FACACBE}"/>
              </a:ext>
            </a:extLst>
          </p:cNvPr>
          <p:cNvSpPr>
            <a:spLocks noGrp="1"/>
          </p:cNvSpPr>
          <p:nvPr>
            <p:ph idx="1"/>
          </p:nvPr>
        </p:nvSpPr>
        <p:spPr/>
        <p:txBody>
          <a:bodyPr>
            <a:normAutofit fontScale="70000" lnSpcReduction="20000"/>
          </a:bodyPr>
          <a:lstStyle/>
          <a:p>
            <a:pPr marL="0" lvl="0" indent="0">
              <a:spcBef>
                <a:spcPts val="0"/>
              </a:spcBef>
              <a:buNone/>
            </a:pPr>
            <a:r>
              <a:rPr lang="es-ES" dirty="0"/>
              <a:t>La excepción que aparece es: </a:t>
            </a:r>
            <a:r>
              <a:rPr lang="es-ES" b="1" dirty="0" err="1">
                <a:latin typeface="Source Code Pro"/>
                <a:ea typeface="Source Code Pro"/>
                <a:cs typeface="Source Code Pro"/>
                <a:sym typeface="Source Code Pro"/>
              </a:rPr>
              <a:t>HttpMessageNotReadableException</a:t>
            </a:r>
            <a:r>
              <a:rPr lang="es-ES" dirty="0"/>
              <a:t>, la cual se lanza al no poder mapear el </a:t>
            </a:r>
            <a:r>
              <a:rPr lang="es-ES" dirty="0" err="1"/>
              <a:t>json</a:t>
            </a:r>
            <a:r>
              <a:rPr lang="es-ES" dirty="0"/>
              <a:t> del cuerpo del mensaje al objeto producto.</a:t>
            </a:r>
          </a:p>
          <a:p>
            <a:pPr marL="0" lvl="0" indent="0">
              <a:spcBef>
                <a:spcPts val="1600"/>
              </a:spcBef>
              <a:buNone/>
            </a:pPr>
            <a:r>
              <a:rPr lang="es-ES" dirty="0"/>
              <a:t>Para gestionar esta excepción, agregue un método en el controlador y anótelo con </a:t>
            </a:r>
            <a:r>
              <a:rPr lang="es-ES" b="1" dirty="0"/>
              <a:t>@ExceptionHandler</a:t>
            </a:r>
            <a:r>
              <a:rPr lang="es-ES" dirty="0"/>
              <a:t>:</a:t>
            </a:r>
          </a:p>
          <a:p>
            <a:pPr marL="0" lvl="0" indent="0">
              <a:spcBef>
                <a:spcPts val="1600"/>
              </a:spcBef>
              <a:buNone/>
            </a:pPr>
            <a:endParaRPr lang="es-ES" sz="4400" dirty="0"/>
          </a:p>
          <a:p>
            <a:pPr marL="0" lvl="0" indent="0">
              <a:spcBef>
                <a:spcPts val="1600"/>
              </a:spcBef>
              <a:buNone/>
            </a:pPr>
            <a:endParaRPr lang="es-ES" sz="1600" dirty="0"/>
          </a:p>
          <a:p>
            <a:pPr marL="0" lvl="0" indent="0">
              <a:spcBef>
                <a:spcPts val="1600"/>
              </a:spcBef>
              <a:buNone/>
            </a:pPr>
            <a:endParaRPr lang="es-ES" dirty="0"/>
          </a:p>
          <a:p>
            <a:pPr marL="0" lvl="0" indent="0">
              <a:spcBef>
                <a:spcPts val="1600"/>
              </a:spcBef>
              <a:buNone/>
            </a:pPr>
            <a:endParaRPr lang="es-ES" sz="4400" dirty="0"/>
          </a:p>
          <a:p>
            <a:pPr marL="0" lvl="0" indent="0">
              <a:spcBef>
                <a:spcPts val="1600"/>
              </a:spcBef>
              <a:buNone/>
            </a:pPr>
            <a:endParaRPr lang="es-ES" sz="4400" dirty="0"/>
          </a:p>
          <a:p>
            <a:pPr marL="0" lvl="0" indent="0">
              <a:spcBef>
                <a:spcPts val="1600"/>
              </a:spcBef>
              <a:spcAft>
                <a:spcPts val="1600"/>
              </a:spcAft>
              <a:buNone/>
            </a:pPr>
            <a:r>
              <a:rPr lang="es-ES" dirty="0"/>
              <a:t>Aquí se valida si el método que ha lanzado la excepción ha sido el POST. De ser así, se envía la información acerca de lo sucedido al cliente.</a:t>
            </a:r>
          </a:p>
          <a:p>
            <a:endParaRPr lang="es-PE" dirty="0"/>
          </a:p>
        </p:txBody>
      </p:sp>
      <p:pic>
        <p:nvPicPr>
          <p:cNvPr id="5" name="Google Shape;396;p50">
            <a:extLst>
              <a:ext uri="{FF2B5EF4-FFF2-40B4-BE49-F238E27FC236}">
                <a16:creationId xmlns:a16="http://schemas.microsoft.com/office/drawing/2014/main" id="{FABC707A-D528-AB4A-53CC-3382659A3504}"/>
              </a:ext>
            </a:extLst>
          </p:cNvPr>
          <p:cNvPicPr preferRelativeResize="0"/>
          <p:nvPr/>
        </p:nvPicPr>
        <p:blipFill>
          <a:blip r:embed="rId2">
            <a:alphaModFix/>
          </a:blip>
          <a:stretch>
            <a:fillRect/>
          </a:stretch>
        </p:blipFill>
        <p:spPr>
          <a:xfrm>
            <a:off x="2204806" y="2114843"/>
            <a:ext cx="7621769" cy="2235135"/>
          </a:xfrm>
          <a:prstGeom prst="rect">
            <a:avLst/>
          </a:prstGeom>
          <a:noFill/>
          <a:ln>
            <a:noFill/>
          </a:ln>
        </p:spPr>
      </p:pic>
    </p:spTree>
    <p:extLst>
      <p:ext uri="{BB962C8B-B14F-4D97-AF65-F5344CB8AC3E}">
        <p14:creationId xmlns:p14="http://schemas.microsoft.com/office/powerpoint/2010/main" val="3486917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52A43E-B96D-1173-C452-80DE6F9571FE}"/>
              </a:ext>
            </a:extLst>
          </p:cNvPr>
          <p:cNvSpPr>
            <a:spLocks noGrp="1"/>
          </p:cNvSpPr>
          <p:nvPr>
            <p:ph type="title"/>
          </p:nvPr>
        </p:nvSpPr>
        <p:spPr/>
        <p:txBody>
          <a:bodyPr/>
          <a:lstStyle/>
          <a:p>
            <a:r>
              <a:rPr lang="es-ES" dirty="0"/>
              <a:t>Probando con Postman</a:t>
            </a:r>
            <a:endParaRPr lang="es-PE" dirty="0"/>
          </a:p>
        </p:txBody>
      </p:sp>
      <p:sp>
        <p:nvSpPr>
          <p:cNvPr id="3" name="Marcador de número de diapositiva 2">
            <a:extLst>
              <a:ext uri="{FF2B5EF4-FFF2-40B4-BE49-F238E27FC236}">
                <a16:creationId xmlns:a16="http://schemas.microsoft.com/office/drawing/2014/main" id="{64676D6D-02AE-931D-46E8-B832B05DE470}"/>
              </a:ext>
            </a:extLst>
          </p:cNvPr>
          <p:cNvSpPr>
            <a:spLocks noGrp="1"/>
          </p:cNvSpPr>
          <p:nvPr>
            <p:ph type="sldNum" idx="12"/>
          </p:nvPr>
        </p:nvSpPr>
        <p:spPr/>
        <p:txBody>
          <a:bodyPr/>
          <a:lstStyle/>
          <a:p>
            <a:fld id="{52A29C8B-5F70-8945-A2A6-FBD7A17156DB}" type="slidenum">
              <a:rPr lang="es-PE" smtClean="0"/>
              <a:pPr/>
              <a:t>40</a:t>
            </a:fld>
            <a:endParaRPr lang="es-PE"/>
          </a:p>
        </p:txBody>
      </p:sp>
      <p:sp>
        <p:nvSpPr>
          <p:cNvPr id="4" name="Marcador de contenido 3">
            <a:extLst>
              <a:ext uri="{FF2B5EF4-FFF2-40B4-BE49-F238E27FC236}">
                <a16:creationId xmlns:a16="http://schemas.microsoft.com/office/drawing/2014/main" id="{FC0A84B6-7C33-7AD4-B82E-258187931FE9}"/>
              </a:ext>
            </a:extLst>
          </p:cNvPr>
          <p:cNvSpPr>
            <a:spLocks noGrp="1"/>
          </p:cNvSpPr>
          <p:nvPr>
            <p:ph idx="1"/>
          </p:nvPr>
        </p:nvSpPr>
        <p:spPr/>
        <p:txBody>
          <a:bodyPr/>
          <a:lstStyle/>
          <a:p>
            <a:r>
              <a:rPr lang="es-ES" dirty="0"/>
              <a:t>Ahora observe:</a:t>
            </a:r>
            <a:endParaRPr lang="es-PE" dirty="0"/>
          </a:p>
          <a:p>
            <a:endParaRPr lang="es-PE" dirty="0"/>
          </a:p>
        </p:txBody>
      </p:sp>
      <p:pic>
        <p:nvPicPr>
          <p:cNvPr id="5" name="Google Shape;404;p51">
            <a:extLst>
              <a:ext uri="{FF2B5EF4-FFF2-40B4-BE49-F238E27FC236}">
                <a16:creationId xmlns:a16="http://schemas.microsoft.com/office/drawing/2014/main" id="{928471CB-B43C-5C13-16B6-BFC37E0AA09B}"/>
              </a:ext>
            </a:extLst>
          </p:cNvPr>
          <p:cNvPicPr preferRelativeResize="0"/>
          <p:nvPr/>
        </p:nvPicPr>
        <p:blipFill>
          <a:blip r:embed="rId2">
            <a:alphaModFix/>
          </a:blip>
          <a:stretch>
            <a:fillRect/>
          </a:stretch>
        </p:blipFill>
        <p:spPr>
          <a:xfrm>
            <a:off x="3103813" y="2127137"/>
            <a:ext cx="5984374" cy="2603725"/>
          </a:xfrm>
          <a:prstGeom prst="rect">
            <a:avLst/>
          </a:prstGeom>
          <a:noFill/>
          <a:ln>
            <a:noFill/>
          </a:ln>
        </p:spPr>
      </p:pic>
    </p:spTree>
    <p:extLst>
      <p:ext uri="{BB962C8B-B14F-4D97-AF65-F5344CB8AC3E}">
        <p14:creationId xmlns:p14="http://schemas.microsoft.com/office/powerpoint/2010/main" val="4201020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752C9F24-2561-8AEE-556E-FEAE7F99C35C}"/>
              </a:ext>
            </a:extLst>
          </p:cNvPr>
          <p:cNvSpPr>
            <a:spLocks noGrp="1"/>
          </p:cNvSpPr>
          <p:nvPr>
            <p:ph type="title"/>
          </p:nvPr>
        </p:nvSpPr>
        <p:spPr/>
        <p:txBody>
          <a:bodyPr/>
          <a:lstStyle/>
          <a:p>
            <a:r>
              <a:rPr lang="es-ES" sz="5400" dirty="0"/>
              <a:t>Actualizar producto</a:t>
            </a:r>
            <a:endParaRPr lang="es-PE" sz="5400" dirty="0"/>
          </a:p>
        </p:txBody>
      </p:sp>
    </p:spTree>
    <p:extLst>
      <p:ext uri="{BB962C8B-B14F-4D97-AF65-F5344CB8AC3E}">
        <p14:creationId xmlns:p14="http://schemas.microsoft.com/office/powerpoint/2010/main" val="28813156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5ACF24-E7DD-F5DB-2F05-8726A259961A}"/>
              </a:ext>
            </a:extLst>
          </p:cNvPr>
          <p:cNvSpPr>
            <a:spLocks noGrp="1"/>
          </p:cNvSpPr>
          <p:nvPr>
            <p:ph type="title"/>
          </p:nvPr>
        </p:nvSpPr>
        <p:spPr/>
        <p:txBody>
          <a:bodyPr/>
          <a:lstStyle/>
          <a:p>
            <a:r>
              <a:rPr lang="es-ES" dirty="0"/>
              <a:t>PUT / </a:t>
            </a:r>
            <a:r>
              <a:rPr lang="es-ES" dirty="0" err="1"/>
              <a:t>product</a:t>
            </a:r>
            <a:r>
              <a:rPr lang="es-ES" dirty="0"/>
              <a:t> </a:t>
            </a:r>
            <a:r>
              <a:rPr lang="es-ES" dirty="0">
                <a:sym typeface="Wingdings" panose="05000000000000000000" pitchFamily="2" charset="2"/>
              </a:rPr>
              <a:t> actualizar un producto</a:t>
            </a:r>
            <a:endParaRPr lang="es-PE" dirty="0"/>
          </a:p>
        </p:txBody>
      </p:sp>
      <p:sp>
        <p:nvSpPr>
          <p:cNvPr id="3" name="Marcador de número de diapositiva 2">
            <a:extLst>
              <a:ext uri="{FF2B5EF4-FFF2-40B4-BE49-F238E27FC236}">
                <a16:creationId xmlns:a16="http://schemas.microsoft.com/office/drawing/2014/main" id="{A9C42CD8-5298-2BA4-CA3B-C2DF61ED9736}"/>
              </a:ext>
            </a:extLst>
          </p:cNvPr>
          <p:cNvSpPr>
            <a:spLocks noGrp="1"/>
          </p:cNvSpPr>
          <p:nvPr>
            <p:ph type="sldNum" idx="12"/>
          </p:nvPr>
        </p:nvSpPr>
        <p:spPr/>
        <p:txBody>
          <a:bodyPr/>
          <a:lstStyle/>
          <a:p>
            <a:fld id="{52A29C8B-5F70-8945-A2A6-FBD7A17156DB}" type="slidenum">
              <a:rPr lang="es-PE" smtClean="0"/>
              <a:pPr/>
              <a:t>42</a:t>
            </a:fld>
            <a:endParaRPr lang="es-PE"/>
          </a:p>
        </p:txBody>
      </p:sp>
      <p:sp>
        <p:nvSpPr>
          <p:cNvPr id="4" name="Marcador de contenido 3">
            <a:extLst>
              <a:ext uri="{FF2B5EF4-FFF2-40B4-BE49-F238E27FC236}">
                <a16:creationId xmlns:a16="http://schemas.microsoft.com/office/drawing/2014/main" id="{B5964485-EA9A-882F-7C43-2342FAC0D1B8}"/>
              </a:ext>
            </a:extLst>
          </p:cNvPr>
          <p:cNvSpPr>
            <a:spLocks noGrp="1"/>
          </p:cNvSpPr>
          <p:nvPr>
            <p:ph idx="1"/>
          </p:nvPr>
        </p:nvSpPr>
        <p:spPr/>
        <p:txBody>
          <a:bodyPr>
            <a:normAutofit/>
          </a:bodyPr>
          <a:lstStyle/>
          <a:p>
            <a:pPr marL="0" lvl="0" indent="0">
              <a:spcBef>
                <a:spcPts val="0"/>
              </a:spcBef>
              <a:buNone/>
            </a:pPr>
            <a:r>
              <a:rPr lang="es-ES" sz="1800" dirty="0"/>
              <a:t>La información del producto que se actualizará será recibida en formato </a:t>
            </a:r>
            <a:r>
              <a:rPr lang="es-ES" sz="1800" b="1" dirty="0"/>
              <a:t>JSON</a:t>
            </a:r>
            <a:r>
              <a:rPr lang="es-ES" sz="1800" dirty="0"/>
              <a:t>, por el método </a:t>
            </a:r>
            <a:r>
              <a:rPr lang="es-ES" sz="1800" b="1" dirty="0"/>
              <a:t>PUT </a:t>
            </a:r>
            <a:r>
              <a:rPr lang="es-ES" sz="1800" dirty="0"/>
              <a:t>y a la ruta /</a:t>
            </a:r>
            <a:r>
              <a:rPr lang="es-ES" sz="1800" b="1" dirty="0" err="1"/>
              <a:t>product</a:t>
            </a:r>
            <a:endParaRPr lang="es-ES" sz="1800" b="1" dirty="0"/>
          </a:p>
          <a:p>
            <a:pPr marL="0" lvl="0" indent="0">
              <a:spcBef>
                <a:spcPts val="1600"/>
              </a:spcBef>
              <a:buNone/>
            </a:pPr>
            <a:r>
              <a:rPr lang="es-ES" sz="1800" dirty="0"/>
              <a:t>Al igual que el método POST, se usará la anotación </a:t>
            </a:r>
            <a:r>
              <a:rPr lang="es-ES" sz="1800" b="1" dirty="0"/>
              <a:t>@RequestBody </a:t>
            </a:r>
            <a:r>
              <a:rPr lang="es-ES" sz="1800" dirty="0"/>
              <a:t>para mapear el contenido del formulario</a:t>
            </a:r>
            <a:r>
              <a:rPr lang="es-ES" sz="1800" b="1" dirty="0"/>
              <a:t> </a:t>
            </a:r>
            <a:r>
              <a:rPr lang="es-ES" sz="1800" dirty="0"/>
              <a:t>en formato </a:t>
            </a:r>
            <a:r>
              <a:rPr lang="es-ES" sz="1800" b="1" dirty="0"/>
              <a:t>JSON </a:t>
            </a:r>
            <a:r>
              <a:rPr lang="es-ES" sz="1800" dirty="0"/>
              <a:t>a la entidad producto.</a:t>
            </a:r>
          </a:p>
          <a:p>
            <a:pPr marL="0" lvl="0" indent="0">
              <a:spcBef>
                <a:spcPts val="1600"/>
              </a:spcBef>
              <a:spcAft>
                <a:spcPts val="1600"/>
              </a:spcAft>
              <a:buNone/>
            </a:pPr>
            <a:r>
              <a:rPr lang="es-ES" sz="1800" dirty="0"/>
              <a:t>Al igual que para la creación, usaremos un </a:t>
            </a:r>
            <a:r>
              <a:rPr lang="es-ES" sz="1800" dirty="0" err="1"/>
              <a:t>HashMap</a:t>
            </a:r>
            <a:r>
              <a:rPr lang="es-ES" sz="1800" dirty="0"/>
              <a:t> para devolver la información. </a:t>
            </a:r>
          </a:p>
          <a:p>
            <a:endParaRPr lang="es-PE" sz="1800" dirty="0"/>
          </a:p>
        </p:txBody>
      </p:sp>
      <p:pic>
        <p:nvPicPr>
          <p:cNvPr id="5" name="Google Shape;418;p53">
            <a:extLst>
              <a:ext uri="{FF2B5EF4-FFF2-40B4-BE49-F238E27FC236}">
                <a16:creationId xmlns:a16="http://schemas.microsoft.com/office/drawing/2014/main" id="{27E6E075-3718-5ABA-D79C-411D1B8C8865}"/>
              </a:ext>
            </a:extLst>
          </p:cNvPr>
          <p:cNvPicPr preferRelativeResize="0"/>
          <p:nvPr/>
        </p:nvPicPr>
        <p:blipFill>
          <a:blip r:embed="rId2">
            <a:alphaModFix/>
          </a:blip>
          <a:stretch>
            <a:fillRect/>
          </a:stretch>
        </p:blipFill>
        <p:spPr>
          <a:xfrm>
            <a:off x="1676400" y="3327244"/>
            <a:ext cx="8839200" cy="1218280"/>
          </a:xfrm>
          <a:prstGeom prst="rect">
            <a:avLst/>
          </a:prstGeom>
          <a:noFill/>
          <a:ln>
            <a:noFill/>
          </a:ln>
        </p:spPr>
      </p:pic>
    </p:spTree>
    <p:extLst>
      <p:ext uri="{BB962C8B-B14F-4D97-AF65-F5344CB8AC3E}">
        <p14:creationId xmlns:p14="http://schemas.microsoft.com/office/powerpoint/2010/main" val="3455695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11CDB-405B-6CA3-5CE7-E2A49018FA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F71A9E-9B4D-0DE9-FB99-E2CAB97F3B34}"/>
              </a:ext>
            </a:extLst>
          </p:cNvPr>
          <p:cNvSpPr>
            <a:spLocks noGrp="1"/>
          </p:cNvSpPr>
          <p:nvPr>
            <p:ph type="title"/>
          </p:nvPr>
        </p:nvSpPr>
        <p:spPr/>
        <p:txBody>
          <a:bodyPr/>
          <a:lstStyle/>
          <a:p>
            <a:r>
              <a:rPr lang="es-ES" dirty="0"/>
              <a:t>PUT / producto </a:t>
            </a:r>
            <a:r>
              <a:rPr lang="es-ES" dirty="0">
                <a:sym typeface="Wingdings" panose="05000000000000000000" pitchFamily="2" charset="2"/>
              </a:rPr>
              <a:t> actualizar un producto</a:t>
            </a:r>
            <a:endParaRPr lang="es-PE" dirty="0"/>
          </a:p>
        </p:txBody>
      </p:sp>
      <p:sp>
        <p:nvSpPr>
          <p:cNvPr id="3" name="Marcador de número de diapositiva 2">
            <a:extLst>
              <a:ext uri="{FF2B5EF4-FFF2-40B4-BE49-F238E27FC236}">
                <a16:creationId xmlns:a16="http://schemas.microsoft.com/office/drawing/2014/main" id="{155E1CD6-1753-701C-3CB5-D8FAE0956388}"/>
              </a:ext>
            </a:extLst>
          </p:cNvPr>
          <p:cNvSpPr>
            <a:spLocks noGrp="1"/>
          </p:cNvSpPr>
          <p:nvPr>
            <p:ph type="sldNum" idx="12"/>
          </p:nvPr>
        </p:nvSpPr>
        <p:spPr/>
        <p:txBody>
          <a:bodyPr/>
          <a:lstStyle/>
          <a:p>
            <a:fld id="{52A29C8B-5F70-8945-A2A6-FBD7A17156DB}" type="slidenum">
              <a:rPr lang="es-PE" smtClean="0"/>
              <a:pPr/>
              <a:t>43</a:t>
            </a:fld>
            <a:endParaRPr lang="es-PE"/>
          </a:p>
        </p:txBody>
      </p:sp>
      <p:sp>
        <p:nvSpPr>
          <p:cNvPr id="4" name="Marcador de contenido 3">
            <a:extLst>
              <a:ext uri="{FF2B5EF4-FFF2-40B4-BE49-F238E27FC236}">
                <a16:creationId xmlns:a16="http://schemas.microsoft.com/office/drawing/2014/main" id="{44887DEC-760A-5E63-1977-3DE2ADCC48D6}"/>
              </a:ext>
            </a:extLst>
          </p:cNvPr>
          <p:cNvSpPr>
            <a:spLocks noGrp="1"/>
          </p:cNvSpPr>
          <p:nvPr>
            <p:ph idx="1"/>
          </p:nvPr>
        </p:nvSpPr>
        <p:spPr/>
        <p:txBody>
          <a:bodyPr>
            <a:normAutofit/>
          </a:bodyPr>
          <a:lstStyle/>
          <a:p>
            <a:pPr marL="0" lvl="0" indent="0">
              <a:spcBef>
                <a:spcPts val="0"/>
              </a:spcBef>
              <a:buNone/>
            </a:pPr>
            <a:r>
              <a:rPr lang="es-ES" sz="2000" dirty="0"/>
              <a:t>Las validaciones realizadas incluyen:</a:t>
            </a:r>
          </a:p>
          <a:p>
            <a:pPr lvl="0" indent="-342900">
              <a:spcBef>
                <a:spcPts val="0"/>
              </a:spcBef>
              <a:buSzPts val="1800"/>
              <a:buChar char="●"/>
            </a:pPr>
            <a:r>
              <a:rPr lang="es-ES" sz="2000" b="1" dirty="0">
                <a:latin typeface="Source Code Pro"/>
                <a:ea typeface="Source Code Pro"/>
                <a:cs typeface="Source Code Pro"/>
                <a:sym typeface="Source Code Pro"/>
              </a:rPr>
              <a:t>id &gt; 0</a:t>
            </a:r>
            <a:r>
              <a:rPr lang="es-ES" sz="2000" dirty="0"/>
              <a:t> → si es 0 entonces es producto nuevo</a:t>
            </a:r>
          </a:p>
          <a:p>
            <a:pPr lvl="0" indent="-342900">
              <a:spcBef>
                <a:spcPts val="0"/>
              </a:spcBef>
              <a:buSzPts val="1800"/>
              <a:buChar char="●"/>
            </a:pPr>
            <a:r>
              <a:rPr lang="es-ES" sz="2000" b="1" dirty="0" err="1">
                <a:latin typeface="Source Code Pro"/>
                <a:ea typeface="Source Code Pro"/>
                <a:cs typeface="Source Code Pro"/>
                <a:sym typeface="Source Code Pro"/>
              </a:rPr>
              <a:t>opt.isPresent</a:t>
            </a:r>
            <a:r>
              <a:rPr lang="es-ES" sz="2000" b="1" dirty="0">
                <a:latin typeface="Source Code Pro"/>
                <a:ea typeface="Source Code Pro"/>
                <a:cs typeface="Source Code Pro"/>
                <a:sym typeface="Source Code Pro"/>
              </a:rPr>
              <a:t>()</a:t>
            </a:r>
            <a:r>
              <a:rPr lang="es-ES" sz="2000" dirty="0"/>
              <a:t> → si no existe en el repositorio, no se debe actualizar.</a:t>
            </a:r>
            <a:endParaRPr lang="es-PE" sz="2000" dirty="0"/>
          </a:p>
        </p:txBody>
      </p:sp>
      <p:pic>
        <p:nvPicPr>
          <p:cNvPr id="5" name="Google Shape;426;p54">
            <a:extLst>
              <a:ext uri="{FF2B5EF4-FFF2-40B4-BE49-F238E27FC236}">
                <a16:creationId xmlns:a16="http://schemas.microsoft.com/office/drawing/2014/main" id="{54F10A1A-D3B0-EA88-CAFF-E9F4BB0BA8DA}"/>
              </a:ext>
            </a:extLst>
          </p:cNvPr>
          <p:cNvPicPr preferRelativeResize="0"/>
          <p:nvPr/>
        </p:nvPicPr>
        <p:blipFill>
          <a:blip r:embed="rId2">
            <a:alphaModFix/>
          </a:blip>
          <a:stretch>
            <a:fillRect/>
          </a:stretch>
        </p:blipFill>
        <p:spPr>
          <a:xfrm>
            <a:off x="3339182" y="2165023"/>
            <a:ext cx="5491053" cy="3314483"/>
          </a:xfrm>
          <a:prstGeom prst="rect">
            <a:avLst/>
          </a:prstGeom>
          <a:noFill/>
          <a:ln>
            <a:noFill/>
          </a:ln>
        </p:spPr>
      </p:pic>
    </p:spTree>
    <p:extLst>
      <p:ext uri="{BB962C8B-B14F-4D97-AF65-F5344CB8AC3E}">
        <p14:creationId xmlns:p14="http://schemas.microsoft.com/office/powerpoint/2010/main" val="36144342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F9A1C-09D7-48ED-53EA-E1095B434A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DCBBD2-D667-427D-3BF5-6ACD9525E5DB}"/>
              </a:ext>
            </a:extLst>
          </p:cNvPr>
          <p:cNvSpPr>
            <a:spLocks noGrp="1"/>
          </p:cNvSpPr>
          <p:nvPr>
            <p:ph type="title"/>
          </p:nvPr>
        </p:nvSpPr>
        <p:spPr/>
        <p:txBody>
          <a:bodyPr/>
          <a:lstStyle/>
          <a:p>
            <a:r>
              <a:rPr lang="es-ES" dirty="0"/>
              <a:t>PUT / producto </a:t>
            </a:r>
            <a:r>
              <a:rPr lang="es-ES" dirty="0">
                <a:sym typeface="Wingdings" panose="05000000000000000000" pitchFamily="2" charset="2"/>
              </a:rPr>
              <a:t> actualizar un producto</a:t>
            </a:r>
            <a:endParaRPr lang="es-PE" dirty="0"/>
          </a:p>
        </p:txBody>
      </p:sp>
      <p:sp>
        <p:nvSpPr>
          <p:cNvPr id="3" name="Marcador de número de diapositiva 2">
            <a:extLst>
              <a:ext uri="{FF2B5EF4-FFF2-40B4-BE49-F238E27FC236}">
                <a16:creationId xmlns:a16="http://schemas.microsoft.com/office/drawing/2014/main" id="{7000718C-CAF0-66FC-D9B2-007D9C48A6F7}"/>
              </a:ext>
            </a:extLst>
          </p:cNvPr>
          <p:cNvSpPr>
            <a:spLocks noGrp="1"/>
          </p:cNvSpPr>
          <p:nvPr>
            <p:ph type="sldNum" idx="12"/>
          </p:nvPr>
        </p:nvSpPr>
        <p:spPr/>
        <p:txBody>
          <a:bodyPr/>
          <a:lstStyle/>
          <a:p>
            <a:fld id="{52A29C8B-5F70-8945-A2A6-FBD7A17156DB}" type="slidenum">
              <a:rPr lang="es-PE" smtClean="0"/>
              <a:pPr/>
              <a:t>44</a:t>
            </a:fld>
            <a:endParaRPr lang="es-PE"/>
          </a:p>
        </p:txBody>
      </p:sp>
      <p:sp>
        <p:nvSpPr>
          <p:cNvPr id="4" name="Marcador de contenido 3">
            <a:extLst>
              <a:ext uri="{FF2B5EF4-FFF2-40B4-BE49-F238E27FC236}">
                <a16:creationId xmlns:a16="http://schemas.microsoft.com/office/drawing/2014/main" id="{E614802F-0A0F-A460-4E92-CDE985E8C9EC}"/>
              </a:ext>
            </a:extLst>
          </p:cNvPr>
          <p:cNvSpPr>
            <a:spLocks noGrp="1"/>
          </p:cNvSpPr>
          <p:nvPr>
            <p:ph idx="1"/>
          </p:nvPr>
        </p:nvSpPr>
        <p:spPr/>
        <p:txBody>
          <a:bodyPr>
            <a:normAutofit/>
          </a:bodyPr>
          <a:lstStyle/>
          <a:p>
            <a:r>
              <a:rPr lang="es-ES" sz="2000" dirty="0"/>
              <a:t>Al igual que se realizó con el POST, se debe actualizar el método para gestionar la excepción en caso no se envíe el producto.</a:t>
            </a:r>
          </a:p>
          <a:p>
            <a:endParaRPr lang="es-PE" sz="2000" dirty="0"/>
          </a:p>
        </p:txBody>
      </p:sp>
      <p:pic>
        <p:nvPicPr>
          <p:cNvPr id="5" name="Google Shape;434;p55">
            <a:extLst>
              <a:ext uri="{FF2B5EF4-FFF2-40B4-BE49-F238E27FC236}">
                <a16:creationId xmlns:a16="http://schemas.microsoft.com/office/drawing/2014/main" id="{E0D8D38A-770C-795E-3802-ADFFE067C649}"/>
              </a:ext>
            </a:extLst>
          </p:cNvPr>
          <p:cNvPicPr preferRelativeResize="0"/>
          <p:nvPr/>
        </p:nvPicPr>
        <p:blipFill>
          <a:blip r:embed="rId2">
            <a:alphaModFix/>
          </a:blip>
          <a:stretch>
            <a:fillRect/>
          </a:stretch>
        </p:blipFill>
        <p:spPr>
          <a:xfrm>
            <a:off x="1676400" y="2284231"/>
            <a:ext cx="8839200" cy="2823633"/>
          </a:xfrm>
          <a:prstGeom prst="rect">
            <a:avLst/>
          </a:prstGeom>
          <a:noFill/>
          <a:ln>
            <a:noFill/>
          </a:ln>
        </p:spPr>
      </p:pic>
      <p:sp>
        <p:nvSpPr>
          <p:cNvPr id="6" name="Google Shape;435;p55">
            <a:extLst>
              <a:ext uri="{FF2B5EF4-FFF2-40B4-BE49-F238E27FC236}">
                <a16:creationId xmlns:a16="http://schemas.microsoft.com/office/drawing/2014/main" id="{DB5F14E9-4478-9E4D-40BF-89832D1AFD74}"/>
              </a:ext>
            </a:extLst>
          </p:cNvPr>
          <p:cNvSpPr/>
          <p:nvPr/>
        </p:nvSpPr>
        <p:spPr>
          <a:xfrm>
            <a:off x="6024800" y="3454154"/>
            <a:ext cx="3296100" cy="2685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2394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C4AA3-F93B-3F2A-E757-3617CBFBA4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DC5D1E-FE95-E00A-A619-95ECCFE3DAFD}"/>
              </a:ext>
            </a:extLst>
          </p:cNvPr>
          <p:cNvSpPr>
            <a:spLocks noGrp="1"/>
          </p:cNvSpPr>
          <p:nvPr>
            <p:ph type="title"/>
          </p:nvPr>
        </p:nvSpPr>
        <p:spPr/>
        <p:txBody>
          <a:bodyPr/>
          <a:lstStyle/>
          <a:p>
            <a:r>
              <a:rPr lang="es-ES" dirty="0"/>
              <a:t>Probando con Postman</a:t>
            </a:r>
            <a:endParaRPr lang="es-PE" dirty="0"/>
          </a:p>
        </p:txBody>
      </p:sp>
      <p:sp>
        <p:nvSpPr>
          <p:cNvPr id="3" name="Marcador de número de diapositiva 2">
            <a:extLst>
              <a:ext uri="{FF2B5EF4-FFF2-40B4-BE49-F238E27FC236}">
                <a16:creationId xmlns:a16="http://schemas.microsoft.com/office/drawing/2014/main" id="{93144178-1D36-D417-6D9D-5AD6A3E2BB51}"/>
              </a:ext>
            </a:extLst>
          </p:cNvPr>
          <p:cNvSpPr>
            <a:spLocks noGrp="1"/>
          </p:cNvSpPr>
          <p:nvPr>
            <p:ph type="sldNum" idx="12"/>
          </p:nvPr>
        </p:nvSpPr>
        <p:spPr/>
        <p:txBody>
          <a:bodyPr/>
          <a:lstStyle/>
          <a:p>
            <a:fld id="{52A29C8B-5F70-8945-A2A6-FBD7A17156DB}" type="slidenum">
              <a:rPr lang="es-PE" smtClean="0"/>
              <a:pPr/>
              <a:t>45</a:t>
            </a:fld>
            <a:endParaRPr lang="es-PE"/>
          </a:p>
        </p:txBody>
      </p:sp>
      <p:pic>
        <p:nvPicPr>
          <p:cNvPr id="5" name="Google Shape;442;p56">
            <a:extLst>
              <a:ext uri="{FF2B5EF4-FFF2-40B4-BE49-F238E27FC236}">
                <a16:creationId xmlns:a16="http://schemas.microsoft.com/office/drawing/2014/main" id="{B13CA54F-D732-D5DA-5F44-40527F2AD031}"/>
              </a:ext>
            </a:extLst>
          </p:cNvPr>
          <p:cNvPicPr preferRelativeResize="0"/>
          <p:nvPr/>
        </p:nvPicPr>
        <p:blipFill>
          <a:blip r:embed="rId2">
            <a:alphaModFix/>
          </a:blip>
          <a:stretch>
            <a:fillRect/>
          </a:stretch>
        </p:blipFill>
        <p:spPr>
          <a:xfrm>
            <a:off x="1039234" y="1348308"/>
            <a:ext cx="4070648" cy="4093268"/>
          </a:xfrm>
          <a:prstGeom prst="rect">
            <a:avLst/>
          </a:prstGeom>
          <a:noFill/>
          <a:ln>
            <a:noFill/>
          </a:ln>
        </p:spPr>
      </p:pic>
      <p:pic>
        <p:nvPicPr>
          <p:cNvPr id="6" name="Google Shape;443;p56">
            <a:extLst>
              <a:ext uri="{FF2B5EF4-FFF2-40B4-BE49-F238E27FC236}">
                <a16:creationId xmlns:a16="http://schemas.microsoft.com/office/drawing/2014/main" id="{E11950BF-13A0-F379-6486-C5E205130AA2}"/>
              </a:ext>
            </a:extLst>
          </p:cNvPr>
          <p:cNvPicPr preferRelativeResize="0"/>
          <p:nvPr/>
        </p:nvPicPr>
        <p:blipFill>
          <a:blip r:embed="rId3">
            <a:alphaModFix/>
          </a:blip>
          <a:stretch>
            <a:fillRect/>
          </a:stretch>
        </p:blipFill>
        <p:spPr>
          <a:xfrm>
            <a:off x="5750139" y="3350807"/>
            <a:ext cx="5948802" cy="1598229"/>
          </a:xfrm>
          <a:prstGeom prst="rect">
            <a:avLst/>
          </a:prstGeom>
          <a:noFill/>
          <a:ln w="9525" cap="flat" cmpd="sng">
            <a:solidFill>
              <a:srgbClr val="666666"/>
            </a:solidFill>
            <a:prstDash val="solid"/>
            <a:round/>
            <a:headEnd type="none" w="sm" len="sm"/>
            <a:tailEnd type="none" w="sm" len="sm"/>
          </a:ln>
        </p:spPr>
      </p:pic>
    </p:spTree>
    <p:extLst>
      <p:ext uri="{BB962C8B-B14F-4D97-AF65-F5344CB8AC3E}">
        <p14:creationId xmlns:p14="http://schemas.microsoft.com/office/powerpoint/2010/main" val="1762542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84F9F-8EA5-142D-5072-D1A70A093C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EF4EA6-1DF2-55C5-DE33-83BC3EDEC20B}"/>
              </a:ext>
            </a:extLst>
          </p:cNvPr>
          <p:cNvSpPr>
            <a:spLocks noGrp="1"/>
          </p:cNvSpPr>
          <p:nvPr>
            <p:ph type="title"/>
          </p:nvPr>
        </p:nvSpPr>
        <p:spPr/>
        <p:txBody>
          <a:bodyPr/>
          <a:lstStyle/>
          <a:p>
            <a:r>
              <a:rPr lang="es-ES" dirty="0"/>
              <a:t>Probando con Postman</a:t>
            </a:r>
            <a:endParaRPr lang="es-PE" dirty="0"/>
          </a:p>
        </p:txBody>
      </p:sp>
      <p:sp>
        <p:nvSpPr>
          <p:cNvPr id="3" name="Marcador de número de diapositiva 2">
            <a:extLst>
              <a:ext uri="{FF2B5EF4-FFF2-40B4-BE49-F238E27FC236}">
                <a16:creationId xmlns:a16="http://schemas.microsoft.com/office/drawing/2014/main" id="{CD1D950D-9D1B-98E6-6381-9C14A86495B1}"/>
              </a:ext>
            </a:extLst>
          </p:cNvPr>
          <p:cNvSpPr>
            <a:spLocks noGrp="1"/>
          </p:cNvSpPr>
          <p:nvPr>
            <p:ph type="sldNum" idx="12"/>
          </p:nvPr>
        </p:nvSpPr>
        <p:spPr/>
        <p:txBody>
          <a:bodyPr/>
          <a:lstStyle/>
          <a:p>
            <a:fld id="{52A29C8B-5F70-8945-A2A6-FBD7A17156DB}" type="slidenum">
              <a:rPr lang="es-PE" smtClean="0"/>
              <a:pPr/>
              <a:t>46</a:t>
            </a:fld>
            <a:endParaRPr lang="es-PE"/>
          </a:p>
        </p:txBody>
      </p:sp>
      <p:pic>
        <p:nvPicPr>
          <p:cNvPr id="5" name="Google Shape;448;p57">
            <a:extLst>
              <a:ext uri="{FF2B5EF4-FFF2-40B4-BE49-F238E27FC236}">
                <a16:creationId xmlns:a16="http://schemas.microsoft.com/office/drawing/2014/main" id="{222A4C69-0DC6-17A0-6C10-04CBA4996FE8}"/>
              </a:ext>
            </a:extLst>
          </p:cNvPr>
          <p:cNvPicPr preferRelativeResize="0"/>
          <p:nvPr/>
        </p:nvPicPr>
        <p:blipFill>
          <a:blip r:embed="rId2">
            <a:alphaModFix/>
          </a:blip>
          <a:stretch>
            <a:fillRect/>
          </a:stretch>
        </p:blipFill>
        <p:spPr>
          <a:xfrm>
            <a:off x="1320276" y="1020932"/>
            <a:ext cx="3134613" cy="2399220"/>
          </a:xfrm>
          <a:prstGeom prst="rect">
            <a:avLst/>
          </a:prstGeom>
          <a:noFill/>
          <a:ln>
            <a:noFill/>
          </a:ln>
        </p:spPr>
      </p:pic>
      <p:sp>
        <p:nvSpPr>
          <p:cNvPr id="6" name="Google Shape;451;p57">
            <a:extLst>
              <a:ext uri="{FF2B5EF4-FFF2-40B4-BE49-F238E27FC236}">
                <a16:creationId xmlns:a16="http://schemas.microsoft.com/office/drawing/2014/main" id="{C38B369C-4B9A-EAA8-BBD4-E713528BD84F}"/>
              </a:ext>
            </a:extLst>
          </p:cNvPr>
          <p:cNvSpPr/>
          <p:nvPr/>
        </p:nvSpPr>
        <p:spPr>
          <a:xfrm>
            <a:off x="5978464" y="1521982"/>
            <a:ext cx="1622100" cy="620700"/>
          </a:xfrm>
          <a:prstGeom prst="roundRect">
            <a:avLst>
              <a:gd name="adj" fmla="val 16667"/>
            </a:avLst>
          </a:prstGeom>
          <a:solidFill>
            <a:schemeClr val="bg1"/>
          </a:solidFill>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419" sz="1200">
                <a:solidFill>
                  <a:sysClr val="windowText" lastClr="000000"/>
                </a:solidFill>
              </a:rPr>
              <a:t>Se envía un ID que no existe</a:t>
            </a:r>
            <a:endParaRPr sz="1200">
              <a:solidFill>
                <a:sysClr val="windowText" lastClr="000000"/>
              </a:solidFill>
            </a:endParaRPr>
          </a:p>
        </p:txBody>
      </p:sp>
      <p:sp>
        <p:nvSpPr>
          <p:cNvPr id="7" name="Google Shape;452;p57">
            <a:extLst>
              <a:ext uri="{FF2B5EF4-FFF2-40B4-BE49-F238E27FC236}">
                <a16:creationId xmlns:a16="http://schemas.microsoft.com/office/drawing/2014/main" id="{7A07C9AD-FA68-CA55-3095-B74E3982E8E7}"/>
              </a:ext>
            </a:extLst>
          </p:cNvPr>
          <p:cNvSpPr/>
          <p:nvPr/>
        </p:nvSpPr>
        <p:spPr>
          <a:xfrm>
            <a:off x="2488776" y="2343607"/>
            <a:ext cx="227400" cy="268800"/>
          </a:xfrm>
          <a:prstGeom prst="diamond">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cxnSp>
        <p:nvCxnSpPr>
          <p:cNvPr id="8" name="Google Shape;453;p57">
            <a:extLst>
              <a:ext uri="{FF2B5EF4-FFF2-40B4-BE49-F238E27FC236}">
                <a16:creationId xmlns:a16="http://schemas.microsoft.com/office/drawing/2014/main" id="{51544FAE-411C-8ACF-BEFD-8431442C3135}"/>
              </a:ext>
            </a:extLst>
          </p:cNvPr>
          <p:cNvCxnSpPr>
            <a:stCxn id="6" idx="1"/>
            <a:endCxn id="7" idx="3"/>
          </p:cNvCxnSpPr>
          <p:nvPr/>
        </p:nvCxnSpPr>
        <p:spPr>
          <a:xfrm flipH="1">
            <a:off x="2716264" y="1832332"/>
            <a:ext cx="3262200" cy="645600"/>
          </a:xfrm>
          <a:prstGeom prst="curvedConnector3">
            <a:avLst>
              <a:gd name="adj1" fmla="val 50001"/>
            </a:avLst>
          </a:prstGeom>
          <a:noFill/>
          <a:ln w="19050" cap="flat" cmpd="sng">
            <a:solidFill>
              <a:srgbClr val="FF0000"/>
            </a:solidFill>
            <a:prstDash val="solid"/>
            <a:round/>
            <a:headEnd type="none" w="med" len="med"/>
            <a:tailEnd type="triangle" w="med" len="med"/>
          </a:ln>
        </p:spPr>
      </p:cxnSp>
      <p:pic>
        <p:nvPicPr>
          <p:cNvPr id="9" name="Google Shape;454;p57">
            <a:extLst>
              <a:ext uri="{FF2B5EF4-FFF2-40B4-BE49-F238E27FC236}">
                <a16:creationId xmlns:a16="http://schemas.microsoft.com/office/drawing/2014/main" id="{F5740701-2E19-37EE-CC70-A6689B784B2B}"/>
              </a:ext>
            </a:extLst>
          </p:cNvPr>
          <p:cNvPicPr preferRelativeResize="0"/>
          <p:nvPr/>
        </p:nvPicPr>
        <p:blipFill>
          <a:blip r:embed="rId3">
            <a:alphaModFix/>
          </a:blip>
          <a:stretch>
            <a:fillRect/>
          </a:stretch>
        </p:blipFill>
        <p:spPr>
          <a:xfrm>
            <a:off x="4624301" y="3995027"/>
            <a:ext cx="4981575" cy="1543050"/>
          </a:xfrm>
          <a:prstGeom prst="rect">
            <a:avLst/>
          </a:prstGeom>
          <a:noFill/>
          <a:ln w="9525" cap="flat" cmpd="sng">
            <a:solidFill>
              <a:srgbClr val="808080"/>
            </a:solidFill>
            <a:prstDash val="solid"/>
            <a:round/>
            <a:headEnd type="none" w="sm" len="sm"/>
            <a:tailEnd type="none" w="sm" len="sm"/>
          </a:ln>
        </p:spPr>
      </p:pic>
    </p:spTree>
    <p:extLst>
      <p:ext uri="{BB962C8B-B14F-4D97-AF65-F5344CB8AC3E}">
        <p14:creationId xmlns:p14="http://schemas.microsoft.com/office/powerpoint/2010/main" val="18522526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57FFF-5221-1018-C545-60BA48BD0E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1C1398-D8CB-C526-AA41-707A41E7F1C9}"/>
              </a:ext>
            </a:extLst>
          </p:cNvPr>
          <p:cNvSpPr>
            <a:spLocks noGrp="1"/>
          </p:cNvSpPr>
          <p:nvPr>
            <p:ph type="title"/>
          </p:nvPr>
        </p:nvSpPr>
        <p:spPr/>
        <p:txBody>
          <a:bodyPr/>
          <a:lstStyle/>
          <a:p>
            <a:r>
              <a:rPr lang="es-ES" dirty="0"/>
              <a:t>Probando con Postman</a:t>
            </a:r>
            <a:endParaRPr lang="es-PE" dirty="0"/>
          </a:p>
        </p:txBody>
      </p:sp>
      <p:sp>
        <p:nvSpPr>
          <p:cNvPr id="3" name="Marcador de número de diapositiva 2">
            <a:extLst>
              <a:ext uri="{FF2B5EF4-FFF2-40B4-BE49-F238E27FC236}">
                <a16:creationId xmlns:a16="http://schemas.microsoft.com/office/drawing/2014/main" id="{EA1E5512-39D1-C3B7-ABC6-20A993C6CA67}"/>
              </a:ext>
            </a:extLst>
          </p:cNvPr>
          <p:cNvSpPr>
            <a:spLocks noGrp="1"/>
          </p:cNvSpPr>
          <p:nvPr>
            <p:ph type="sldNum" idx="12"/>
          </p:nvPr>
        </p:nvSpPr>
        <p:spPr/>
        <p:txBody>
          <a:bodyPr/>
          <a:lstStyle/>
          <a:p>
            <a:fld id="{52A29C8B-5F70-8945-A2A6-FBD7A17156DB}" type="slidenum">
              <a:rPr lang="es-PE" smtClean="0"/>
              <a:pPr/>
              <a:t>47</a:t>
            </a:fld>
            <a:endParaRPr lang="es-PE"/>
          </a:p>
        </p:txBody>
      </p:sp>
      <p:pic>
        <p:nvPicPr>
          <p:cNvPr id="5" name="Google Shape;459;p58">
            <a:extLst>
              <a:ext uri="{FF2B5EF4-FFF2-40B4-BE49-F238E27FC236}">
                <a16:creationId xmlns:a16="http://schemas.microsoft.com/office/drawing/2014/main" id="{92230606-B8EA-A780-03E5-31EF61481DD0}"/>
              </a:ext>
            </a:extLst>
          </p:cNvPr>
          <p:cNvPicPr preferRelativeResize="0"/>
          <p:nvPr/>
        </p:nvPicPr>
        <p:blipFill>
          <a:blip r:embed="rId2">
            <a:alphaModFix/>
          </a:blip>
          <a:stretch>
            <a:fillRect/>
          </a:stretch>
        </p:blipFill>
        <p:spPr>
          <a:xfrm>
            <a:off x="1782956" y="1152381"/>
            <a:ext cx="3822850" cy="2343025"/>
          </a:xfrm>
          <a:prstGeom prst="rect">
            <a:avLst/>
          </a:prstGeom>
          <a:noFill/>
          <a:ln>
            <a:noFill/>
          </a:ln>
        </p:spPr>
      </p:pic>
      <p:sp>
        <p:nvSpPr>
          <p:cNvPr id="6" name="Google Shape;462;p58">
            <a:extLst>
              <a:ext uri="{FF2B5EF4-FFF2-40B4-BE49-F238E27FC236}">
                <a16:creationId xmlns:a16="http://schemas.microsoft.com/office/drawing/2014/main" id="{618CB63D-B874-4BD4-92D2-2928863D206F}"/>
              </a:ext>
            </a:extLst>
          </p:cNvPr>
          <p:cNvSpPr/>
          <p:nvPr/>
        </p:nvSpPr>
        <p:spPr>
          <a:xfrm>
            <a:off x="6988656" y="1951254"/>
            <a:ext cx="1622100" cy="413100"/>
          </a:xfrm>
          <a:prstGeom prst="roundRect">
            <a:avLst>
              <a:gd name="adj" fmla="val 16667"/>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419" sz="1400">
                <a:solidFill>
                  <a:sysClr val="windowText" lastClr="000000"/>
                </a:solidFill>
              </a:rPr>
              <a:t>No se envía ID</a:t>
            </a:r>
            <a:endParaRPr sz="1400">
              <a:solidFill>
                <a:sysClr val="windowText" lastClr="000000"/>
              </a:solidFill>
            </a:endParaRPr>
          </a:p>
        </p:txBody>
      </p:sp>
      <p:cxnSp>
        <p:nvCxnSpPr>
          <p:cNvPr id="7" name="Google Shape;464;p58">
            <a:extLst>
              <a:ext uri="{FF2B5EF4-FFF2-40B4-BE49-F238E27FC236}">
                <a16:creationId xmlns:a16="http://schemas.microsoft.com/office/drawing/2014/main" id="{7BFCF312-9585-32F7-9CA7-6DC3B4F70B26}"/>
              </a:ext>
            </a:extLst>
          </p:cNvPr>
          <p:cNvCxnSpPr>
            <a:stCxn id="6" idx="1"/>
          </p:cNvCxnSpPr>
          <p:nvPr/>
        </p:nvCxnSpPr>
        <p:spPr>
          <a:xfrm flipH="1">
            <a:off x="4209456" y="2157804"/>
            <a:ext cx="2779200" cy="341100"/>
          </a:xfrm>
          <a:prstGeom prst="curvedConnector3">
            <a:avLst>
              <a:gd name="adj1" fmla="val 50001"/>
            </a:avLst>
          </a:prstGeom>
          <a:noFill/>
          <a:ln w="19050" cap="flat" cmpd="sng">
            <a:solidFill>
              <a:srgbClr val="FF0000"/>
            </a:solidFill>
            <a:prstDash val="solid"/>
            <a:round/>
            <a:headEnd type="none" w="med" len="med"/>
            <a:tailEnd type="triangle" w="med" len="med"/>
          </a:ln>
        </p:spPr>
      </p:cxnSp>
      <p:pic>
        <p:nvPicPr>
          <p:cNvPr id="8" name="Google Shape;465;p58">
            <a:extLst>
              <a:ext uri="{FF2B5EF4-FFF2-40B4-BE49-F238E27FC236}">
                <a16:creationId xmlns:a16="http://schemas.microsoft.com/office/drawing/2014/main" id="{665627AC-DE67-1CFD-5330-378F9651C360}"/>
              </a:ext>
            </a:extLst>
          </p:cNvPr>
          <p:cNvPicPr preferRelativeResize="0"/>
          <p:nvPr/>
        </p:nvPicPr>
        <p:blipFill>
          <a:blip r:embed="rId3">
            <a:alphaModFix/>
          </a:blip>
          <a:stretch>
            <a:fillRect/>
          </a:stretch>
        </p:blipFill>
        <p:spPr>
          <a:xfrm>
            <a:off x="5605806" y="3850731"/>
            <a:ext cx="4495800" cy="1628775"/>
          </a:xfrm>
          <a:prstGeom prst="rect">
            <a:avLst/>
          </a:prstGeom>
          <a:noFill/>
          <a:ln w="9525" cap="flat" cmpd="sng">
            <a:solidFill>
              <a:srgbClr val="808080"/>
            </a:solidFill>
            <a:prstDash val="solid"/>
            <a:round/>
            <a:headEnd type="none" w="sm" len="sm"/>
            <a:tailEnd type="none" w="sm" len="sm"/>
          </a:ln>
        </p:spPr>
      </p:pic>
    </p:spTree>
    <p:extLst>
      <p:ext uri="{BB962C8B-B14F-4D97-AF65-F5344CB8AC3E}">
        <p14:creationId xmlns:p14="http://schemas.microsoft.com/office/powerpoint/2010/main" val="3338226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71639-F902-72B1-2B7E-0BCF289127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65BD97-1887-0507-C03C-E5029D59BF04}"/>
              </a:ext>
            </a:extLst>
          </p:cNvPr>
          <p:cNvSpPr>
            <a:spLocks noGrp="1"/>
          </p:cNvSpPr>
          <p:nvPr>
            <p:ph type="title"/>
          </p:nvPr>
        </p:nvSpPr>
        <p:spPr/>
        <p:txBody>
          <a:bodyPr/>
          <a:lstStyle/>
          <a:p>
            <a:r>
              <a:rPr lang="es-ES" dirty="0"/>
              <a:t>Probando con Postman</a:t>
            </a:r>
            <a:endParaRPr lang="es-PE" dirty="0"/>
          </a:p>
        </p:txBody>
      </p:sp>
      <p:sp>
        <p:nvSpPr>
          <p:cNvPr id="3" name="Marcador de número de diapositiva 2">
            <a:extLst>
              <a:ext uri="{FF2B5EF4-FFF2-40B4-BE49-F238E27FC236}">
                <a16:creationId xmlns:a16="http://schemas.microsoft.com/office/drawing/2014/main" id="{83A2907D-F8DF-C2D9-A350-D3DC5D6032DE}"/>
              </a:ext>
            </a:extLst>
          </p:cNvPr>
          <p:cNvSpPr>
            <a:spLocks noGrp="1"/>
          </p:cNvSpPr>
          <p:nvPr>
            <p:ph type="sldNum" idx="12"/>
          </p:nvPr>
        </p:nvSpPr>
        <p:spPr/>
        <p:txBody>
          <a:bodyPr/>
          <a:lstStyle/>
          <a:p>
            <a:fld id="{52A29C8B-5F70-8945-A2A6-FBD7A17156DB}" type="slidenum">
              <a:rPr lang="es-PE" smtClean="0"/>
              <a:pPr/>
              <a:t>48</a:t>
            </a:fld>
            <a:endParaRPr lang="es-PE"/>
          </a:p>
        </p:txBody>
      </p:sp>
      <p:pic>
        <p:nvPicPr>
          <p:cNvPr id="5" name="Google Shape;470;p59">
            <a:extLst>
              <a:ext uri="{FF2B5EF4-FFF2-40B4-BE49-F238E27FC236}">
                <a16:creationId xmlns:a16="http://schemas.microsoft.com/office/drawing/2014/main" id="{8DB7E38A-873A-BB02-1D5E-5D3B33026DEB}"/>
              </a:ext>
            </a:extLst>
          </p:cNvPr>
          <p:cNvPicPr preferRelativeResize="0"/>
          <p:nvPr/>
        </p:nvPicPr>
        <p:blipFill>
          <a:blip r:embed="rId2">
            <a:alphaModFix/>
          </a:blip>
          <a:stretch>
            <a:fillRect/>
          </a:stretch>
        </p:blipFill>
        <p:spPr>
          <a:xfrm>
            <a:off x="3438525" y="1612732"/>
            <a:ext cx="4495800" cy="1695450"/>
          </a:xfrm>
          <a:prstGeom prst="rect">
            <a:avLst/>
          </a:prstGeom>
          <a:noFill/>
          <a:ln>
            <a:noFill/>
          </a:ln>
        </p:spPr>
      </p:pic>
      <p:sp>
        <p:nvSpPr>
          <p:cNvPr id="6" name="Google Shape;473;p59">
            <a:extLst>
              <a:ext uri="{FF2B5EF4-FFF2-40B4-BE49-F238E27FC236}">
                <a16:creationId xmlns:a16="http://schemas.microsoft.com/office/drawing/2014/main" id="{7435E2A7-3E22-AAC1-D083-C41864C60583}"/>
              </a:ext>
            </a:extLst>
          </p:cNvPr>
          <p:cNvSpPr/>
          <p:nvPr/>
        </p:nvSpPr>
        <p:spPr>
          <a:xfrm>
            <a:off x="1412475" y="1360353"/>
            <a:ext cx="1849500" cy="547800"/>
          </a:xfrm>
          <a:prstGeom prst="roundRect">
            <a:avLst>
              <a:gd name="adj" fmla="val 16667"/>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419" sz="1200" dirty="0">
                <a:solidFill>
                  <a:sysClr val="windowText" lastClr="000000"/>
                </a:solidFill>
              </a:rPr>
              <a:t>Si no se manda cuerpo del mensaje</a:t>
            </a:r>
            <a:endParaRPr sz="1200" dirty="0">
              <a:solidFill>
                <a:sysClr val="windowText" lastClr="000000"/>
              </a:solidFill>
            </a:endParaRPr>
          </a:p>
        </p:txBody>
      </p:sp>
      <p:cxnSp>
        <p:nvCxnSpPr>
          <p:cNvPr id="7" name="Google Shape;475;p59">
            <a:extLst>
              <a:ext uri="{FF2B5EF4-FFF2-40B4-BE49-F238E27FC236}">
                <a16:creationId xmlns:a16="http://schemas.microsoft.com/office/drawing/2014/main" id="{46D787E6-9A9A-8D91-003C-4A63E026892C}"/>
              </a:ext>
            </a:extLst>
          </p:cNvPr>
          <p:cNvCxnSpPr>
            <a:stCxn id="6" idx="2"/>
          </p:cNvCxnSpPr>
          <p:nvPr/>
        </p:nvCxnSpPr>
        <p:spPr>
          <a:xfrm rot="-5400000" flipH="1">
            <a:off x="2533125" y="1712253"/>
            <a:ext cx="709500" cy="1101300"/>
          </a:xfrm>
          <a:prstGeom prst="curvedConnector2">
            <a:avLst/>
          </a:prstGeom>
          <a:noFill/>
          <a:ln w="19050" cap="flat" cmpd="sng">
            <a:solidFill>
              <a:srgbClr val="FF0000"/>
            </a:solidFill>
            <a:prstDash val="solid"/>
            <a:round/>
            <a:headEnd type="none" w="med" len="med"/>
            <a:tailEnd type="triangle" w="med" len="med"/>
          </a:ln>
        </p:spPr>
      </p:cxnSp>
      <p:pic>
        <p:nvPicPr>
          <p:cNvPr id="8" name="Google Shape;476;p59">
            <a:extLst>
              <a:ext uri="{FF2B5EF4-FFF2-40B4-BE49-F238E27FC236}">
                <a16:creationId xmlns:a16="http://schemas.microsoft.com/office/drawing/2014/main" id="{CACB9D8C-3AA0-486A-22A3-82BB53B78E20}"/>
              </a:ext>
            </a:extLst>
          </p:cNvPr>
          <p:cNvPicPr preferRelativeResize="0"/>
          <p:nvPr/>
        </p:nvPicPr>
        <p:blipFill>
          <a:blip r:embed="rId3">
            <a:alphaModFix/>
          </a:blip>
          <a:stretch>
            <a:fillRect/>
          </a:stretch>
        </p:blipFill>
        <p:spPr>
          <a:xfrm>
            <a:off x="5525700" y="3982707"/>
            <a:ext cx="4543425" cy="1514475"/>
          </a:xfrm>
          <a:prstGeom prst="rect">
            <a:avLst/>
          </a:prstGeom>
          <a:noFill/>
          <a:ln w="9525" cap="flat" cmpd="sng">
            <a:solidFill>
              <a:srgbClr val="808080"/>
            </a:solidFill>
            <a:prstDash val="solid"/>
            <a:round/>
            <a:headEnd type="none" w="sm" len="sm"/>
            <a:tailEnd type="none" w="sm" len="sm"/>
          </a:ln>
        </p:spPr>
      </p:pic>
    </p:spTree>
    <p:extLst>
      <p:ext uri="{BB962C8B-B14F-4D97-AF65-F5344CB8AC3E}">
        <p14:creationId xmlns:p14="http://schemas.microsoft.com/office/powerpoint/2010/main" val="23168347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33476FCD-DD74-6C86-3266-0064EDC1F5D6}"/>
              </a:ext>
            </a:extLst>
          </p:cNvPr>
          <p:cNvSpPr>
            <a:spLocks noGrp="1"/>
          </p:cNvSpPr>
          <p:nvPr>
            <p:ph type="title"/>
          </p:nvPr>
        </p:nvSpPr>
        <p:spPr/>
        <p:txBody>
          <a:bodyPr/>
          <a:lstStyle/>
          <a:p>
            <a:r>
              <a:rPr lang="es-ES" dirty="0"/>
              <a:t>Actualización de producto parcial</a:t>
            </a:r>
            <a:endParaRPr lang="es-PE" dirty="0"/>
          </a:p>
        </p:txBody>
      </p:sp>
    </p:spTree>
    <p:extLst>
      <p:ext uri="{BB962C8B-B14F-4D97-AF65-F5344CB8AC3E}">
        <p14:creationId xmlns:p14="http://schemas.microsoft.com/office/powerpoint/2010/main" val="280197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8B44A4-ED7F-9EE7-B544-1DE1F8D62BC7}"/>
              </a:ext>
            </a:extLst>
          </p:cNvPr>
          <p:cNvSpPr>
            <a:spLocks noGrp="1"/>
          </p:cNvSpPr>
          <p:nvPr>
            <p:ph type="title"/>
          </p:nvPr>
        </p:nvSpPr>
        <p:spPr/>
        <p:txBody>
          <a:bodyPr/>
          <a:lstStyle/>
          <a:p>
            <a:r>
              <a:rPr lang="es-ES" dirty="0"/>
              <a:t>Actualización parcial</a:t>
            </a:r>
            <a:endParaRPr lang="es-PE" dirty="0"/>
          </a:p>
        </p:txBody>
      </p:sp>
      <p:sp>
        <p:nvSpPr>
          <p:cNvPr id="3" name="Marcador de número de diapositiva 2">
            <a:extLst>
              <a:ext uri="{FF2B5EF4-FFF2-40B4-BE49-F238E27FC236}">
                <a16:creationId xmlns:a16="http://schemas.microsoft.com/office/drawing/2014/main" id="{79B8B920-18A6-729E-DCA9-9566AB4A6B70}"/>
              </a:ext>
            </a:extLst>
          </p:cNvPr>
          <p:cNvSpPr>
            <a:spLocks noGrp="1"/>
          </p:cNvSpPr>
          <p:nvPr>
            <p:ph type="sldNum" idx="12"/>
          </p:nvPr>
        </p:nvSpPr>
        <p:spPr/>
        <p:txBody>
          <a:bodyPr/>
          <a:lstStyle/>
          <a:p>
            <a:fld id="{52A29C8B-5F70-8945-A2A6-FBD7A17156DB}" type="slidenum">
              <a:rPr lang="es-PE" smtClean="0"/>
              <a:pPr/>
              <a:t>50</a:t>
            </a:fld>
            <a:endParaRPr lang="es-PE"/>
          </a:p>
        </p:txBody>
      </p:sp>
      <p:sp>
        <p:nvSpPr>
          <p:cNvPr id="4" name="Marcador de contenido 3">
            <a:extLst>
              <a:ext uri="{FF2B5EF4-FFF2-40B4-BE49-F238E27FC236}">
                <a16:creationId xmlns:a16="http://schemas.microsoft.com/office/drawing/2014/main" id="{CBF575E4-441A-E605-CFF4-D41AB4D2B891}"/>
              </a:ext>
            </a:extLst>
          </p:cNvPr>
          <p:cNvSpPr>
            <a:spLocks noGrp="1"/>
          </p:cNvSpPr>
          <p:nvPr>
            <p:ph idx="1"/>
          </p:nvPr>
        </p:nvSpPr>
        <p:spPr/>
        <p:txBody>
          <a:bodyPr>
            <a:normAutofit/>
          </a:bodyPr>
          <a:lstStyle/>
          <a:p>
            <a:pPr marL="0" lvl="0" indent="0">
              <a:spcBef>
                <a:spcPts val="0"/>
              </a:spcBef>
              <a:buNone/>
            </a:pPr>
            <a:r>
              <a:rPr lang="es-ES" sz="2000" dirty="0"/>
              <a:t>Tenga en cuenta que la forma en que se ha utilizado el método PUT para actualizar un producto requiere que todos los campos del producto se envíen pues el método actualizará todo el producto.</a:t>
            </a:r>
          </a:p>
          <a:p>
            <a:pPr marL="0" lvl="0" indent="0">
              <a:spcBef>
                <a:spcPts val="1600"/>
              </a:spcBef>
              <a:buNone/>
            </a:pPr>
            <a:endParaRPr lang="es-ES" sz="2000" dirty="0"/>
          </a:p>
          <a:p>
            <a:pPr marL="0" lvl="0" indent="0">
              <a:spcBef>
                <a:spcPts val="0"/>
              </a:spcBef>
              <a:buNone/>
            </a:pPr>
            <a:endParaRPr lang="es-ES" sz="2000" dirty="0"/>
          </a:p>
          <a:p>
            <a:pPr marL="0" lvl="0" indent="0">
              <a:spcBef>
                <a:spcPts val="0"/>
              </a:spcBef>
              <a:buNone/>
            </a:pPr>
            <a:endParaRPr lang="es-ES" sz="2000" dirty="0"/>
          </a:p>
          <a:p>
            <a:pPr marL="0" lvl="0" indent="0">
              <a:spcBef>
                <a:spcPts val="0"/>
              </a:spcBef>
              <a:buNone/>
            </a:pPr>
            <a:endParaRPr lang="es-ES" sz="2000" dirty="0"/>
          </a:p>
          <a:p>
            <a:pPr marL="0" lvl="0" indent="0">
              <a:spcBef>
                <a:spcPts val="0"/>
              </a:spcBef>
              <a:buNone/>
            </a:pPr>
            <a:endParaRPr lang="es-ES" sz="2000" dirty="0"/>
          </a:p>
          <a:p>
            <a:pPr marL="0" lvl="0" indent="0">
              <a:spcBef>
                <a:spcPts val="0"/>
              </a:spcBef>
              <a:buNone/>
            </a:pPr>
            <a:endParaRPr lang="es-ES" sz="2000" dirty="0"/>
          </a:p>
          <a:p>
            <a:pPr marL="0" lvl="0" indent="0">
              <a:spcBef>
                <a:spcPts val="0"/>
              </a:spcBef>
              <a:buNone/>
            </a:pPr>
            <a:endParaRPr lang="es-ES" sz="2000" dirty="0"/>
          </a:p>
          <a:p>
            <a:pPr marL="0" lvl="0" indent="0">
              <a:spcBef>
                <a:spcPts val="0"/>
              </a:spcBef>
              <a:buNone/>
            </a:pPr>
            <a:r>
              <a:rPr lang="es-ES" sz="2000" dirty="0"/>
              <a:t>Sin embargo, ¿qué sucede si solo se desea actualizar un campo?</a:t>
            </a:r>
          </a:p>
          <a:p>
            <a:endParaRPr lang="es-PE" sz="2000" dirty="0"/>
          </a:p>
        </p:txBody>
      </p:sp>
      <p:pic>
        <p:nvPicPr>
          <p:cNvPr id="5" name="Google Shape;490;p61">
            <a:extLst>
              <a:ext uri="{FF2B5EF4-FFF2-40B4-BE49-F238E27FC236}">
                <a16:creationId xmlns:a16="http://schemas.microsoft.com/office/drawing/2014/main" id="{9494D715-6325-AB4E-4F6B-ED2189341AE5}"/>
              </a:ext>
            </a:extLst>
          </p:cNvPr>
          <p:cNvPicPr preferRelativeResize="0"/>
          <p:nvPr/>
        </p:nvPicPr>
        <p:blipFill rotWithShape="1">
          <a:blip r:embed="rId2">
            <a:alphaModFix/>
          </a:blip>
          <a:srcRect t="36552" r="46526"/>
          <a:stretch/>
        </p:blipFill>
        <p:spPr>
          <a:xfrm>
            <a:off x="1409440" y="2032591"/>
            <a:ext cx="3004852" cy="1977077"/>
          </a:xfrm>
          <a:prstGeom prst="rect">
            <a:avLst/>
          </a:prstGeom>
          <a:noFill/>
          <a:ln>
            <a:noFill/>
          </a:ln>
        </p:spPr>
      </p:pic>
      <p:pic>
        <p:nvPicPr>
          <p:cNvPr id="6" name="Google Shape;491;p61">
            <a:extLst>
              <a:ext uri="{FF2B5EF4-FFF2-40B4-BE49-F238E27FC236}">
                <a16:creationId xmlns:a16="http://schemas.microsoft.com/office/drawing/2014/main" id="{89F5A9AC-6633-5BB8-439F-60E1C74B5C9E}"/>
              </a:ext>
            </a:extLst>
          </p:cNvPr>
          <p:cNvPicPr preferRelativeResize="0"/>
          <p:nvPr/>
        </p:nvPicPr>
        <p:blipFill>
          <a:blip r:embed="rId3">
            <a:alphaModFix/>
          </a:blip>
          <a:stretch>
            <a:fillRect/>
          </a:stretch>
        </p:blipFill>
        <p:spPr>
          <a:xfrm>
            <a:off x="1409445" y="4587996"/>
            <a:ext cx="1956350" cy="681925"/>
          </a:xfrm>
          <a:prstGeom prst="rect">
            <a:avLst/>
          </a:prstGeom>
          <a:noFill/>
          <a:ln>
            <a:noFill/>
          </a:ln>
        </p:spPr>
      </p:pic>
    </p:spTree>
    <p:extLst>
      <p:ext uri="{BB962C8B-B14F-4D97-AF65-F5344CB8AC3E}">
        <p14:creationId xmlns:p14="http://schemas.microsoft.com/office/powerpoint/2010/main" val="21431595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82A1A-735F-8903-F48E-B35E4D19AA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E4752E7-358B-496F-08E3-66955C02057F}"/>
              </a:ext>
            </a:extLst>
          </p:cNvPr>
          <p:cNvSpPr>
            <a:spLocks noGrp="1"/>
          </p:cNvSpPr>
          <p:nvPr>
            <p:ph type="title"/>
          </p:nvPr>
        </p:nvSpPr>
        <p:spPr/>
        <p:txBody>
          <a:bodyPr/>
          <a:lstStyle/>
          <a:p>
            <a:r>
              <a:rPr lang="es-ES" dirty="0"/>
              <a:t>Observación – actualización parcial</a:t>
            </a:r>
            <a:endParaRPr lang="es-PE" dirty="0"/>
          </a:p>
        </p:txBody>
      </p:sp>
      <p:sp>
        <p:nvSpPr>
          <p:cNvPr id="3" name="Marcador de número de diapositiva 2">
            <a:extLst>
              <a:ext uri="{FF2B5EF4-FFF2-40B4-BE49-F238E27FC236}">
                <a16:creationId xmlns:a16="http://schemas.microsoft.com/office/drawing/2014/main" id="{734EF336-5275-686C-3604-F347CF85F7B9}"/>
              </a:ext>
            </a:extLst>
          </p:cNvPr>
          <p:cNvSpPr>
            <a:spLocks noGrp="1"/>
          </p:cNvSpPr>
          <p:nvPr>
            <p:ph type="sldNum" idx="12"/>
          </p:nvPr>
        </p:nvSpPr>
        <p:spPr/>
        <p:txBody>
          <a:bodyPr/>
          <a:lstStyle/>
          <a:p>
            <a:fld id="{52A29C8B-5F70-8945-A2A6-FBD7A17156DB}" type="slidenum">
              <a:rPr lang="es-PE" smtClean="0"/>
              <a:pPr/>
              <a:t>51</a:t>
            </a:fld>
            <a:endParaRPr lang="es-PE"/>
          </a:p>
        </p:txBody>
      </p:sp>
      <p:sp>
        <p:nvSpPr>
          <p:cNvPr id="4" name="Marcador de contenido 3">
            <a:extLst>
              <a:ext uri="{FF2B5EF4-FFF2-40B4-BE49-F238E27FC236}">
                <a16:creationId xmlns:a16="http://schemas.microsoft.com/office/drawing/2014/main" id="{6E03786B-9347-D64E-B228-2E095CCF901F}"/>
              </a:ext>
            </a:extLst>
          </p:cNvPr>
          <p:cNvSpPr>
            <a:spLocks noGrp="1"/>
          </p:cNvSpPr>
          <p:nvPr>
            <p:ph idx="1"/>
          </p:nvPr>
        </p:nvSpPr>
        <p:spPr/>
        <p:txBody>
          <a:bodyPr>
            <a:normAutofit/>
          </a:bodyPr>
          <a:lstStyle/>
          <a:p>
            <a:pPr marL="0" lvl="0" indent="0">
              <a:spcBef>
                <a:spcPts val="0"/>
              </a:spcBef>
              <a:buNone/>
            </a:pPr>
            <a:r>
              <a:rPr lang="es-ES" sz="2000" dirty="0"/>
              <a:t>Al usar el método antiguo se actualizará el producto con valores por defecto pues el </a:t>
            </a:r>
            <a:r>
              <a:rPr lang="es-ES" sz="2000" dirty="0" err="1"/>
              <a:t>databinding</a:t>
            </a:r>
            <a:r>
              <a:rPr lang="es-ES" sz="2000" dirty="0"/>
              <a:t> de </a:t>
            </a:r>
            <a:r>
              <a:rPr lang="es-ES" sz="2000" dirty="0" err="1"/>
              <a:t>ResponseBody</a:t>
            </a:r>
            <a:r>
              <a:rPr lang="es-ES" sz="2000" dirty="0"/>
              <a:t> funciona de esa manera:</a:t>
            </a:r>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buNone/>
            </a:pPr>
            <a:endParaRPr lang="es-ES" sz="2000" dirty="0"/>
          </a:p>
          <a:p>
            <a:pPr marL="0" lvl="0" indent="0">
              <a:spcBef>
                <a:spcPts val="1600"/>
              </a:spcBef>
              <a:spcAft>
                <a:spcPts val="1600"/>
              </a:spcAft>
              <a:buNone/>
            </a:pPr>
            <a:r>
              <a:rPr lang="es-ES" sz="2000" dirty="0"/>
              <a:t>Para gestionar este tipo de solicitudes, donde solo se envían algunos campos a actualizar, se deben realizar algunos cambios:</a:t>
            </a:r>
          </a:p>
          <a:p>
            <a:endParaRPr lang="es-PE" sz="2000" dirty="0"/>
          </a:p>
        </p:txBody>
      </p:sp>
      <p:pic>
        <p:nvPicPr>
          <p:cNvPr id="5" name="Google Shape;499;p62">
            <a:extLst>
              <a:ext uri="{FF2B5EF4-FFF2-40B4-BE49-F238E27FC236}">
                <a16:creationId xmlns:a16="http://schemas.microsoft.com/office/drawing/2014/main" id="{13019588-0A84-0D3F-655D-3380401F4612}"/>
              </a:ext>
            </a:extLst>
          </p:cNvPr>
          <p:cNvPicPr preferRelativeResize="0"/>
          <p:nvPr/>
        </p:nvPicPr>
        <p:blipFill>
          <a:blip r:embed="rId2">
            <a:alphaModFix/>
          </a:blip>
          <a:stretch>
            <a:fillRect/>
          </a:stretch>
        </p:blipFill>
        <p:spPr>
          <a:xfrm>
            <a:off x="5389244" y="2384562"/>
            <a:ext cx="1956350" cy="681925"/>
          </a:xfrm>
          <a:prstGeom prst="rect">
            <a:avLst/>
          </a:prstGeom>
          <a:noFill/>
          <a:ln>
            <a:noFill/>
          </a:ln>
        </p:spPr>
      </p:pic>
      <p:pic>
        <p:nvPicPr>
          <p:cNvPr id="6" name="Google Shape;500;p62">
            <a:extLst>
              <a:ext uri="{FF2B5EF4-FFF2-40B4-BE49-F238E27FC236}">
                <a16:creationId xmlns:a16="http://schemas.microsoft.com/office/drawing/2014/main" id="{7B6BA0BC-5BB6-F321-E2F3-B248F11A2996}"/>
              </a:ext>
            </a:extLst>
          </p:cNvPr>
          <p:cNvPicPr preferRelativeResize="0"/>
          <p:nvPr/>
        </p:nvPicPr>
        <p:blipFill rotWithShape="1">
          <a:blip r:embed="rId3">
            <a:alphaModFix/>
          </a:blip>
          <a:srcRect b="2959"/>
          <a:stretch/>
        </p:blipFill>
        <p:spPr>
          <a:xfrm>
            <a:off x="7748669" y="1521787"/>
            <a:ext cx="1933575" cy="2088875"/>
          </a:xfrm>
          <a:prstGeom prst="rect">
            <a:avLst/>
          </a:prstGeom>
          <a:noFill/>
          <a:ln>
            <a:noFill/>
          </a:ln>
        </p:spPr>
      </p:pic>
    </p:spTree>
    <p:extLst>
      <p:ext uri="{BB962C8B-B14F-4D97-AF65-F5344CB8AC3E}">
        <p14:creationId xmlns:p14="http://schemas.microsoft.com/office/powerpoint/2010/main" val="2554369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0A2BF-EF68-E99A-00B8-B53B217786F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D288D2-BCFA-8983-2025-B7984D72862B}"/>
              </a:ext>
            </a:extLst>
          </p:cNvPr>
          <p:cNvSpPr>
            <a:spLocks noGrp="1"/>
          </p:cNvSpPr>
          <p:nvPr>
            <p:ph type="title"/>
          </p:nvPr>
        </p:nvSpPr>
        <p:spPr/>
        <p:txBody>
          <a:bodyPr/>
          <a:lstStyle/>
          <a:p>
            <a:r>
              <a:rPr lang="es-ES" dirty="0"/>
              <a:t>Observación – actualización parcial</a:t>
            </a:r>
            <a:endParaRPr lang="es-PE" dirty="0"/>
          </a:p>
        </p:txBody>
      </p:sp>
      <p:sp>
        <p:nvSpPr>
          <p:cNvPr id="3" name="Marcador de número de diapositiva 2">
            <a:extLst>
              <a:ext uri="{FF2B5EF4-FFF2-40B4-BE49-F238E27FC236}">
                <a16:creationId xmlns:a16="http://schemas.microsoft.com/office/drawing/2014/main" id="{80F48542-6DC7-FA48-C7DA-7EA61BE18349}"/>
              </a:ext>
            </a:extLst>
          </p:cNvPr>
          <p:cNvSpPr>
            <a:spLocks noGrp="1"/>
          </p:cNvSpPr>
          <p:nvPr>
            <p:ph type="sldNum" idx="12"/>
          </p:nvPr>
        </p:nvSpPr>
        <p:spPr/>
        <p:txBody>
          <a:bodyPr/>
          <a:lstStyle/>
          <a:p>
            <a:fld id="{52A29C8B-5F70-8945-A2A6-FBD7A17156DB}" type="slidenum">
              <a:rPr lang="es-PE" smtClean="0"/>
              <a:pPr/>
              <a:t>52</a:t>
            </a:fld>
            <a:endParaRPr lang="es-PE"/>
          </a:p>
        </p:txBody>
      </p:sp>
      <p:sp>
        <p:nvSpPr>
          <p:cNvPr id="4" name="Marcador de contenido 3">
            <a:extLst>
              <a:ext uri="{FF2B5EF4-FFF2-40B4-BE49-F238E27FC236}">
                <a16:creationId xmlns:a16="http://schemas.microsoft.com/office/drawing/2014/main" id="{D8CEDFE3-6E08-AC78-AE77-54C8195ED6FA}"/>
              </a:ext>
            </a:extLst>
          </p:cNvPr>
          <p:cNvSpPr>
            <a:spLocks noGrp="1"/>
          </p:cNvSpPr>
          <p:nvPr>
            <p:ph idx="1"/>
          </p:nvPr>
        </p:nvSpPr>
        <p:spPr>
          <a:xfrm>
            <a:off x="839788" y="1020932"/>
            <a:ext cx="10354982" cy="4304523"/>
          </a:xfrm>
        </p:spPr>
        <p:txBody>
          <a:bodyPr>
            <a:normAutofit/>
          </a:bodyPr>
          <a:lstStyle/>
          <a:p>
            <a:r>
              <a:rPr lang="es-ES" sz="2000" dirty="0"/>
              <a:t>Se debe validar uno por uno los campos recibidos y recién actualizar.</a:t>
            </a:r>
          </a:p>
          <a:p>
            <a:endParaRPr lang="es-PE" sz="2000" dirty="0"/>
          </a:p>
        </p:txBody>
      </p:sp>
      <p:pic>
        <p:nvPicPr>
          <p:cNvPr id="5" name="Google Shape;508;p63">
            <a:extLst>
              <a:ext uri="{FF2B5EF4-FFF2-40B4-BE49-F238E27FC236}">
                <a16:creationId xmlns:a16="http://schemas.microsoft.com/office/drawing/2014/main" id="{6E17DE03-581B-FE2C-3564-610069D9008D}"/>
              </a:ext>
            </a:extLst>
          </p:cNvPr>
          <p:cNvPicPr preferRelativeResize="0"/>
          <p:nvPr/>
        </p:nvPicPr>
        <p:blipFill>
          <a:blip r:embed="rId2">
            <a:alphaModFix/>
          </a:blip>
          <a:stretch>
            <a:fillRect/>
          </a:stretch>
        </p:blipFill>
        <p:spPr>
          <a:xfrm>
            <a:off x="2416816" y="1681948"/>
            <a:ext cx="7358368" cy="4001069"/>
          </a:xfrm>
          <a:prstGeom prst="rect">
            <a:avLst/>
          </a:prstGeom>
          <a:noFill/>
          <a:ln>
            <a:noFill/>
          </a:ln>
        </p:spPr>
      </p:pic>
    </p:spTree>
    <p:extLst>
      <p:ext uri="{BB962C8B-B14F-4D97-AF65-F5344CB8AC3E}">
        <p14:creationId xmlns:p14="http://schemas.microsoft.com/office/powerpoint/2010/main" val="8356196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76AE-50BA-FF7B-15B2-A326ACDD24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74579D-7860-A413-3A28-195F5A27D2DD}"/>
              </a:ext>
            </a:extLst>
          </p:cNvPr>
          <p:cNvSpPr>
            <a:spLocks noGrp="1"/>
          </p:cNvSpPr>
          <p:nvPr>
            <p:ph type="title"/>
          </p:nvPr>
        </p:nvSpPr>
        <p:spPr/>
        <p:txBody>
          <a:bodyPr/>
          <a:lstStyle/>
          <a:p>
            <a:r>
              <a:rPr lang="es-ES" dirty="0"/>
              <a:t>Observación – x-www-</a:t>
            </a:r>
            <a:r>
              <a:rPr lang="es-ES" dirty="0" err="1"/>
              <a:t>form</a:t>
            </a:r>
            <a:r>
              <a:rPr lang="es-ES" dirty="0"/>
              <a:t>-</a:t>
            </a:r>
            <a:r>
              <a:rPr lang="es-ES" dirty="0" err="1"/>
              <a:t>urlencoded</a:t>
            </a:r>
            <a:endParaRPr lang="es-PE" dirty="0"/>
          </a:p>
        </p:txBody>
      </p:sp>
      <p:sp>
        <p:nvSpPr>
          <p:cNvPr id="3" name="Marcador de número de diapositiva 2">
            <a:extLst>
              <a:ext uri="{FF2B5EF4-FFF2-40B4-BE49-F238E27FC236}">
                <a16:creationId xmlns:a16="http://schemas.microsoft.com/office/drawing/2014/main" id="{425E2CBA-E2BE-E034-CA85-A548A3C00717}"/>
              </a:ext>
            </a:extLst>
          </p:cNvPr>
          <p:cNvSpPr>
            <a:spLocks noGrp="1"/>
          </p:cNvSpPr>
          <p:nvPr>
            <p:ph type="sldNum" idx="12"/>
          </p:nvPr>
        </p:nvSpPr>
        <p:spPr/>
        <p:txBody>
          <a:bodyPr/>
          <a:lstStyle/>
          <a:p>
            <a:fld id="{52A29C8B-5F70-8945-A2A6-FBD7A17156DB}" type="slidenum">
              <a:rPr lang="es-PE" smtClean="0"/>
              <a:pPr/>
              <a:t>53</a:t>
            </a:fld>
            <a:endParaRPr lang="es-PE"/>
          </a:p>
        </p:txBody>
      </p:sp>
      <p:sp>
        <p:nvSpPr>
          <p:cNvPr id="4" name="Marcador de contenido 3">
            <a:extLst>
              <a:ext uri="{FF2B5EF4-FFF2-40B4-BE49-F238E27FC236}">
                <a16:creationId xmlns:a16="http://schemas.microsoft.com/office/drawing/2014/main" id="{A0CA9721-BE6B-195D-4803-90E0E99BBD82}"/>
              </a:ext>
            </a:extLst>
          </p:cNvPr>
          <p:cNvSpPr>
            <a:spLocks noGrp="1"/>
          </p:cNvSpPr>
          <p:nvPr>
            <p:ph idx="1"/>
          </p:nvPr>
        </p:nvSpPr>
        <p:spPr/>
        <p:txBody>
          <a:bodyPr>
            <a:normAutofit/>
          </a:bodyPr>
          <a:lstStyle/>
          <a:p>
            <a:pPr marL="0" lvl="0" indent="0">
              <a:spcBef>
                <a:spcPts val="0"/>
              </a:spcBef>
              <a:buNone/>
            </a:pPr>
            <a:r>
              <a:rPr lang="es-ES" sz="2000" dirty="0"/>
              <a:t>Si el formulario que está enviando tiene la cabecera </a:t>
            </a:r>
            <a:r>
              <a:rPr lang="es-ES" sz="2000" b="1" dirty="0"/>
              <a:t>x-www-</a:t>
            </a:r>
            <a:r>
              <a:rPr lang="es-ES" sz="2000" b="1" dirty="0" err="1"/>
              <a:t>form</a:t>
            </a:r>
            <a:r>
              <a:rPr lang="es-ES" sz="2000" b="1" dirty="0"/>
              <a:t>-</a:t>
            </a:r>
            <a:r>
              <a:rPr lang="es-ES" sz="2000" b="1" dirty="0" err="1"/>
              <a:t>urlencoded</a:t>
            </a:r>
            <a:r>
              <a:rPr lang="es-ES" sz="2000" dirty="0"/>
              <a:t> (cabecera usada para enviar un formulario por POST en una página web), debe utilizar realizar dos cambios:</a:t>
            </a:r>
          </a:p>
          <a:p>
            <a:pPr lvl="0" indent="-342900">
              <a:spcBef>
                <a:spcPts val="1600"/>
              </a:spcBef>
              <a:buSzPts val="1800"/>
              <a:buChar char="●"/>
            </a:pPr>
            <a:r>
              <a:rPr lang="es-ES" sz="2000" dirty="0"/>
              <a:t>Agregar: </a:t>
            </a:r>
            <a:r>
              <a:rPr lang="es-ES" sz="1800" b="1" i="1" dirty="0">
                <a:latin typeface="Source Code Pro"/>
                <a:ea typeface="Source Code Pro"/>
                <a:cs typeface="Source Code Pro"/>
                <a:sym typeface="Source Code Pro"/>
              </a:rPr>
              <a:t>consumes = {</a:t>
            </a:r>
            <a:r>
              <a:rPr lang="es-ES" sz="1800" b="1" i="1" dirty="0" err="1">
                <a:latin typeface="Source Code Pro"/>
                <a:ea typeface="Source Code Pro"/>
                <a:cs typeface="Source Code Pro"/>
                <a:sym typeface="Source Code Pro"/>
              </a:rPr>
              <a:t>MediaType.APPLICATION_FORM_URLENCODED_VALUE</a:t>
            </a:r>
            <a:r>
              <a:rPr lang="es-ES" sz="1800" b="1" i="1" dirty="0">
                <a:latin typeface="Source Code Pro"/>
                <a:ea typeface="Source Code Pro"/>
                <a:cs typeface="Source Code Pro"/>
                <a:sym typeface="Source Code Pro"/>
              </a:rPr>
              <a:t>}</a:t>
            </a:r>
            <a:r>
              <a:rPr lang="es-ES" sz="1800" i="1" dirty="0"/>
              <a:t> </a:t>
            </a:r>
          </a:p>
          <a:p>
            <a:pPr lvl="0" indent="-342900">
              <a:spcBef>
                <a:spcPts val="0"/>
              </a:spcBef>
              <a:buSzPts val="1800"/>
              <a:buChar char="●"/>
            </a:pPr>
            <a:r>
              <a:rPr lang="es-ES" sz="2000" dirty="0">
                <a:solidFill>
                  <a:schemeClr val="bg2"/>
                </a:solidFill>
                <a:highlight>
                  <a:srgbClr val="00FF00"/>
                </a:highlight>
              </a:rPr>
              <a:t>Quitar la notación</a:t>
            </a:r>
            <a:r>
              <a:rPr lang="es-ES" sz="2000" b="1" dirty="0">
                <a:solidFill>
                  <a:schemeClr val="bg2"/>
                </a:solidFill>
                <a:highlight>
                  <a:srgbClr val="00FF00"/>
                </a:highlight>
              </a:rPr>
              <a:t> @RequestBody</a:t>
            </a:r>
            <a:r>
              <a:rPr lang="es-ES" sz="2000" dirty="0">
                <a:solidFill>
                  <a:schemeClr val="bg2"/>
                </a:solidFill>
                <a:highlight>
                  <a:srgbClr val="00FF00"/>
                </a:highlight>
              </a:rPr>
              <a:t>. Esto se debe a que @RequestBody funciona únicamente con el cuerpo del mensaje recibido como </a:t>
            </a:r>
            <a:r>
              <a:rPr lang="es-ES" sz="2000" dirty="0" err="1">
                <a:solidFill>
                  <a:schemeClr val="bg2"/>
                </a:solidFill>
                <a:highlight>
                  <a:srgbClr val="00FF00"/>
                </a:highlight>
              </a:rPr>
              <a:t>json</a:t>
            </a:r>
            <a:r>
              <a:rPr lang="es-ES" sz="2000" dirty="0">
                <a:solidFill>
                  <a:schemeClr val="bg2"/>
                </a:solidFill>
                <a:highlight>
                  <a:srgbClr val="00FF00"/>
                </a:highlight>
              </a:rPr>
              <a:t>.</a:t>
            </a:r>
          </a:p>
          <a:p>
            <a:endParaRPr lang="es-PE" sz="2000" dirty="0"/>
          </a:p>
        </p:txBody>
      </p:sp>
      <p:pic>
        <p:nvPicPr>
          <p:cNvPr id="5" name="Google Shape;516;p64">
            <a:extLst>
              <a:ext uri="{FF2B5EF4-FFF2-40B4-BE49-F238E27FC236}">
                <a16:creationId xmlns:a16="http://schemas.microsoft.com/office/drawing/2014/main" id="{6298C236-637E-5D6F-10D8-4457B9C7FCEF}"/>
              </a:ext>
            </a:extLst>
          </p:cNvPr>
          <p:cNvPicPr preferRelativeResize="0"/>
          <p:nvPr/>
        </p:nvPicPr>
        <p:blipFill>
          <a:blip r:embed="rId2">
            <a:alphaModFix/>
          </a:blip>
          <a:stretch>
            <a:fillRect/>
          </a:stretch>
        </p:blipFill>
        <p:spPr>
          <a:xfrm>
            <a:off x="1676399" y="3705473"/>
            <a:ext cx="8839201" cy="1018903"/>
          </a:xfrm>
          <a:prstGeom prst="rect">
            <a:avLst/>
          </a:prstGeom>
          <a:noFill/>
          <a:ln>
            <a:noFill/>
          </a:ln>
        </p:spPr>
      </p:pic>
    </p:spTree>
    <p:extLst>
      <p:ext uri="{BB962C8B-B14F-4D97-AF65-F5344CB8AC3E}">
        <p14:creationId xmlns:p14="http://schemas.microsoft.com/office/powerpoint/2010/main" val="26471732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01F14-817E-DD0D-269E-289B665209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4B1E07-8956-3C73-626D-EF39F12B186F}"/>
              </a:ext>
            </a:extLst>
          </p:cNvPr>
          <p:cNvSpPr>
            <a:spLocks noGrp="1"/>
          </p:cNvSpPr>
          <p:nvPr>
            <p:ph type="title"/>
          </p:nvPr>
        </p:nvSpPr>
        <p:spPr/>
        <p:txBody>
          <a:bodyPr/>
          <a:lstStyle/>
          <a:p>
            <a:r>
              <a:rPr lang="es-ES" dirty="0"/>
              <a:t>Observación – x-www-</a:t>
            </a:r>
            <a:r>
              <a:rPr lang="es-ES" dirty="0" err="1"/>
              <a:t>form</a:t>
            </a:r>
            <a:r>
              <a:rPr lang="es-ES" dirty="0"/>
              <a:t>-</a:t>
            </a:r>
            <a:r>
              <a:rPr lang="es-ES" dirty="0" err="1"/>
              <a:t>urlencoded</a:t>
            </a:r>
            <a:endParaRPr lang="es-PE" dirty="0"/>
          </a:p>
        </p:txBody>
      </p:sp>
      <p:sp>
        <p:nvSpPr>
          <p:cNvPr id="3" name="Marcador de número de diapositiva 2">
            <a:extLst>
              <a:ext uri="{FF2B5EF4-FFF2-40B4-BE49-F238E27FC236}">
                <a16:creationId xmlns:a16="http://schemas.microsoft.com/office/drawing/2014/main" id="{6F22F2D1-3278-404A-D8F2-7F06B78B5D94}"/>
              </a:ext>
            </a:extLst>
          </p:cNvPr>
          <p:cNvSpPr>
            <a:spLocks noGrp="1"/>
          </p:cNvSpPr>
          <p:nvPr>
            <p:ph type="sldNum" idx="12"/>
          </p:nvPr>
        </p:nvSpPr>
        <p:spPr/>
        <p:txBody>
          <a:bodyPr/>
          <a:lstStyle/>
          <a:p>
            <a:fld id="{52A29C8B-5F70-8945-A2A6-FBD7A17156DB}" type="slidenum">
              <a:rPr lang="es-PE" smtClean="0"/>
              <a:pPr/>
              <a:t>54</a:t>
            </a:fld>
            <a:endParaRPr lang="es-PE"/>
          </a:p>
        </p:txBody>
      </p:sp>
      <p:sp>
        <p:nvSpPr>
          <p:cNvPr id="4" name="Marcador de contenido 3">
            <a:extLst>
              <a:ext uri="{FF2B5EF4-FFF2-40B4-BE49-F238E27FC236}">
                <a16:creationId xmlns:a16="http://schemas.microsoft.com/office/drawing/2014/main" id="{5B3B892A-DD76-FCB3-E854-FC439B7A4206}"/>
              </a:ext>
            </a:extLst>
          </p:cNvPr>
          <p:cNvSpPr>
            <a:spLocks noGrp="1"/>
          </p:cNvSpPr>
          <p:nvPr>
            <p:ph idx="1"/>
          </p:nvPr>
        </p:nvSpPr>
        <p:spPr/>
        <p:txBody>
          <a:bodyPr/>
          <a:lstStyle/>
          <a:p>
            <a:r>
              <a:rPr lang="es-ES" dirty="0"/>
              <a:t>Y si quiera probarlo, debe configurar el </a:t>
            </a:r>
            <a:r>
              <a:rPr lang="es-ES" dirty="0" err="1"/>
              <a:t>postman</a:t>
            </a:r>
            <a:r>
              <a:rPr lang="es-ES" dirty="0"/>
              <a:t> con:</a:t>
            </a:r>
          </a:p>
          <a:p>
            <a:endParaRPr lang="es-PE" dirty="0"/>
          </a:p>
        </p:txBody>
      </p:sp>
      <p:pic>
        <p:nvPicPr>
          <p:cNvPr id="5" name="Google Shape;521;p65">
            <a:extLst>
              <a:ext uri="{FF2B5EF4-FFF2-40B4-BE49-F238E27FC236}">
                <a16:creationId xmlns:a16="http://schemas.microsoft.com/office/drawing/2014/main" id="{0EC11084-3C34-AE75-6243-7764B6412EB7}"/>
              </a:ext>
            </a:extLst>
          </p:cNvPr>
          <p:cNvPicPr preferRelativeResize="0"/>
          <p:nvPr/>
        </p:nvPicPr>
        <p:blipFill>
          <a:blip r:embed="rId2">
            <a:alphaModFix/>
          </a:blip>
          <a:stretch>
            <a:fillRect/>
          </a:stretch>
        </p:blipFill>
        <p:spPr>
          <a:xfrm>
            <a:off x="2987550" y="1863767"/>
            <a:ext cx="6433500" cy="3476018"/>
          </a:xfrm>
          <a:prstGeom prst="rect">
            <a:avLst/>
          </a:prstGeom>
          <a:noFill/>
          <a:ln>
            <a:noFill/>
          </a:ln>
        </p:spPr>
      </p:pic>
      <p:sp>
        <p:nvSpPr>
          <p:cNvPr id="6" name="Google Shape;525;p65">
            <a:extLst>
              <a:ext uri="{FF2B5EF4-FFF2-40B4-BE49-F238E27FC236}">
                <a16:creationId xmlns:a16="http://schemas.microsoft.com/office/drawing/2014/main" id="{60D734A1-D557-16C1-0A5C-3A8E3B7AD0C1}"/>
              </a:ext>
            </a:extLst>
          </p:cNvPr>
          <p:cNvSpPr/>
          <p:nvPr/>
        </p:nvSpPr>
        <p:spPr>
          <a:xfrm>
            <a:off x="3174475" y="3122960"/>
            <a:ext cx="1862100" cy="306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26;p65">
            <a:extLst>
              <a:ext uri="{FF2B5EF4-FFF2-40B4-BE49-F238E27FC236}">
                <a16:creationId xmlns:a16="http://schemas.microsoft.com/office/drawing/2014/main" id="{EDB62F2F-D514-F636-7FF6-E13DB31B8BF8}"/>
              </a:ext>
            </a:extLst>
          </p:cNvPr>
          <p:cNvSpPr/>
          <p:nvPr/>
        </p:nvSpPr>
        <p:spPr>
          <a:xfrm>
            <a:off x="3045325" y="3535785"/>
            <a:ext cx="6433500" cy="17328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27;p65">
            <a:extLst>
              <a:ext uri="{FF2B5EF4-FFF2-40B4-BE49-F238E27FC236}">
                <a16:creationId xmlns:a16="http://schemas.microsoft.com/office/drawing/2014/main" id="{CED8F7DC-98D7-C656-4C6E-D31B1A707CB9}"/>
              </a:ext>
            </a:extLst>
          </p:cNvPr>
          <p:cNvSpPr/>
          <p:nvPr/>
        </p:nvSpPr>
        <p:spPr>
          <a:xfrm>
            <a:off x="3045325" y="1980060"/>
            <a:ext cx="987600" cy="3891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8;p65">
            <a:extLst>
              <a:ext uri="{FF2B5EF4-FFF2-40B4-BE49-F238E27FC236}">
                <a16:creationId xmlns:a16="http://schemas.microsoft.com/office/drawing/2014/main" id="{6321BF34-3202-3420-EB1A-D25A3FE81688}"/>
              </a:ext>
            </a:extLst>
          </p:cNvPr>
          <p:cNvSpPr/>
          <p:nvPr/>
        </p:nvSpPr>
        <p:spPr>
          <a:xfrm>
            <a:off x="5637225" y="2687910"/>
            <a:ext cx="673200" cy="252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42916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5E998144-B44E-C5E6-90A8-0B6FCA4D131B}"/>
              </a:ext>
            </a:extLst>
          </p:cNvPr>
          <p:cNvSpPr>
            <a:spLocks noGrp="1"/>
          </p:cNvSpPr>
          <p:nvPr>
            <p:ph type="title"/>
          </p:nvPr>
        </p:nvSpPr>
        <p:spPr/>
        <p:txBody>
          <a:bodyPr/>
          <a:lstStyle/>
          <a:p>
            <a:r>
              <a:rPr lang="es-ES" dirty="0"/>
              <a:t>Borrar producto</a:t>
            </a:r>
            <a:endParaRPr lang="es-PE" dirty="0"/>
          </a:p>
        </p:txBody>
      </p:sp>
    </p:spTree>
    <p:extLst>
      <p:ext uri="{BB962C8B-B14F-4D97-AF65-F5344CB8AC3E}">
        <p14:creationId xmlns:p14="http://schemas.microsoft.com/office/powerpoint/2010/main" val="7343077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E3E2D9-87E9-49ED-718E-B7BA5FDF6D9B}"/>
              </a:ext>
            </a:extLst>
          </p:cNvPr>
          <p:cNvSpPr>
            <a:spLocks noGrp="1"/>
          </p:cNvSpPr>
          <p:nvPr>
            <p:ph type="title"/>
          </p:nvPr>
        </p:nvSpPr>
        <p:spPr/>
        <p:txBody>
          <a:bodyPr/>
          <a:lstStyle/>
          <a:p>
            <a:r>
              <a:rPr lang="es-ES" dirty="0"/>
              <a:t>DELETE/</a:t>
            </a:r>
            <a:r>
              <a:rPr lang="es-ES" dirty="0" err="1"/>
              <a:t>product</a:t>
            </a:r>
            <a:r>
              <a:rPr lang="es-ES" dirty="0"/>
              <a:t>/id </a:t>
            </a:r>
            <a:r>
              <a:rPr lang="es-ES" dirty="0">
                <a:sym typeface="Wingdings" panose="05000000000000000000" pitchFamily="2" charset="2"/>
              </a:rPr>
              <a:t> eliminar un producto por id</a:t>
            </a:r>
            <a:endParaRPr lang="es-PE" dirty="0"/>
          </a:p>
        </p:txBody>
      </p:sp>
      <p:sp>
        <p:nvSpPr>
          <p:cNvPr id="3" name="Marcador de número de diapositiva 2">
            <a:extLst>
              <a:ext uri="{FF2B5EF4-FFF2-40B4-BE49-F238E27FC236}">
                <a16:creationId xmlns:a16="http://schemas.microsoft.com/office/drawing/2014/main" id="{8B143D58-CA91-63CF-368A-A38AF337C7EF}"/>
              </a:ext>
            </a:extLst>
          </p:cNvPr>
          <p:cNvSpPr>
            <a:spLocks noGrp="1"/>
          </p:cNvSpPr>
          <p:nvPr>
            <p:ph type="sldNum" idx="12"/>
          </p:nvPr>
        </p:nvSpPr>
        <p:spPr/>
        <p:txBody>
          <a:bodyPr/>
          <a:lstStyle/>
          <a:p>
            <a:fld id="{52A29C8B-5F70-8945-A2A6-FBD7A17156DB}" type="slidenum">
              <a:rPr lang="es-PE" smtClean="0"/>
              <a:pPr/>
              <a:t>56</a:t>
            </a:fld>
            <a:endParaRPr lang="es-PE"/>
          </a:p>
        </p:txBody>
      </p:sp>
      <p:pic>
        <p:nvPicPr>
          <p:cNvPr id="5" name="Google Shape;541;p67">
            <a:extLst>
              <a:ext uri="{FF2B5EF4-FFF2-40B4-BE49-F238E27FC236}">
                <a16:creationId xmlns:a16="http://schemas.microsoft.com/office/drawing/2014/main" id="{34EB66EA-5ACD-41B3-DE94-EF09E3B7131D}"/>
              </a:ext>
            </a:extLst>
          </p:cNvPr>
          <p:cNvPicPr preferRelativeResize="0"/>
          <p:nvPr/>
        </p:nvPicPr>
        <p:blipFill>
          <a:blip r:embed="rId2">
            <a:alphaModFix/>
          </a:blip>
          <a:stretch>
            <a:fillRect/>
          </a:stretch>
        </p:blipFill>
        <p:spPr>
          <a:xfrm>
            <a:off x="2585549" y="1147685"/>
            <a:ext cx="7401133" cy="4392504"/>
          </a:xfrm>
          <a:prstGeom prst="rect">
            <a:avLst/>
          </a:prstGeom>
          <a:noFill/>
          <a:ln>
            <a:noFill/>
          </a:ln>
        </p:spPr>
      </p:pic>
    </p:spTree>
    <p:extLst>
      <p:ext uri="{BB962C8B-B14F-4D97-AF65-F5344CB8AC3E}">
        <p14:creationId xmlns:p14="http://schemas.microsoft.com/office/powerpoint/2010/main" val="3429594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BCE3-CDEE-CB6D-F4BF-BAFC8332ACC6}"/>
              </a:ext>
            </a:extLst>
          </p:cNvPr>
          <p:cNvSpPr>
            <a:spLocks noGrp="1"/>
          </p:cNvSpPr>
          <p:nvPr>
            <p:ph type="title"/>
          </p:nvPr>
        </p:nvSpPr>
        <p:spPr/>
        <p:txBody>
          <a:bodyPr/>
          <a:lstStyle/>
          <a:p>
            <a:r>
              <a:rPr lang="es-ES" dirty="0"/>
              <a:t>Probando con </a:t>
            </a:r>
            <a:r>
              <a:rPr lang="es-ES" dirty="0" err="1"/>
              <a:t>postman</a:t>
            </a:r>
            <a:endParaRPr lang="es-PE" dirty="0"/>
          </a:p>
        </p:txBody>
      </p:sp>
      <p:sp>
        <p:nvSpPr>
          <p:cNvPr id="3" name="Marcador de número de diapositiva 2">
            <a:extLst>
              <a:ext uri="{FF2B5EF4-FFF2-40B4-BE49-F238E27FC236}">
                <a16:creationId xmlns:a16="http://schemas.microsoft.com/office/drawing/2014/main" id="{2918F140-BC52-7962-1CE5-FA859476F107}"/>
              </a:ext>
            </a:extLst>
          </p:cNvPr>
          <p:cNvSpPr>
            <a:spLocks noGrp="1"/>
          </p:cNvSpPr>
          <p:nvPr>
            <p:ph type="sldNum" idx="12"/>
          </p:nvPr>
        </p:nvSpPr>
        <p:spPr/>
        <p:txBody>
          <a:bodyPr/>
          <a:lstStyle/>
          <a:p>
            <a:fld id="{52A29C8B-5F70-8945-A2A6-FBD7A17156DB}" type="slidenum">
              <a:rPr lang="es-PE" smtClean="0"/>
              <a:pPr/>
              <a:t>57</a:t>
            </a:fld>
            <a:endParaRPr lang="es-PE"/>
          </a:p>
        </p:txBody>
      </p:sp>
      <p:pic>
        <p:nvPicPr>
          <p:cNvPr id="4" name="Google Shape;548;p68">
            <a:extLst>
              <a:ext uri="{FF2B5EF4-FFF2-40B4-BE49-F238E27FC236}">
                <a16:creationId xmlns:a16="http://schemas.microsoft.com/office/drawing/2014/main" id="{C5FBFA41-3F77-F949-620F-F3885D087A6D}"/>
              </a:ext>
            </a:extLst>
          </p:cNvPr>
          <p:cNvPicPr preferRelativeResize="0"/>
          <p:nvPr/>
        </p:nvPicPr>
        <p:blipFill>
          <a:blip r:embed="rId2">
            <a:alphaModFix/>
          </a:blip>
          <a:stretch>
            <a:fillRect/>
          </a:stretch>
        </p:blipFill>
        <p:spPr>
          <a:xfrm>
            <a:off x="5441577" y="3177905"/>
            <a:ext cx="4533900" cy="1400175"/>
          </a:xfrm>
          <a:prstGeom prst="rect">
            <a:avLst/>
          </a:prstGeom>
          <a:noFill/>
          <a:ln>
            <a:noFill/>
          </a:ln>
        </p:spPr>
      </p:pic>
      <p:pic>
        <p:nvPicPr>
          <p:cNvPr id="5" name="Google Shape;549;p68">
            <a:extLst>
              <a:ext uri="{FF2B5EF4-FFF2-40B4-BE49-F238E27FC236}">
                <a16:creationId xmlns:a16="http://schemas.microsoft.com/office/drawing/2014/main" id="{95C0E3FE-64B1-C078-2C0A-8779525B9699}"/>
              </a:ext>
            </a:extLst>
          </p:cNvPr>
          <p:cNvPicPr preferRelativeResize="0"/>
          <p:nvPr/>
        </p:nvPicPr>
        <p:blipFill>
          <a:blip r:embed="rId3">
            <a:alphaModFix/>
          </a:blip>
          <a:stretch>
            <a:fillRect/>
          </a:stretch>
        </p:blipFill>
        <p:spPr>
          <a:xfrm>
            <a:off x="2146352" y="1995997"/>
            <a:ext cx="2809875" cy="466725"/>
          </a:xfrm>
          <a:prstGeom prst="rect">
            <a:avLst/>
          </a:prstGeom>
          <a:noFill/>
          <a:ln>
            <a:noFill/>
          </a:ln>
        </p:spPr>
      </p:pic>
    </p:spTree>
    <p:extLst>
      <p:ext uri="{BB962C8B-B14F-4D97-AF65-F5344CB8AC3E}">
        <p14:creationId xmlns:p14="http://schemas.microsoft.com/office/powerpoint/2010/main" val="18927368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4276A6-F640-54D7-8118-EEF1A72188D7}"/>
              </a:ext>
            </a:extLst>
          </p:cNvPr>
          <p:cNvSpPr>
            <a:spLocks noGrp="1"/>
          </p:cNvSpPr>
          <p:nvPr>
            <p:ph type="title"/>
          </p:nvPr>
        </p:nvSpPr>
        <p:spPr/>
        <p:txBody>
          <a:bodyPr/>
          <a:lstStyle/>
          <a:p>
            <a:r>
              <a:rPr lang="es-ES" dirty="0"/>
              <a:t>Otras rutas necesarias</a:t>
            </a:r>
            <a:endParaRPr lang="es-PE" dirty="0"/>
          </a:p>
        </p:txBody>
      </p:sp>
      <p:sp>
        <p:nvSpPr>
          <p:cNvPr id="3" name="Marcador de número de diapositiva 2">
            <a:extLst>
              <a:ext uri="{FF2B5EF4-FFF2-40B4-BE49-F238E27FC236}">
                <a16:creationId xmlns:a16="http://schemas.microsoft.com/office/drawing/2014/main" id="{23073431-15B1-E59D-3D1A-61C092E11513}"/>
              </a:ext>
            </a:extLst>
          </p:cNvPr>
          <p:cNvSpPr>
            <a:spLocks noGrp="1"/>
          </p:cNvSpPr>
          <p:nvPr>
            <p:ph type="sldNum" idx="12"/>
          </p:nvPr>
        </p:nvSpPr>
        <p:spPr/>
        <p:txBody>
          <a:bodyPr/>
          <a:lstStyle/>
          <a:p>
            <a:fld id="{52A29C8B-5F70-8945-A2A6-FBD7A17156DB}" type="slidenum">
              <a:rPr lang="es-PE" smtClean="0"/>
              <a:pPr/>
              <a:t>58</a:t>
            </a:fld>
            <a:endParaRPr lang="es-PE"/>
          </a:p>
        </p:txBody>
      </p:sp>
      <p:sp>
        <p:nvSpPr>
          <p:cNvPr id="4" name="Marcador de contenido 3">
            <a:extLst>
              <a:ext uri="{FF2B5EF4-FFF2-40B4-BE49-F238E27FC236}">
                <a16:creationId xmlns:a16="http://schemas.microsoft.com/office/drawing/2014/main" id="{4BA8CF74-2E74-3EB8-341B-D218AEBECA4C}"/>
              </a:ext>
            </a:extLst>
          </p:cNvPr>
          <p:cNvSpPr>
            <a:spLocks noGrp="1"/>
          </p:cNvSpPr>
          <p:nvPr>
            <p:ph idx="1"/>
          </p:nvPr>
        </p:nvSpPr>
        <p:spPr/>
        <p:txBody>
          <a:bodyPr/>
          <a:lstStyle/>
          <a:p>
            <a:pPr marL="0" lvl="0" indent="0">
              <a:spcBef>
                <a:spcPts val="0"/>
              </a:spcBef>
              <a:buNone/>
            </a:pPr>
            <a:r>
              <a:rPr lang="es-ES" dirty="0"/>
              <a:t>Tal como se mencionó al inicio del ejercicio, se necesitan las siguientes rutas:</a:t>
            </a:r>
          </a:p>
          <a:p>
            <a:pPr lvl="0" indent="-342900">
              <a:spcBef>
                <a:spcPts val="0"/>
              </a:spcBef>
              <a:buSzPts val="1800"/>
              <a:buChar char="●"/>
            </a:pPr>
            <a:r>
              <a:rPr lang="es-ES" b="1" dirty="0"/>
              <a:t>GET /</a:t>
            </a:r>
            <a:r>
              <a:rPr lang="es-ES" b="1" dirty="0" err="1"/>
              <a:t>category</a:t>
            </a:r>
            <a:r>
              <a:rPr lang="es-ES" b="1" dirty="0"/>
              <a:t> → lista de categorías</a:t>
            </a:r>
          </a:p>
          <a:p>
            <a:pPr lvl="0" indent="-342900">
              <a:spcBef>
                <a:spcPts val="0"/>
              </a:spcBef>
              <a:buSzPts val="1800"/>
              <a:buChar char="●"/>
            </a:pPr>
            <a:r>
              <a:rPr lang="es-ES" b="1" dirty="0"/>
              <a:t>GET /</a:t>
            </a:r>
            <a:r>
              <a:rPr lang="es-ES" b="1" dirty="0" err="1"/>
              <a:t>supplier</a:t>
            </a:r>
            <a:r>
              <a:rPr lang="es-ES" b="1" dirty="0"/>
              <a:t> → lista de proveedores</a:t>
            </a:r>
          </a:p>
          <a:p>
            <a:endParaRPr lang="es-PE" dirty="0"/>
          </a:p>
        </p:txBody>
      </p:sp>
      <p:pic>
        <p:nvPicPr>
          <p:cNvPr id="5" name="Google Shape;557;p69">
            <a:extLst>
              <a:ext uri="{FF2B5EF4-FFF2-40B4-BE49-F238E27FC236}">
                <a16:creationId xmlns:a16="http://schemas.microsoft.com/office/drawing/2014/main" id="{1AA5F360-8C8A-4D57-07B2-40492D5D34D5}"/>
              </a:ext>
            </a:extLst>
          </p:cNvPr>
          <p:cNvPicPr preferRelativeResize="0"/>
          <p:nvPr/>
        </p:nvPicPr>
        <p:blipFill rotWithShape="1">
          <a:blip r:embed="rId2">
            <a:alphaModFix/>
          </a:blip>
          <a:srcRect b="3006"/>
          <a:stretch/>
        </p:blipFill>
        <p:spPr>
          <a:xfrm>
            <a:off x="768070" y="3376550"/>
            <a:ext cx="5078636" cy="1540853"/>
          </a:xfrm>
          <a:prstGeom prst="rect">
            <a:avLst/>
          </a:prstGeom>
          <a:noFill/>
          <a:ln>
            <a:noFill/>
          </a:ln>
        </p:spPr>
      </p:pic>
      <p:pic>
        <p:nvPicPr>
          <p:cNvPr id="6" name="Google Shape;558;p69">
            <a:extLst>
              <a:ext uri="{FF2B5EF4-FFF2-40B4-BE49-F238E27FC236}">
                <a16:creationId xmlns:a16="http://schemas.microsoft.com/office/drawing/2014/main" id="{5D6C2522-6264-6AD6-5D40-86F6B5455618}"/>
              </a:ext>
            </a:extLst>
          </p:cNvPr>
          <p:cNvPicPr preferRelativeResize="0"/>
          <p:nvPr/>
        </p:nvPicPr>
        <p:blipFill>
          <a:blip r:embed="rId3">
            <a:alphaModFix/>
          </a:blip>
          <a:stretch>
            <a:fillRect/>
          </a:stretch>
        </p:blipFill>
        <p:spPr>
          <a:xfrm>
            <a:off x="6015691" y="3210786"/>
            <a:ext cx="5700823" cy="1872380"/>
          </a:xfrm>
          <a:prstGeom prst="rect">
            <a:avLst/>
          </a:prstGeom>
          <a:noFill/>
          <a:ln>
            <a:noFill/>
          </a:ln>
        </p:spPr>
      </p:pic>
    </p:spTree>
    <p:extLst>
      <p:ext uri="{BB962C8B-B14F-4D97-AF65-F5344CB8AC3E}">
        <p14:creationId xmlns:p14="http://schemas.microsoft.com/office/powerpoint/2010/main" val="40062004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E9AAC9-062D-98C7-4C78-B65E8B8D8E86}"/>
              </a:ext>
            </a:extLst>
          </p:cNvPr>
          <p:cNvSpPr>
            <a:spLocks noGrp="1"/>
          </p:cNvSpPr>
          <p:nvPr>
            <p:ph type="title"/>
          </p:nvPr>
        </p:nvSpPr>
        <p:spPr/>
        <p:txBody>
          <a:bodyPr/>
          <a:lstStyle/>
          <a:p>
            <a:r>
              <a:rPr lang="es-ES" dirty="0"/>
              <a:t>Bibliografía</a:t>
            </a:r>
            <a:endParaRPr lang="es-PE" dirty="0"/>
          </a:p>
        </p:txBody>
      </p:sp>
      <p:sp>
        <p:nvSpPr>
          <p:cNvPr id="3" name="Marcador de número de diapositiva 2">
            <a:extLst>
              <a:ext uri="{FF2B5EF4-FFF2-40B4-BE49-F238E27FC236}">
                <a16:creationId xmlns:a16="http://schemas.microsoft.com/office/drawing/2014/main" id="{2B5FDB91-63E7-3384-D5D7-D69CA3E1FD82}"/>
              </a:ext>
            </a:extLst>
          </p:cNvPr>
          <p:cNvSpPr>
            <a:spLocks noGrp="1"/>
          </p:cNvSpPr>
          <p:nvPr>
            <p:ph type="sldNum" idx="12"/>
          </p:nvPr>
        </p:nvSpPr>
        <p:spPr/>
        <p:txBody>
          <a:bodyPr/>
          <a:lstStyle/>
          <a:p>
            <a:fld id="{52A29C8B-5F70-8945-A2A6-FBD7A17156DB}" type="slidenum">
              <a:rPr lang="es-PE" smtClean="0"/>
              <a:pPr/>
              <a:t>59</a:t>
            </a:fld>
            <a:endParaRPr lang="es-PE"/>
          </a:p>
        </p:txBody>
      </p:sp>
      <p:sp>
        <p:nvSpPr>
          <p:cNvPr id="4" name="Marcador de contenido 3">
            <a:extLst>
              <a:ext uri="{FF2B5EF4-FFF2-40B4-BE49-F238E27FC236}">
                <a16:creationId xmlns:a16="http://schemas.microsoft.com/office/drawing/2014/main" id="{DEC60BB1-1F73-E0BD-A5BB-A4D75B21DAD6}"/>
              </a:ext>
            </a:extLst>
          </p:cNvPr>
          <p:cNvSpPr>
            <a:spLocks noGrp="1"/>
          </p:cNvSpPr>
          <p:nvPr>
            <p:ph idx="1"/>
          </p:nvPr>
        </p:nvSpPr>
        <p:spPr/>
        <p:txBody>
          <a:bodyPr/>
          <a:lstStyle/>
          <a:p>
            <a:pPr lvl="0" indent="-342900">
              <a:spcBef>
                <a:spcPts val="0"/>
              </a:spcBef>
              <a:buSzPts val="1800"/>
              <a:buChar char="●"/>
            </a:pPr>
            <a:r>
              <a:rPr lang="en-US" sz="1800" u="sng" dirty="0">
                <a:solidFill>
                  <a:schemeClr val="hlink"/>
                </a:solidFill>
                <a:hlinkClick r:id="rId2"/>
              </a:rPr>
              <a:t>https://spring.io/guides/gs/rest-service/</a:t>
            </a:r>
            <a:endParaRPr lang="en-US" sz="1800" dirty="0"/>
          </a:p>
          <a:p>
            <a:pPr lvl="0" indent="-342900">
              <a:buSzPts val="1800"/>
              <a:buChar char="●"/>
            </a:pPr>
            <a:r>
              <a:rPr lang="en-US" sz="1800" dirty="0"/>
              <a:t>Libro: </a:t>
            </a:r>
          </a:p>
          <a:p>
            <a:pPr lvl="1" indent="-317500">
              <a:spcBef>
                <a:spcPts val="0"/>
              </a:spcBef>
              <a:buSzPts val="1400"/>
              <a:buChar char="○"/>
            </a:pPr>
            <a:r>
              <a:rPr lang="en-US" sz="1800" dirty="0"/>
              <a:t>Siva, P. R. K. (2018). </a:t>
            </a:r>
            <a:r>
              <a:rPr lang="en-US" sz="1800" i="1" dirty="0"/>
              <a:t>Beginning Spring Boot 2: applications and microservices with the Spring framework</a:t>
            </a:r>
            <a:r>
              <a:rPr lang="en-US" sz="1800" dirty="0"/>
              <a:t>. New York: </a:t>
            </a:r>
            <a:r>
              <a:rPr lang="en-US" sz="1800" dirty="0" err="1"/>
              <a:t>Apress</a:t>
            </a:r>
            <a:r>
              <a:rPr lang="en-US" sz="1800" dirty="0"/>
              <a:t>.</a:t>
            </a:r>
          </a:p>
          <a:p>
            <a:pPr lvl="2" indent="-317500">
              <a:spcBef>
                <a:spcPts val="0"/>
              </a:spcBef>
              <a:buSzPts val="1400"/>
              <a:buChar char="■"/>
            </a:pPr>
            <a:r>
              <a:rPr lang="en-US" sz="1600" dirty="0"/>
              <a:t>Chapter 11: Building REST APIs Using Spring Boot</a:t>
            </a:r>
          </a:p>
          <a:p>
            <a:endParaRPr lang="es-PE" dirty="0"/>
          </a:p>
        </p:txBody>
      </p:sp>
    </p:spTree>
    <p:extLst>
      <p:ext uri="{BB962C8B-B14F-4D97-AF65-F5344CB8AC3E}">
        <p14:creationId xmlns:p14="http://schemas.microsoft.com/office/powerpoint/2010/main" val="1867024102"/>
      </p:ext>
    </p:extLst>
  </p:cSld>
  <p:clrMapOvr>
    <a:masterClrMapping/>
  </p:clrMapOvr>
</p:sld>
</file>

<file path=ppt/theme/theme1.xml><?xml version="1.0" encoding="utf-8"?>
<a:theme xmlns:a="http://schemas.openxmlformats.org/drawingml/2006/main" name="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1CEE12FC-EFE8-427F-AFDD-10E13BDA9816}"/>
    </a:ext>
  </a:extLst>
</a:theme>
</file>

<file path=ppt/theme/theme2.xml><?xml version="1.0" encoding="utf-8"?>
<a:theme xmlns:a="http://schemas.openxmlformats.org/drawingml/2006/main" name="1_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2968A79A-DB5B-4965-B275-611A9275D097}"/>
    </a:ext>
  </a:extLst>
</a:theme>
</file>

<file path=ppt/theme/theme3.xml><?xml version="1.0" encoding="utf-8"?>
<a:theme xmlns:a="http://schemas.openxmlformats.org/drawingml/2006/main" name="Diseño personalizado">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Montserrat">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5F575593-E9A2-4645-ABE1-5BD8C9BF19B9}"/>
    </a:ext>
  </a:extLst>
</a:theme>
</file>

<file path=ppt/theme/theme4.xml><?xml version="1.0" encoding="utf-8"?>
<a:theme xmlns:a="http://schemas.openxmlformats.org/drawingml/2006/main" name="Telecom Pucp">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lecom Pucp" id="{04A4479E-36D6-4C66-807A-9F4E8318654E}" vid="{A438D0C6-9502-4DA2-8DE8-05B87C02855A}"/>
    </a:ext>
  </a:extLst>
</a:theme>
</file>

<file path=ppt/theme/theme5.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Plantilla_Telecomunicaciones (1)</Template>
  <TotalTime>691</TotalTime>
  <Words>2209</Words>
  <Application>Microsoft Office PowerPoint</Application>
  <PresentationFormat>Panorámica</PresentationFormat>
  <Paragraphs>305</Paragraphs>
  <Slides>59</Slides>
  <Notes>0</Notes>
  <HiddenSlides>0</HiddenSlides>
  <MMClips>0</MMClips>
  <ScaleCrop>false</ScaleCrop>
  <HeadingPairs>
    <vt:vector size="6" baseType="variant">
      <vt:variant>
        <vt:lpstr>Fuentes usadas</vt:lpstr>
      </vt:variant>
      <vt:variant>
        <vt:i4>8</vt:i4>
      </vt:variant>
      <vt:variant>
        <vt:lpstr>Tema</vt:lpstr>
      </vt:variant>
      <vt:variant>
        <vt:i4>4</vt:i4>
      </vt:variant>
      <vt:variant>
        <vt:lpstr>Títulos de diapositiva</vt:lpstr>
      </vt:variant>
      <vt:variant>
        <vt:i4>59</vt:i4>
      </vt:variant>
    </vt:vector>
  </HeadingPairs>
  <TitlesOfParts>
    <vt:vector size="71" baseType="lpstr">
      <vt:lpstr>Arial</vt:lpstr>
      <vt:lpstr>Caveat</vt:lpstr>
      <vt:lpstr>Courier New</vt:lpstr>
      <vt:lpstr>Montserrat</vt:lpstr>
      <vt:lpstr>Montserrat Medium</vt:lpstr>
      <vt:lpstr>Open Sans</vt:lpstr>
      <vt:lpstr>Source Code Pro</vt:lpstr>
      <vt:lpstr>Wingdings</vt:lpstr>
      <vt:lpstr>Tema de Office</vt:lpstr>
      <vt:lpstr>1_Tema de Office</vt:lpstr>
      <vt:lpstr>Diseño personalizado</vt:lpstr>
      <vt:lpstr>Telecom Pucp</vt:lpstr>
      <vt:lpstr>Presentación de PowerPoint</vt:lpstr>
      <vt:lpstr>Creación de Servicios Web con Spring Boot</vt:lpstr>
      <vt:lpstr>Creación de un servicio web REST</vt:lpstr>
      <vt:lpstr>Archivos Base</vt:lpstr>
      <vt:lpstr>Controlador web service</vt:lpstr>
      <vt:lpstr>Controlador web service</vt:lpstr>
      <vt:lpstr>@RestController</vt:lpstr>
      <vt:lpstr>Probando Web Service – Con Postman</vt:lpstr>
      <vt:lpstr>Postman</vt:lpstr>
      <vt:lpstr>Observación  Omitir Campos</vt:lpstr>
      <vt:lpstr>Observación  CORS</vt:lpstr>
      <vt:lpstr>Observación  Charset</vt:lpstr>
      <vt:lpstr>Documentación</vt:lpstr>
      <vt:lpstr>Creación de un servicio web RESTful  CRUD de productos</vt:lpstr>
      <vt:lpstr>Presentación de PowerPoint</vt:lpstr>
      <vt:lpstr>Servicio web RESTful</vt:lpstr>
      <vt:lpstr>Controlador</vt:lpstr>
      <vt:lpstr>GET / producto  lista dep roductos</vt:lpstr>
      <vt:lpstr>Obtener producto</vt:lpstr>
      <vt:lpstr>GET/producto/id  obtener un producto por id</vt:lpstr>
      <vt:lpstr>GET/producto/id  obtener un producto por id</vt:lpstr>
      <vt:lpstr>Probando – id válido</vt:lpstr>
      <vt:lpstr>Probando – id válido o como texto</vt:lpstr>
      <vt:lpstr>Análisis</vt:lpstr>
      <vt:lpstr>RespondeEntity</vt:lpstr>
      <vt:lpstr>ResponseEntity – HTTP 200 (ok)</vt:lpstr>
      <vt:lpstr>ResponseEntity – HTTP 400 (bad request)</vt:lpstr>
      <vt:lpstr>Método Completo</vt:lpstr>
      <vt:lpstr>Probando – solicitud correcta</vt:lpstr>
      <vt:lpstr>Probando – http 400</vt:lpstr>
      <vt:lpstr>Documentación – obtener producto</vt:lpstr>
      <vt:lpstr>Crear producto</vt:lpstr>
      <vt:lpstr>POST / product  crear un producto en el servidor</vt:lpstr>
      <vt:lpstr>POST / product</vt:lpstr>
      <vt:lpstr>POST / product</vt:lpstr>
      <vt:lpstr>Probando con Postman</vt:lpstr>
      <vt:lpstr>Probando con Postman</vt:lpstr>
      <vt:lpstr>Probando con Postman – sin enviar fotos</vt:lpstr>
      <vt:lpstr>Gestión de la excepción</vt:lpstr>
      <vt:lpstr>Probando con Postman</vt:lpstr>
      <vt:lpstr>Actualizar producto</vt:lpstr>
      <vt:lpstr>PUT / product  actualizar un producto</vt:lpstr>
      <vt:lpstr>PUT / producto  actualizar un producto</vt:lpstr>
      <vt:lpstr>PUT / producto  actualizar un producto</vt:lpstr>
      <vt:lpstr>Probando con Postman</vt:lpstr>
      <vt:lpstr>Probando con Postman</vt:lpstr>
      <vt:lpstr>Probando con Postman</vt:lpstr>
      <vt:lpstr>Probando con Postman</vt:lpstr>
      <vt:lpstr>Actualización de producto parcial</vt:lpstr>
      <vt:lpstr>Actualización parcial</vt:lpstr>
      <vt:lpstr>Observación – actualización parcial</vt:lpstr>
      <vt:lpstr>Observación – actualización parcial</vt:lpstr>
      <vt:lpstr>Observación – x-www-form-urlencoded</vt:lpstr>
      <vt:lpstr>Observación – x-www-form-urlencoded</vt:lpstr>
      <vt:lpstr>Borrar producto</vt:lpstr>
      <vt:lpstr>DELETE/product/id  eliminar un producto por id</vt:lpstr>
      <vt:lpstr>Probando con postman</vt:lpstr>
      <vt:lpstr>Otras rutas necesarias</vt:lpstr>
      <vt:lpstr>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Orientada a Objetos &amp; Introducción a Java</dc:title>
  <dc:creator>Brenda Tumbalobos</dc:creator>
  <cp:lastModifiedBy>Brenda Tumbalobos Cubas</cp:lastModifiedBy>
  <cp:revision>34</cp:revision>
  <dcterms:created xsi:type="dcterms:W3CDTF">2023-10-28T21:43:03Z</dcterms:created>
  <dcterms:modified xsi:type="dcterms:W3CDTF">2026-06-02T03:42:32Z</dcterms:modified>
</cp:coreProperties>
</file>