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4" r:id="rId2"/>
    <p:sldMasterId id="2147483660" r:id="rId3"/>
    <p:sldMasterId id="2147483680" r:id="rId4"/>
  </p:sldMasterIdLst>
  <p:notesMasterIdLst>
    <p:notesMasterId r:id="rId17"/>
  </p:notesMasterIdLst>
  <p:handoutMasterIdLst>
    <p:handoutMasterId r:id="rId18"/>
  </p:handoutMasterIdLst>
  <p:sldIdLst>
    <p:sldId id="373" r:id="rId5"/>
    <p:sldId id="374" r:id="rId6"/>
    <p:sldId id="375" r:id="rId7"/>
    <p:sldId id="376" r:id="rId8"/>
    <p:sldId id="377" r:id="rId9"/>
    <p:sldId id="378" r:id="rId10"/>
    <p:sldId id="379" r:id="rId11"/>
    <p:sldId id="380" r:id="rId12"/>
    <p:sldId id="381" r:id="rId13"/>
    <p:sldId id="382" r:id="rId14"/>
    <p:sldId id="383" r:id="rId15"/>
    <p:sldId id="384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E32C8"/>
    <a:srgbClr val="0A2451"/>
    <a:srgbClr val="7F32C8"/>
    <a:srgbClr val="0096C8"/>
    <a:srgbClr val="009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91" autoAdjust="0"/>
    <p:restoredTop sz="94643"/>
  </p:normalViewPr>
  <p:slideViewPr>
    <p:cSldViewPr snapToGrid="0" snapToObjects="1">
      <p:cViewPr varScale="1">
        <p:scale>
          <a:sx n="107" d="100"/>
          <a:sy n="107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F0BF7D0-ACCD-45E0-9075-7974351BA6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3B6A517-4C1F-40CC-B607-62B1086073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40BD7-4B38-4A99-A6E7-5E1A97DAF11B}" type="datetimeFigureOut">
              <a:rPr lang="es-PE" smtClean="0"/>
              <a:t>26/04/2026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DE1014B-0959-4D3A-8DC3-99369C9107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A5F80A8-C49B-4372-B96A-23231D58BE2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3D7DB4-D5A9-475B-BF72-4B93DC046C52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26361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2EFC3-66C1-4423-B1B2-E7C9DCCB5C75}" type="datetimeFigureOut">
              <a:rPr lang="es-PE" smtClean="0"/>
              <a:t>26/04/2026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575E41-3A85-45FC-A38E-3ABB827C81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37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BBDFEDA-4707-4FCF-B728-8770DE811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1C491-E0CA-4324-AB99-27795370E731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FEC6C11-5534-41C2-AE3F-23A2E42B2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96F09D-DC31-489D-B4ED-C366F8894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69103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98E25-E046-416A-8AD2-E2EA35E0D47B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28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F8130-A112-4F15-AFC2-368CC75448B6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EB1898-D756-124E-BD1B-9A75D2250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6BDD-8036-732D-98BA-0F2E37352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0875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9D8E-AB04-8E45-9319-348AC3CB4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49A28C-F211-4BC4-A82C-550C2815AB6D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7A3063-101A-4748-9BF4-BDCEAD74E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81654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11ED01-9170-4915-AD68-3CC34DFA2DBD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  <a:endParaRPr lang="es-PE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8F1C9D-46B9-3A4E-AB57-99CFCB4F8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6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E0DE35-9A49-4AAC-8B2C-BA4A347498EB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83630D-DB33-894E-A6FB-7C886A314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31018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BB3AF-5458-4635-87B4-F9A9B12C545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40BCAD-F69B-D846-B7D1-F816049E4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11520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94354-6BA5-49FF-BF43-87C4B22E98B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D665C2B-C547-9D48-897C-C27108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56347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70608-F1FB-45F6-860F-922B6EF37ED4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9B5093-2547-5848-96C5-63FA5D8A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19299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078BD-AB8A-4345-9035-53D22F2B3257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PE"/>
              <a:t>Nombre de Curso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95E045-43DC-F64F-8427-01C4927DE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/>
          <a:lstStyle/>
          <a:p>
            <a:fld id="{52A29C8B-5F70-8945-A2A6-FBD7A17156D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393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DBA0DE-A445-C046-811D-A0A00D5D9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8617"/>
            <a:ext cx="10515600" cy="330490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20B3-8E4D-AF4A-B2D9-03D2C476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51771-42A4-45B0-9E2A-31E6848B072B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B548EA-F76C-FF4F-8B46-8E2BF1373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título 1">
            <a:extLst>
              <a:ext uri="{FF2B5EF4-FFF2-40B4-BE49-F238E27FC236}">
                <a16:creationId xmlns:a16="http://schemas.microsoft.com/office/drawing/2014/main" id="{A687CBB4-B26D-433C-982F-3DCCCFE5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8824"/>
            <a:ext cx="10515600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D43F6072-5465-F57A-EF21-56204254D9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28459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5F0A72E7-2671-47A4-AF35-66459EA1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D25D-3002-4A58-8B13-21BD8EE61204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86C3314-7415-4B69-9C72-28C2155C4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Marcador de número de diapositiva 5">
            <a:extLst>
              <a:ext uri="{FF2B5EF4-FFF2-40B4-BE49-F238E27FC236}">
                <a16:creationId xmlns:a16="http://schemas.microsoft.com/office/drawing/2014/main" id="{07477A4A-ECCB-8B69-A47C-30FB4783A4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55170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88CE456-0DBE-1C40-8524-031B3877F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1DECC-10B9-4F40-90A9-2F5BE622FB80}" type="datetime6">
              <a:rPr lang="es-PE" smtClean="0"/>
              <a:t>Abril de 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13C97-DAF6-0446-9B12-00C44E4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278E2-83A6-F38B-4712-926F3DB9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5A0FF8-286D-9381-1F09-B45262982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561495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D9D2A5-97BD-8444-B300-CB3EF7767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95BA6D-368F-2A4C-86C6-7C524823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F008D962-BEC4-402A-A407-79C9AD9F2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C0233-ABB9-4EC0-9B00-FB2CD5E81D0A}" type="datetime6">
              <a:rPr lang="es-PE" smtClean="0"/>
              <a:t>Abril de 2026</a:t>
            </a:fld>
            <a:endParaRPr lang="es-PE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3750F3DD-81E0-4125-8E5B-E0A1E3048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9B72A45B-A8B6-53D1-D299-D8D234C35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7330049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59745-E305-7640-B460-DDD95C89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0424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75B0667-94AD-7042-9167-6A1B455E6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067D8BB-0B6A-2240-A623-F66BAB2A5D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68EE1D5-EF01-AC4E-AA18-52153E6F0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32517-B618-4C30-966E-4CE57A9A4AD9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2359DB5-DA05-4B4B-BD9E-D3BDC005A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975A041E-5422-B9D8-43AC-BC8E8410A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190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ACC2AA-33EE-AB44-B80C-3D1773A3A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B08598-2ACB-2B45-9E0E-D98A56EE5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B67032-A5C9-324F-A584-06E700EE0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F4544B5-4120-574B-B4E0-401F5F83C6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44BB40B-E345-D441-8AFF-88629E4AA6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CC541E4-0910-6C4F-BD18-90C1769A8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6572F-C44F-4ECE-A2FB-0C63931A9A8E}" type="datetime6">
              <a:rPr lang="es-PE" smtClean="0"/>
              <a:t>Abril de 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CF8149B-1A8E-3A44-9444-BDD313C7D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024E81AF-5ACD-3527-83DB-C9AD4CA08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1080790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5CB7F1-07EB-464F-AC5E-D3E6B18BF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D70BCF-77E2-F94E-848B-F5F2FE1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71899D-560A-7148-BA0D-597063A7B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43E003-7994-0246-9291-9317E3410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65C4A-DDA2-4FA4-84CD-631E9785E0C4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AA6F9B-E2F3-2A4E-98F0-37C47639A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59D5B90D-729B-0333-8733-D407F44413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87264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35587-6FE6-EA45-9836-90381FE25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1075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751ABA-EF72-4841-94BA-E12B7647E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37D36B7-A3A2-304B-9C5E-E94151CF59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81275"/>
            <a:ext cx="3932237" cy="32877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3CB4C2-2F2B-A841-B84D-E620C8AA5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576157-6C99-4927-8D4B-5792D6D36C68}" type="datetime6">
              <a:rPr lang="es-PE" smtClean="0"/>
              <a:t>Abril de 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9CDFF5-81F8-2740-AEB1-0FB32A90A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8" name="Marcador de número de diapositiva 5">
            <a:extLst>
              <a:ext uri="{FF2B5EF4-FFF2-40B4-BE49-F238E27FC236}">
                <a16:creationId xmlns:a16="http://schemas.microsoft.com/office/drawing/2014/main" id="{C8F8A8AE-3D1C-5104-BD49-852FD075A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189536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087A71-69DB-854D-AF4D-5695ABE4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01711"/>
            <a:ext cx="10515600" cy="7794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2FD9AA9-791D-D640-AF5D-87DF3914D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2108197"/>
            <a:ext cx="10515600" cy="406876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BEA8E4A-2B4B-7A44-8E86-46F69B8D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CE1B8-50E8-41AE-B289-DDEF242637E2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B04C96-1676-754C-9A8B-159B005BA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E4FC7515-E45E-EA9E-AB33-84FFF36BD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224937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A8B670-B2A5-5048-888C-B345BD663E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DFF0EDD-FEAB-C845-87C0-40EC9D572C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253251-F540-0244-AF80-037E0E2FD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82286-761A-4DF9-BC80-ED7ACDE5A868}" type="datetime6">
              <a:rPr lang="es-PE" smtClean="0"/>
              <a:t>Abril de 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1A4D8-F0DD-F843-9B64-8E56FBB91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9245C2B-EA67-6FB3-B251-E41C031854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24469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E40041-0AC9-F54A-8CD6-2C6E25C0043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628900" y="2314574"/>
            <a:ext cx="7181850" cy="2224781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Título de clase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940FCB-6F03-EA41-B8CA-B38BB6401C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810750" y="4539355"/>
            <a:ext cx="2131452" cy="6517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2023</a:t>
            </a:r>
            <a:endParaRPr lang="es-PE" dirty="0"/>
          </a:p>
        </p:txBody>
      </p: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409037FA-8AD4-46E6-D14A-A0B5918A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28900" y="326688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sz="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CC77DF-7156-87EC-5584-40C3F628613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4057" y="6089066"/>
            <a:ext cx="4100513" cy="440147"/>
          </a:xfrm>
        </p:spPr>
        <p:txBody>
          <a:bodyPr/>
          <a:lstStyle>
            <a:lvl1pPr marL="0" indent="0">
              <a:buClr>
                <a:schemeClr val="accent6"/>
              </a:buClr>
              <a:buNone/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Profesor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10030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93" y="4999970"/>
            <a:ext cx="3339907" cy="717550"/>
          </a:xfrm>
        </p:spPr>
        <p:txBody>
          <a:bodyPr>
            <a:no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Título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3C54-732D-4A5F-8493-6279F2718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2993" y="1285875"/>
            <a:ext cx="6851456" cy="4072870"/>
          </a:xfrm>
        </p:spPr>
        <p:txBody>
          <a:bodyPr/>
          <a:lstStyle>
            <a:lvl1pPr marL="2286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1pPr>
            <a:lvl2pPr marL="6858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2pPr>
            <a:lvl3pPr marL="1143000" indent="-228600">
              <a:buClr>
                <a:schemeClr val="accent1"/>
              </a:buClr>
              <a:buFontTx/>
              <a:buChar char="•"/>
              <a:defRPr>
                <a:solidFill>
                  <a:schemeClr val="tx1"/>
                </a:solidFill>
              </a:defRPr>
            </a:lvl3pPr>
            <a:lvl4pPr marL="1600200" indent="-228600">
              <a:buClr>
                <a:schemeClr val="accent1"/>
              </a:buClr>
              <a:buSzPct val="70000"/>
              <a:buFontTx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>
                <a:schemeClr val="accent1"/>
              </a:buClr>
              <a:buSzPct val="50000"/>
              <a:buFontTx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F12D76C1-E4EF-42D1-88E3-B3E1BE457EF7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701422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936BE4A0-0EF9-4513-98D7-49E1F009126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22D55-BD67-C2D0-8DB9-2255495858E9}"/>
              </a:ext>
            </a:extLst>
          </p:cNvPr>
          <p:cNvSpPr/>
          <p:nvPr userDrawn="1"/>
        </p:nvSpPr>
        <p:spPr>
          <a:xfrm>
            <a:off x="-1" y="1888177"/>
            <a:ext cx="8737793" cy="22444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3849" y="2162175"/>
            <a:ext cx="8067675" cy="16954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Nueva Sección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150541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CFF21E75-C2F6-4021-B002-DFF0EB1C555C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32324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94490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redondeado 9">
            <a:extLst>
              <a:ext uri="{FF2B5EF4-FFF2-40B4-BE49-F238E27FC236}">
                <a16:creationId xmlns:a16="http://schemas.microsoft.com/office/drawing/2014/main" id="{24F721D9-3A4E-DA31-4304-76691E23E80D}"/>
              </a:ext>
            </a:extLst>
          </p:cNvPr>
          <p:cNvSpPr/>
          <p:nvPr userDrawn="1"/>
        </p:nvSpPr>
        <p:spPr>
          <a:xfrm>
            <a:off x="838200" y="2024743"/>
            <a:ext cx="9716589" cy="3843644"/>
          </a:xfrm>
          <a:prstGeom prst="roundRect">
            <a:avLst>
              <a:gd name="adj" fmla="val 6011"/>
            </a:avLst>
          </a:prstGeom>
          <a:solidFill>
            <a:srgbClr val="0A24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altLang="es-PE" sz="2000" b="1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A10338-E359-4104-958A-07CBECC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9024" y="326687"/>
            <a:ext cx="1495425" cy="365125"/>
          </a:xfrm>
        </p:spPr>
        <p:txBody>
          <a:bodyPr/>
          <a:lstStyle/>
          <a:p>
            <a:fld id="{7B0539C0-0715-4FF5-A23B-AA722BAB028B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478FF56-2834-4191-AFE2-248F69DA3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22993" y="326688"/>
            <a:ext cx="4114800" cy="365125"/>
          </a:xfrm>
        </p:spPr>
        <p:txBody>
          <a:bodyPr/>
          <a:lstStyle/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CE9CFF7E-0186-9C3C-3611-452A2DDD1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678D8027-D79A-9215-CD71-ED709E6E6D29}"/>
              </a:ext>
            </a:extLst>
          </p:cNvPr>
          <p:cNvGrpSpPr/>
          <p:nvPr userDrawn="1"/>
        </p:nvGrpSpPr>
        <p:grpSpPr>
          <a:xfrm>
            <a:off x="2054677" y="1061023"/>
            <a:ext cx="8380368" cy="826560"/>
            <a:chOff x="525780" y="30308"/>
            <a:chExt cx="7360920" cy="826560"/>
          </a:xfrm>
        </p:grpSpPr>
        <p:sp>
          <p:nvSpPr>
            <p:cNvPr id="9" name="Rectángulo redondeado 10">
              <a:extLst>
                <a:ext uri="{FF2B5EF4-FFF2-40B4-BE49-F238E27FC236}">
                  <a16:creationId xmlns:a16="http://schemas.microsoft.com/office/drawing/2014/main" id="{5606DA9B-0E94-3A3B-E636-525E5B21DFA1}"/>
                </a:ext>
              </a:extLst>
            </p:cNvPr>
            <p:cNvSpPr/>
            <p:nvPr/>
          </p:nvSpPr>
          <p:spPr>
            <a:xfrm>
              <a:off x="525780" y="30308"/>
              <a:ext cx="7360920" cy="8265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s-PE"/>
            </a:p>
          </p:txBody>
        </p:sp>
        <p:sp>
          <p:nvSpPr>
            <p:cNvPr id="10" name="CuadroTexto 11">
              <a:extLst>
                <a:ext uri="{FF2B5EF4-FFF2-40B4-BE49-F238E27FC236}">
                  <a16:creationId xmlns:a16="http://schemas.microsoft.com/office/drawing/2014/main" id="{F6B0EDBA-571B-DA14-0704-7AAC68D5B3D2}"/>
                </a:ext>
              </a:extLst>
            </p:cNvPr>
            <p:cNvSpPr txBox="1"/>
            <p:nvPr/>
          </p:nvSpPr>
          <p:spPr>
            <a:xfrm>
              <a:off x="566129" y="70657"/>
              <a:ext cx="7280222" cy="74586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78225" tIns="0" rIns="278225" bIns="0" numCol="1" spcCol="1270" anchor="ctr" anchorCtr="0">
              <a:noAutofit/>
            </a:bodyPr>
            <a:lstStyle/>
            <a:p>
              <a:pPr marL="0" lvl="0" indent="0" algn="l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s-PE" sz="2800" kern="120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94607FC2-94B4-4F66-9C36-9A4A2A84EF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6949" y="1167430"/>
            <a:ext cx="7962901" cy="600075"/>
          </a:xfrm>
        </p:spPr>
        <p:txBody>
          <a:bodyPr>
            <a:noAutofit/>
          </a:bodyPr>
          <a:lstStyle>
            <a:lvl1pPr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Temas o </a:t>
            </a:r>
            <a:r>
              <a:rPr lang="en-US" dirty="0" err="1"/>
              <a:t>Subtemas</a:t>
            </a:r>
            <a:endParaRPr lang="es-PE" dirty="0"/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3BC47F6C-D2DF-A0B0-4948-6B5D78DB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24743"/>
            <a:ext cx="9716589" cy="3843645"/>
          </a:xfrm>
        </p:spPr>
        <p:txBody>
          <a:bodyPr/>
          <a:lstStyle>
            <a:lvl1pPr>
              <a:buClr>
                <a:schemeClr val="accent6"/>
              </a:buClr>
              <a:defRPr sz="2400"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 sz="2200"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527865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95525" y="2549525"/>
            <a:ext cx="5162550" cy="1555750"/>
          </a:xfrm>
        </p:spPr>
        <p:txBody>
          <a:bodyPr anchor="b">
            <a:normAutofit/>
          </a:bodyPr>
          <a:lstStyle>
            <a:lvl1pPr algn="ctr">
              <a:defRPr sz="36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D79D4C0-AA8A-45B0-85A5-1FD89F1DDE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03038" y="2635960"/>
            <a:ext cx="131409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6436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5DD91A-522C-4964-BCF9-313C2CCF5D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14724" y="663575"/>
            <a:ext cx="7762875" cy="1079500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76472764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trada" type="blank">
  <p:cSld name="entrada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-17314"/>
            <a:ext cx="12192000" cy="68580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672059" y="2777043"/>
            <a:ext cx="4686308" cy="13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C63A0B1C-38C6-4A94-BC53-9378BD6F4196}"/>
              </a:ext>
            </a:extLst>
          </p:cNvPr>
          <p:cNvSpPr/>
          <p:nvPr/>
        </p:nvSpPr>
        <p:spPr>
          <a:xfrm>
            <a:off x="604699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709FF01B-D296-4FC4-86C6-18C1AA1F0700}"/>
              </a:ext>
            </a:extLst>
          </p:cNvPr>
          <p:cNvSpPr>
            <a:spLocks noChangeAspect="1"/>
          </p:cNvSpPr>
          <p:nvPr/>
        </p:nvSpPr>
        <p:spPr>
          <a:xfrm>
            <a:off x="2087026" y="5059599"/>
            <a:ext cx="1476000" cy="1475999"/>
          </a:xfrm>
          <a:prstGeom prst="ellipse">
            <a:avLst/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iagrama de flujo: retraso 3">
            <a:extLst>
              <a:ext uri="{FF2B5EF4-FFF2-40B4-BE49-F238E27FC236}">
                <a16:creationId xmlns:a16="http://schemas.microsoft.com/office/drawing/2014/main" id="{F33AB0F3-5E83-4F73-B1B3-E7FFB7FAC1CF}"/>
              </a:ext>
            </a:extLst>
          </p:cNvPr>
          <p:cNvSpPr>
            <a:spLocks/>
          </p:cNvSpPr>
          <p:nvPr/>
        </p:nvSpPr>
        <p:spPr>
          <a:xfrm>
            <a:off x="604699" y="3568509"/>
            <a:ext cx="1476000" cy="1476000"/>
          </a:xfrm>
          <a:prstGeom prst="flowChartDelay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írculo parcial 4">
            <a:extLst>
              <a:ext uri="{FF2B5EF4-FFF2-40B4-BE49-F238E27FC236}">
                <a16:creationId xmlns:a16="http://schemas.microsoft.com/office/drawing/2014/main" id="{E01F752C-EAF0-4FBF-B895-7C40EAE76E6B}"/>
              </a:ext>
            </a:extLst>
          </p:cNvPr>
          <p:cNvSpPr>
            <a:spLocks noChangeAspect="1"/>
          </p:cNvSpPr>
          <p:nvPr/>
        </p:nvSpPr>
        <p:spPr>
          <a:xfrm>
            <a:off x="2080320" y="3578476"/>
            <a:ext cx="2934000" cy="2934000"/>
          </a:xfrm>
          <a:prstGeom prst="pie">
            <a:avLst>
              <a:gd name="adj1" fmla="val 16194402"/>
              <a:gd name="adj2" fmla="val 695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508BC26-9C42-409E-A296-12A08043B847}"/>
              </a:ext>
            </a:extLst>
          </p:cNvPr>
          <p:cNvSpPr/>
          <p:nvPr/>
        </p:nvSpPr>
        <p:spPr>
          <a:xfrm>
            <a:off x="2072388" y="3577936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írculo parcial 5">
            <a:extLst>
              <a:ext uri="{FF2B5EF4-FFF2-40B4-BE49-F238E27FC236}">
                <a16:creationId xmlns:a16="http://schemas.microsoft.com/office/drawing/2014/main" id="{A6B1ED3D-FC35-4A2C-AEA0-527CA60D93D8}"/>
              </a:ext>
            </a:extLst>
          </p:cNvPr>
          <p:cNvSpPr>
            <a:spLocks noChangeAspect="1"/>
          </p:cNvSpPr>
          <p:nvPr/>
        </p:nvSpPr>
        <p:spPr>
          <a:xfrm rot="10800000">
            <a:off x="-821269" y="574219"/>
            <a:ext cx="2857435" cy="2995143"/>
          </a:xfrm>
          <a:prstGeom prst="pie">
            <a:avLst>
              <a:gd name="adj1" fmla="val 5387486"/>
              <a:gd name="adj2" fmla="val 16200000"/>
            </a:avLst>
          </a:prstGeom>
          <a:solidFill>
            <a:srgbClr val="009B7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1EFD23FD-AE29-404D-8F53-1FD009AE807B}"/>
              </a:ext>
            </a:extLst>
          </p:cNvPr>
          <p:cNvGrpSpPr/>
          <p:nvPr/>
        </p:nvGrpSpPr>
        <p:grpSpPr>
          <a:xfrm>
            <a:off x="2087136" y="2123409"/>
            <a:ext cx="1448999" cy="1443249"/>
            <a:chOff x="2118675" y="2004020"/>
            <a:chExt cx="1448999" cy="1443249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ECAC50A2-CB41-4C53-93C3-5260E20DE2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004020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CE6D1487-82A4-4496-B087-91DD796DE7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727269"/>
              <a:ext cx="720000" cy="720000"/>
            </a:xfrm>
            <a:prstGeom prst="ellipse">
              <a:avLst/>
            </a:prstGeom>
            <a:solidFill>
              <a:srgbClr val="009B7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95F40AB-463C-4C6E-915C-5D6DF55A451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47674" y="2727269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7CDF41D-9C35-41E7-8E2B-2AA7C91BEC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18675" y="2004020"/>
              <a:ext cx="720000" cy="720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3FA7743-AFB1-4869-99F7-BBBF6B5081B5}"/>
              </a:ext>
            </a:extLst>
          </p:cNvPr>
          <p:cNvSpPr/>
          <p:nvPr/>
        </p:nvSpPr>
        <p:spPr>
          <a:xfrm>
            <a:off x="3540368" y="5047662"/>
            <a:ext cx="1476000" cy="147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írculo parcial 18">
            <a:extLst>
              <a:ext uri="{FF2B5EF4-FFF2-40B4-BE49-F238E27FC236}">
                <a16:creationId xmlns:a16="http://schemas.microsoft.com/office/drawing/2014/main" id="{9EEB8DCE-7E2B-489A-B839-B10110611D97}"/>
              </a:ext>
            </a:extLst>
          </p:cNvPr>
          <p:cNvSpPr>
            <a:spLocks noChangeAspect="1"/>
          </p:cNvSpPr>
          <p:nvPr/>
        </p:nvSpPr>
        <p:spPr>
          <a:xfrm>
            <a:off x="3552087" y="5048742"/>
            <a:ext cx="2934000" cy="2934000"/>
          </a:xfrm>
          <a:prstGeom prst="pie">
            <a:avLst>
              <a:gd name="adj1" fmla="val 16202562"/>
              <a:gd name="adj2" fmla="val 1644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0958622"/>
      </p:ext>
    </p:extLst>
  </p:cSld>
  <p:clrMapOvr>
    <a:masterClrMapping/>
  </p:clrMapOvr>
  <p:hf hd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Diapositiva de título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3671" y="5579102"/>
            <a:ext cx="4484658" cy="8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648585"/>
              </a:buClr>
              <a:buSzPts val="2400"/>
              <a:buNone/>
              <a:defRPr sz="2400" i="1">
                <a:solidFill>
                  <a:srgbClr val="648585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99215638"/>
      </p:ext>
    </p:extLst>
  </p:cSld>
  <p:clrMapOvr>
    <a:masterClrMapping/>
  </p:clrMapOvr>
  <p:hf hd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userDrawn="1">
  <p:cSld name="Contenido con título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10354982" cy="70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 dirty="0"/>
              <a:t>Haga clic para modificar el estilo de título del patrón</a:t>
            </a:r>
            <a:endParaRPr dirty="0"/>
          </a:p>
        </p:txBody>
      </p:sp>
      <p:sp>
        <p:nvSpPr>
          <p:cNvPr id="26" name="Google Shape;26;p4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8753475" y="5717000"/>
            <a:ext cx="22666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970058A-F152-4A93-A50A-BC853F5A46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217"/>
          <a:stretch/>
        </p:blipFill>
        <p:spPr>
          <a:xfrm>
            <a:off x="8929708" y="5954450"/>
            <a:ext cx="1856985" cy="464401"/>
          </a:xfrm>
          <a:prstGeom prst="rect">
            <a:avLst/>
          </a:prstGeom>
        </p:spPr>
      </p:pic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31" name="Google Shape;31;p4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Servicios TICS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A2396329-D7D9-4B93-942B-A183A1B92B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4783"/>
          <a:stretch/>
        </p:blipFill>
        <p:spPr>
          <a:xfrm>
            <a:off x="7975126" y="5954450"/>
            <a:ext cx="626177" cy="464401"/>
          </a:xfrm>
          <a:prstGeom prst="rect">
            <a:avLst/>
          </a:prstGeom>
        </p:spPr>
      </p:pic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33B77B02-E511-4A12-2F0F-E79AF4687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88" y="1509899"/>
            <a:ext cx="10354982" cy="3843645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93387885"/>
      </p:ext>
    </p:extLst>
  </p:cSld>
  <p:clrMapOvr>
    <a:masterClrMapping/>
  </p:clrMapOvr>
  <p:hf hd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33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5" name="Google Shape;45;p6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50" name="Google Shape;50;p6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19721383"/>
      </p:ext>
    </p:extLst>
  </p:cSld>
  <p:clrMapOvr>
    <a:masterClrMapping/>
  </p:clrMapOvr>
  <p:hf hd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Imagen con título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53" name="Google Shape;53;p7"/>
          <p:cNvSpPr>
            <a:spLocks noGrp="1"/>
          </p:cNvSpPr>
          <p:nvPr>
            <p:ph type="pic" idx="2"/>
          </p:nvPr>
        </p:nvSpPr>
        <p:spPr>
          <a:xfrm>
            <a:off x="5183200" y="987425"/>
            <a:ext cx="6172200" cy="3204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839800" y="2057400"/>
            <a:ext cx="3932100" cy="23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5" name="Google Shape;55;p7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7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0" name="Google Shape;60;p7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2649480"/>
      </p:ext>
    </p:extLst>
  </p:cSld>
  <p:clrMapOvr>
    <a:masterClrMapping/>
  </p:clrMapOvr>
  <p:hf hd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 rot="5400000">
            <a:off x="4161556" y="-1497730"/>
            <a:ext cx="386888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4" name="Google Shape;64;p8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69" name="Google Shape;69;p8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5889149"/>
      </p:ext>
    </p:extLst>
  </p:cSld>
  <p:clrMapOvr>
    <a:masterClrMapping/>
  </p:clrMapOvr>
  <p:hf hd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Título vertical y texto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 rot="5400000">
            <a:off x="7363614" y="1726412"/>
            <a:ext cx="5351473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 rot="5400000">
            <a:off x="2029614" y="-826288"/>
            <a:ext cx="5351473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3" name="Google Shape;73;p9"/>
          <p:cNvSpPr/>
          <p:nvPr/>
        </p:nvSpPr>
        <p:spPr>
          <a:xfrm>
            <a:off x="-44525" y="5717000"/>
            <a:ext cx="10127400" cy="939300"/>
          </a:xfrm>
          <a:prstGeom prst="rect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/>
          <p:nvPr/>
        </p:nvSpPr>
        <p:spPr>
          <a:xfrm>
            <a:off x="8761675" y="5717000"/>
            <a:ext cx="2258400" cy="939300"/>
          </a:xfrm>
          <a:prstGeom prst="rect">
            <a:avLst/>
          </a:prstGeom>
          <a:solidFill>
            <a:srgbClr val="00BF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9"/>
          <p:cNvSpPr/>
          <p:nvPr/>
        </p:nvSpPr>
        <p:spPr>
          <a:xfrm>
            <a:off x="11020286" y="5716955"/>
            <a:ext cx="939300" cy="939300"/>
          </a:xfrm>
          <a:prstGeom prst="ellipse">
            <a:avLst/>
          </a:prstGeom>
          <a:solidFill>
            <a:srgbClr val="0096C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92075" y="5955061"/>
            <a:ext cx="1397600" cy="4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11194770" y="6004087"/>
            <a:ext cx="62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  <p:sp>
        <p:nvSpPr>
          <p:cNvPr id="78" name="Google Shape;78;p9"/>
          <p:cNvSpPr/>
          <p:nvPr/>
        </p:nvSpPr>
        <p:spPr>
          <a:xfrm>
            <a:off x="237434" y="6013093"/>
            <a:ext cx="5680800" cy="3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-E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Título de la presentación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3513132"/>
      </p:ext>
    </p:extLst>
  </p:cSld>
  <p:clrMapOvr>
    <a:masterClrMapping/>
  </p:clrMapOvr>
  <p:hf hd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 type="obj">
  <p:cSld name="Título y objetos 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2" name="Google Shape;8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83" name="Google Shape;8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84" name="Google Shape;8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68215767"/>
      </p:ext>
    </p:extLst>
  </p:cSld>
  <p:clrMapOvr>
    <a:masterClrMapping/>
  </p:clrMapOvr>
  <p:hf hd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s-ES"/>
              <a:t>Haga clic para modificar el estilo de título del patrón</a:t>
            </a:r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8" name="Google Shape;88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0" name="Google Shape;90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1" name="Google Shape;9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92" name="Google Shape;9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93" name="Google Shape;9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51413832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4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4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AE6F4FD-2238-AD4E-867E-E58E2DFA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5212"/>
            <a:ext cx="9716589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0C6D7E-5BBC-B741-BB4C-3A3ED127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3"/>
            <a:ext cx="9716589" cy="38436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2262"/>
            <a:ext cx="1638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616E3388-8A49-4C51-A106-E2F4CF3977CF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6428" y="32226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74F71EA6-14AA-5205-13FE-35911ED08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171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4" r:id="rId2"/>
    <p:sldLayoutId id="2147483674" r:id="rId3"/>
    <p:sldLayoutId id="2147483650" r:id="rId4"/>
    <p:sldLayoutId id="2147483652" r:id="rId5"/>
    <p:sldLayoutId id="2147483653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1EBB91-5D92-434A-AE73-A48940F062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24230"/>
            <a:ext cx="16192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9694A8-123C-4838-A10C-DF4D75E09A89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B46DE3-1218-D14C-BF4E-2E2BD84DBE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3680" y="32331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10" name="Marcador de título 1">
            <a:extLst>
              <a:ext uri="{FF2B5EF4-FFF2-40B4-BE49-F238E27FC236}">
                <a16:creationId xmlns:a16="http://schemas.microsoft.com/office/drawing/2014/main" id="{144F2274-D960-4C0B-9748-88EE3F0D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82069"/>
            <a:ext cx="10343606" cy="6852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9D6FEB95-3036-417E-9C50-CD57ED01F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24744"/>
            <a:ext cx="10343606" cy="32918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1DCF4E30-8222-0A8A-8EB6-ACF70BC0F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7949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75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3B067A9-18EE-41F0-B696-9386E1AF8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29"/>
            <a:ext cx="10515600" cy="645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067C12A-CBBE-4AB2-8C8A-B75DDE302D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86189"/>
            <a:ext cx="10515600" cy="32912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C6ED39-B0EA-42B3-A3C3-7CA769E5EA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82200" y="314064"/>
            <a:ext cx="1524000" cy="3829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fld id="{0C8C20A4-1372-4EF1-AE37-02318244F0B2}" type="datetime6">
              <a:rPr lang="es-PE" smtClean="0"/>
              <a:t>Abril de 2026</a:t>
            </a:fld>
            <a:endParaRPr lang="es-PE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E1549C-7307-410E-AA79-42C4BDD3FD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22993" y="32298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 err="1"/>
              <a:t>Nombre</a:t>
            </a:r>
            <a:r>
              <a:rPr lang="en-US" dirty="0"/>
              <a:t> de </a:t>
            </a:r>
            <a:r>
              <a:rPr lang="en-US" dirty="0" err="1"/>
              <a:t>Curso</a:t>
            </a:r>
            <a:endParaRPr lang="es-PE" dirty="0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63B87C3E-7B33-EE8E-E722-04A7DDD4F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8994" y="6139498"/>
            <a:ext cx="4596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9172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77" r:id="rId4"/>
    <p:sldLayoutId id="2147483676" r:id="rId5"/>
    <p:sldLayoutId id="2147483678" r:id="rId6"/>
    <p:sldLayoutId id="2147483661" r:id="rId7"/>
    <p:sldLayoutId id="2147483679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Tx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90000"/>
        <a:buFontTx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7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SzPct val="50000"/>
        <a:buFontTx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3868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237435" y="6013034"/>
            <a:ext cx="6070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Nombre de Curso</a:t>
            </a:r>
            <a:endParaRPr lang="es-PE"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11194770" y="6004476"/>
            <a:ext cx="62469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52A29C8B-5F70-8945-A2A6-FBD7A17156DB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68672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rawni10/clase6gtics-master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7251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0DDC9-8A1C-66C6-6E03-1BB83DA8E0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PE" dirty="0"/>
              <a:t>Model </a:t>
            </a:r>
            <a:r>
              <a:rPr lang="es-PE" dirty="0" err="1"/>
              <a:t>Attributes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BA1178-048F-D9DB-FB27-E2F9459B23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Gestión de Servicios TICS</a:t>
            </a:r>
          </a:p>
        </p:txBody>
      </p:sp>
    </p:spTree>
    <p:extLst>
      <p:ext uri="{BB962C8B-B14F-4D97-AF65-F5344CB8AC3E}">
        <p14:creationId xmlns:p14="http://schemas.microsoft.com/office/powerpoint/2010/main" val="1830179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91557-4769-C9A8-07DB-5BC8A9A3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>
                <a:solidFill>
                  <a:schemeClr val="bg2"/>
                </a:solidFill>
              </a:rPr>
              <a:t>Proyecto base</a:t>
            </a:r>
            <a:endParaRPr lang="es-PE" dirty="0">
              <a:solidFill>
                <a:schemeClr val="bg2"/>
              </a:solidFill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99FB6C4-241F-5541-77EA-0F026A1D48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3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FDC2745-8CD3-6AA9-16BF-E65952B81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Se usará como proyecto base, la </a:t>
            </a:r>
            <a:r>
              <a:rPr lang="es-ES" b="1" i="1" dirty="0"/>
              <a:t>rama master </a:t>
            </a:r>
            <a:r>
              <a:rPr lang="es-ES" dirty="0"/>
              <a:t>del proyecto ubicado en el repositorio:</a:t>
            </a:r>
          </a:p>
          <a:p>
            <a:pPr>
              <a:spcBef>
                <a:spcPts val="0"/>
              </a:spcBef>
            </a:pPr>
            <a:endParaRPr lang="es-ES" dirty="0"/>
          </a:p>
          <a:p>
            <a:pPr>
              <a:spcBef>
                <a:spcPts val="0"/>
              </a:spcBef>
            </a:pPr>
            <a:r>
              <a:rPr lang="es-ES" dirty="0">
                <a:hlinkClick r:id="rId2"/>
              </a:rPr>
              <a:t>https://github.com/brawni10/clase6gtics-master</a:t>
            </a:r>
            <a:r>
              <a:rPr lang="es-ES" dirty="0"/>
              <a:t> </a:t>
            </a:r>
          </a:p>
          <a:p>
            <a:pPr>
              <a:spcBef>
                <a:spcPts val="0"/>
              </a:spcBef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Este proyecto tiene un CRUD de las tablas: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dirty="0" err="1"/>
              <a:t>Employee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 err="1"/>
              <a:t>Product</a:t>
            </a:r>
            <a:endParaRPr lang="es-ES" dirty="0"/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dirty="0"/>
              <a:t>Shipper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Así mismo, contiene ejemplos de fragmentos en </a:t>
            </a:r>
            <a:r>
              <a:rPr lang="es-ES" dirty="0" err="1"/>
              <a:t>Thymeleaf</a:t>
            </a:r>
            <a:r>
              <a:rPr lang="es-ES" dirty="0"/>
              <a:t> y cómo gestionar fechas con Spring.</a:t>
            </a:r>
            <a:endParaRPr lang="es-ES" sz="1800" b="1" i="1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51867-600B-C4E1-022B-AB10AC472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7E777F-B609-9055-E4F8-CDC932A0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Anotación @ModelAttribute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164DF0A0-B77F-F469-0A18-9CA79F5521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4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913C76E-E555-BDD1-1030-841C7C3D9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La anotación </a:t>
            </a:r>
            <a:r>
              <a:rPr lang="es-ES" sz="2000" b="1" dirty="0"/>
              <a:t>@ModelAttribute</a:t>
            </a:r>
            <a:r>
              <a:rPr lang="es-ES" sz="2000" dirty="0"/>
              <a:t> permite que la asignación de campos realizada por el </a:t>
            </a:r>
            <a:r>
              <a:rPr lang="es-ES" sz="2000" dirty="0" err="1"/>
              <a:t>databinding</a:t>
            </a:r>
            <a:r>
              <a:rPr lang="es-ES" sz="2000" dirty="0"/>
              <a:t> permanezca constante entre solicitudes. 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De esta manera, por ejemplo, podremos rellenar un formulario de forma automática con los valores que tenía previamente y no tener que hacerlo manualmente.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Otro uso, es que permite reutilizar una vista de creación de datos para la edición (y ya no tener dos formularios iguales en archivos distintos).</a:t>
            </a:r>
          </a:p>
          <a:p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401959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E8EDC-6408-E29B-A525-D18824405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EBB15B-FFF5-2D6E-36E0-39498A889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Uso del @ModelAttribute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C6F6D9C-3B6B-B2FF-89EF-047D87014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5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934959-28FD-53E5-9B40-FBD22273AB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Para realizar el data </a:t>
            </a:r>
            <a:r>
              <a:rPr lang="es-ES" sz="2000" dirty="0" err="1"/>
              <a:t>binding</a:t>
            </a:r>
            <a:r>
              <a:rPr lang="es-ES" sz="2000" dirty="0"/>
              <a:t> completo, se debe anotar la entidad que será enviada desde y hacia los formularios.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→ Para este ejemplo, se modificará el CRUD de Producto.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dirty="0"/>
              <a:t>Entonces, las rutas que deben ser anotadas (pues están vinculadas con los formularios) son las siguientes:</a:t>
            </a:r>
          </a:p>
          <a:p>
            <a:pPr lvl="0" indent="-342900">
              <a:spcBef>
                <a:spcPts val="1600"/>
              </a:spcBef>
              <a:buSzPts val="1800"/>
              <a:buChar char="●"/>
            </a:pPr>
            <a:r>
              <a:rPr lang="es-ES" sz="2000" dirty="0"/>
              <a:t>Ruta que abre el formulario de un nuevo producto (/new)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Ruta que abre el formulario para editar un producto (/</a:t>
            </a:r>
            <a:r>
              <a:rPr lang="es-ES" sz="2000" dirty="0" err="1"/>
              <a:t>edit</a:t>
            </a:r>
            <a:r>
              <a:rPr lang="es-ES" sz="2000" dirty="0"/>
              <a:t>)</a:t>
            </a:r>
          </a:p>
          <a:p>
            <a:pPr lvl="0" indent="-342900">
              <a:spcBef>
                <a:spcPts val="0"/>
              </a:spcBef>
              <a:buSzPts val="1800"/>
              <a:buChar char="●"/>
            </a:pPr>
            <a:r>
              <a:rPr lang="es-ES" sz="2000" dirty="0"/>
              <a:t>Ruta que </a:t>
            </a:r>
            <a:r>
              <a:rPr lang="es-ES" sz="2000" dirty="0" err="1"/>
              <a:t>recepciona</a:t>
            </a:r>
            <a:r>
              <a:rPr lang="es-ES" sz="2000" dirty="0"/>
              <a:t> el formulario para guardar/actualizar un producto (/</a:t>
            </a:r>
            <a:r>
              <a:rPr lang="es-ES" sz="2000" dirty="0" err="1"/>
              <a:t>save</a:t>
            </a:r>
            <a:r>
              <a:rPr lang="es-ES" sz="2000" dirty="0"/>
              <a:t>)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641417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34FD0-ED43-1772-C435-A0E172BDB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DD128-9684-A1B1-AD21-D9926F38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@ModelAttribute </a:t>
            </a:r>
            <a:r>
              <a:rPr lang="es-ES" dirty="0">
                <a:sym typeface="Wingdings" panose="05000000000000000000" pitchFamily="2" charset="2"/>
              </a:rPr>
              <a:t> Ajuste a las rutas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8727B531-C316-4939-8FCC-DF1A92592D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6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7AB15F-F092-414E-C409-C04745172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la ruta de </a:t>
            </a:r>
            <a:r>
              <a:rPr lang="es-ES" sz="2000" b="1" dirty="0"/>
              <a:t>nuevo producto</a:t>
            </a:r>
            <a:r>
              <a:rPr lang="es-ES" sz="2000" dirty="0"/>
              <a:t>, se debe agregar el </a:t>
            </a:r>
            <a:r>
              <a:rPr lang="es-ES" sz="2000" dirty="0" err="1"/>
              <a:t>ModelAttribute</a:t>
            </a:r>
            <a:r>
              <a:rPr lang="es-ES" sz="2000" dirty="0"/>
              <a:t>, aún cuando no se use en la vista. Esto se debe a que permitirá mantener el estado de las variables en el formulario de nuevo producto si es necesario volver a mostrarlo.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b="1" dirty="0">
                <a:solidFill>
                  <a:srgbClr val="000000"/>
                </a:solidFill>
                <a:highlight>
                  <a:srgbClr val="C9DAF8"/>
                </a:highlight>
              </a:rPr>
              <a:t>Antes</a:t>
            </a:r>
            <a:r>
              <a:rPr lang="es-ES" sz="20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b="1" dirty="0">
                <a:solidFill>
                  <a:srgbClr val="000000"/>
                </a:solidFill>
                <a:highlight>
                  <a:srgbClr val="B6D7A8"/>
                </a:highlight>
              </a:rPr>
              <a:t>Ahora</a:t>
            </a:r>
            <a:r>
              <a:rPr lang="es-ES" sz="2000" dirty="0"/>
              <a:t>:</a:t>
            </a:r>
          </a:p>
          <a:p>
            <a:endParaRPr lang="es-PE" dirty="0"/>
          </a:p>
        </p:txBody>
      </p:sp>
      <p:pic>
        <p:nvPicPr>
          <p:cNvPr id="5" name="Google Shape;99;p17">
            <a:extLst>
              <a:ext uri="{FF2B5EF4-FFF2-40B4-BE49-F238E27FC236}">
                <a16:creationId xmlns:a16="http://schemas.microsoft.com/office/drawing/2014/main" id="{812C59E5-EB99-D619-EEFE-7FD68A27DDEF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18633" y="2496121"/>
            <a:ext cx="748665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0;p17">
            <a:extLst>
              <a:ext uri="{FF2B5EF4-FFF2-40B4-BE49-F238E27FC236}">
                <a16:creationId xmlns:a16="http://schemas.microsoft.com/office/drawing/2014/main" id="{6FD30772-762B-3E2F-59A5-8F1DB4694C2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308" y="3923959"/>
            <a:ext cx="7353300" cy="15335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02;p17">
            <a:extLst>
              <a:ext uri="{FF2B5EF4-FFF2-40B4-BE49-F238E27FC236}">
                <a16:creationId xmlns:a16="http://schemas.microsoft.com/office/drawing/2014/main" id="{D1B594FF-D8D1-D1E1-93C4-F6C6D45AC3B5}"/>
              </a:ext>
            </a:extLst>
          </p:cNvPr>
          <p:cNvSpPr/>
          <p:nvPr/>
        </p:nvSpPr>
        <p:spPr>
          <a:xfrm rot="-5400000">
            <a:off x="6900683" y="2122821"/>
            <a:ext cx="172800" cy="40104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36237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40CE0-DC85-D341-72A6-EB64AB267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5D39C-13B2-BB21-A806-E375B7CE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@ModelAttribute </a:t>
            </a:r>
            <a:r>
              <a:rPr lang="es-ES" dirty="0">
                <a:sym typeface="Wingdings" panose="05000000000000000000" pitchFamily="2" charset="2"/>
              </a:rPr>
              <a:t> Ajuste a las rutas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E2B841F-2131-8734-7BA6-07DC30FBF3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7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262EFC5-25AD-C552-B8BC-297DF295A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la ruta de </a:t>
            </a:r>
            <a:r>
              <a:rPr lang="es-ES" sz="2000" b="1" dirty="0"/>
              <a:t>editar</a:t>
            </a:r>
            <a:r>
              <a:rPr lang="es-ES" sz="2000" dirty="0"/>
              <a:t>, el objeto “</a:t>
            </a:r>
            <a:r>
              <a:rPr lang="es-ES" sz="2000" dirty="0" err="1"/>
              <a:t>product</a:t>
            </a:r>
            <a:r>
              <a:rPr lang="es-ES" sz="2000" dirty="0"/>
              <a:t>” del </a:t>
            </a:r>
            <a:r>
              <a:rPr lang="es-ES" sz="2000" dirty="0" err="1"/>
              <a:t>ModelAttribute</a:t>
            </a:r>
            <a:r>
              <a:rPr lang="es-ES" sz="2000" dirty="0"/>
              <a:t> reemplazará al objeto </a:t>
            </a:r>
            <a:r>
              <a:rPr lang="es-ES" sz="2000" dirty="0" err="1"/>
              <a:t>product</a:t>
            </a:r>
            <a:r>
              <a:rPr lang="es-ES" sz="2000" dirty="0"/>
              <a:t> que se crea en el método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b="1" dirty="0"/>
              <a:t>Antes</a:t>
            </a:r>
            <a:r>
              <a:rPr lang="es-ES" sz="20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36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b="1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b="1" dirty="0"/>
              <a:t>Ahora</a:t>
            </a:r>
            <a:r>
              <a:rPr lang="es-ES" sz="2000" dirty="0"/>
              <a:t>:</a:t>
            </a:r>
          </a:p>
          <a:p>
            <a:endParaRPr lang="es-PE" dirty="0"/>
          </a:p>
        </p:txBody>
      </p:sp>
      <p:pic>
        <p:nvPicPr>
          <p:cNvPr id="5" name="Google Shape;110;p18">
            <a:extLst>
              <a:ext uri="{FF2B5EF4-FFF2-40B4-BE49-F238E27FC236}">
                <a16:creationId xmlns:a16="http://schemas.microsoft.com/office/drawing/2014/main" id="{7976E510-A067-F3AB-53C6-6C599FA99DE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9420"/>
          <a:stretch/>
        </p:blipFill>
        <p:spPr>
          <a:xfrm>
            <a:off x="2197624" y="2247565"/>
            <a:ext cx="6668470" cy="1315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11;p18">
            <a:extLst>
              <a:ext uri="{FF2B5EF4-FFF2-40B4-BE49-F238E27FC236}">
                <a16:creationId xmlns:a16="http://schemas.microsoft.com/office/drawing/2014/main" id="{11D7A78F-E6F2-79FE-8A06-4A87874FD1E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624" y="3785908"/>
            <a:ext cx="7572900" cy="179859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12;p18">
            <a:extLst>
              <a:ext uri="{FF2B5EF4-FFF2-40B4-BE49-F238E27FC236}">
                <a16:creationId xmlns:a16="http://schemas.microsoft.com/office/drawing/2014/main" id="{8B111486-2C22-2CF5-1B48-27380C551B03}"/>
              </a:ext>
            </a:extLst>
          </p:cNvPr>
          <p:cNvCxnSpPr/>
          <p:nvPr/>
        </p:nvCxnSpPr>
        <p:spPr>
          <a:xfrm>
            <a:off x="1382224" y="3674319"/>
            <a:ext cx="838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113;p18">
            <a:extLst>
              <a:ext uri="{FF2B5EF4-FFF2-40B4-BE49-F238E27FC236}">
                <a16:creationId xmlns:a16="http://schemas.microsoft.com/office/drawing/2014/main" id="{48E95879-D8EF-4C9E-B6DD-532081B1611A}"/>
              </a:ext>
            </a:extLst>
          </p:cNvPr>
          <p:cNvSpPr/>
          <p:nvPr/>
        </p:nvSpPr>
        <p:spPr>
          <a:xfrm rot="-5400000">
            <a:off x="7430574" y="1996669"/>
            <a:ext cx="172800" cy="40104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" name="Google Shape;116;p18">
            <a:extLst>
              <a:ext uri="{FF2B5EF4-FFF2-40B4-BE49-F238E27FC236}">
                <a16:creationId xmlns:a16="http://schemas.microsoft.com/office/drawing/2014/main" id="{6E3677DB-DF70-76A5-32A2-4A5C252CD7BC}"/>
              </a:ext>
            </a:extLst>
          </p:cNvPr>
          <p:cNvCxnSpPr/>
          <p:nvPr/>
        </p:nvCxnSpPr>
        <p:spPr>
          <a:xfrm flipH="1">
            <a:off x="3004299" y="4150619"/>
            <a:ext cx="6605400" cy="1078200"/>
          </a:xfrm>
          <a:prstGeom prst="bentConnector5">
            <a:avLst>
              <a:gd name="adj1" fmla="val -3605"/>
              <a:gd name="adj2" fmla="val 41432"/>
              <a:gd name="adj3" fmla="val 107478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47397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84827-3F97-0D4D-A112-EA5FAB35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5F645E-83BE-53D0-F750-9513B5960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@ModelAttribute </a:t>
            </a:r>
            <a:r>
              <a:rPr lang="es-ES" dirty="0">
                <a:sym typeface="Wingdings" panose="05000000000000000000" pitchFamily="2" charset="2"/>
              </a:rPr>
              <a:t> Ajuste a las rutas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802606A-71B0-3F30-FC1C-FA6104114F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8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DD986B-CA34-481A-CFA4-3D54BCE7F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En la ruta de </a:t>
            </a:r>
            <a:r>
              <a:rPr lang="es-ES" sz="2000" b="1" dirty="0"/>
              <a:t>guardar/actualizar,</a:t>
            </a:r>
            <a:r>
              <a:rPr lang="es-ES" sz="2000" dirty="0"/>
              <a:t> ya se tiene un objeto </a:t>
            </a:r>
            <a:r>
              <a:rPr lang="es-ES" sz="2000" dirty="0" err="1"/>
              <a:t>Product</a:t>
            </a:r>
            <a:r>
              <a:rPr lang="es-ES" sz="2000" dirty="0"/>
              <a:t> que realiza el </a:t>
            </a:r>
            <a:r>
              <a:rPr lang="es-ES" sz="2000" dirty="0" err="1"/>
              <a:t>databinding</a:t>
            </a:r>
            <a:r>
              <a:rPr lang="es-ES" sz="2000" dirty="0"/>
              <a:t>, por tal motivo, aquí solo se le agrega la notación.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2000" b="1" dirty="0"/>
              <a:t>Antes</a:t>
            </a:r>
            <a:r>
              <a:rPr lang="es-ES" sz="2000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2000" dirty="0"/>
          </a:p>
          <a:p>
            <a:pPr marL="0" lvl="0" indent="0">
              <a:spcBef>
                <a:spcPts val="1600"/>
              </a:spcBef>
              <a:buNone/>
            </a:pPr>
            <a:endParaRPr lang="es-ES" sz="3600" dirty="0"/>
          </a:p>
          <a:p>
            <a:pPr marL="0" lvl="0" indent="0">
              <a:spcBef>
                <a:spcPts val="1600"/>
              </a:spcBef>
              <a:buNone/>
            </a:pPr>
            <a:endParaRPr lang="es-ES" sz="2000" b="1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b="1" dirty="0"/>
              <a:t>Ahora</a:t>
            </a:r>
            <a:endParaRPr lang="es-PE" sz="2000" dirty="0"/>
          </a:p>
          <a:p>
            <a:endParaRPr lang="es-PE" dirty="0"/>
          </a:p>
        </p:txBody>
      </p:sp>
      <p:cxnSp>
        <p:nvCxnSpPr>
          <p:cNvPr id="5" name="Google Shape;124;p19">
            <a:extLst>
              <a:ext uri="{FF2B5EF4-FFF2-40B4-BE49-F238E27FC236}">
                <a16:creationId xmlns:a16="http://schemas.microsoft.com/office/drawing/2014/main" id="{F4006783-E335-B037-F291-3E84F316B709}"/>
              </a:ext>
            </a:extLst>
          </p:cNvPr>
          <p:cNvCxnSpPr/>
          <p:nvPr/>
        </p:nvCxnSpPr>
        <p:spPr>
          <a:xfrm>
            <a:off x="1240815" y="3847961"/>
            <a:ext cx="8388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Google Shape;125;p19">
            <a:extLst>
              <a:ext uri="{FF2B5EF4-FFF2-40B4-BE49-F238E27FC236}">
                <a16:creationId xmlns:a16="http://schemas.microsoft.com/office/drawing/2014/main" id="{54948776-92F5-D828-F860-16AA2406985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b="36346"/>
          <a:stretch/>
        </p:blipFill>
        <p:spPr>
          <a:xfrm>
            <a:off x="2016465" y="2204312"/>
            <a:ext cx="7867650" cy="151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6;p19">
            <a:extLst>
              <a:ext uri="{FF2B5EF4-FFF2-40B4-BE49-F238E27FC236}">
                <a16:creationId xmlns:a16="http://schemas.microsoft.com/office/drawing/2014/main" id="{24BCEE84-77B6-0C0E-63DD-B462BDF4AD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36089"/>
          <a:stretch/>
        </p:blipFill>
        <p:spPr>
          <a:xfrm>
            <a:off x="2035515" y="3975836"/>
            <a:ext cx="7848600" cy="15157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27;p19">
            <a:extLst>
              <a:ext uri="{FF2B5EF4-FFF2-40B4-BE49-F238E27FC236}">
                <a16:creationId xmlns:a16="http://schemas.microsoft.com/office/drawing/2014/main" id="{39AEE325-E81C-A31A-3A75-A39518089720}"/>
              </a:ext>
            </a:extLst>
          </p:cNvPr>
          <p:cNvSpPr/>
          <p:nvPr/>
        </p:nvSpPr>
        <p:spPr>
          <a:xfrm rot="-5400000">
            <a:off x="6086790" y="2903036"/>
            <a:ext cx="172800" cy="2496300"/>
          </a:xfrm>
          <a:prstGeom prst="righ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736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791DB-D1DD-E318-1EB7-5EF0802DB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B0296F-6871-02C5-A1EA-94B43E051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Vistas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41ED4331-50C8-2DDA-6DA7-81773EBE02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9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1AA542-B913-6B9E-D6EA-075C296E5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1800" dirty="0"/>
              <a:t>Con el </a:t>
            </a:r>
            <a:r>
              <a:rPr lang="es-ES" sz="1800" dirty="0" err="1"/>
              <a:t>modelAttribute</a:t>
            </a:r>
            <a:r>
              <a:rPr lang="es-ES" sz="1800" dirty="0"/>
              <a:t> definido en las rutas, se juntarán las vistas de edición y nuevo producto en una sola.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sz="1800" dirty="0"/>
              <a:t>Primero, se borra la vista de edición: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buNone/>
            </a:pPr>
            <a:endParaRPr lang="es-ES" sz="1800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1800" dirty="0"/>
              <a:t>Luego, se indica en el controlador de edición, que se usará el formulario </a:t>
            </a:r>
            <a:r>
              <a:rPr lang="es-ES" sz="1800" b="1" dirty="0"/>
              <a:t>newFrm</a:t>
            </a:r>
            <a:r>
              <a:rPr lang="es-ES" sz="1800" dirty="0"/>
              <a:t>.html.</a:t>
            </a:r>
          </a:p>
          <a:p>
            <a:endParaRPr lang="es-PE" dirty="0"/>
          </a:p>
        </p:txBody>
      </p:sp>
      <p:pic>
        <p:nvPicPr>
          <p:cNvPr id="5" name="Google Shape;135;p20">
            <a:extLst>
              <a:ext uri="{FF2B5EF4-FFF2-40B4-BE49-F238E27FC236}">
                <a16:creationId xmlns:a16="http://schemas.microsoft.com/office/drawing/2014/main" id="{172604E6-CC58-058E-A055-F1C666F7411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93928" y="2589083"/>
            <a:ext cx="1575250" cy="6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36;p20">
            <a:extLst>
              <a:ext uri="{FF2B5EF4-FFF2-40B4-BE49-F238E27FC236}">
                <a16:creationId xmlns:a16="http://schemas.microsoft.com/office/drawing/2014/main" id="{2A416651-03DE-7B73-B04E-D70E5AE5FD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25942"/>
          <a:stretch/>
        </p:blipFill>
        <p:spPr>
          <a:xfrm>
            <a:off x="2843872" y="3897701"/>
            <a:ext cx="5717422" cy="170415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37;p20">
            <a:extLst>
              <a:ext uri="{FF2B5EF4-FFF2-40B4-BE49-F238E27FC236}">
                <a16:creationId xmlns:a16="http://schemas.microsoft.com/office/drawing/2014/main" id="{EE65BF26-91B9-F35C-08F0-825F94E2B0C8}"/>
              </a:ext>
            </a:extLst>
          </p:cNvPr>
          <p:cNvSpPr/>
          <p:nvPr/>
        </p:nvSpPr>
        <p:spPr>
          <a:xfrm>
            <a:off x="5207053" y="5366957"/>
            <a:ext cx="388500" cy="234900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7694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FDD29-FC27-63A1-AA4E-7AC05BAFC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575C67-5003-80E8-03ED-0BC7A3E82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Vista creación/edición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A6C4FC91-9537-D3F2-D141-E896233C1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10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A553B6-C816-6BFB-2514-B39EBAE54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s-ES" dirty="0"/>
              <a:t>Entonces, se debe ajustar la vista de creación de producto para que soporte la creación y la edición (es decir, que aparezca lleno el formulario).</a:t>
            </a:r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Se declara en el formulario el </a:t>
            </a:r>
            <a:r>
              <a:rPr lang="es-ES" dirty="0" err="1"/>
              <a:t>modelAttribute</a:t>
            </a:r>
            <a:r>
              <a:rPr lang="es-ES" dirty="0"/>
              <a:t> por medio de</a:t>
            </a:r>
            <a:r>
              <a:rPr lang="es-ES" b="1" dirty="0"/>
              <a:t> </a:t>
            </a:r>
            <a:r>
              <a:rPr lang="es-ES" b="1" dirty="0" err="1"/>
              <a:t>th:object</a:t>
            </a:r>
            <a:r>
              <a:rPr lang="es-ES" dirty="0"/>
              <a:t>. Observación: el nombre debe ser el mismo del </a:t>
            </a:r>
            <a:r>
              <a:rPr lang="es-ES" dirty="0" err="1"/>
              <a:t>modelAttribute</a:t>
            </a:r>
            <a:r>
              <a:rPr lang="es-ES" dirty="0"/>
              <a:t>: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r>
              <a:rPr lang="es-ES" dirty="0"/>
              <a:t>Y en cada input del formulario se reemplaza el </a:t>
            </a:r>
            <a:r>
              <a:rPr lang="es-ES" b="1" dirty="0" err="1"/>
              <a:t>name</a:t>
            </a:r>
            <a:r>
              <a:rPr lang="es-ES" b="1" dirty="0"/>
              <a:t> </a:t>
            </a:r>
            <a:r>
              <a:rPr lang="es-ES" dirty="0"/>
              <a:t>y el </a:t>
            </a:r>
            <a:r>
              <a:rPr lang="es-ES" b="1" dirty="0"/>
              <a:t>id </a:t>
            </a:r>
            <a:r>
              <a:rPr lang="es-ES" dirty="0"/>
              <a:t>por </a:t>
            </a:r>
            <a:r>
              <a:rPr lang="es-ES" b="1" dirty="0" err="1"/>
              <a:t>th:field</a:t>
            </a:r>
            <a:r>
              <a:rPr lang="es-ES" dirty="0"/>
              <a:t>.</a:t>
            </a:r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buNone/>
            </a:pPr>
            <a:endParaRPr lang="es-ES" sz="800" dirty="0"/>
          </a:p>
          <a:p>
            <a:pPr marL="0" lvl="0" indent="0">
              <a:spcBef>
                <a:spcPts val="1600"/>
              </a:spcBef>
              <a:buNone/>
            </a:pPr>
            <a:endParaRPr lang="es-ES" dirty="0"/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dirty="0"/>
              <a:t>Recordar: </a:t>
            </a:r>
            <a:r>
              <a:rPr lang="es-ES" b="1" dirty="0" err="1"/>
              <a:t>th:field</a:t>
            </a:r>
            <a:r>
              <a:rPr lang="es-ES" dirty="0"/>
              <a:t> se convierte en </a:t>
            </a:r>
            <a:r>
              <a:rPr lang="es-ES" b="1" dirty="0" err="1"/>
              <a:t>th:name</a:t>
            </a:r>
            <a:r>
              <a:rPr lang="es-ES" dirty="0"/>
              <a:t>, </a:t>
            </a:r>
            <a:r>
              <a:rPr lang="es-ES" b="1" dirty="0" err="1"/>
              <a:t>th:id</a:t>
            </a:r>
            <a:r>
              <a:rPr lang="es-ES" dirty="0"/>
              <a:t> y </a:t>
            </a:r>
            <a:r>
              <a:rPr lang="es-ES" b="1" dirty="0" err="1"/>
              <a:t>th:value</a:t>
            </a:r>
            <a:r>
              <a:rPr lang="es-ES" dirty="0"/>
              <a:t> (si es que existe)</a:t>
            </a:r>
          </a:p>
          <a:p>
            <a:endParaRPr lang="es-PE" dirty="0"/>
          </a:p>
        </p:txBody>
      </p:sp>
      <p:pic>
        <p:nvPicPr>
          <p:cNvPr id="5" name="Google Shape;145;p21">
            <a:extLst>
              <a:ext uri="{FF2B5EF4-FFF2-40B4-BE49-F238E27FC236}">
                <a16:creationId xmlns:a16="http://schemas.microsoft.com/office/drawing/2014/main" id="{5C879D7F-3213-325B-83D0-7E8942F11EF2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851675" y="2711485"/>
            <a:ext cx="73342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46;p21">
            <a:extLst>
              <a:ext uri="{FF2B5EF4-FFF2-40B4-BE49-F238E27FC236}">
                <a16:creationId xmlns:a16="http://schemas.microsoft.com/office/drawing/2014/main" id="{0AAED4ED-38D3-FFD5-37BB-1B839BB3B4C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675" y="3806575"/>
            <a:ext cx="74009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7;p21">
            <a:extLst>
              <a:ext uri="{FF2B5EF4-FFF2-40B4-BE49-F238E27FC236}">
                <a16:creationId xmlns:a16="http://schemas.microsoft.com/office/drawing/2014/main" id="{898419E0-6F42-96AB-802A-8D8B9BE34F3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06075" y="4357175"/>
            <a:ext cx="65341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48;p21">
            <a:extLst>
              <a:ext uri="{FF2B5EF4-FFF2-40B4-BE49-F238E27FC236}">
                <a16:creationId xmlns:a16="http://schemas.microsoft.com/office/drawing/2014/main" id="{AD2F3C49-58B3-3C04-071D-29C6A28B09C4}"/>
              </a:ext>
            </a:extLst>
          </p:cNvPr>
          <p:cNvSpPr/>
          <p:nvPr/>
        </p:nvSpPr>
        <p:spPr>
          <a:xfrm>
            <a:off x="5189525" y="4071892"/>
            <a:ext cx="396900" cy="210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60907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3F24D-1F71-56BF-23A3-CDFFED69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755155-8B23-5C2A-E912-5F086D4EB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Resultado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6DF850F7-F748-63C8-B32F-94C1358360F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11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B0B935-BAB8-2A05-8BEF-052C07196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None/>
            </a:pPr>
            <a:r>
              <a:rPr lang="es-ES" sz="2000" dirty="0"/>
              <a:t>Listo! Se ha utilizado el </a:t>
            </a:r>
            <a:r>
              <a:rPr lang="es-ES" sz="2000" dirty="0" err="1"/>
              <a:t>databinding</a:t>
            </a:r>
            <a:r>
              <a:rPr lang="es-ES" sz="2000" dirty="0"/>
              <a:t> para vincular el formulario de creación con la ruta de nuevo producto y edición de producto.</a:t>
            </a:r>
          </a:p>
          <a:p>
            <a:pPr marL="0" lvl="0" indent="0">
              <a:spcBef>
                <a:spcPts val="1600"/>
              </a:spcBef>
              <a:spcAft>
                <a:spcPts val="1600"/>
              </a:spcAft>
              <a:buNone/>
            </a:pPr>
            <a:r>
              <a:rPr lang="es-ES" sz="2000" dirty="0"/>
              <a:t>Visualmente la página no cambia; sin embargo, si analiza el código fuente observará lo siguiente:</a:t>
            </a:r>
          </a:p>
          <a:p>
            <a:endParaRPr lang="es-PE" dirty="0"/>
          </a:p>
        </p:txBody>
      </p:sp>
      <p:pic>
        <p:nvPicPr>
          <p:cNvPr id="5" name="Google Shape;156;p22">
            <a:extLst>
              <a:ext uri="{FF2B5EF4-FFF2-40B4-BE49-F238E27FC236}">
                <a16:creationId xmlns:a16="http://schemas.microsoft.com/office/drawing/2014/main" id="{037DBA94-B508-0DD5-44AF-57AF215B19B8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56074" y="2785475"/>
            <a:ext cx="6878961" cy="128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57;p22">
            <a:extLst>
              <a:ext uri="{FF2B5EF4-FFF2-40B4-BE49-F238E27FC236}">
                <a16:creationId xmlns:a16="http://schemas.microsoft.com/office/drawing/2014/main" id="{902DDBE3-6E80-239A-894D-498B2A467E5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6074" y="4276746"/>
            <a:ext cx="6657172" cy="11789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Google Shape;158;p22">
            <a:extLst>
              <a:ext uri="{FF2B5EF4-FFF2-40B4-BE49-F238E27FC236}">
                <a16:creationId xmlns:a16="http://schemas.microsoft.com/office/drawing/2014/main" id="{B7148775-04CF-2509-6F8D-A407582EA49B}"/>
              </a:ext>
            </a:extLst>
          </p:cNvPr>
          <p:cNvCxnSpPr/>
          <p:nvPr/>
        </p:nvCxnSpPr>
        <p:spPr>
          <a:xfrm>
            <a:off x="1651254" y="4174635"/>
            <a:ext cx="8088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8847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E1ECB-3F8C-BE88-30BF-176C0FA1A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E448B5-39B1-E0B8-F823-15FC6D073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</a:t>
            </a:r>
            <a:endParaRPr lang="es-PE" dirty="0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5DFF74AD-E9D4-BF59-3B99-DFAC50C900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52A29C8B-5F70-8945-A2A6-FBD7A17156DB}" type="slidenum">
              <a:rPr lang="es-PE" smtClean="0"/>
              <a:pPr/>
              <a:t>12</a:t>
            </a:fld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DF113B-5A10-CE54-280A-B1F48906B1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Realizar lo mismo para Shipper y </a:t>
            </a:r>
            <a:r>
              <a:rPr lang="es-ES" dirty="0" err="1"/>
              <a:t>Employee</a:t>
            </a:r>
            <a:endParaRPr lang="es-PE" dirty="0"/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2679730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1CEE12FC-EFE8-427F-AFDD-10E13BDA9816}"/>
    </a:ext>
  </a:extLst>
</a:theme>
</file>

<file path=ppt/theme/theme2.xml><?xml version="1.0" encoding="utf-8"?>
<a:theme xmlns:a="http://schemas.openxmlformats.org/drawingml/2006/main" name="1_Tema de Office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Personalizado 1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2968A79A-DB5B-4965-B275-611A9275D097}"/>
    </a:ext>
  </a:extLst>
</a:theme>
</file>

<file path=ppt/theme/theme3.xml><?xml version="1.0" encoding="utf-8"?>
<a:theme xmlns:a="http://schemas.openxmlformats.org/drawingml/2006/main" name="Diseño personalizado">
  <a:themeElements>
    <a:clrScheme name="Telecomunicaciones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096C8"/>
      </a:accent1>
      <a:accent2>
        <a:srgbClr val="0076B3"/>
      </a:accent2>
      <a:accent3>
        <a:srgbClr val="00599D"/>
      </a:accent3>
      <a:accent4>
        <a:srgbClr val="20A4CF"/>
      </a:accent4>
      <a:accent5>
        <a:srgbClr val="40B1D6"/>
      </a:accent5>
      <a:accent6>
        <a:srgbClr val="80CBE4"/>
      </a:accent6>
      <a:hlink>
        <a:srgbClr val="0000FF"/>
      </a:hlink>
      <a:folHlink>
        <a:srgbClr val="40B1D6"/>
      </a:folHlink>
    </a:clrScheme>
    <a:fontScheme name="Montserrat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Telecomunicaciones" id="{A23E30A1-E8DD-4AE6-A061-207F236D4813}" vid="{5F575593-E9A2-4645-ABE1-5BD8C9BF19B9}"/>
    </a:ext>
  </a:extLst>
</a:theme>
</file>

<file path=ppt/theme/theme4.xml><?xml version="1.0" encoding="utf-8"?>
<a:theme xmlns:a="http://schemas.openxmlformats.org/drawingml/2006/main" name="Telecom Pucp">
  <a:themeElements>
    <a:clrScheme name="PUCP">
      <a:dk1>
        <a:srgbClr val="191919"/>
      </a:dk1>
      <a:lt1>
        <a:srgbClr val="FFFFFF"/>
      </a:lt1>
      <a:dk2>
        <a:srgbClr val="042354"/>
      </a:dk2>
      <a:lt2>
        <a:srgbClr val="E7EDED"/>
      </a:lt2>
      <a:accent1>
        <a:srgbClr val="2841DD"/>
      </a:accent1>
      <a:accent2>
        <a:srgbClr val="FF9929"/>
      </a:accent2>
      <a:accent3>
        <a:srgbClr val="7F32C8"/>
      </a:accent3>
      <a:accent4>
        <a:srgbClr val="F0AE19"/>
      </a:accent4>
      <a:accent5>
        <a:srgbClr val="0A7BC2"/>
      </a:accent5>
      <a:accent6>
        <a:srgbClr val="16C78E"/>
      </a:accent6>
      <a:hlink>
        <a:srgbClr val="004EA8"/>
      </a:hlink>
      <a:folHlink>
        <a:srgbClr val="C3094A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lecom Pucp" id="{04A4479E-36D6-4C66-807A-9F4E8318654E}" vid="{A438D0C6-9502-4DA2-8DE8-05B87C02855A}"/>
    </a:ext>
  </a:extLst>
</a:theme>
</file>

<file path=ppt/theme/theme5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ema de Office">
  <a:themeElements>
    <a:clrScheme name="Industrial_PPT">
      <a:dk1>
        <a:srgbClr val="002060"/>
      </a:dk1>
      <a:lt1>
        <a:sysClr val="window" lastClr="FFFFFF"/>
      </a:lt1>
      <a:dk2>
        <a:srgbClr val="002D89"/>
      </a:dk2>
      <a:lt2>
        <a:srgbClr val="E7E6E6"/>
      </a:lt2>
      <a:accent1>
        <a:srgbClr val="014EA8"/>
      </a:accent1>
      <a:accent2>
        <a:srgbClr val="00338C"/>
      </a:accent2>
      <a:accent3>
        <a:srgbClr val="001870"/>
      </a:accent3>
      <a:accent4>
        <a:srgbClr val="2165B3"/>
      </a:accent4>
      <a:accent5>
        <a:srgbClr val="417BBE"/>
      </a:accent5>
      <a:accent6>
        <a:srgbClr val="80A7D4"/>
      </a:accent6>
      <a:hlink>
        <a:srgbClr val="0000FF"/>
      </a:hlink>
      <a:folHlink>
        <a:srgbClr val="417BB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Plantilla_Telecomunicaciones (1)</Template>
  <TotalTime>456</TotalTime>
  <Words>578</Words>
  <Application>Microsoft Office PowerPoint</Application>
  <PresentationFormat>Panorámica</PresentationFormat>
  <Paragraphs>73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Montserrat</vt:lpstr>
      <vt:lpstr>Montserrat Medium</vt:lpstr>
      <vt:lpstr>Wingdings</vt:lpstr>
      <vt:lpstr>Tema de Office</vt:lpstr>
      <vt:lpstr>1_Tema de Office</vt:lpstr>
      <vt:lpstr>Diseño personalizado</vt:lpstr>
      <vt:lpstr>Telecom Pucp</vt:lpstr>
      <vt:lpstr>Presentación de PowerPoint</vt:lpstr>
      <vt:lpstr>Model Attributes</vt:lpstr>
      <vt:lpstr>Proyecto base</vt:lpstr>
      <vt:lpstr>Anotación @ModelAttribute</vt:lpstr>
      <vt:lpstr>Uso del @ModelAttribute</vt:lpstr>
      <vt:lpstr>@ModelAttribute  Ajuste a las rutas</vt:lpstr>
      <vt:lpstr>@ModelAttribute  Ajuste a las rutas</vt:lpstr>
      <vt:lpstr>@ModelAttribute  Ajuste a las rutas</vt:lpstr>
      <vt:lpstr>Vistas</vt:lpstr>
      <vt:lpstr>Vista creación/edición</vt:lpstr>
      <vt:lpstr>Resultado</vt:lpstr>
      <vt:lpstr>Ejercicio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Programación Orientada a Objetos &amp; Introducción a Java</dc:title>
  <dc:creator>Brenda Tumbalobos</dc:creator>
  <cp:lastModifiedBy>Brenda Tumbalobos Cubas</cp:lastModifiedBy>
  <cp:revision>25</cp:revision>
  <dcterms:created xsi:type="dcterms:W3CDTF">2023-10-28T21:43:03Z</dcterms:created>
  <dcterms:modified xsi:type="dcterms:W3CDTF">2026-04-27T02:47:38Z</dcterms:modified>
</cp:coreProperties>
</file>