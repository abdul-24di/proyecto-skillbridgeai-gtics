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32"/>
  </p:notesMasterIdLst>
  <p:handoutMasterIdLst>
    <p:handoutMasterId r:id="rId33"/>
  </p:handoutMasterIdLst>
  <p:sldIdLst>
    <p:sldId id="370" r:id="rId5"/>
    <p:sldId id="371" r:id="rId6"/>
    <p:sldId id="372" r:id="rId7"/>
    <p:sldId id="373" r:id="rId8"/>
    <p:sldId id="374" r:id="rId9"/>
    <p:sldId id="375" r:id="rId10"/>
    <p:sldId id="376" r:id="rId11"/>
    <p:sldId id="377" r:id="rId12"/>
    <p:sldId id="378" r:id="rId13"/>
    <p:sldId id="379" r:id="rId14"/>
    <p:sldId id="380" r:id="rId15"/>
    <p:sldId id="381" r:id="rId16"/>
    <p:sldId id="382" r:id="rId17"/>
    <p:sldId id="383" r:id="rId18"/>
    <p:sldId id="384" r:id="rId19"/>
    <p:sldId id="385" r:id="rId20"/>
    <p:sldId id="386" r:id="rId21"/>
    <p:sldId id="387" r:id="rId22"/>
    <p:sldId id="388" r:id="rId23"/>
    <p:sldId id="389" r:id="rId24"/>
    <p:sldId id="390" r:id="rId25"/>
    <p:sldId id="391" r:id="rId26"/>
    <p:sldId id="392" r:id="rId27"/>
    <p:sldId id="393" r:id="rId28"/>
    <p:sldId id="394" r:id="rId29"/>
    <p:sldId id="395" r:id="rId30"/>
    <p:sldId id="396" r:id="rId3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8" autoAdjust="0"/>
    <p:restoredTop sz="94643"/>
  </p:normalViewPr>
  <p:slideViewPr>
    <p:cSldViewPr snapToGrid="0" snapToObjects="1">
      <p:cViewPr varScale="1">
        <p:scale>
          <a:sx n="107" d="100"/>
          <a:sy n="107" d="100"/>
        </p:scale>
        <p:origin x="3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26/04/2026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26/04/2026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Abril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7471795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8132438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10283932" cy="70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53475" y="57170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29708" y="59544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7975126" y="5954450"/>
            <a:ext cx="626177" cy="464401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C3E6B2A4-2ACF-BB45-6266-AB2B8B6F9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507177"/>
            <a:ext cx="10283932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55651063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3812987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6967296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0753105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1089757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65300083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81686196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8352034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docs.jboss.org/hibernate/stable/validator/reference/en-US/html_single/#section-builtin-constraints" TargetMode="Externa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dev.mysql.com/doc/refman/8.0/en/integer-types.html" TargetMode="Externa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docs.spring.io/spring-framework/docs/current/javadoc-api/org/springframework/validation/DefaultMessageCodesResolver.html" TargetMode="Externa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s.javacodegeeks.com/enterprise-java/spring/mvc/spring-mvc-form-validation-example/" TargetMode="External"/><Relationship Id="rId2" Type="http://schemas.openxmlformats.org/officeDocument/2006/relationships/hyperlink" Target="https://spring.io/guides/gs/validating-form-input/" TargetMode="Externa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616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9B42E-1716-2252-DF20-3EF53A82D9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Validación de formularios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64BAD3-7865-0C60-5947-2E950095BF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Gestión de Servicios TICS</a:t>
            </a:r>
          </a:p>
        </p:txBody>
      </p:sp>
    </p:spTree>
    <p:extLst>
      <p:ext uri="{BB962C8B-B14F-4D97-AF65-F5344CB8AC3E}">
        <p14:creationId xmlns:p14="http://schemas.microsoft.com/office/powerpoint/2010/main" val="3131300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92646-621F-50BA-919A-54E40E2AE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err="1">
                <a:solidFill>
                  <a:schemeClr val="bg2"/>
                </a:solidFill>
              </a:rPr>
              <a:t>Hibernate</a:t>
            </a:r>
            <a:r>
              <a:rPr lang="es-ES" dirty="0">
                <a:solidFill>
                  <a:schemeClr val="bg2"/>
                </a:solidFill>
              </a:rPr>
              <a:t> </a:t>
            </a:r>
            <a:r>
              <a:rPr lang="es-ES" dirty="0" err="1">
                <a:solidFill>
                  <a:schemeClr val="bg2"/>
                </a:solidFill>
              </a:rPr>
              <a:t>Validator</a:t>
            </a:r>
            <a:endParaRPr lang="es-PE" dirty="0">
              <a:solidFill>
                <a:schemeClr val="bg2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F441DAE-F490-F25E-58FC-7F67412A25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3416C1-9A0B-7B57-1B34-D6C325855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400" dirty="0" err="1"/>
              <a:t>Hibernate</a:t>
            </a:r>
            <a:r>
              <a:rPr lang="es-ES" sz="1400" dirty="0"/>
              <a:t> </a:t>
            </a:r>
            <a:r>
              <a:rPr lang="es-ES" sz="1400" dirty="0" err="1"/>
              <a:t>Validator</a:t>
            </a:r>
            <a:r>
              <a:rPr lang="es-ES" sz="1400" dirty="0"/>
              <a:t> brinda las anotaciones necesarias para validar los campos de una entidad, entre las cuales se tienen:</a:t>
            </a:r>
          </a:p>
          <a:p>
            <a:pPr lvl="0" indent="-317500">
              <a:buSzPts val="1400"/>
              <a:buChar char="●"/>
            </a:pPr>
            <a:r>
              <a:rPr lang="es-ES" sz="1800" b="1" dirty="0"/>
              <a:t>@Digits(integer=, </a:t>
            </a:r>
            <a:r>
              <a:rPr lang="es-ES" sz="1800" b="1" dirty="0" err="1"/>
              <a:t>fraction</a:t>
            </a:r>
            <a:r>
              <a:rPr lang="es-ES" sz="1800" b="1" dirty="0"/>
              <a:t>=)</a:t>
            </a:r>
            <a:r>
              <a:rPr lang="es-ES" sz="1800" dirty="0"/>
              <a:t>: permite validar si es un número con “</a:t>
            </a:r>
            <a:r>
              <a:rPr lang="es-ES" sz="1800" dirty="0" err="1"/>
              <a:t>integer</a:t>
            </a:r>
            <a:r>
              <a:rPr lang="es-ES" sz="1800" dirty="0"/>
              <a:t>” cantidad de dígitos y fracción para decimales</a:t>
            </a:r>
          </a:p>
          <a:p>
            <a:pPr lvl="1" indent="-304800">
              <a:spcBef>
                <a:spcPts val="0"/>
              </a:spcBef>
              <a:buSzPts val="1200"/>
              <a:buChar char="○"/>
            </a:pPr>
            <a:r>
              <a:rPr lang="es-ES" sz="1100" dirty="0"/>
              <a:t>tipos datos soportados: </a:t>
            </a:r>
            <a:r>
              <a:rPr lang="es-ES" sz="1100" dirty="0" err="1"/>
              <a:t>BigDecimal</a:t>
            </a:r>
            <a:r>
              <a:rPr lang="es-ES" sz="1100" dirty="0"/>
              <a:t>, </a:t>
            </a:r>
            <a:r>
              <a:rPr lang="es-ES" sz="1100" dirty="0" err="1"/>
              <a:t>BigInteger</a:t>
            </a:r>
            <a:r>
              <a:rPr lang="es-ES" sz="1100" dirty="0"/>
              <a:t>, </a:t>
            </a:r>
            <a:r>
              <a:rPr lang="es-ES" sz="1100" dirty="0" err="1"/>
              <a:t>CharSequence</a:t>
            </a:r>
            <a:r>
              <a:rPr lang="es-ES" sz="1100" dirty="0"/>
              <a:t>, byte, short, </a:t>
            </a:r>
            <a:r>
              <a:rPr lang="es-ES" sz="1100" dirty="0" err="1"/>
              <a:t>int</a:t>
            </a:r>
            <a:r>
              <a:rPr lang="es-ES" sz="1100" dirty="0"/>
              <a:t>, </a:t>
            </a:r>
            <a:r>
              <a:rPr lang="es-ES" sz="1100" dirty="0" err="1"/>
              <a:t>long</a:t>
            </a:r>
            <a:endParaRPr lang="es-ES" sz="1100" dirty="0"/>
          </a:p>
          <a:p>
            <a:pPr lvl="0" indent="-317500">
              <a:buSzPts val="1400"/>
              <a:buChar char="●"/>
            </a:pPr>
            <a:r>
              <a:rPr lang="es-ES" sz="1800" b="1" dirty="0"/>
              <a:t>@Email</a:t>
            </a:r>
            <a:r>
              <a:rPr lang="es-ES" sz="1800" dirty="0"/>
              <a:t>: permite validar valores con formato de Email</a:t>
            </a:r>
          </a:p>
          <a:p>
            <a:pPr lvl="1" indent="-304800">
              <a:spcBef>
                <a:spcPts val="0"/>
              </a:spcBef>
              <a:buSzPts val="1200"/>
              <a:buChar char="○"/>
            </a:pPr>
            <a:r>
              <a:rPr lang="es-ES" sz="1100" dirty="0"/>
              <a:t>tipos datos soportados: String</a:t>
            </a:r>
          </a:p>
          <a:p>
            <a:pPr lvl="0" indent="-317500">
              <a:buSzPts val="1400"/>
              <a:buChar char="●"/>
            </a:pPr>
            <a:r>
              <a:rPr lang="es-ES" sz="1800" b="1" dirty="0"/>
              <a:t>@Max(value=) y @Min(value=)</a:t>
            </a:r>
            <a:r>
              <a:rPr lang="es-ES" sz="1800" dirty="0"/>
              <a:t>: permite validar que el valor sea mayor o </a:t>
            </a:r>
            <a:r>
              <a:rPr lang="es-ES" sz="1800" dirty="0" err="1"/>
              <a:t>igual;o</a:t>
            </a:r>
            <a:r>
              <a:rPr lang="es-ES" sz="1800" dirty="0"/>
              <a:t> menor o igual respectivamente.</a:t>
            </a:r>
          </a:p>
          <a:p>
            <a:pPr lvl="1" indent="-304800">
              <a:spcBef>
                <a:spcPts val="0"/>
              </a:spcBef>
              <a:buSzPts val="1200"/>
              <a:buChar char="○"/>
            </a:pPr>
            <a:r>
              <a:rPr lang="es-ES" sz="1100" dirty="0"/>
              <a:t>tipos datos soportados: </a:t>
            </a:r>
            <a:r>
              <a:rPr lang="es-ES" sz="1100" dirty="0" err="1"/>
              <a:t>BigDecimal</a:t>
            </a:r>
            <a:r>
              <a:rPr lang="es-ES" sz="1100" dirty="0"/>
              <a:t>, </a:t>
            </a:r>
            <a:r>
              <a:rPr lang="es-ES" sz="1100" dirty="0" err="1"/>
              <a:t>BigInteger</a:t>
            </a:r>
            <a:r>
              <a:rPr lang="es-ES" sz="1100" dirty="0"/>
              <a:t>, byte, short, </a:t>
            </a:r>
            <a:r>
              <a:rPr lang="es-ES" sz="1100" dirty="0" err="1"/>
              <a:t>int</a:t>
            </a:r>
            <a:r>
              <a:rPr lang="es-ES" sz="1100" dirty="0"/>
              <a:t>, </a:t>
            </a:r>
            <a:r>
              <a:rPr lang="es-ES" sz="1100" dirty="0" err="1"/>
              <a:t>long</a:t>
            </a:r>
            <a:endParaRPr lang="es-ES" sz="1100" dirty="0"/>
          </a:p>
          <a:p>
            <a:pPr lvl="0" indent="-317500">
              <a:buSzPts val="1400"/>
              <a:buChar char="●"/>
            </a:pPr>
            <a:r>
              <a:rPr lang="es-ES" sz="1800" b="1" dirty="0"/>
              <a:t>@NotBlank</a:t>
            </a:r>
            <a:r>
              <a:rPr lang="es-ES" sz="1800" dirty="0"/>
              <a:t>: valida que el valor no sea nulo y tampoco vacío.</a:t>
            </a:r>
          </a:p>
          <a:p>
            <a:pPr lvl="1" indent="-304800">
              <a:spcBef>
                <a:spcPts val="0"/>
              </a:spcBef>
              <a:buSzPts val="1200"/>
              <a:buChar char="○"/>
            </a:pPr>
            <a:r>
              <a:rPr lang="es-ES" sz="1050" dirty="0"/>
              <a:t>tipos datos soportados: String</a:t>
            </a:r>
          </a:p>
          <a:p>
            <a:pPr marL="0" lvl="0" indent="0">
              <a:buNone/>
            </a:pPr>
            <a:r>
              <a:rPr lang="es-ES" sz="1800" dirty="0"/>
              <a:t>Para todas las anotaciones, se le puede adicionar un parámetro “</a:t>
            </a:r>
            <a:r>
              <a:rPr lang="es-ES" sz="1800" b="1" dirty="0" err="1"/>
              <a:t>message</a:t>
            </a:r>
            <a:r>
              <a:rPr lang="es-ES" sz="1800" dirty="0"/>
              <a:t>” para indicar el texto a mostrar en caso no pase la validación.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Puede encontrar la lista completa de </a:t>
            </a:r>
            <a:r>
              <a:rPr lang="es-ES" sz="1800" dirty="0" err="1"/>
              <a:t>anotaciónes</a:t>
            </a:r>
            <a:r>
              <a:rPr lang="es-ES" sz="1800" dirty="0"/>
              <a:t> en: </a:t>
            </a:r>
            <a:r>
              <a:rPr lang="es-ES" sz="1050" u="sng" dirty="0">
                <a:solidFill>
                  <a:schemeClr val="hlink"/>
                </a:solidFill>
                <a:hlinkClick r:id="rId2"/>
              </a:rPr>
              <a:t>http://docs.jboss.org/hibernate/stable/validator/reference/en-US/html_single/#section-builtin-constraints</a:t>
            </a:r>
            <a:endParaRPr lang="es-ES" sz="1050" dirty="0"/>
          </a:p>
        </p:txBody>
      </p:sp>
    </p:spTree>
    <p:extLst>
      <p:ext uri="{BB962C8B-B14F-4D97-AF65-F5344CB8AC3E}">
        <p14:creationId xmlns:p14="http://schemas.microsoft.com/office/powerpoint/2010/main" val="2469483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547F8-882A-5571-F9BA-C6ACBB8DB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705CB8-493B-74CE-11AD-0F0413580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Hibernate</a:t>
            </a:r>
            <a:r>
              <a:rPr lang="es-ES" dirty="0"/>
              <a:t> </a:t>
            </a:r>
            <a:r>
              <a:rPr lang="es-ES" dirty="0" err="1"/>
              <a:t>Validator</a:t>
            </a:r>
            <a:r>
              <a:rPr lang="es-ES" dirty="0"/>
              <a:t> - requisitos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D29ABDF-6A33-2EF1-2556-587F187743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8C91E8D-42B8-948C-4949-44D517F25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Desde la versión 2.4.4 de Spring Boot, </a:t>
            </a:r>
            <a:r>
              <a:rPr lang="es-ES" sz="2000" dirty="0" err="1"/>
              <a:t>Hibernate</a:t>
            </a:r>
            <a:r>
              <a:rPr lang="es-ES" sz="2000" dirty="0"/>
              <a:t> </a:t>
            </a:r>
            <a:r>
              <a:rPr lang="es-ES" sz="2000" dirty="0" err="1"/>
              <a:t>Validator</a:t>
            </a:r>
            <a:r>
              <a:rPr lang="es-ES" sz="2000" dirty="0"/>
              <a:t> ya no está dentro de Spring Data JPA; sino, se encuentra en un paquete aparte.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Si va a crear un nuevo proyecto, aparte de las otras dependencias de Spring Boot, debe incluir: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Si ya tiene un proyecto creado, debe incluir la dependencia en el </a:t>
            </a:r>
            <a:r>
              <a:rPr lang="es-ES" sz="2000" b="1" dirty="0"/>
              <a:t>pom.xml</a:t>
            </a:r>
          </a:p>
          <a:p>
            <a:endParaRPr lang="es-PE" dirty="0"/>
          </a:p>
        </p:txBody>
      </p:sp>
      <p:pic>
        <p:nvPicPr>
          <p:cNvPr id="5" name="Google Shape;85;p15">
            <a:extLst>
              <a:ext uri="{FF2B5EF4-FFF2-40B4-BE49-F238E27FC236}">
                <a16:creationId xmlns:a16="http://schemas.microsoft.com/office/drawing/2014/main" id="{7362832B-4A38-043C-48DE-F7FA79B1639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19387"/>
          <a:stretch/>
        </p:blipFill>
        <p:spPr>
          <a:xfrm>
            <a:off x="2266949" y="2761556"/>
            <a:ext cx="2714625" cy="139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6;p15">
            <a:extLst>
              <a:ext uri="{FF2B5EF4-FFF2-40B4-BE49-F238E27FC236}">
                <a16:creationId xmlns:a16="http://schemas.microsoft.com/office/drawing/2014/main" id="{D6B6DAF3-0F3A-1B4D-D742-8234CC99E4C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4087" y="2988796"/>
            <a:ext cx="3552825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7;p15">
            <a:extLst>
              <a:ext uri="{FF2B5EF4-FFF2-40B4-BE49-F238E27FC236}">
                <a16:creationId xmlns:a16="http://schemas.microsoft.com/office/drawing/2014/main" id="{CD1DCF93-62C3-7FD0-588D-EBE3E568FFF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0008" y="4811181"/>
            <a:ext cx="5245475" cy="8462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1230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3FC5C-9E7A-A768-8D78-309CE3CE2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37195-8525-1AA0-5EF4-FA8155410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Pasos para validar un formulario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F4D89EA-AE81-64B6-8D5C-E356CE311D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D86062-850D-CBEB-96B7-B5009F818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dirty="0"/>
              <a:t>Para validar un formulario usando </a:t>
            </a:r>
            <a:r>
              <a:rPr lang="es-ES" sz="2000" dirty="0" err="1"/>
              <a:t>Hibernate</a:t>
            </a:r>
            <a:r>
              <a:rPr lang="es-ES" sz="2000" dirty="0"/>
              <a:t> </a:t>
            </a:r>
            <a:r>
              <a:rPr lang="es-ES" sz="2000" dirty="0" err="1"/>
              <a:t>Validator</a:t>
            </a:r>
            <a:r>
              <a:rPr lang="es-ES" sz="2000" dirty="0"/>
              <a:t>, se debe:</a:t>
            </a:r>
          </a:p>
          <a:p>
            <a:endParaRPr lang="es-PE" sz="2000" dirty="0"/>
          </a:p>
        </p:txBody>
      </p:sp>
      <p:sp>
        <p:nvSpPr>
          <p:cNvPr id="5" name="Google Shape;95;p16">
            <a:extLst>
              <a:ext uri="{FF2B5EF4-FFF2-40B4-BE49-F238E27FC236}">
                <a16:creationId xmlns:a16="http://schemas.microsoft.com/office/drawing/2014/main" id="{10855394-F6F1-483E-8058-5346FB8A6470}"/>
              </a:ext>
            </a:extLst>
          </p:cNvPr>
          <p:cNvSpPr/>
          <p:nvPr/>
        </p:nvSpPr>
        <p:spPr>
          <a:xfrm>
            <a:off x="6723424" y="4501052"/>
            <a:ext cx="1928700" cy="7032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rgbClr val="695D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Asignar un </a:t>
            </a:r>
            <a:r>
              <a:rPr lang="es-419" sz="1200" b="1"/>
              <a:t>BindingResult </a:t>
            </a:r>
            <a:r>
              <a:rPr lang="es-419" sz="1200"/>
              <a:t>a la Entidad a validar</a:t>
            </a:r>
            <a:endParaRPr sz="1200" b="1"/>
          </a:p>
        </p:txBody>
      </p:sp>
      <p:cxnSp>
        <p:nvCxnSpPr>
          <p:cNvPr id="6" name="Google Shape;96;p16">
            <a:extLst>
              <a:ext uri="{FF2B5EF4-FFF2-40B4-BE49-F238E27FC236}">
                <a16:creationId xmlns:a16="http://schemas.microsoft.com/office/drawing/2014/main" id="{8F8035E7-8166-FA3A-500D-74C9963AE12D}"/>
              </a:ext>
            </a:extLst>
          </p:cNvPr>
          <p:cNvCxnSpPr>
            <a:stCxn id="10" idx="2"/>
            <a:endCxn id="8" idx="1"/>
          </p:cNvCxnSpPr>
          <p:nvPr/>
        </p:nvCxnSpPr>
        <p:spPr>
          <a:xfrm rot="-5400000" flipH="1">
            <a:off x="3760624" y="2787227"/>
            <a:ext cx="658500" cy="1279500"/>
          </a:xfrm>
          <a:prstGeom prst="bentConnector2">
            <a:avLst/>
          </a:prstGeom>
          <a:noFill/>
          <a:ln w="19050" cap="flat" cmpd="sng">
            <a:solidFill>
              <a:srgbClr val="695D4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" name="Google Shape;99;p16">
            <a:extLst>
              <a:ext uri="{FF2B5EF4-FFF2-40B4-BE49-F238E27FC236}">
                <a16:creationId xmlns:a16="http://schemas.microsoft.com/office/drawing/2014/main" id="{D404A495-A14B-A0B1-F85F-7DAE4EEEB8FD}"/>
              </a:ext>
            </a:extLst>
          </p:cNvPr>
          <p:cNvCxnSpPr>
            <a:stCxn id="8" idx="2"/>
            <a:endCxn id="5" idx="1"/>
          </p:cNvCxnSpPr>
          <p:nvPr/>
        </p:nvCxnSpPr>
        <p:spPr>
          <a:xfrm rot="-5400000" flipH="1">
            <a:off x="5857849" y="3987127"/>
            <a:ext cx="701700" cy="1029300"/>
          </a:xfrm>
          <a:prstGeom prst="bentConnector2">
            <a:avLst/>
          </a:prstGeom>
          <a:noFill/>
          <a:ln w="19050" cap="flat" cmpd="sng">
            <a:solidFill>
              <a:srgbClr val="695D4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Google Shape;98;p16">
            <a:extLst>
              <a:ext uri="{FF2B5EF4-FFF2-40B4-BE49-F238E27FC236}">
                <a16:creationId xmlns:a16="http://schemas.microsoft.com/office/drawing/2014/main" id="{797F79DA-7387-CC11-E7F9-752B497B0C0F}"/>
              </a:ext>
            </a:extLst>
          </p:cNvPr>
          <p:cNvSpPr/>
          <p:nvPr/>
        </p:nvSpPr>
        <p:spPr>
          <a:xfrm>
            <a:off x="4729699" y="3361627"/>
            <a:ext cx="1928700" cy="7893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rgbClr val="695D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Asignar la anotación </a:t>
            </a:r>
            <a:r>
              <a:rPr lang="es-419" sz="1200" b="1"/>
              <a:t>@Valid</a:t>
            </a:r>
            <a:r>
              <a:rPr lang="es-419" sz="1200"/>
              <a:t> a la entidad</a:t>
            </a:r>
            <a:endParaRPr sz="1200" b="1"/>
          </a:p>
        </p:txBody>
      </p:sp>
      <p:grpSp>
        <p:nvGrpSpPr>
          <p:cNvPr id="9" name="Google Shape;100;p16">
            <a:extLst>
              <a:ext uri="{FF2B5EF4-FFF2-40B4-BE49-F238E27FC236}">
                <a16:creationId xmlns:a16="http://schemas.microsoft.com/office/drawing/2014/main" id="{1E63152D-072F-B16D-7FF2-E1AB9BF9A996}"/>
              </a:ext>
            </a:extLst>
          </p:cNvPr>
          <p:cNvGrpSpPr/>
          <p:nvPr/>
        </p:nvGrpSpPr>
        <p:grpSpPr>
          <a:xfrm>
            <a:off x="2519074" y="2156152"/>
            <a:ext cx="1862100" cy="941575"/>
            <a:chOff x="2325950" y="2638725"/>
            <a:chExt cx="1862100" cy="941575"/>
          </a:xfrm>
        </p:grpSpPr>
        <p:sp>
          <p:nvSpPr>
            <p:cNvPr id="10" name="Google Shape;97;p16">
              <a:extLst>
                <a:ext uri="{FF2B5EF4-FFF2-40B4-BE49-F238E27FC236}">
                  <a16:creationId xmlns:a16="http://schemas.microsoft.com/office/drawing/2014/main" id="{13D25731-8DBA-264B-8197-776B149F5283}"/>
                </a:ext>
              </a:extLst>
            </p:cNvPr>
            <p:cNvSpPr/>
            <p:nvPr/>
          </p:nvSpPr>
          <p:spPr>
            <a:xfrm>
              <a:off x="2325950" y="2877100"/>
              <a:ext cx="1862100" cy="703200"/>
            </a:xfrm>
            <a:prstGeom prst="roundRect">
              <a:avLst>
                <a:gd name="adj" fmla="val 16667"/>
              </a:avLst>
            </a:prstGeom>
            <a:solidFill>
              <a:srgbClr val="C9DAF8"/>
            </a:solidFill>
            <a:ln w="9525" cap="flat" cmpd="sng">
              <a:solidFill>
                <a:srgbClr val="695D4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/>
                <a:t>Colocar las validaciones</a:t>
              </a:r>
              <a:endParaRPr sz="1200" b="1"/>
            </a:p>
          </p:txBody>
        </p:sp>
        <p:sp>
          <p:nvSpPr>
            <p:cNvPr id="11" name="Google Shape;101;p16">
              <a:extLst>
                <a:ext uri="{FF2B5EF4-FFF2-40B4-BE49-F238E27FC236}">
                  <a16:creationId xmlns:a16="http://schemas.microsoft.com/office/drawing/2014/main" id="{19A3E5CA-2621-9F94-D421-77657EBCA7DE}"/>
                </a:ext>
              </a:extLst>
            </p:cNvPr>
            <p:cNvSpPr/>
            <p:nvPr/>
          </p:nvSpPr>
          <p:spPr>
            <a:xfrm>
              <a:off x="2325950" y="2638725"/>
              <a:ext cx="1862100" cy="331500"/>
            </a:xfrm>
            <a:prstGeom prst="round2SameRect">
              <a:avLst>
                <a:gd name="adj1" fmla="val 30988"/>
                <a:gd name="adj2" fmla="val 0"/>
              </a:avLst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 b="1"/>
                <a:t>En la entidad</a:t>
              </a:r>
              <a:r>
                <a:rPr lang="es-419" sz="1200"/>
                <a:t>: </a:t>
              </a:r>
              <a:endParaRPr sz="1200"/>
            </a:p>
          </p:txBody>
        </p:sp>
      </p:grpSp>
      <p:sp>
        <p:nvSpPr>
          <p:cNvPr id="12" name="Google Shape;102;p16">
            <a:extLst>
              <a:ext uri="{FF2B5EF4-FFF2-40B4-BE49-F238E27FC236}">
                <a16:creationId xmlns:a16="http://schemas.microsoft.com/office/drawing/2014/main" id="{2A0E43DA-C298-6CE0-5918-180E3C2C79FA}"/>
              </a:ext>
            </a:extLst>
          </p:cNvPr>
          <p:cNvSpPr/>
          <p:nvPr/>
        </p:nvSpPr>
        <p:spPr>
          <a:xfrm>
            <a:off x="4729699" y="3194252"/>
            <a:ext cx="1928700" cy="331500"/>
          </a:xfrm>
          <a:prstGeom prst="round2SameRect">
            <a:avLst>
              <a:gd name="adj1" fmla="val 30988"/>
              <a:gd name="adj2" fmla="val 0"/>
            </a:avLst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/>
              <a:t>En el controlador</a:t>
            </a:r>
            <a:r>
              <a:rPr lang="es-419" sz="1200"/>
              <a:t>: 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857755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C1851-E08F-57FF-AB79-F4F57CF52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C39C-E1AB-881D-D570-D384C9E16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Validaciones en la entidad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750DE0D-F004-31FA-0FE0-252A3443D6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84C70D9-9B97-8E92-E3FC-EA1489F23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En base al código de ejemplo, se validarán algunos campos de la entidad Producto: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sz="1800" b="1" dirty="0" err="1"/>
              <a:t>ProductName</a:t>
            </a:r>
            <a:r>
              <a:rPr lang="es-ES" sz="1800" dirty="0"/>
              <a:t>: no nulo y tamaño máximo de 40 caracteres</a:t>
            </a:r>
          </a:p>
          <a:p>
            <a:pPr lvl="1" indent="-342900">
              <a:spcBef>
                <a:spcPts val="0"/>
              </a:spcBef>
              <a:buSzPts val="1800"/>
              <a:buChar char="○"/>
            </a:pPr>
            <a:r>
              <a:rPr lang="es-ES" sz="1800" dirty="0"/>
              <a:t>@NotBlank y @size(max=40)</a:t>
            </a:r>
          </a:p>
          <a:p>
            <a:pPr lvl="0" indent="-342900">
              <a:buSzPts val="1800"/>
              <a:buChar char="●"/>
            </a:pPr>
            <a:r>
              <a:rPr lang="es-ES" sz="1800" b="1" dirty="0" err="1"/>
              <a:t>UnitPrice</a:t>
            </a:r>
            <a:r>
              <a:rPr lang="es-ES" sz="1800" dirty="0"/>
              <a:t>: que sea un número y positivo</a:t>
            </a:r>
          </a:p>
          <a:p>
            <a:pPr lvl="1" indent="-342900">
              <a:spcBef>
                <a:spcPts val="0"/>
              </a:spcBef>
              <a:buSzPts val="1800"/>
              <a:buChar char="○"/>
            </a:pPr>
            <a:r>
              <a:rPr lang="es-ES" sz="1800" dirty="0"/>
              <a:t>@Digits y @Positive</a:t>
            </a:r>
          </a:p>
          <a:p>
            <a:pPr lvl="0" indent="-342900">
              <a:buSzPts val="1800"/>
              <a:buChar char="●"/>
            </a:pPr>
            <a:r>
              <a:rPr lang="es-ES" sz="1800" b="1" dirty="0" err="1"/>
              <a:t>UnitsInStock</a:t>
            </a:r>
            <a:r>
              <a:rPr lang="es-ES" sz="1800" b="1" dirty="0"/>
              <a:t> y </a:t>
            </a:r>
            <a:r>
              <a:rPr lang="es-ES" sz="1800" b="1" dirty="0" err="1"/>
              <a:t>UnitsOnOrder</a:t>
            </a:r>
            <a:r>
              <a:rPr lang="es-ES" sz="1800" dirty="0"/>
              <a:t>: que sea un número, mínimo valor (0) y máximo valor (</a:t>
            </a:r>
            <a:r>
              <a:rPr lang="es-ES" sz="1800" u="sng" dirty="0">
                <a:solidFill>
                  <a:schemeClr val="hlink"/>
                </a:solidFill>
                <a:hlinkClick r:id="rId2"/>
              </a:rPr>
              <a:t>32767</a:t>
            </a:r>
            <a:r>
              <a:rPr lang="es-ES" sz="1800" dirty="0"/>
              <a:t>)</a:t>
            </a:r>
          </a:p>
          <a:p>
            <a:pPr lvl="1" indent="-342900">
              <a:spcBef>
                <a:spcPts val="0"/>
              </a:spcBef>
              <a:spcAft>
                <a:spcPts val="1000"/>
              </a:spcAft>
              <a:buSzPts val="1800"/>
              <a:buChar char="○"/>
            </a:pPr>
            <a:r>
              <a:rPr lang="es-ES" sz="1800" dirty="0"/>
              <a:t>@Digits, @Min y @Max</a:t>
            </a:r>
          </a:p>
          <a:p>
            <a:endParaRPr lang="es-PE" dirty="0"/>
          </a:p>
        </p:txBody>
      </p:sp>
      <p:grpSp>
        <p:nvGrpSpPr>
          <p:cNvPr id="5" name="Google Shape;110;p17">
            <a:extLst>
              <a:ext uri="{FF2B5EF4-FFF2-40B4-BE49-F238E27FC236}">
                <a16:creationId xmlns:a16="http://schemas.microsoft.com/office/drawing/2014/main" id="{6A36BEA7-71F4-EC98-305F-7B24D9A06331}"/>
              </a:ext>
            </a:extLst>
          </p:cNvPr>
          <p:cNvGrpSpPr/>
          <p:nvPr/>
        </p:nvGrpSpPr>
        <p:grpSpPr>
          <a:xfrm>
            <a:off x="5364991" y="3711518"/>
            <a:ext cx="2927362" cy="1764810"/>
            <a:chOff x="6258900" y="93363"/>
            <a:chExt cx="2762250" cy="1744771"/>
          </a:xfrm>
        </p:grpSpPr>
        <p:pic>
          <p:nvPicPr>
            <p:cNvPr id="6" name="Google Shape;111;p17">
              <a:extLst>
                <a:ext uri="{FF2B5EF4-FFF2-40B4-BE49-F238E27FC236}">
                  <a16:creationId xmlns:a16="http://schemas.microsoft.com/office/drawing/2014/main" id="{ECE79AD8-F6BA-E133-EFA6-FA6072504963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58900" y="93363"/>
              <a:ext cx="2762250" cy="847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12;p17">
              <a:extLst>
                <a:ext uri="{FF2B5EF4-FFF2-40B4-BE49-F238E27FC236}">
                  <a16:creationId xmlns:a16="http://schemas.microsoft.com/office/drawing/2014/main" id="{66B68B26-BE5C-9BA5-1E58-BD295A457553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2066"/>
            <a:stretch/>
          </p:blipFill>
          <p:spPr>
            <a:xfrm>
              <a:off x="6314450" y="889675"/>
              <a:ext cx="2636650" cy="646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13;p17">
              <a:extLst>
                <a:ext uri="{FF2B5EF4-FFF2-40B4-BE49-F238E27FC236}">
                  <a16:creationId xmlns:a16="http://schemas.microsoft.com/office/drawing/2014/main" id="{A36F380E-F9C1-104D-E23A-D41952D8925F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280950" y="1504758"/>
              <a:ext cx="2628900" cy="33337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461550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F021C-9FC5-33C9-B265-44D43FD18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3B66D4-36A4-440A-5FB9-3CEBC7E2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Validaciones en la entidad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B6FDAB7-3337-6390-D946-90A51212B2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C86C42B-2B53-CA84-B912-EE9566455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000" dirty="0"/>
              <a:t>Antes:</a:t>
            </a:r>
          </a:p>
          <a:p>
            <a:endParaRPr lang="es-ES" sz="2000" dirty="0"/>
          </a:p>
          <a:p>
            <a:endParaRPr lang="es-ES" sz="2000" dirty="0"/>
          </a:p>
          <a:p>
            <a:r>
              <a:rPr lang="es-ES" sz="2000" dirty="0"/>
              <a:t>Ahora:</a:t>
            </a:r>
          </a:p>
          <a:p>
            <a:endParaRPr lang="es-PE" dirty="0"/>
          </a:p>
        </p:txBody>
      </p:sp>
      <p:pic>
        <p:nvPicPr>
          <p:cNvPr id="7" name="Google Shape;121;p18">
            <a:extLst>
              <a:ext uri="{FF2B5EF4-FFF2-40B4-BE49-F238E27FC236}">
                <a16:creationId xmlns:a16="http://schemas.microsoft.com/office/drawing/2014/main" id="{374C9827-089C-6E24-2F5B-344A1459083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46123" y="1343950"/>
            <a:ext cx="2385337" cy="1502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4;p18">
            <a:extLst>
              <a:ext uri="{FF2B5EF4-FFF2-40B4-BE49-F238E27FC236}">
                <a16:creationId xmlns:a16="http://schemas.microsoft.com/office/drawing/2014/main" id="{9B43B47B-5C16-F469-5FF3-BD86CF8B42F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7044" y="2923200"/>
            <a:ext cx="5154663" cy="271965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5;p18">
            <a:extLst>
              <a:ext uri="{FF2B5EF4-FFF2-40B4-BE49-F238E27FC236}">
                <a16:creationId xmlns:a16="http://schemas.microsoft.com/office/drawing/2014/main" id="{664CE584-0274-C002-58EF-D0E119D60373}"/>
              </a:ext>
            </a:extLst>
          </p:cNvPr>
          <p:cNvSpPr txBox="1"/>
          <p:nvPr/>
        </p:nvSpPr>
        <p:spPr>
          <a:xfrm>
            <a:off x="6437794" y="2846937"/>
            <a:ext cx="3975000" cy="3693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jakarta.validation.constraints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.*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79883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8DCD1-74B3-986B-2390-FBE1EE457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C8C3F-4635-AA1A-8850-F1D574E5E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Anotación @Valid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3F32F01-D59C-8E80-576E-68D28BC459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31CA9FF-EF57-8F4C-5FBF-3CCE7930C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La anotación </a:t>
            </a:r>
            <a:r>
              <a:rPr lang="es-ES" sz="1800" b="1" dirty="0"/>
              <a:t>@Valid</a:t>
            </a:r>
            <a:r>
              <a:rPr lang="es-ES" sz="1800" dirty="0"/>
              <a:t> le indica a Spring que a la entidad recibida por </a:t>
            </a:r>
            <a:r>
              <a:rPr lang="es-ES" sz="1800" dirty="0" err="1"/>
              <a:t>DataBinding</a:t>
            </a:r>
            <a:r>
              <a:rPr lang="es-ES" sz="1800" dirty="0"/>
              <a:t> se le debe aplicar las validaciones definidas previamente.</a:t>
            </a:r>
          </a:p>
          <a:p>
            <a:pPr marL="0" lvl="0" indent="0">
              <a:spcAft>
                <a:spcPts val="1000"/>
              </a:spcAft>
              <a:buNone/>
            </a:pPr>
            <a:r>
              <a:rPr lang="es-ES" sz="1800" dirty="0"/>
              <a:t>Entonces, el siguiente paso es colocar en el controlador donde se gestione la recepción del formulario, la anotación </a:t>
            </a:r>
            <a:r>
              <a:rPr lang="es-ES" sz="1800" b="1" dirty="0"/>
              <a:t>@Valid</a:t>
            </a:r>
            <a:r>
              <a:rPr lang="es-ES" sz="1800" dirty="0"/>
              <a:t> en la entidad. Se debe importar de la clase </a:t>
            </a:r>
            <a:r>
              <a:rPr lang="es-ES" sz="1800" b="1" dirty="0" err="1"/>
              <a:t>javax.validation.Valid</a:t>
            </a:r>
            <a:r>
              <a:rPr lang="es-ES" sz="1800" dirty="0"/>
              <a:t>.</a:t>
            </a:r>
          </a:p>
          <a:p>
            <a:r>
              <a:rPr lang="es-PE" sz="2000" dirty="0"/>
              <a:t>Antes</a:t>
            </a:r>
          </a:p>
          <a:p>
            <a:endParaRPr lang="es-PE" sz="2000" dirty="0"/>
          </a:p>
          <a:p>
            <a:endParaRPr lang="es-PE" sz="2000" dirty="0"/>
          </a:p>
          <a:p>
            <a:r>
              <a:rPr lang="es-PE" sz="2000" dirty="0"/>
              <a:t>Ahora</a:t>
            </a:r>
          </a:p>
          <a:p>
            <a:endParaRPr lang="es-PE" dirty="0"/>
          </a:p>
        </p:txBody>
      </p:sp>
      <p:cxnSp>
        <p:nvCxnSpPr>
          <p:cNvPr id="5" name="Google Shape;135;p19">
            <a:extLst>
              <a:ext uri="{FF2B5EF4-FFF2-40B4-BE49-F238E27FC236}">
                <a16:creationId xmlns:a16="http://schemas.microsoft.com/office/drawing/2014/main" id="{07464C67-6B5C-5138-052C-981D99E4AE8C}"/>
              </a:ext>
            </a:extLst>
          </p:cNvPr>
          <p:cNvCxnSpPr/>
          <p:nvPr/>
        </p:nvCxnSpPr>
        <p:spPr>
          <a:xfrm>
            <a:off x="2051648" y="4112877"/>
            <a:ext cx="7850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Google Shape;136;p19">
            <a:extLst>
              <a:ext uri="{FF2B5EF4-FFF2-40B4-BE49-F238E27FC236}">
                <a16:creationId xmlns:a16="http://schemas.microsoft.com/office/drawing/2014/main" id="{98E0F6FF-A446-7719-C0CE-4C4A42A91C1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01515" y="4300260"/>
            <a:ext cx="6962775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7;p19">
            <a:extLst>
              <a:ext uri="{FF2B5EF4-FFF2-40B4-BE49-F238E27FC236}">
                <a16:creationId xmlns:a16="http://schemas.microsoft.com/office/drawing/2014/main" id="{D72C58BD-5CEF-D266-2C2E-6AB16655AFB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4853" y="2857500"/>
            <a:ext cx="6696075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38;p19">
            <a:extLst>
              <a:ext uri="{FF2B5EF4-FFF2-40B4-BE49-F238E27FC236}">
                <a16:creationId xmlns:a16="http://schemas.microsoft.com/office/drawing/2014/main" id="{B1CD07C7-68DD-6DDC-DF43-1E40E5CEC220}"/>
              </a:ext>
            </a:extLst>
          </p:cNvPr>
          <p:cNvSpPr/>
          <p:nvPr/>
        </p:nvSpPr>
        <p:spPr>
          <a:xfrm rot="-2698389">
            <a:off x="7909615" y="4179040"/>
            <a:ext cx="667767" cy="242439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19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DB7DF-B2AA-8E05-14BE-9C4F97A82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B10BF5-3F26-B524-6542-BACB2AFBA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BindingResult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D6877D8-B38A-3ECC-F25C-725C37FC5C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E37CA9F-BF6B-DCEB-5CA6-148613915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La clase </a:t>
            </a:r>
            <a:r>
              <a:rPr lang="es-ES" sz="1800" dirty="0" err="1"/>
              <a:t>BindingResult</a:t>
            </a:r>
            <a:r>
              <a:rPr lang="es-ES" sz="1800" dirty="0"/>
              <a:t> permite gestionar todos los errores que resulten cuando Spring realiza el </a:t>
            </a:r>
            <a:r>
              <a:rPr lang="es-ES" sz="1800" dirty="0" err="1"/>
              <a:t>databinding</a:t>
            </a:r>
            <a:r>
              <a:rPr lang="es-ES" sz="1800" dirty="0"/>
              <a:t> de una entidad con anotación </a:t>
            </a:r>
            <a:r>
              <a:rPr lang="es-ES" sz="1800" b="1" dirty="0"/>
              <a:t>@Valid</a:t>
            </a:r>
            <a:r>
              <a:rPr lang="es-ES" sz="1800" dirty="0"/>
              <a:t>.</a:t>
            </a:r>
          </a:p>
          <a:p>
            <a:pPr marL="0" lvl="0" indent="0">
              <a:spcAft>
                <a:spcPts val="1000"/>
              </a:spcAft>
              <a:buNone/>
            </a:pPr>
            <a:r>
              <a:rPr lang="es-ES" sz="1800" dirty="0"/>
              <a:t>La clase </a:t>
            </a:r>
            <a:r>
              <a:rPr lang="es-ES" sz="1800" b="1" dirty="0" err="1"/>
              <a:t>BindingResult</a:t>
            </a:r>
            <a:r>
              <a:rPr lang="es-ES" sz="1800" b="1" dirty="0"/>
              <a:t> </a:t>
            </a:r>
            <a:r>
              <a:rPr lang="es-ES" sz="1800" dirty="0"/>
              <a:t>debe colocarse</a:t>
            </a:r>
            <a:r>
              <a:rPr lang="es-ES" sz="1800" b="1" dirty="0"/>
              <a:t> </a:t>
            </a:r>
            <a:r>
              <a:rPr lang="es-ES" sz="1800" b="1" dirty="0">
                <a:solidFill>
                  <a:srgbClr val="FF0000"/>
                </a:solidFill>
              </a:rPr>
              <a:t>siempre luego de la entidad</a:t>
            </a:r>
            <a:r>
              <a:rPr lang="es-ES" sz="1800" b="1" dirty="0"/>
              <a:t> anotada con @Valid</a:t>
            </a:r>
            <a:r>
              <a:rPr lang="es-ES" sz="1800" dirty="0"/>
              <a:t>.</a:t>
            </a:r>
          </a:p>
          <a:p>
            <a:endParaRPr lang="es-PE" dirty="0"/>
          </a:p>
        </p:txBody>
      </p:sp>
      <p:pic>
        <p:nvPicPr>
          <p:cNvPr id="5" name="Google Shape;143;p20">
            <a:extLst>
              <a:ext uri="{FF2B5EF4-FFF2-40B4-BE49-F238E27FC236}">
                <a16:creationId xmlns:a16="http://schemas.microsoft.com/office/drawing/2014/main" id="{7DAFB6DE-CA78-2443-1EA7-CE7E9A51EB7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72833" y="3325778"/>
            <a:ext cx="8832299" cy="214816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47;p20">
            <a:extLst>
              <a:ext uri="{FF2B5EF4-FFF2-40B4-BE49-F238E27FC236}">
                <a16:creationId xmlns:a16="http://schemas.microsoft.com/office/drawing/2014/main" id="{C9F51D01-D24A-5BAA-5D3D-31BF3BE2E7D8}"/>
              </a:ext>
            </a:extLst>
          </p:cNvPr>
          <p:cNvSpPr/>
          <p:nvPr/>
        </p:nvSpPr>
        <p:spPr>
          <a:xfrm rot="-2698389">
            <a:off x="6185191" y="3090992"/>
            <a:ext cx="905380" cy="252437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48;p20">
            <a:extLst>
              <a:ext uri="{FF2B5EF4-FFF2-40B4-BE49-F238E27FC236}">
                <a16:creationId xmlns:a16="http://schemas.microsoft.com/office/drawing/2014/main" id="{37479975-B0AD-9F52-3F90-B31D27E7C9CF}"/>
              </a:ext>
            </a:extLst>
          </p:cNvPr>
          <p:cNvSpPr/>
          <p:nvPr/>
        </p:nvSpPr>
        <p:spPr>
          <a:xfrm rot="-2698389">
            <a:off x="8848391" y="2868692"/>
            <a:ext cx="905380" cy="252437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49;p20">
            <a:extLst>
              <a:ext uri="{FF2B5EF4-FFF2-40B4-BE49-F238E27FC236}">
                <a16:creationId xmlns:a16="http://schemas.microsoft.com/office/drawing/2014/main" id="{0F6A0EDD-3ED6-9071-B233-6738E98110F8}"/>
              </a:ext>
            </a:extLst>
          </p:cNvPr>
          <p:cNvSpPr/>
          <p:nvPr/>
        </p:nvSpPr>
        <p:spPr>
          <a:xfrm rot="-5400000">
            <a:off x="8863508" y="2337878"/>
            <a:ext cx="231000" cy="2206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9024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CB54A-2524-8BFA-1F9D-86AFDEE0B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B84CB-9D4E-458E-F62B-A39AD2E62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Gestión de los errores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51FCEFD-7C57-BEC3-AC4E-DD6894CB8F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91071DB-10B9-C607-E4EB-20FC068D5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El objeto </a:t>
            </a:r>
            <a:r>
              <a:rPr lang="es-ES" b="1" dirty="0" err="1"/>
              <a:t>bindingResult</a:t>
            </a:r>
            <a:r>
              <a:rPr lang="es-ES" b="1" dirty="0"/>
              <a:t> </a:t>
            </a:r>
            <a:r>
              <a:rPr lang="es-ES" dirty="0"/>
              <a:t>contiene información de los errores sucedidos al hacer el </a:t>
            </a:r>
            <a:r>
              <a:rPr lang="es-ES" dirty="0" err="1"/>
              <a:t>dataBinding</a:t>
            </a:r>
            <a:r>
              <a:rPr lang="es-ES" dirty="0"/>
              <a:t>:</a:t>
            </a:r>
          </a:p>
          <a:p>
            <a:pPr lvl="0" indent="-317500">
              <a:buSzPts val="1400"/>
              <a:buChar char="●"/>
            </a:pPr>
            <a:r>
              <a:rPr lang="es-ES" sz="2000" b="1" dirty="0" err="1"/>
              <a:t>hasErrors</a:t>
            </a:r>
            <a:r>
              <a:rPr lang="es-ES" sz="2000" dirty="0"/>
              <a:t>() → Indica si han ocurrido errores</a:t>
            </a:r>
          </a:p>
          <a:p>
            <a:pPr lvl="0" indent="-317500">
              <a:spcBef>
                <a:spcPts val="0"/>
              </a:spcBef>
              <a:buSzPts val="1400"/>
              <a:buChar char="●"/>
            </a:pPr>
            <a:r>
              <a:rPr lang="es-ES" sz="2000" b="1" dirty="0" err="1"/>
              <a:t>getFieldErrors</a:t>
            </a:r>
            <a:r>
              <a:rPr lang="es-ES" sz="2000" dirty="0"/>
              <a:t>() → Obtener los errores ocurridos</a:t>
            </a:r>
          </a:p>
          <a:p>
            <a:pPr lvl="0" indent="-317500">
              <a:spcBef>
                <a:spcPts val="0"/>
              </a:spcBef>
              <a:buSzPts val="1400"/>
              <a:buChar char="●"/>
            </a:pPr>
            <a:r>
              <a:rPr lang="es-ES" sz="2000" b="1" dirty="0" err="1"/>
              <a:t>getField</a:t>
            </a:r>
            <a:r>
              <a:rPr lang="es-ES" sz="2000" dirty="0"/>
              <a:t>() → Campo donde fallo</a:t>
            </a:r>
          </a:p>
          <a:p>
            <a:pPr lvl="0" indent="-317500">
              <a:spcBef>
                <a:spcPts val="0"/>
              </a:spcBef>
              <a:buSzPts val="1400"/>
              <a:buChar char="●"/>
            </a:pPr>
            <a:r>
              <a:rPr lang="es-ES" sz="2000" b="1" dirty="0" err="1"/>
              <a:t>getDefaultMessage</a:t>
            </a:r>
            <a:r>
              <a:rPr lang="es-ES" sz="2000" dirty="0"/>
              <a:t>() → información del error.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29077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0BB56-F122-FD12-7F86-AC3F2D6E3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BD9C7-E1B8-8AFB-2B2F-D2B50FE30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Gestión de los errores - Controlador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0A3C763-333B-B9F0-CD03-62967736D3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F38C48-11B2-BB3F-CADE-FE70500A8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En este ejemplo se validará si existen errores con </a:t>
            </a:r>
            <a:r>
              <a:rPr lang="es-ES" b="1" dirty="0" err="1"/>
              <a:t>hasErrors</a:t>
            </a:r>
            <a:r>
              <a:rPr lang="es-ES" b="1" dirty="0"/>
              <a:t>()</a:t>
            </a:r>
            <a:r>
              <a:rPr lang="es-ES" dirty="0"/>
              <a:t> y de ser cierto, se volverá a mostrar la vista de creación/edición de un producto. </a:t>
            </a:r>
          </a:p>
          <a:p>
            <a:pPr marL="0" lvl="0" indent="0">
              <a:buNone/>
            </a:pPr>
            <a:endParaRPr lang="es-ES" dirty="0"/>
          </a:p>
          <a:p>
            <a:pPr marL="0" lvl="0" indent="0">
              <a:buNone/>
            </a:pPr>
            <a:endParaRPr lang="es-ES" dirty="0"/>
          </a:p>
          <a:p>
            <a:pPr marL="0" lvl="0" indent="0">
              <a:buNone/>
            </a:pPr>
            <a:endParaRPr lang="es-ES" dirty="0"/>
          </a:p>
          <a:p>
            <a:pPr marL="0" lvl="0" indent="0">
              <a:buNone/>
            </a:pPr>
            <a:endParaRPr lang="es-ES" dirty="0"/>
          </a:p>
          <a:p>
            <a:pPr marL="0" lvl="0" indent="0">
              <a:buNone/>
            </a:pPr>
            <a:endParaRPr lang="es-ES" dirty="0"/>
          </a:p>
          <a:p>
            <a:pPr marL="0" lvl="0" indent="0">
              <a:buNone/>
            </a:pPr>
            <a:endParaRPr lang="es-ES" dirty="0"/>
          </a:p>
          <a:p>
            <a:pPr marL="0" lvl="0" indent="0">
              <a:buNone/>
            </a:pPr>
            <a:endParaRPr lang="es-ES" dirty="0"/>
          </a:p>
          <a:p>
            <a:pPr marL="0" lvl="0" indent="0">
              <a:buNone/>
            </a:pPr>
            <a:r>
              <a:rPr lang="es-ES" b="1" u="sng" dirty="0"/>
              <a:t>Observaciones</a:t>
            </a:r>
            <a:r>
              <a:rPr lang="es-ES" dirty="0"/>
              <a:t>:</a:t>
            </a:r>
          </a:p>
          <a:p>
            <a:pPr lvl="0" indent="-317500">
              <a:spcBef>
                <a:spcPts val="0"/>
              </a:spcBef>
              <a:buSzPts val="1400"/>
              <a:buChar char="●"/>
            </a:pPr>
            <a:r>
              <a:rPr lang="es-ES" dirty="0"/>
              <a:t>Si observa detenidamente, si hay errores en la edición del usuario, nunca se buscó por el usuario (como si se realizó en la ruta </a:t>
            </a:r>
            <a:r>
              <a:rPr lang="es-ES" b="1" dirty="0"/>
              <a:t>/edit</a:t>
            </a:r>
            <a:r>
              <a:rPr lang="es-ES" dirty="0"/>
              <a:t>. En este caso ya no es necesario pues el contenido del formulario mantiene su información en el objeto “</a:t>
            </a:r>
            <a:r>
              <a:rPr lang="es-ES" dirty="0" err="1"/>
              <a:t>product</a:t>
            </a:r>
            <a:r>
              <a:rPr lang="es-ES" dirty="0"/>
              <a:t>” usando </a:t>
            </a:r>
            <a:r>
              <a:rPr lang="es-ES" b="1" dirty="0"/>
              <a:t>@ModelAttribute</a:t>
            </a:r>
            <a:r>
              <a:rPr lang="es-ES" dirty="0"/>
              <a:t>.</a:t>
            </a:r>
          </a:p>
          <a:p>
            <a:pPr lvl="0" indent="-317500">
              <a:buSzPts val="1400"/>
              <a:buChar char="●"/>
            </a:pPr>
            <a:r>
              <a:rPr lang="es-ES" dirty="0"/>
              <a:t>Así mismo, la información de los errores ya se encuentra vinculada automáticamente a cada campo del formulario gracias a </a:t>
            </a:r>
            <a:r>
              <a:rPr lang="es-ES" b="1" dirty="0"/>
              <a:t>@ModelAttribute</a:t>
            </a:r>
            <a:r>
              <a:rPr lang="es-ES" dirty="0"/>
              <a:t>.</a:t>
            </a:r>
          </a:p>
        </p:txBody>
      </p:sp>
      <p:pic>
        <p:nvPicPr>
          <p:cNvPr id="5" name="Google Shape;164;p22">
            <a:extLst>
              <a:ext uri="{FF2B5EF4-FFF2-40B4-BE49-F238E27FC236}">
                <a16:creationId xmlns:a16="http://schemas.microsoft.com/office/drawing/2014/main" id="{1D52248C-2103-E6B0-746F-6660540856F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80630" y="1975500"/>
            <a:ext cx="8217794" cy="1915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3682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167AC-7D99-7989-4B91-FB51511EF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364E1C-FA6D-4AF9-55A9-B0C73F678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Gestión de los errores - vista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2793847-D2CC-86E1-50C4-E56C1BD3DC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9B737C4-A06B-54F8-CA1C-5988A131D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Para imprimir los errores del </a:t>
            </a:r>
            <a:r>
              <a:rPr lang="es-ES" sz="1800" dirty="0" err="1"/>
              <a:t>Binding</a:t>
            </a:r>
            <a:r>
              <a:rPr lang="es-ES" sz="1800" dirty="0"/>
              <a:t> </a:t>
            </a:r>
            <a:r>
              <a:rPr lang="es-ES" sz="1800" dirty="0" err="1"/>
              <a:t>Result</a:t>
            </a:r>
            <a:r>
              <a:rPr lang="es-ES" sz="1800" dirty="0"/>
              <a:t> se hace uso de los atributos de </a:t>
            </a:r>
            <a:r>
              <a:rPr lang="es-ES" sz="1800" dirty="0" err="1"/>
              <a:t>thymeleaf</a:t>
            </a:r>
            <a:r>
              <a:rPr lang="es-ES" sz="1800" dirty="0"/>
              <a:t>:</a:t>
            </a:r>
          </a:p>
          <a:p>
            <a:pPr lvl="0" indent="-317500">
              <a:spcBef>
                <a:spcPts val="1600"/>
              </a:spcBef>
              <a:buSzPts val="1400"/>
              <a:buChar char="●"/>
            </a:pPr>
            <a:r>
              <a:rPr lang="es-ES" sz="1800" b="1" dirty="0">
                <a:latin typeface="Source Code Pro"/>
                <a:ea typeface="Source Code Pro"/>
                <a:cs typeface="Source Code Pro"/>
                <a:sym typeface="Source Code Pro"/>
              </a:rPr>
              <a:t>#fields.hasErrors( )</a:t>
            </a:r>
            <a:r>
              <a:rPr lang="es-ES" sz="1800" dirty="0"/>
              <a:t> → permite validar si existe errores de </a:t>
            </a:r>
            <a:r>
              <a:rPr lang="es-ES" sz="1800" dirty="0" err="1"/>
              <a:t>databinding</a:t>
            </a:r>
            <a:r>
              <a:rPr lang="es-ES" sz="1800" dirty="0"/>
              <a:t> en el campo</a:t>
            </a:r>
          </a:p>
          <a:p>
            <a:pPr lvl="0" indent="-317500">
              <a:spcBef>
                <a:spcPts val="0"/>
              </a:spcBef>
              <a:buSzPts val="1400"/>
              <a:buChar char="●"/>
            </a:pPr>
            <a:r>
              <a:rPr lang="es-ES" sz="1800" b="1" dirty="0" err="1">
                <a:latin typeface="Source Code Pro"/>
                <a:ea typeface="Source Code Pro"/>
                <a:cs typeface="Source Code Pro"/>
                <a:sym typeface="Source Code Pro"/>
              </a:rPr>
              <a:t>th:errors</a:t>
            </a:r>
            <a:r>
              <a:rPr lang="es-ES" sz="1800" dirty="0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s-ES" sz="1800" dirty="0"/>
              <a:t>→ imprime una lista de los errores encontrados en el </a:t>
            </a:r>
            <a:r>
              <a:rPr lang="es-ES" sz="1800" dirty="0" err="1"/>
              <a:t>databinding</a:t>
            </a:r>
            <a:r>
              <a:rPr lang="es-ES" sz="1800" dirty="0"/>
              <a:t>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Entonces, para los errores de </a:t>
            </a:r>
            <a:r>
              <a:rPr lang="es-ES" sz="1800" dirty="0" err="1"/>
              <a:t>productName</a:t>
            </a:r>
            <a:r>
              <a:rPr lang="es-ES" sz="1800" dirty="0"/>
              <a:t>:</a:t>
            </a:r>
          </a:p>
          <a:p>
            <a:endParaRPr lang="es-PE" dirty="0"/>
          </a:p>
        </p:txBody>
      </p:sp>
      <p:pic>
        <p:nvPicPr>
          <p:cNvPr id="5" name="Google Shape;169;p23">
            <a:extLst>
              <a:ext uri="{FF2B5EF4-FFF2-40B4-BE49-F238E27FC236}">
                <a16:creationId xmlns:a16="http://schemas.microsoft.com/office/drawing/2014/main" id="{F6B89450-62BA-53E0-6903-FA15A6892B2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30768" y="3179326"/>
            <a:ext cx="9143999" cy="87316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73;p23">
            <a:extLst>
              <a:ext uri="{FF2B5EF4-FFF2-40B4-BE49-F238E27FC236}">
                <a16:creationId xmlns:a16="http://schemas.microsoft.com/office/drawing/2014/main" id="{5A33339F-2CA1-AA87-D9EA-BAA87FA31A89}"/>
              </a:ext>
            </a:extLst>
          </p:cNvPr>
          <p:cNvSpPr/>
          <p:nvPr/>
        </p:nvSpPr>
        <p:spPr>
          <a:xfrm>
            <a:off x="1742468" y="4970960"/>
            <a:ext cx="3637500" cy="5247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FFFFFF"/>
                </a:solidFill>
              </a:rPr>
              <a:t>Se realiza una validación para saber si existen errores asociados al productname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" name="Google Shape;174;p23">
            <a:extLst>
              <a:ext uri="{FF2B5EF4-FFF2-40B4-BE49-F238E27FC236}">
                <a16:creationId xmlns:a16="http://schemas.microsoft.com/office/drawing/2014/main" id="{93EE0E8C-E5DF-CF3E-D167-60A8B50128AA}"/>
              </a:ext>
            </a:extLst>
          </p:cNvPr>
          <p:cNvSpPr/>
          <p:nvPr/>
        </p:nvSpPr>
        <p:spPr>
          <a:xfrm>
            <a:off x="6729568" y="4937060"/>
            <a:ext cx="3030600" cy="592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FFFFFF"/>
                </a:solidFill>
              </a:rPr>
              <a:t>Se existen errores, se muestra uno debajo del otro con </a:t>
            </a:r>
            <a:r>
              <a:rPr lang="es-419" sz="120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th:errors</a:t>
            </a:r>
            <a:endParaRPr sz="1200" b="1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8" name="Google Shape;175;p23">
            <a:extLst>
              <a:ext uri="{FF2B5EF4-FFF2-40B4-BE49-F238E27FC236}">
                <a16:creationId xmlns:a16="http://schemas.microsoft.com/office/drawing/2014/main" id="{ADCB5A8A-975C-6879-81B1-D37F8D37F0FA}"/>
              </a:ext>
            </a:extLst>
          </p:cNvPr>
          <p:cNvCxnSpPr>
            <a:stCxn id="7" idx="0"/>
            <a:endCxn id="9" idx="1"/>
          </p:cNvCxnSpPr>
          <p:nvPr/>
        </p:nvCxnSpPr>
        <p:spPr>
          <a:xfrm rot="10800000">
            <a:off x="7196068" y="4116560"/>
            <a:ext cx="1048800" cy="820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176;p23">
            <a:extLst>
              <a:ext uri="{FF2B5EF4-FFF2-40B4-BE49-F238E27FC236}">
                <a16:creationId xmlns:a16="http://schemas.microsoft.com/office/drawing/2014/main" id="{8F534F3C-77C2-6AEB-459C-7CA170D064E1}"/>
              </a:ext>
            </a:extLst>
          </p:cNvPr>
          <p:cNvSpPr/>
          <p:nvPr/>
        </p:nvSpPr>
        <p:spPr>
          <a:xfrm rot="5400000">
            <a:off x="7075518" y="3158660"/>
            <a:ext cx="240900" cy="16749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0" name="Google Shape;177;p23">
            <a:extLst>
              <a:ext uri="{FF2B5EF4-FFF2-40B4-BE49-F238E27FC236}">
                <a16:creationId xmlns:a16="http://schemas.microsoft.com/office/drawing/2014/main" id="{731F6B37-677A-1CBA-3E41-F8EC5E83188A}"/>
              </a:ext>
            </a:extLst>
          </p:cNvPr>
          <p:cNvSpPr/>
          <p:nvPr/>
        </p:nvSpPr>
        <p:spPr>
          <a:xfrm rot="5400000">
            <a:off x="4979768" y="2874860"/>
            <a:ext cx="265200" cy="22425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cxnSp>
        <p:nvCxnSpPr>
          <p:cNvPr id="11" name="Google Shape;178;p23">
            <a:extLst>
              <a:ext uri="{FF2B5EF4-FFF2-40B4-BE49-F238E27FC236}">
                <a16:creationId xmlns:a16="http://schemas.microsoft.com/office/drawing/2014/main" id="{91ECABE9-8856-6A8E-EFF6-0FDCBC892BFC}"/>
              </a:ext>
            </a:extLst>
          </p:cNvPr>
          <p:cNvCxnSpPr>
            <a:stCxn id="6" idx="0"/>
            <a:endCxn id="10" idx="1"/>
          </p:cNvCxnSpPr>
          <p:nvPr/>
        </p:nvCxnSpPr>
        <p:spPr>
          <a:xfrm rot="10800000" flipH="1">
            <a:off x="3561218" y="4128860"/>
            <a:ext cx="1551300" cy="842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6261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AAB95-9C5B-56F2-0344-DEA7C14F9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2B647-E6F4-DCDD-EBB2-E4BE388A0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Gestión de los errores - vista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A6A83B3-9ED2-1703-AB1A-64A337FBAF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85862E-C46F-CF75-2A4F-D9AB25D5C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000" dirty="0"/>
              <a:t>Aplicando lo mismo a los demás campos que se están validando:</a:t>
            </a:r>
          </a:p>
          <a:p>
            <a:endParaRPr lang="es-PE" dirty="0"/>
          </a:p>
        </p:txBody>
      </p:sp>
      <p:pic>
        <p:nvPicPr>
          <p:cNvPr id="5" name="Google Shape;186;p24">
            <a:extLst>
              <a:ext uri="{FF2B5EF4-FFF2-40B4-BE49-F238E27FC236}">
                <a16:creationId xmlns:a16="http://schemas.microsoft.com/office/drawing/2014/main" id="{C62DDE30-0CDD-A6FD-4074-EFE3630E4EE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62546" y="2027316"/>
            <a:ext cx="5066907" cy="34411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6943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5505F-3255-CBE5-9D01-795C3DF49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347B04-F833-E09E-627D-A5A141CF6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Probando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CC8BDAC-05AB-1BA5-48A1-FF314FF45F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9E32C7-A43C-F938-4CE8-2B2BF9D45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162975"/>
            <a:ext cx="4458353" cy="3843645"/>
          </a:xfrm>
        </p:spPr>
        <p:txBody>
          <a:bodyPr/>
          <a:lstStyle/>
          <a:p>
            <a:r>
              <a:rPr lang="es-ES" sz="2000" dirty="0"/>
              <a:t>Ingresar datos erróneos en el formulario para los campos </a:t>
            </a:r>
            <a:r>
              <a:rPr lang="es-ES" sz="2000" b="1" dirty="0" err="1"/>
              <a:t>ProductName</a:t>
            </a:r>
            <a:r>
              <a:rPr lang="es-ES" sz="2000" dirty="0"/>
              <a:t>, </a:t>
            </a:r>
            <a:r>
              <a:rPr lang="es-ES" sz="2000" b="1" dirty="0" err="1"/>
              <a:t>UnitPrice</a:t>
            </a:r>
            <a:r>
              <a:rPr lang="es-ES" sz="2000" dirty="0"/>
              <a:t>, </a:t>
            </a:r>
            <a:r>
              <a:rPr lang="es-ES" sz="2000" b="1" dirty="0" err="1"/>
              <a:t>UnitsInStock</a:t>
            </a:r>
            <a:r>
              <a:rPr lang="es-ES" sz="2000" b="1" dirty="0"/>
              <a:t> y </a:t>
            </a:r>
            <a:r>
              <a:rPr lang="es-ES" sz="2000" b="1" dirty="0" err="1"/>
              <a:t>UnitsOnOrder</a:t>
            </a:r>
            <a:r>
              <a:rPr lang="es-ES" sz="2000" b="1" dirty="0"/>
              <a:t>:</a:t>
            </a:r>
            <a:endParaRPr lang="es-ES" sz="2000" dirty="0"/>
          </a:p>
          <a:p>
            <a:endParaRPr lang="es-PE" dirty="0"/>
          </a:p>
        </p:txBody>
      </p:sp>
      <p:pic>
        <p:nvPicPr>
          <p:cNvPr id="5" name="Google Shape;194;p25">
            <a:extLst>
              <a:ext uri="{FF2B5EF4-FFF2-40B4-BE49-F238E27FC236}">
                <a16:creationId xmlns:a16="http://schemas.microsoft.com/office/drawing/2014/main" id="{E794E08E-CB53-C648-6BA6-ADFEF85DF8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48940"/>
          <a:stretch/>
        </p:blipFill>
        <p:spPr>
          <a:xfrm>
            <a:off x="1891962" y="2573482"/>
            <a:ext cx="2783948" cy="2881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95;p25">
            <a:extLst>
              <a:ext uri="{FF2B5EF4-FFF2-40B4-BE49-F238E27FC236}">
                <a16:creationId xmlns:a16="http://schemas.microsoft.com/office/drawing/2014/main" id="{A31A9703-0AC0-A155-0C3D-274DE1035D8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5894" y="155717"/>
            <a:ext cx="3585275" cy="54205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96;p25">
            <a:extLst>
              <a:ext uri="{FF2B5EF4-FFF2-40B4-BE49-F238E27FC236}">
                <a16:creationId xmlns:a16="http://schemas.microsoft.com/office/drawing/2014/main" id="{26D8D9E0-1974-7736-3B43-0C9DDBD0B62B}"/>
              </a:ext>
            </a:extLst>
          </p:cNvPr>
          <p:cNvSpPr/>
          <p:nvPr/>
        </p:nvSpPr>
        <p:spPr>
          <a:xfrm rot="-10797906">
            <a:off x="6200769" y="872091"/>
            <a:ext cx="492600" cy="2532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97;p25">
            <a:extLst>
              <a:ext uri="{FF2B5EF4-FFF2-40B4-BE49-F238E27FC236}">
                <a16:creationId xmlns:a16="http://schemas.microsoft.com/office/drawing/2014/main" id="{273781DD-C4C3-94FE-1099-CC740028C911}"/>
              </a:ext>
            </a:extLst>
          </p:cNvPr>
          <p:cNvSpPr/>
          <p:nvPr/>
        </p:nvSpPr>
        <p:spPr>
          <a:xfrm rot="-10797906">
            <a:off x="6200769" y="3048741"/>
            <a:ext cx="492600" cy="2532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98;p25">
            <a:extLst>
              <a:ext uri="{FF2B5EF4-FFF2-40B4-BE49-F238E27FC236}">
                <a16:creationId xmlns:a16="http://schemas.microsoft.com/office/drawing/2014/main" id="{61ACEB11-0910-6228-C612-1C809B0C697C}"/>
              </a:ext>
            </a:extLst>
          </p:cNvPr>
          <p:cNvSpPr/>
          <p:nvPr/>
        </p:nvSpPr>
        <p:spPr>
          <a:xfrm rot="-10797906">
            <a:off x="6200769" y="3589416"/>
            <a:ext cx="492600" cy="2532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99;p25">
            <a:extLst>
              <a:ext uri="{FF2B5EF4-FFF2-40B4-BE49-F238E27FC236}">
                <a16:creationId xmlns:a16="http://schemas.microsoft.com/office/drawing/2014/main" id="{3C3328D9-ED3E-1AF3-9ECB-3FD37DA9DFDE}"/>
              </a:ext>
            </a:extLst>
          </p:cNvPr>
          <p:cNvSpPr/>
          <p:nvPr/>
        </p:nvSpPr>
        <p:spPr>
          <a:xfrm rot="-10797906">
            <a:off x="6200769" y="4130091"/>
            <a:ext cx="492600" cy="2532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505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81354-74F0-38DB-8E17-87B11613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A196CB-10FD-2B61-7E1B-8D5D4A1AA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2F59B7A-87CC-C328-77E2-30370A9309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217286-AAC1-C506-B6EB-BC739E7AC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507177"/>
            <a:ext cx="5193459" cy="3843645"/>
          </a:xfrm>
        </p:spPr>
        <p:txBody>
          <a:bodyPr>
            <a:normAutofit fontScale="925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Para los campos </a:t>
            </a:r>
            <a:r>
              <a:rPr lang="es-ES" b="1" dirty="0" err="1"/>
              <a:t>productName</a:t>
            </a:r>
            <a:r>
              <a:rPr lang="es-ES" dirty="0"/>
              <a:t>, </a:t>
            </a:r>
            <a:r>
              <a:rPr lang="es-ES" b="1" dirty="0" err="1"/>
              <a:t>unitsInStock</a:t>
            </a:r>
            <a:r>
              <a:rPr lang="es-ES" dirty="0"/>
              <a:t>, y </a:t>
            </a:r>
            <a:r>
              <a:rPr lang="es-ES" b="1" dirty="0" err="1"/>
              <a:t>unitsOnOrder</a:t>
            </a:r>
            <a:r>
              <a:rPr lang="es-ES" dirty="0"/>
              <a:t> las validaciones funcionan adecuadamente.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Sin embargo, en el campo </a:t>
            </a:r>
            <a:r>
              <a:rPr lang="es-ES" b="1" dirty="0" err="1"/>
              <a:t>unitPrice</a:t>
            </a:r>
            <a:r>
              <a:rPr lang="es-ES" b="1" dirty="0"/>
              <a:t> </a:t>
            </a:r>
            <a:r>
              <a:rPr lang="es-ES" dirty="0"/>
              <a:t>(Precio unitario), donde se colocó un texto, la validación no se realizó y por el contrario, muestra una excepción del tipo </a:t>
            </a:r>
            <a:r>
              <a:rPr lang="es-ES" b="1" dirty="0" err="1"/>
              <a:t>NumberFormatException</a:t>
            </a:r>
            <a:r>
              <a:rPr lang="es-ES" dirty="0"/>
              <a:t>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En la siguiente diapositiva se analizará qué ha pasado.</a:t>
            </a:r>
          </a:p>
          <a:p>
            <a:endParaRPr lang="es-PE" dirty="0"/>
          </a:p>
        </p:txBody>
      </p:sp>
      <p:pic>
        <p:nvPicPr>
          <p:cNvPr id="5" name="Google Shape;207;p26">
            <a:extLst>
              <a:ext uri="{FF2B5EF4-FFF2-40B4-BE49-F238E27FC236}">
                <a16:creationId xmlns:a16="http://schemas.microsoft.com/office/drawing/2014/main" id="{F2C28CDE-06EE-C783-981E-1B1A95EF52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486"/>
          <a:stretch/>
        </p:blipFill>
        <p:spPr>
          <a:xfrm>
            <a:off x="7242178" y="179293"/>
            <a:ext cx="3040340" cy="64994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969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9BCA5-6992-7E7D-A2C0-4985633EC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3CEAE8-B1B6-4A18-1B22-1FE8F0092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Fallo en el </a:t>
            </a:r>
            <a:r>
              <a:rPr lang="es-ES" dirty="0" err="1"/>
              <a:t>Databinding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3E073FF-14F9-6B11-BC7D-A55B86ACBB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0F6750-F528-E547-DF68-3AE77B632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El error que observa no se debe a la validación realizada en la entidad con </a:t>
            </a:r>
            <a:r>
              <a:rPr lang="es-ES" sz="2000" dirty="0" err="1"/>
              <a:t>Hibernate</a:t>
            </a:r>
            <a:r>
              <a:rPr lang="es-ES" sz="2000" dirty="0"/>
              <a:t> </a:t>
            </a:r>
            <a:r>
              <a:rPr lang="es-ES" sz="2000" dirty="0" err="1"/>
              <a:t>Validator</a:t>
            </a:r>
            <a:r>
              <a:rPr lang="es-ES" sz="2000" dirty="0"/>
              <a:t>; por el contrario, se debe a un error que ha sucedido en Spring al tratar de hacer el </a:t>
            </a:r>
            <a:r>
              <a:rPr lang="es-ES" sz="2000" b="1" dirty="0" err="1"/>
              <a:t>Databinding</a:t>
            </a:r>
            <a:r>
              <a:rPr lang="es-ES" sz="2000" b="1" dirty="0"/>
              <a:t> </a:t>
            </a:r>
            <a:r>
              <a:rPr lang="es-ES" sz="2000" dirty="0"/>
              <a:t>entre el campo del formulario y el atributo de la clase </a:t>
            </a:r>
            <a:r>
              <a:rPr lang="es-ES" sz="2000" dirty="0" err="1"/>
              <a:t>Product</a:t>
            </a:r>
            <a:r>
              <a:rPr lang="es-ES" sz="2000" dirty="0"/>
              <a:t>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El atributo precio unitario en la entidad Producto es del tipo </a:t>
            </a:r>
            <a:r>
              <a:rPr lang="es-ES" sz="2000" b="1" dirty="0" err="1"/>
              <a:t>BigDecimal</a:t>
            </a:r>
            <a:r>
              <a:rPr lang="es-ES" sz="2000" dirty="0"/>
              <a:t>; sin embargo, en el formulario se le ha enviado un </a:t>
            </a:r>
            <a:r>
              <a:rPr lang="es-ES" sz="2000" b="1" dirty="0"/>
              <a:t>String</a:t>
            </a:r>
            <a:r>
              <a:rPr lang="es-ES" sz="2000" dirty="0"/>
              <a:t>, esto genera que se lance la </a:t>
            </a:r>
            <a:r>
              <a:rPr lang="es-ES" sz="2000" b="1" dirty="0"/>
              <a:t>excepción </a:t>
            </a:r>
            <a:r>
              <a:rPr lang="es-ES" sz="2000" dirty="0"/>
              <a:t>al tratar de hacer el </a:t>
            </a:r>
            <a:r>
              <a:rPr lang="es-ES" sz="2000" dirty="0" err="1"/>
              <a:t>parseo</a:t>
            </a:r>
            <a:r>
              <a:rPr lang="es-ES" sz="2000" dirty="0"/>
              <a:t>.</a:t>
            </a:r>
          </a:p>
          <a:p>
            <a:endParaRPr lang="es-PE" sz="2000" dirty="0"/>
          </a:p>
        </p:txBody>
      </p:sp>
      <p:pic>
        <p:nvPicPr>
          <p:cNvPr id="5" name="Google Shape;215;p27">
            <a:extLst>
              <a:ext uri="{FF2B5EF4-FFF2-40B4-BE49-F238E27FC236}">
                <a16:creationId xmlns:a16="http://schemas.microsoft.com/office/drawing/2014/main" id="{B9563AB6-E671-D770-B093-6700A38819D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2358" b="41042"/>
          <a:stretch/>
        </p:blipFill>
        <p:spPr>
          <a:xfrm>
            <a:off x="4193112" y="2524755"/>
            <a:ext cx="3805775" cy="13375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5766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F30F2-398D-D3E5-17BF-4047D3197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BA2128-33C8-03BF-32A4-9AF507C8C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Solución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AFB2FB8-ECB6-DD55-72FD-A94C99BDC2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C64783-9FEB-8ED1-0AC9-F3778B987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Para solucionar este problema existen dos alternativas: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sz="2000" dirty="0"/>
              <a:t>Gestionar los mensajes de error de Spring (</a:t>
            </a:r>
            <a:r>
              <a:rPr lang="es-ES" sz="2000" b="1" dirty="0" err="1"/>
              <a:t>messages.properties</a:t>
            </a:r>
            <a:r>
              <a:rPr lang="es-ES" sz="2000" dirty="0"/>
              <a:t>)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Evitar que suceda la excepción (</a:t>
            </a:r>
            <a:r>
              <a:rPr lang="es-ES" sz="2000" b="1" dirty="0" err="1"/>
              <a:t>InitBinder</a:t>
            </a:r>
            <a:r>
              <a:rPr lang="es-ES" sz="2000" dirty="0"/>
              <a:t>)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A continuación se mostrarán las dos soluciones y queda a su criterio elegir la más adecuada para solucionar su problema.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453780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9CB1-AF22-F775-9CC6-4DE7903E8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3BF03-C24A-906A-ACD4-47C34BF26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Solución 1 – </a:t>
            </a:r>
            <a:r>
              <a:rPr lang="es-ES" dirty="0" err="1"/>
              <a:t>messages.properties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068F008-A93B-0FCA-E70C-A466D62738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629282-26A6-10C0-3767-BB6ED4E5C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Con esta solución no se evitará que se lance la excepción al suceder el </a:t>
            </a:r>
            <a:r>
              <a:rPr lang="es-ES" sz="2000" dirty="0" err="1"/>
              <a:t>databinding</a:t>
            </a:r>
            <a:r>
              <a:rPr lang="es-ES" sz="2000" dirty="0"/>
              <a:t>; sin embargo, se cambiará el mensaje que le aparece al usuario cuando sucede la excepción.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Por ejemplo, ahora se observa lo siguiente: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La idea es que luego de configurar el archivo</a:t>
            </a:r>
            <a:r>
              <a:rPr lang="es-ES" sz="2000" b="1" dirty="0"/>
              <a:t> </a:t>
            </a:r>
            <a:r>
              <a:rPr lang="es-ES" sz="2000" b="1" dirty="0" err="1"/>
              <a:t>messages.properties</a:t>
            </a:r>
            <a:r>
              <a:rPr lang="es-ES" sz="2000" dirty="0"/>
              <a:t>, se observe lo siguiente</a:t>
            </a:r>
            <a:r>
              <a:rPr lang="es-ES" dirty="0"/>
              <a:t>:</a:t>
            </a:r>
          </a:p>
          <a:p>
            <a:endParaRPr lang="es-PE" dirty="0"/>
          </a:p>
        </p:txBody>
      </p:sp>
      <p:pic>
        <p:nvPicPr>
          <p:cNvPr id="5" name="Google Shape;230;p29">
            <a:extLst>
              <a:ext uri="{FF2B5EF4-FFF2-40B4-BE49-F238E27FC236}">
                <a16:creationId xmlns:a16="http://schemas.microsoft.com/office/drawing/2014/main" id="{201E11E3-1DE0-9541-F88B-82284492FB3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41192" y="4646438"/>
            <a:ext cx="2458925" cy="77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31;p29">
            <a:extLst>
              <a:ext uri="{FF2B5EF4-FFF2-40B4-BE49-F238E27FC236}">
                <a16:creationId xmlns:a16="http://schemas.microsoft.com/office/drawing/2014/main" id="{489A82F5-4E78-EE74-90B6-21807005B0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2358" b="41042"/>
          <a:stretch/>
        </p:blipFill>
        <p:spPr>
          <a:xfrm>
            <a:off x="3667768" y="2760224"/>
            <a:ext cx="3805775" cy="13375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003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7F580-1114-FBDC-F0B0-50EE0D054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1BE3A9-5C75-36B0-367E-91519229A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Archivo </a:t>
            </a:r>
            <a:r>
              <a:rPr lang="es-ES" dirty="0" err="1"/>
              <a:t>messages.properties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7BD7F78-B103-9673-D25D-FB89AEAEA5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836776-0BA6-5BDD-59EE-C78E8B177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El archivo </a:t>
            </a:r>
            <a:r>
              <a:rPr lang="es-ES" sz="2000" b="1" dirty="0" err="1"/>
              <a:t>messages.properties</a:t>
            </a:r>
            <a:r>
              <a:rPr lang="es-ES" sz="2000" dirty="0"/>
              <a:t> contiene los textos usados por el sistema para mostrar información y permite realizar lo que se conoce como “</a:t>
            </a:r>
            <a:r>
              <a:rPr lang="es-ES" sz="2000" b="1" dirty="0"/>
              <a:t>internacionalización</a:t>
            </a:r>
            <a:r>
              <a:rPr lang="es-ES" sz="2000" dirty="0"/>
              <a:t>”.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Para empezar, debe crear el archivo “</a:t>
            </a:r>
            <a:r>
              <a:rPr lang="es-ES" sz="2000" b="1" dirty="0" err="1"/>
              <a:t>messages.properties</a:t>
            </a:r>
            <a:r>
              <a:rPr lang="es-ES" sz="2000" dirty="0"/>
              <a:t>” en la carpeta “</a:t>
            </a:r>
            <a:r>
              <a:rPr lang="es-ES" sz="2000" b="1" dirty="0" err="1"/>
              <a:t>resources</a:t>
            </a:r>
            <a:r>
              <a:rPr lang="es-ES" sz="2000" dirty="0"/>
              <a:t>”:</a:t>
            </a:r>
          </a:p>
          <a:p>
            <a:endParaRPr lang="es-PE" dirty="0"/>
          </a:p>
        </p:txBody>
      </p:sp>
      <p:pic>
        <p:nvPicPr>
          <p:cNvPr id="5" name="Google Shape;239;p30">
            <a:extLst>
              <a:ext uri="{FF2B5EF4-FFF2-40B4-BE49-F238E27FC236}">
                <a16:creationId xmlns:a16="http://schemas.microsoft.com/office/drawing/2014/main" id="{04A74A35-5B89-32E0-3C76-BE9C3BA1367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91299" y="3133786"/>
            <a:ext cx="1938750" cy="10501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40;p30">
            <a:extLst>
              <a:ext uri="{FF2B5EF4-FFF2-40B4-BE49-F238E27FC236}">
                <a16:creationId xmlns:a16="http://schemas.microsoft.com/office/drawing/2014/main" id="{CB32166D-98E3-55F9-5C3E-3FCC590A464F}"/>
              </a:ext>
            </a:extLst>
          </p:cNvPr>
          <p:cNvSpPr/>
          <p:nvPr/>
        </p:nvSpPr>
        <p:spPr>
          <a:xfrm>
            <a:off x="6043824" y="3916636"/>
            <a:ext cx="1133700" cy="2673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8289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83BAE-01B7-1EC5-EDCE-884A2A13B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BBBA7B-B553-1DF8-7734-035AEC34A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Archivo </a:t>
            </a:r>
            <a:r>
              <a:rPr lang="es-ES" dirty="0" err="1"/>
              <a:t>messages.properties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C52C167-2DD3-6701-9031-F49EA2253F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0CF30A2-E0B4-EE24-B13E-0AB64BF1F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600" dirty="0"/>
              <a:t>El archivo </a:t>
            </a:r>
            <a:r>
              <a:rPr lang="es-ES" sz="1600" b="1" dirty="0" err="1"/>
              <a:t>messages.properties</a:t>
            </a:r>
            <a:r>
              <a:rPr lang="es-ES" sz="1600" dirty="0"/>
              <a:t> contiene diversos formatos soportados para mostrar información del sistema (incluidos los errores como excepciones).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600" dirty="0"/>
              <a:t>Un formato para código de errores es el siguiente: (más información </a:t>
            </a:r>
            <a:r>
              <a:rPr lang="es-ES" sz="1600" u="sng" dirty="0">
                <a:solidFill>
                  <a:schemeClr val="hlink"/>
                </a:solidFill>
                <a:hlinkClick r:id="rId2"/>
              </a:rPr>
              <a:t>aquí</a:t>
            </a:r>
            <a:r>
              <a:rPr lang="es-ES" sz="1600" dirty="0"/>
              <a:t>)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600" dirty="0"/>
              <a:t>→ </a:t>
            </a:r>
            <a:r>
              <a:rPr lang="es-ES" sz="1600" b="1" dirty="0"/>
              <a:t>código + “.” + </a:t>
            </a:r>
            <a:r>
              <a:rPr lang="es-ES" sz="1600" b="1" dirty="0" err="1"/>
              <a:t>object</a:t>
            </a:r>
            <a:r>
              <a:rPr lang="es-ES" sz="1600" b="1" dirty="0"/>
              <a:t> + “.” + “</a:t>
            </a:r>
            <a:r>
              <a:rPr lang="es-ES" sz="1600" b="1" dirty="0" err="1"/>
              <a:t>attribute</a:t>
            </a:r>
            <a:r>
              <a:rPr lang="es-ES" sz="1600" b="1" dirty="0"/>
              <a:t>”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600" dirty="0"/>
              <a:t>Cuando sucede una excepción de </a:t>
            </a:r>
            <a:r>
              <a:rPr lang="es-ES" sz="1600" dirty="0" err="1"/>
              <a:t>parseo</a:t>
            </a:r>
            <a:r>
              <a:rPr lang="es-ES" sz="1600" dirty="0"/>
              <a:t>, el código que le asigna Spring es: </a:t>
            </a:r>
            <a:r>
              <a:rPr lang="es-ES" sz="1600" b="1" dirty="0" err="1"/>
              <a:t>typeMismatch</a:t>
            </a:r>
            <a:r>
              <a:rPr lang="es-ES" sz="1600" dirty="0"/>
              <a:t>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600" dirty="0"/>
              <a:t>Según el formato de Spring, en </a:t>
            </a:r>
            <a:r>
              <a:rPr lang="es-ES" sz="1600" b="1" dirty="0" err="1"/>
              <a:t>object</a:t>
            </a:r>
            <a:r>
              <a:rPr lang="es-ES" sz="1600" b="1" dirty="0"/>
              <a:t> </a:t>
            </a:r>
            <a:r>
              <a:rPr lang="es-ES" sz="1600" dirty="0"/>
              <a:t>se debe colocar el nombre del objeto donde falló el </a:t>
            </a:r>
            <a:r>
              <a:rPr lang="es-ES" sz="1600" dirty="0" err="1"/>
              <a:t>databinding</a:t>
            </a:r>
            <a:r>
              <a:rPr lang="es-ES" sz="1600" dirty="0"/>
              <a:t> y en </a:t>
            </a:r>
            <a:r>
              <a:rPr lang="es-ES" sz="1600" b="1" dirty="0" err="1"/>
              <a:t>attribute</a:t>
            </a:r>
            <a:r>
              <a:rPr lang="es-ES" sz="1600" dirty="0"/>
              <a:t>, el nombre del atributo en particular.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600" dirty="0"/>
              <a:t>Entonces, en el </a:t>
            </a:r>
            <a:r>
              <a:rPr lang="es-ES" sz="1600" dirty="0" err="1"/>
              <a:t>databinding</a:t>
            </a:r>
            <a:r>
              <a:rPr lang="es-ES" sz="1600" dirty="0"/>
              <a:t>, el objeto que falló fue “</a:t>
            </a:r>
            <a:r>
              <a:rPr lang="es-ES" sz="1600" b="1" dirty="0" err="1"/>
              <a:t>product</a:t>
            </a:r>
            <a:r>
              <a:rPr lang="es-ES" sz="1600" dirty="0"/>
              <a:t>” y el atributo “</a:t>
            </a:r>
            <a:r>
              <a:rPr lang="es-ES" sz="1600" b="1" dirty="0" err="1"/>
              <a:t>unitprice</a:t>
            </a:r>
            <a:r>
              <a:rPr lang="es-ES" sz="1600" dirty="0"/>
              <a:t>”</a:t>
            </a:r>
            <a:endParaRPr lang="es-PE" sz="1600" dirty="0"/>
          </a:p>
        </p:txBody>
      </p:sp>
      <p:pic>
        <p:nvPicPr>
          <p:cNvPr id="5" name="Google Shape;248;p31">
            <a:extLst>
              <a:ext uri="{FF2B5EF4-FFF2-40B4-BE49-F238E27FC236}">
                <a16:creationId xmlns:a16="http://schemas.microsoft.com/office/drawing/2014/main" id="{1A0BFDA8-9B43-3C48-3E72-DD949E93B2A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8820" y="4578237"/>
            <a:ext cx="7239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49;p31">
            <a:extLst>
              <a:ext uri="{FF2B5EF4-FFF2-40B4-BE49-F238E27FC236}">
                <a16:creationId xmlns:a16="http://schemas.microsoft.com/office/drawing/2014/main" id="{F01A7BC2-6491-BAC9-B7F8-85819B6A357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44391" b="40142"/>
          <a:stretch/>
        </p:blipFill>
        <p:spPr>
          <a:xfrm>
            <a:off x="3681970" y="5308512"/>
            <a:ext cx="3852700" cy="1060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49269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E5240-FEDE-C357-CD35-BC1C099EE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293C1-66A1-B419-41B4-EEC06B4FD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Archivo </a:t>
            </a:r>
            <a:r>
              <a:rPr lang="es-ES" dirty="0" err="1"/>
              <a:t>messages.properties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6F65FB4-A02A-D8A8-7CA1-C891C72F12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9ABF76-2E88-60AE-24B8-8694C8DD5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500" dirty="0"/>
              <a:t>Entonces, para que aparezca otro mensaje para ese tipo de error, se debe escribir en el archivo: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500" dirty="0"/>
              <a:t>→ </a:t>
            </a:r>
            <a:r>
              <a:rPr lang="es-ES" sz="1500" b="1" dirty="0" err="1"/>
              <a:t>typeMismatch.product.unitprice</a:t>
            </a:r>
            <a:r>
              <a:rPr lang="es-ES" sz="1500" dirty="0"/>
              <a:t>=Debe ingresar un número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500" dirty="0"/>
              <a:t>Luego del = se coloca el mensaje que reemplazará al mensaje de Spring.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500" dirty="0"/>
              <a:t>Probando: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500" dirty="0"/>
          </a:p>
          <a:p>
            <a:pPr marL="0" lvl="0" indent="0">
              <a:spcBef>
                <a:spcPts val="1600"/>
              </a:spcBef>
              <a:buNone/>
            </a:pPr>
            <a:endParaRPr lang="es-ES" sz="15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500" dirty="0"/>
              <a:t>Perfecto, ahora se muestra el mensaje personalizado y ya no el mensaje por defecto de Spring. Sin embargo, podrá observar que aparece un </a:t>
            </a:r>
            <a:r>
              <a:rPr lang="es-ES" sz="1500" dirty="0" err="1"/>
              <a:t>caracter</a:t>
            </a:r>
            <a:r>
              <a:rPr lang="es-ES" sz="1500" dirty="0"/>
              <a:t> extraño donde debería estar el símbolo </a:t>
            </a:r>
            <a:r>
              <a:rPr lang="es-ES" sz="1500" b="1" dirty="0"/>
              <a:t>ú</a:t>
            </a:r>
            <a:r>
              <a:rPr lang="es-ES" sz="1500" dirty="0"/>
              <a:t>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500" dirty="0"/>
              <a:t>Esto se debe a la </a:t>
            </a:r>
            <a:r>
              <a:rPr lang="es-ES" sz="1500" b="1" dirty="0"/>
              <a:t>codificación </a:t>
            </a:r>
            <a:r>
              <a:rPr lang="es-ES" sz="1500" dirty="0"/>
              <a:t>del archivo </a:t>
            </a:r>
            <a:r>
              <a:rPr lang="es-ES" sz="1500" b="1" dirty="0" err="1"/>
              <a:t>messages.properties</a:t>
            </a:r>
            <a:r>
              <a:rPr lang="es-ES" sz="1500" dirty="0"/>
              <a:t>, la cual está en formato </a:t>
            </a:r>
            <a:r>
              <a:rPr lang="es-ES" sz="1500" b="1" dirty="0"/>
              <a:t>windows-1252</a:t>
            </a:r>
            <a:r>
              <a:rPr lang="es-ES" sz="1500" dirty="0"/>
              <a:t>, mientras que nuestra página web tiene codificación </a:t>
            </a:r>
            <a:r>
              <a:rPr lang="es-ES" sz="1500" b="1" dirty="0"/>
              <a:t>UTF-8</a:t>
            </a:r>
            <a:r>
              <a:rPr lang="es-ES" sz="1500" dirty="0"/>
              <a:t>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500" dirty="0"/>
              <a:t>Abra el archivo y observe en la parte inferior derecha:</a:t>
            </a:r>
            <a:endParaRPr lang="es-PE" sz="1500" dirty="0"/>
          </a:p>
          <a:p>
            <a:endParaRPr lang="es-PE" dirty="0"/>
          </a:p>
        </p:txBody>
      </p:sp>
      <p:pic>
        <p:nvPicPr>
          <p:cNvPr id="5" name="Google Shape;257;p32">
            <a:extLst>
              <a:ext uri="{FF2B5EF4-FFF2-40B4-BE49-F238E27FC236}">
                <a16:creationId xmlns:a16="http://schemas.microsoft.com/office/drawing/2014/main" id="{7187D28B-97F6-611E-FB19-138A58323D1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50157" y="2677943"/>
            <a:ext cx="1713056" cy="87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58;p32">
            <a:extLst>
              <a:ext uri="{FF2B5EF4-FFF2-40B4-BE49-F238E27FC236}">
                <a16:creationId xmlns:a16="http://schemas.microsoft.com/office/drawing/2014/main" id="{B860F0A5-84E6-B5A9-F936-4AF2F65C546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6681" y="4881330"/>
            <a:ext cx="36576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59;p32">
            <a:extLst>
              <a:ext uri="{FF2B5EF4-FFF2-40B4-BE49-F238E27FC236}">
                <a16:creationId xmlns:a16="http://schemas.microsoft.com/office/drawing/2014/main" id="{EFA97320-84BE-EC09-84B2-960F73FB2431}"/>
              </a:ext>
            </a:extLst>
          </p:cNvPr>
          <p:cNvSpPr/>
          <p:nvPr/>
        </p:nvSpPr>
        <p:spPr>
          <a:xfrm rot="7196722">
            <a:off x="6928654" y="5361053"/>
            <a:ext cx="521061" cy="267172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30096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B35CD-366B-8A06-4B10-502BBA208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2C05D9-C81B-02E8-AEBC-A599272D9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Ajuste de codificación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6A62BC2-43A8-D34B-FD7C-FD6545EA68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E7B386-B631-ED5D-F8D9-FD8CB341F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190976"/>
            <a:ext cx="10283932" cy="3843645"/>
          </a:xfrm>
        </p:spPr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Para que no aparezca el </a:t>
            </a:r>
            <a:r>
              <a:rPr lang="es-ES" sz="1800" dirty="0" err="1"/>
              <a:t>caracter</a:t>
            </a:r>
            <a:r>
              <a:rPr lang="es-ES" sz="1800" dirty="0"/>
              <a:t> extraño, se debe cambiar la codificación del archivo </a:t>
            </a:r>
            <a:r>
              <a:rPr lang="es-ES" sz="1800" b="1" dirty="0" err="1"/>
              <a:t>messages.properties</a:t>
            </a:r>
            <a:r>
              <a:rPr lang="es-ES" sz="1800" dirty="0"/>
              <a:t>. Abra las propiedades del proyecto: </a:t>
            </a:r>
            <a:r>
              <a:rPr lang="es-ES" sz="1800" b="1" dirty="0"/>
              <a:t>File</a:t>
            </a:r>
            <a:r>
              <a:rPr lang="es-ES" sz="1800" dirty="0"/>
              <a:t> → </a:t>
            </a:r>
            <a:r>
              <a:rPr lang="es-ES" sz="1800" b="1" dirty="0" err="1"/>
              <a:t>Settings</a:t>
            </a:r>
            <a:r>
              <a:rPr lang="es-ES" sz="1800" dirty="0"/>
              <a:t>. 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Luego vaya a </a:t>
            </a:r>
            <a:r>
              <a:rPr lang="es-ES" sz="1800" b="1" dirty="0"/>
              <a:t>Editor </a:t>
            </a:r>
            <a:r>
              <a:rPr lang="es-ES" sz="1800" dirty="0"/>
              <a:t>→ </a:t>
            </a:r>
            <a:r>
              <a:rPr lang="es-ES" sz="1800" b="1" dirty="0"/>
              <a:t>File </a:t>
            </a:r>
            <a:r>
              <a:rPr lang="es-ES" sz="1800" b="1" dirty="0" err="1"/>
              <a:t>Encodings</a:t>
            </a:r>
            <a:r>
              <a:rPr lang="es-ES" sz="1800" dirty="0"/>
              <a:t> y cambie a </a:t>
            </a:r>
            <a:r>
              <a:rPr lang="es-ES" sz="1800" b="1" dirty="0"/>
              <a:t>UTF-8 </a:t>
            </a:r>
            <a:r>
              <a:rPr lang="es-ES" sz="1800" dirty="0"/>
              <a:t>los archivo </a:t>
            </a:r>
            <a:r>
              <a:rPr lang="es-ES" sz="1800" b="1" dirty="0"/>
              <a:t>*.</a:t>
            </a:r>
            <a:r>
              <a:rPr lang="es-ES" sz="1800" b="1" dirty="0" err="1"/>
              <a:t>properties</a:t>
            </a:r>
            <a:r>
              <a:rPr lang="es-ES" sz="1800" dirty="0"/>
              <a:t> </a:t>
            </a:r>
          </a:p>
          <a:p>
            <a:endParaRPr lang="es-PE" dirty="0"/>
          </a:p>
        </p:txBody>
      </p:sp>
      <p:pic>
        <p:nvPicPr>
          <p:cNvPr id="5" name="Google Shape;267;p33">
            <a:extLst>
              <a:ext uri="{FF2B5EF4-FFF2-40B4-BE49-F238E27FC236}">
                <a16:creationId xmlns:a16="http://schemas.microsoft.com/office/drawing/2014/main" id="{31F0BB24-150E-6C4A-98C6-9A14036442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5902"/>
          <a:stretch/>
        </p:blipFill>
        <p:spPr>
          <a:xfrm>
            <a:off x="2397725" y="2269512"/>
            <a:ext cx="6401101" cy="37345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68;p33">
            <a:extLst>
              <a:ext uri="{FF2B5EF4-FFF2-40B4-BE49-F238E27FC236}">
                <a16:creationId xmlns:a16="http://schemas.microsoft.com/office/drawing/2014/main" id="{EBF57D80-C030-9771-5B7A-890F483EE449}"/>
              </a:ext>
            </a:extLst>
          </p:cNvPr>
          <p:cNvSpPr/>
          <p:nvPr/>
        </p:nvSpPr>
        <p:spPr>
          <a:xfrm>
            <a:off x="3898950" y="4682362"/>
            <a:ext cx="3716400" cy="5829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29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D1B26-5ECE-E0A6-846B-626888C8E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8BB144-715C-C42E-DFD5-90B316CE6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Ajuste de codificación – </a:t>
            </a:r>
            <a:r>
              <a:rPr lang="es-ES" dirty="0" err="1"/>
              <a:t>messages.properties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6C1BFDE-A015-8CFF-AB63-F28EC45859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FD0B48-FE37-60D6-1A2E-5F875659C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Si regresa a su archivo, observará que ahora aparece el símbolo � en su texto: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400" dirty="0"/>
          </a:p>
          <a:p>
            <a:pPr marL="0" lvl="0" indent="0">
              <a:spcBef>
                <a:spcPts val="1600"/>
              </a:spcBef>
              <a:buNone/>
            </a:pPr>
            <a:endParaRPr lang="es-ES" sz="4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 Arregle la palabra: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Verifique que su archivo se encuentra con codificación UTF-8 en la parte inferior derecha: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32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Vuelva a correr y pruebe su formulario, debería visualizar correctamente el mensaje:</a:t>
            </a:r>
          </a:p>
          <a:p>
            <a:endParaRPr lang="es-PE" dirty="0"/>
          </a:p>
        </p:txBody>
      </p:sp>
      <p:pic>
        <p:nvPicPr>
          <p:cNvPr id="7" name="Google Shape;276;p34">
            <a:extLst>
              <a:ext uri="{FF2B5EF4-FFF2-40B4-BE49-F238E27FC236}">
                <a16:creationId xmlns:a16="http://schemas.microsoft.com/office/drawing/2014/main" id="{C07C4B4B-8CFC-7D1E-5376-87D02BA3195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31724" y="1879708"/>
            <a:ext cx="4762062" cy="461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77;p34">
            <a:extLst>
              <a:ext uri="{FF2B5EF4-FFF2-40B4-BE49-F238E27FC236}">
                <a16:creationId xmlns:a16="http://schemas.microsoft.com/office/drawing/2014/main" id="{0BF79087-AFAB-9C69-75F1-E3B5E92E037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2675" y="2711971"/>
            <a:ext cx="4658838" cy="461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78;p34">
            <a:extLst>
              <a:ext uri="{FF2B5EF4-FFF2-40B4-BE49-F238E27FC236}">
                <a16:creationId xmlns:a16="http://schemas.microsoft.com/office/drawing/2014/main" id="{E0D23693-5684-91A9-EDD6-DA8CF6CA6F8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8112" y="3915495"/>
            <a:ext cx="3114675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79;p34">
            <a:extLst>
              <a:ext uri="{FF2B5EF4-FFF2-40B4-BE49-F238E27FC236}">
                <a16:creationId xmlns:a16="http://schemas.microsoft.com/office/drawing/2014/main" id="{BEB9B4FC-AC29-CB6F-A6B5-6F90E6381DC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7201" y="4752454"/>
            <a:ext cx="1668800" cy="7966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4655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319-0614-9175-B21C-8260E5625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FE53-0254-6AD3-A003-F0778190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</a:t>
            </a:r>
            <a:r>
              <a:rPr lang="es-ES" dirty="0" err="1"/>
              <a:t>messages.properties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E396F58-8018-AB7F-A2B2-83CAD202BD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7DC5B2-478A-D2B8-2119-C77303D7E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Si observa el campo unidades en stock también muestra un error si le enviamos un texto en vez de número. Arreglarlo.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b="1" dirty="0"/>
              <a:t>Solución</a:t>
            </a:r>
            <a:r>
              <a:rPr lang="es-ES" dirty="0"/>
              <a:t>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En el archivo </a:t>
            </a:r>
            <a:r>
              <a:rPr lang="es-ES" b="1" dirty="0" err="1"/>
              <a:t>messages.properties</a:t>
            </a:r>
            <a:r>
              <a:rPr lang="es-ES" dirty="0"/>
              <a:t>, se adiciona la propiedad para ese atributo: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Probando:</a:t>
            </a:r>
          </a:p>
          <a:p>
            <a:endParaRPr lang="es-PE" dirty="0"/>
          </a:p>
        </p:txBody>
      </p:sp>
      <p:pic>
        <p:nvPicPr>
          <p:cNvPr id="5" name="Google Shape;287;p35">
            <a:extLst>
              <a:ext uri="{FF2B5EF4-FFF2-40B4-BE49-F238E27FC236}">
                <a16:creationId xmlns:a16="http://schemas.microsoft.com/office/drawing/2014/main" id="{9F0C963F-305F-2539-D03C-4AF9455C572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24293" y="1951375"/>
            <a:ext cx="45910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88;p35">
            <a:extLst>
              <a:ext uri="{FF2B5EF4-FFF2-40B4-BE49-F238E27FC236}">
                <a16:creationId xmlns:a16="http://schemas.microsoft.com/office/drawing/2014/main" id="{04A5034E-B94E-DF4F-EC68-7C58269DB49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1819" y="3982815"/>
            <a:ext cx="4951264" cy="624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89;p35">
            <a:extLst>
              <a:ext uri="{FF2B5EF4-FFF2-40B4-BE49-F238E27FC236}">
                <a16:creationId xmlns:a16="http://schemas.microsoft.com/office/drawing/2014/main" id="{A3AC94E8-BAD7-5D9E-7A5B-270CB2B400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5243" y="4951532"/>
            <a:ext cx="3505157" cy="6245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892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1B8AF-059B-2685-5EE5-8E01E6922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C669FF-1DD9-C1A8-AE07-F25C0F9FB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Solución 2 - @InitBinder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6EF850A-8A36-C748-B21A-B981B56F90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2838EEA-ADF6-B17A-1E5D-EBA57EA9C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419" sz="1900" dirty="0"/>
              <a:t>La anotación </a:t>
            </a:r>
            <a:r>
              <a:rPr lang="es-419" sz="1900" b="1" dirty="0"/>
              <a:t>@InitBinder</a:t>
            </a:r>
            <a:r>
              <a:rPr lang="es-419" sz="1900" dirty="0"/>
              <a:t> permite gestionar cualquier </a:t>
            </a:r>
            <a:r>
              <a:rPr lang="es-419" sz="1900" b="1" dirty="0"/>
              <a:t>excepción </a:t>
            </a:r>
            <a:r>
              <a:rPr lang="es-419" sz="1900" dirty="0"/>
              <a:t>que suceda durante el </a:t>
            </a:r>
            <a:r>
              <a:rPr lang="es-419" sz="1900" b="1" dirty="0"/>
              <a:t>proceso de </a:t>
            </a:r>
            <a:r>
              <a:rPr lang="es-419" sz="1900" b="1" dirty="0" err="1"/>
              <a:t>databinding</a:t>
            </a:r>
            <a:r>
              <a:rPr lang="es-419" sz="1900" dirty="0"/>
              <a:t>. Esta anotación se coloca dentro del controlador y de preferencia al final. Pueden existir múltiples @InitBinder por cada controlador.</a:t>
            </a:r>
          </a:p>
          <a:p>
            <a:pPr marL="0" lvl="0" indent="0">
              <a:lnSpc>
                <a:spcPct val="120000"/>
              </a:lnSpc>
              <a:spcBef>
                <a:spcPts val="1600"/>
              </a:spcBef>
              <a:buNone/>
            </a:pPr>
            <a:r>
              <a:rPr lang="es-419" sz="1900" dirty="0" err="1"/>
              <a:t>InitBinder</a:t>
            </a:r>
            <a:r>
              <a:rPr lang="es-419" sz="1900" dirty="0"/>
              <a:t> se apoya en la clase </a:t>
            </a:r>
            <a:r>
              <a:rPr lang="es-419" sz="1900" b="1" dirty="0" err="1"/>
              <a:t>PropertyEditorSupport</a:t>
            </a:r>
            <a:r>
              <a:rPr lang="es-419" sz="1900" b="1" dirty="0"/>
              <a:t> </a:t>
            </a:r>
            <a:r>
              <a:rPr lang="es-419" sz="1900" dirty="0"/>
              <a:t>la cual permite detectar al momento de hacer un </a:t>
            </a:r>
            <a:r>
              <a:rPr lang="es-419" sz="1900" dirty="0" err="1"/>
              <a:t>dataBinding</a:t>
            </a:r>
            <a:r>
              <a:rPr lang="es-419" sz="1900" dirty="0"/>
              <a:t> sobre un campo en particular.</a:t>
            </a:r>
          </a:p>
          <a:p>
            <a:pPr marL="0" lvl="0" indent="0">
              <a:lnSpc>
                <a:spcPct val="120000"/>
              </a:lnSpc>
              <a:spcBef>
                <a:spcPts val="1600"/>
              </a:spcBef>
              <a:buNone/>
            </a:pPr>
            <a:r>
              <a:rPr lang="es-419" sz="1900" dirty="0"/>
              <a:t>Tiene el siguiente formato: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419" sz="2000" dirty="0">
                <a:solidFill>
                  <a:srgbClr val="8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@InitBinder</a:t>
            </a:r>
            <a:r>
              <a:rPr lang="es-419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200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"product"</a:t>
            </a:r>
            <a:r>
              <a:rPr lang="es-419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s-419" sz="20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s-419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20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s-419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nombreValidador</a:t>
            </a:r>
            <a:r>
              <a:rPr lang="es-419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WebDataBinder</a:t>
            </a:r>
            <a:r>
              <a:rPr lang="es-419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binder){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s-419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PropertyEditorSupport</a:t>
            </a:r>
            <a:r>
              <a:rPr lang="es-419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integerValidator</a:t>
            </a:r>
            <a:r>
              <a:rPr lang="es-419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s-419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s-419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PropertyEditorSupport</a:t>
            </a:r>
            <a:r>
              <a:rPr lang="es-419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(){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s-419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-419" sz="2000" dirty="0">
                <a:solidFill>
                  <a:srgbClr val="8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@Override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s-419" sz="2000" dirty="0">
                <a:solidFill>
                  <a:srgbClr val="8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-419" sz="20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s-419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20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s-419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setAsText</a:t>
            </a:r>
            <a:r>
              <a:rPr lang="es-419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(String </a:t>
            </a:r>
            <a:r>
              <a:rPr lang="es-419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lang="es-419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s-419" sz="20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throws</a:t>
            </a:r>
            <a:r>
              <a:rPr lang="es-419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IllegalArgumentException</a:t>
            </a:r>
            <a:r>
              <a:rPr lang="es-419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s-419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s-419" sz="2000" i="1" dirty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//gestión de la excepción</a:t>
            </a:r>
            <a:endParaRPr lang="es-419" sz="2000" b="1" dirty="0">
              <a:solidFill>
                <a:srgbClr val="00008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es-419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s-419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};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s-419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binder.registerCustomEditor</a:t>
            </a:r>
            <a:r>
              <a:rPr lang="es-419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(BigDecimal.</a:t>
            </a:r>
            <a:r>
              <a:rPr lang="es-419" sz="20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s-419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200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2000" b="1" dirty="0" err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unitprice</a:t>
            </a:r>
            <a:r>
              <a:rPr lang="es-419" sz="200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integerValidator</a:t>
            </a:r>
            <a:r>
              <a:rPr lang="es-419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s-419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lang="es-PE" dirty="0"/>
          </a:p>
          <a:p>
            <a:endParaRPr lang="es-PE" dirty="0"/>
          </a:p>
        </p:txBody>
      </p:sp>
      <p:sp>
        <p:nvSpPr>
          <p:cNvPr id="13" name="Google Shape;297;p36">
            <a:extLst>
              <a:ext uri="{FF2B5EF4-FFF2-40B4-BE49-F238E27FC236}">
                <a16:creationId xmlns:a16="http://schemas.microsoft.com/office/drawing/2014/main" id="{34CD9383-5E6E-BECE-6D56-A039247B53F6}"/>
              </a:ext>
            </a:extLst>
          </p:cNvPr>
          <p:cNvSpPr/>
          <p:nvPr/>
        </p:nvSpPr>
        <p:spPr>
          <a:xfrm>
            <a:off x="3139150" y="5642820"/>
            <a:ext cx="1141800" cy="5247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FFFFFF"/>
                </a:solidFill>
              </a:rPr>
              <a:t>Tipo de dato a validar</a:t>
            </a:r>
            <a:endParaRPr sz="1050">
              <a:solidFill>
                <a:srgbClr val="FFFFFF"/>
              </a:solidFill>
            </a:endParaRPr>
          </a:p>
        </p:txBody>
      </p:sp>
      <p:cxnSp>
        <p:nvCxnSpPr>
          <p:cNvPr id="14" name="Google Shape;298;p36">
            <a:extLst>
              <a:ext uri="{FF2B5EF4-FFF2-40B4-BE49-F238E27FC236}">
                <a16:creationId xmlns:a16="http://schemas.microsoft.com/office/drawing/2014/main" id="{68B623E7-12BE-3940-F8BF-F71B35B350A9}"/>
              </a:ext>
            </a:extLst>
          </p:cNvPr>
          <p:cNvCxnSpPr>
            <a:stCxn id="13" idx="0"/>
          </p:cNvCxnSpPr>
          <p:nvPr/>
        </p:nvCxnSpPr>
        <p:spPr>
          <a:xfrm rot="10800000" flipH="1">
            <a:off x="3710050" y="5176620"/>
            <a:ext cx="1072800" cy="46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Google Shape;299;p36">
            <a:extLst>
              <a:ext uri="{FF2B5EF4-FFF2-40B4-BE49-F238E27FC236}">
                <a16:creationId xmlns:a16="http://schemas.microsoft.com/office/drawing/2014/main" id="{78B6FB54-A063-993C-F5B7-DFBA43DC35EC}"/>
              </a:ext>
            </a:extLst>
          </p:cNvPr>
          <p:cNvSpPr/>
          <p:nvPr/>
        </p:nvSpPr>
        <p:spPr>
          <a:xfrm>
            <a:off x="4596600" y="5642820"/>
            <a:ext cx="2278500" cy="5247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FFFFFF"/>
                </a:solidFill>
              </a:rPr>
              <a:t>Campo del formulario sobre el cual se aplicará la validación</a:t>
            </a:r>
            <a:endParaRPr sz="1050">
              <a:solidFill>
                <a:srgbClr val="FFFFFF"/>
              </a:solidFill>
            </a:endParaRPr>
          </a:p>
        </p:txBody>
      </p:sp>
      <p:cxnSp>
        <p:nvCxnSpPr>
          <p:cNvPr id="16" name="Google Shape;300;p36">
            <a:extLst>
              <a:ext uri="{FF2B5EF4-FFF2-40B4-BE49-F238E27FC236}">
                <a16:creationId xmlns:a16="http://schemas.microsoft.com/office/drawing/2014/main" id="{8AF8A06E-92EC-0722-CC92-DF5F7FC7C543}"/>
              </a:ext>
            </a:extLst>
          </p:cNvPr>
          <p:cNvCxnSpPr>
            <a:stCxn id="15" idx="0"/>
          </p:cNvCxnSpPr>
          <p:nvPr/>
        </p:nvCxnSpPr>
        <p:spPr>
          <a:xfrm rot="10800000" flipH="1">
            <a:off x="5735850" y="5181120"/>
            <a:ext cx="204900" cy="461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301;p36">
            <a:extLst>
              <a:ext uri="{FF2B5EF4-FFF2-40B4-BE49-F238E27FC236}">
                <a16:creationId xmlns:a16="http://schemas.microsoft.com/office/drawing/2014/main" id="{7314A3EB-6E19-79E3-1F32-816C12C89BB6}"/>
              </a:ext>
            </a:extLst>
          </p:cNvPr>
          <p:cNvCxnSpPr>
            <a:stCxn id="18" idx="0"/>
          </p:cNvCxnSpPr>
          <p:nvPr/>
        </p:nvCxnSpPr>
        <p:spPr>
          <a:xfrm rot="10800000">
            <a:off x="7325350" y="5157120"/>
            <a:ext cx="483300" cy="48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Google Shape;302;p36">
            <a:extLst>
              <a:ext uri="{FF2B5EF4-FFF2-40B4-BE49-F238E27FC236}">
                <a16:creationId xmlns:a16="http://schemas.microsoft.com/office/drawing/2014/main" id="{8D98C367-ECF2-47EE-1451-37D92156CD05}"/>
              </a:ext>
            </a:extLst>
          </p:cNvPr>
          <p:cNvSpPr/>
          <p:nvPr/>
        </p:nvSpPr>
        <p:spPr>
          <a:xfrm>
            <a:off x="7369000" y="5642820"/>
            <a:ext cx="879300" cy="5247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FFFFFF"/>
                </a:solidFill>
              </a:rPr>
              <a:t>validador</a:t>
            </a:r>
            <a:endParaRPr sz="1050">
              <a:solidFill>
                <a:srgbClr val="FFFFFF"/>
              </a:solidFill>
            </a:endParaRPr>
          </a:p>
        </p:txBody>
      </p:sp>
      <p:sp>
        <p:nvSpPr>
          <p:cNvPr id="19" name="Google Shape;303;p36">
            <a:extLst>
              <a:ext uri="{FF2B5EF4-FFF2-40B4-BE49-F238E27FC236}">
                <a16:creationId xmlns:a16="http://schemas.microsoft.com/office/drawing/2014/main" id="{090D4844-C146-4D79-4CBD-042D1B90E557}"/>
              </a:ext>
            </a:extLst>
          </p:cNvPr>
          <p:cNvSpPr/>
          <p:nvPr/>
        </p:nvSpPr>
        <p:spPr>
          <a:xfrm>
            <a:off x="4782850" y="3026145"/>
            <a:ext cx="2278500" cy="2721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 dirty="0">
                <a:solidFill>
                  <a:srgbClr val="FFFFFF"/>
                </a:solidFill>
              </a:rPr>
              <a:t>objeto que se desea validar</a:t>
            </a:r>
            <a:endParaRPr sz="1050" dirty="0">
              <a:solidFill>
                <a:srgbClr val="FFFFFF"/>
              </a:solidFill>
            </a:endParaRPr>
          </a:p>
        </p:txBody>
      </p:sp>
      <p:cxnSp>
        <p:nvCxnSpPr>
          <p:cNvPr id="20" name="Google Shape;304;p36">
            <a:extLst>
              <a:ext uri="{FF2B5EF4-FFF2-40B4-BE49-F238E27FC236}">
                <a16:creationId xmlns:a16="http://schemas.microsoft.com/office/drawing/2014/main" id="{0A633775-4D37-6741-0B9A-40376ACAA522}"/>
              </a:ext>
            </a:extLst>
          </p:cNvPr>
          <p:cNvCxnSpPr>
            <a:stCxn id="19" idx="1"/>
          </p:cNvCxnSpPr>
          <p:nvPr/>
        </p:nvCxnSpPr>
        <p:spPr>
          <a:xfrm flipH="1">
            <a:off x="3414550" y="3162195"/>
            <a:ext cx="1368300" cy="33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040941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0CBB4-DC81-17A1-B4C1-A50082F9C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7D14D2-CB72-F57E-6F9E-D5C4001D6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@InitBinder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B369B81-FA2C-ACE6-96D5-BEE412F343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5420AC6-691F-1311-C480-4A92EBBCD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219991"/>
            <a:ext cx="10283932" cy="3843645"/>
          </a:xfrm>
        </p:spPr>
        <p:txBody>
          <a:bodyPr>
            <a:normAutofit/>
          </a:bodyPr>
          <a:lstStyle/>
          <a:p>
            <a:r>
              <a:rPr lang="es-ES" sz="1600" dirty="0"/>
              <a:t>Para este ejemplo, se deben crear dos validadores, uno para gestionar el </a:t>
            </a:r>
            <a:r>
              <a:rPr lang="es-ES" sz="1600" dirty="0" err="1"/>
              <a:t>parseo</a:t>
            </a:r>
            <a:r>
              <a:rPr lang="es-ES" sz="1600" dirty="0"/>
              <a:t> de String a </a:t>
            </a:r>
            <a:r>
              <a:rPr lang="es-ES" sz="1600" dirty="0" err="1"/>
              <a:t>Integer</a:t>
            </a:r>
            <a:r>
              <a:rPr lang="es-ES" sz="1600" dirty="0"/>
              <a:t> (</a:t>
            </a:r>
            <a:r>
              <a:rPr lang="es-ES" sz="1600" dirty="0" err="1"/>
              <a:t>units</a:t>
            </a:r>
            <a:r>
              <a:rPr lang="es-ES" sz="1600" dirty="0"/>
              <a:t> in stock, </a:t>
            </a:r>
            <a:r>
              <a:rPr lang="es-ES" sz="1600" dirty="0" err="1"/>
              <a:t>units</a:t>
            </a:r>
            <a:r>
              <a:rPr lang="es-ES" sz="1600" dirty="0"/>
              <a:t> </a:t>
            </a:r>
            <a:r>
              <a:rPr lang="es-ES" sz="1600" dirty="0" err="1"/>
              <a:t>on</a:t>
            </a:r>
            <a:r>
              <a:rPr lang="es-ES" sz="1600" dirty="0"/>
              <a:t> </a:t>
            </a:r>
            <a:r>
              <a:rPr lang="es-ES" sz="1600" dirty="0" err="1"/>
              <a:t>order</a:t>
            </a:r>
            <a:r>
              <a:rPr lang="es-ES" sz="1600" dirty="0"/>
              <a:t> y </a:t>
            </a:r>
            <a:r>
              <a:rPr lang="es-ES" sz="1600" dirty="0" err="1"/>
              <a:t>reorder</a:t>
            </a:r>
            <a:r>
              <a:rPr lang="es-ES" sz="1600" dirty="0"/>
              <a:t> </a:t>
            </a:r>
            <a:r>
              <a:rPr lang="es-ES" sz="1600" dirty="0" err="1"/>
              <a:t>level</a:t>
            </a:r>
            <a:r>
              <a:rPr lang="es-ES" sz="1600" dirty="0"/>
              <a:t>) y otro para gestionar el </a:t>
            </a:r>
            <a:r>
              <a:rPr lang="es-ES" sz="1600" dirty="0" err="1"/>
              <a:t>parseo</a:t>
            </a:r>
            <a:r>
              <a:rPr lang="es-ES" sz="1600" dirty="0"/>
              <a:t> de String a </a:t>
            </a:r>
            <a:r>
              <a:rPr lang="es-ES" sz="1600" dirty="0" err="1"/>
              <a:t>BigDecimal</a:t>
            </a:r>
            <a:r>
              <a:rPr lang="es-ES" sz="1600" dirty="0"/>
              <a:t> (</a:t>
            </a:r>
            <a:r>
              <a:rPr lang="es-ES" sz="1600" dirty="0" err="1"/>
              <a:t>unit</a:t>
            </a:r>
            <a:r>
              <a:rPr lang="es-ES" sz="1600" dirty="0"/>
              <a:t> </a:t>
            </a:r>
            <a:r>
              <a:rPr lang="es-ES" sz="1600" dirty="0" err="1"/>
              <a:t>price</a:t>
            </a:r>
            <a:r>
              <a:rPr lang="es-ES" sz="1600" dirty="0"/>
              <a:t>).</a:t>
            </a:r>
          </a:p>
          <a:p>
            <a:endParaRPr lang="es-PE" sz="1600" dirty="0"/>
          </a:p>
        </p:txBody>
      </p:sp>
      <p:pic>
        <p:nvPicPr>
          <p:cNvPr id="5" name="Google Shape;312;p37">
            <a:extLst>
              <a:ext uri="{FF2B5EF4-FFF2-40B4-BE49-F238E27FC236}">
                <a16:creationId xmlns:a16="http://schemas.microsoft.com/office/drawing/2014/main" id="{621749C1-8F96-C6E0-496E-DFF269C9E4C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74176" y="2184507"/>
            <a:ext cx="6238875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13;p37">
            <a:extLst>
              <a:ext uri="{FF2B5EF4-FFF2-40B4-BE49-F238E27FC236}">
                <a16:creationId xmlns:a16="http://schemas.microsoft.com/office/drawing/2014/main" id="{4A07353A-F4E3-2576-9ABA-5C1E0A002256}"/>
              </a:ext>
            </a:extLst>
          </p:cNvPr>
          <p:cNvSpPr/>
          <p:nvPr/>
        </p:nvSpPr>
        <p:spPr>
          <a:xfrm>
            <a:off x="8124326" y="2455938"/>
            <a:ext cx="2833800" cy="6510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FFFFFF"/>
                </a:solidFill>
              </a:rPr>
              <a:t>Se realiza el parseo manualmente. Si este es exitoso se asigna el valor a la entidad con this.setValue( )</a:t>
            </a:r>
            <a:endParaRPr sz="1050">
              <a:solidFill>
                <a:srgbClr val="FFFFFF"/>
              </a:solidFill>
            </a:endParaRPr>
          </a:p>
        </p:txBody>
      </p:sp>
      <p:cxnSp>
        <p:nvCxnSpPr>
          <p:cNvPr id="7" name="Google Shape;314;p37">
            <a:extLst>
              <a:ext uri="{FF2B5EF4-FFF2-40B4-BE49-F238E27FC236}">
                <a16:creationId xmlns:a16="http://schemas.microsoft.com/office/drawing/2014/main" id="{3C43D9D5-72EB-FD1D-719B-E71199C60AF4}"/>
              </a:ext>
            </a:extLst>
          </p:cNvPr>
          <p:cNvCxnSpPr>
            <a:stCxn id="6" idx="1"/>
          </p:cNvCxnSpPr>
          <p:nvPr/>
        </p:nvCxnSpPr>
        <p:spPr>
          <a:xfrm flipH="1">
            <a:off x="6092126" y="2781438"/>
            <a:ext cx="2032200" cy="132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Google Shape;315;p37">
            <a:extLst>
              <a:ext uri="{FF2B5EF4-FFF2-40B4-BE49-F238E27FC236}">
                <a16:creationId xmlns:a16="http://schemas.microsoft.com/office/drawing/2014/main" id="{E5F059F5-FE12-6E52-04AC-8565BD2C5000}"/>
              </a:ext>
            </a:extLst>
          </p:cNvPr>
          <p:cNvSpPr/>
          <p:nvPr/>
        </p:nvSpPr>
        <p:spPr>
          <a:xfrm>
            <a:off x="8124326" y="3250677"/>
            <a:ext cx="2833800" cy="7671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FFFFFF"/>
                </a:solidFill>
              </a:rPr>
              <a:t>Si el parseo falla, debemos capturar la excepción para que no sea lanzada por Spring y por el contrario asignarle un valor a nuestro campo.</a:t>
            </a:r>
            <a:endParaRPr sz="1050">
              <a:solidFill>
                <a:srgbClr val="FFFFFF"/>
              </a:solidFill>
            </a:endParaRPr>
          </a:p>
        </p:txBody>
      </p:sp>
      <p:cxnSp>
        <p:nvCxnSpPr>
          <p:cNvPr id="9" name="Google Shape;316;p37">
            <a:extLst>
              <a:ext uri="{FF2B5EF4-FFF2-40B4-BE49-F238E27FC236}">
                <a16:creationId xmlns:a16="http://schemas.microsoft.com/office/drawing/2014/main" id="{AEC98D92-F666-9674-5924-077176590ACA}"/>
              </a:ext>
            </a:extLst>
          </p:cNvPr>
          <p:cNvCxnSpPr>
            <a:stCxn id="8" idx="1"/>
          </p:cNvCxnSpPr>
          <p:nvPr/>
        </p:nvCxnSpPr>
        <p:spPr>
          <a:xfrm rot="10800000">
            <a:off x="4683326" y="3271227"/>
            <a:ext cx="3441000" cy="363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317;p37">
            <a:extLst>
              <a:ext uri="{FF2B5EF4-FFF2-40B4-BE49-F238E27FC236}">
                <a16:creationId xmlns:a16="http://schemas.microsoft.com/office/drawing/2014/main" id="{D5FD3907-6780-D49C-22DD-309F4B6820D8}"/>
              </a:ext>
            </a:extLst>
          </p:cNvPr>
          <p:cNvSpPr/>
          <p:nvPr/>
        </p:nvSpPr>
        <p:spPr>
          <a:xfrm>
            <a:off x="8755901" y="4277500"/>
            <a:ext cx="2202300" cy="7671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 dirty="0">
                <a:solidFill>
                  <a:srgbClr val="FFFFFF"/>
                </a:solidFill>
              </a:rPr>
              <a:t>Se debe asignar el </a:t>
            </a:r>
            <a:r>
              <a:rPr lang="es-419" sz="1050" dirty="0" err="1">
                <a:solidFill>
                  <a:srgbClr val="FFFFFF"/>
                </a:solidFill>
              </a:rPr>
              <a:t>PropertyEditorSupport</a:t>
            </a:r>
            <a:r>
              <a:rPr lang="es-419" sz="1050" dirty="0">
                <a:solidFill>
                  <a:srgbClr val="FFFFFF"/>
                </a:solidFill>
              </a:rPr>
              <a:t> por cada campos del formulario que se desea validar.</a:t>
            </a:r>
            <a:endParaRPr sz="1050" dirty="0">
              <a:solidFill>
                <a:srgbClr val="FFFFFF"/>
              </a:solidFill>
            </a:endParaRPr>
          </a:p>
        </p:txBody>
      </p:sp>
      <p:cxnSp>
        <p:nvCxnSpPr>
          <p:cNvPr id="11" name="Google Shape;318;p37">
            <a:extLst>
              <a:ext uri="{FF2B5EF4-FFF2-40B4-BE49-F238E27FC236}">
                <a16:creationId xmlns:a16="http://schemas.microsoft.com/office/drawing/2014/main" id="{16664C89-CAA9-00F2-0639-18CA9E3B9F60}"/>
              </a:ext>
            </a:extLst>
          </p:cNvPr>
          <p:cNvCxnSpPr>
            <a:stCxn id="10" idx="1"/>
            <a:endCxn id="12" idx="1"/>
          </p:cNvCxnSpPr>
          <p:nvPr/>
        </p:nvCxnSpPr>
        <p:spPr>
          <a:xfrm flipH="1">
            <a:off x="8545601" y="4661050"/>
            <a:ext cx="210300" cy="480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319;p37">
            <a:extLst>
              <a:ext uri="{FF2B5EF4-FFF2-40B4-BE49-F238E27FC236}">
                <a16:creationId xmlns:a16="http://schemas.microsoft.com/office/drawing/2014/main" id="{7FD873E6-E7F4-CE06-F1A3-F430D30C35A2}"/>
              </a:ext>
            </a:extLst>
          </p:cNvPr>
          <p:cNvSpPr/>
          <p:nvPr/>
        </p:nvSpPr>
        <p:spPr>
          <a:xfrm>
            <a:off x="8383451" y="4777300"/>
            <a:ext cx="162000" cy="7287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50327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26D2C-9855-2463-3D7B-4BEDDB7E6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40B103-34E2-257A-5407-8D21B048F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DBE0A1C-D56D-CE94-CC21-21DCAF0B32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556E5F-E7A1-AB78-A0C9-AD1457DF3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n-US" sz="1600" dirty="0" err="1"/>
              <a:t>Validación</a:t>
            </a:r>
            <a:r>
              <a:rPr lang="en-US" sz="1600" dirty="0"/>
              <a:t>: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n-US" sz="2000" u="sng" dirty="0">
                <a:solidFill>
                  <a:schemeClr val="hlink"/>
                </a:solidFill>
                <a:hlinkClick r:id="rId2"/>
              </a:rPr>
              <a:t>https://spring.io/guides/gs/validating-form-input/</a:t>
            </a:r>
            <a:endParaRPr lang="en-US" sz="2000" dirty="0"/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n-US" sz="2000" u="sng" dirty="0">
                <a:solidFill>
                  <a:schemeClr val="hlink"/>
                </a:solidFill>
                <a:hlinkClick r:id="rId3"/>
              </a:rPr>
              <a:t>https://examples.javacodegeeks.com/enterprise-java/spring/mvc/spring-mvc-form-validation-example/</a:t>
            </a:r>
            <a:endParaRPr lang="en-US" sz="2000" dirty="0"/>
          </a:p>
          <a:p>
            <a:pPr lvl="0" indent="-342900">
              <a:buSzPts val="1800"/>
              <a:buChar char="●"/>
            </a:pPr>
            <a:r>
              <a:rPr lang="en-US" sz="1600" dirty="0"/>
              <a:t>Libro: 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n-US" sz="2000" dirty="0"/>
              <a:t>Siva, P. R. K. (2018). Beginning Spring Boot 2: applications and microservices with the Spring framework. New York: </a:t>
            </a:r>
            <a:r>
              <a:rPr lang="en-US" sz="2000" dirty="0" err="1"/>
              <a:t>Apress</a:t>
            </a:r>
            <a:r>
              <a:rPr lang="en-US" sz="2000" dirty="0"/>
              <a:t>.</a:t>
            </a:r>
          </a:p>
          <a:p>
            <a:pPr lvl="2" indent="-317500">
              <a:spcBef>
                <a:spcPts val="0"/>
              </a:spcBef>
              <a:buSzPts val="1400"/>
              <a:buChar char="■"/>
            </a:pPr>
            <a:r>
              <a:rPr lang="en-US" sz="1800" dirty="0"/>
              <a:t>Chapter 10: Web Applications with Spring Boot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5609644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546</TotalTime>
  <Words>1873</Words>
  <Application>Microsoft Office PowerPoint</Application>
  <PresentationFormat>Panorámica</PresentationFormat>
  <Paragraphs>200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27</vt:i4>
      </vt:variant>
    </vt:vector>
  </HeadingPairs>
  <TitlesOfParts>
    <vt:vector size="36" baseType="lpstr">
      <vt:lpstr>Arial</vt:lpstr>
      <vt:lpstr>Courier New</vt:lpstr>
      <vt:lpstr>Montserrat</vt:lpstr>
      <vt:lpstr>Montserrat Medium</vt:lpstr>
      <vt:lpstr>Source Code Pro</vt:lpstr>
      <vt:lpstr>Tema de Office</vt:lpstr>
      <vt:lpstr>1_Tema de Office</vt:lpstr>
      <vt:lpstr>Diseño personalizado</vt:lpstr>
      <vt:lpstr>Telecom Pucp</vt:lpstr>
      <vt:lpstr>Presentación de PowerPoint</vt:lpstr>
      <vt:lpstr>Validación de formularios</vt:lpstr>
      <vt:lpstr>Hibernate Validator</vt:lpstr>
      <vt:lpstr>Hibernate Validator - requisitos</vt:lpstr>
      <vt:lpstr>Pasos para validar un formulario</vt:lpstr>
      <vt:lpstr>Validaciones en la entidad</vt:lpstr>
      <vt:lpstr>Validaciones en la entidad</vt:lpstr>
      <vt:lpstr>Anotación @Valid</vt:lpstr>
      <vt:lpstr>BindingResult</vt:lpstr>
      <vt:lpstr>Gestión de los errores</vt:lpstr>
      <vt:lpstr>Gestión de los errores - Controlador</vt:lpstr>
      <vt:lpstr>Gestión de los errores - vista</vt:lpstr>
      <vt:lpstr>Gestión de los errores - vista</vt:lpstr>
      <vt:lpstr>Probando</vt:lpstr>
      <vt:lpstr>Resultado</vt:lpstr>
      <vt:lpstr>Fallo en el Databinding</vt:lpstr>
      <vt:lpstr>Solución</vt:lpstr>
      <vt:lpstr>Solución 1 – messages.properties</vt:lpstr>
      <vt:lpstr>Archivo messages.properties</vt:lpstr>
      <vt:lpstr>Archivo messages.properties</vt:lpstr>
      <vt:lpstr>Archivo messages.properties</vt:lpstr>
      <vt:lpstr>Ajuste de codificación</vt:lpstr>
      <vt:lpstr>Ajuste de codificación – messages.properties</vt:lpstr>
      <vt:lpstr>Ejemplo messages.properties</vt:lpstr>
      <vt:lpstr>Solución 2 - @InitBinder</vt:lpstr>
      <vt:lpstr>@InitBinder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27</cp:revision>
  <dcterms:created xsi:type="dcterms:W3CDTF">2023-10-28T21:43:03Z</dcterms:created>
  <dcterms:modified xsi:type="dcterms:W3CDTF">2026-04-27T04:19:37Z</dcterms:modified>
</cp:coreProperties>
</file>