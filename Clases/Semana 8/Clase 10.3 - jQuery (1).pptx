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22"/>
  </p:notesMasterIdLst>
  <p:handoutMasterIdLst>
    <p:handoutMasterId r:id="rId23"/>
  </p:handoutMasterIdLst>
  <p:sldIdLst>
    <p:sldId id="359" r:id="rId5"/>
    <p:sldId id="360" r:id="rId6"/>
    <p:sldId id="361" r:id="rId7"/>
    <p:sldId id="362" r:id="rId8"/>
    <p:sldId id="363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371" r:id="rId17"/>
    <p:sldId id="372" r:id="rId18"/>
    <p:sldId id="373" r:id="rId19"/>
    <p:sldId id="375" r:id="rId20"/>
    <p:sldId id="374" r:id="rId2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FADC"/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1" autoAdjust="0"/>
    <p:restoredTop sz="93792" autoAdjust="0"/>
  </p:normalViewPr>
  <p:slideViewPr>
    <p:cSldViewPr snapToGrid="0" snapToObjects="1">
      <p:cViewPr varScale="1">
        <p:scale>
          <a:sx n="107" d="100"/>
          <a:sy n="107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Junio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Junio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Junio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Junio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Junio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Junio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Junio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562192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0520666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354982" cy="670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9D24EFE1-461E-088C-BE27-2AE361CEB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65" y="1364914"/>
            <a:ext cx="10354982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90907329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0696633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691329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078096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0968113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81538187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07650800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6457524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query.com/" TargetMode="External"/><Relationship Id="rId2" Type="http://schemas.openxmlformats.org/officeDocument/2006/relationships/hyperlink" Target="https://js.foundation/" TargetMode="Externa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api.jquery.com/category/selectors/" TargetMode="External"/><Relationship Id="rId2" Type="http://schemas.openxmlformats.org/officeDocument/2006/relationships/hyperlink" Target="https://www.w3schools.com/jquery/jquery_ref_selectors.asp" TargetMode="Externa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query/jquery_ref_events.asp" TargetMode="External"/><Relationship Id="rId2" Type="http://schemas.openxmlformats.org/officeDocument/2006/relationships/hyperlink" Target="http://api.jquery.com/category/events/" TargetMode="Externa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api.jquery.com/category/manipulation/" TargetMode="Externa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jquery.com/" TargetMode="Externa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427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5A6AE-7DF3-DC64-175C-0F32EFA7D5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JQUERY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D34167-A622-D5D5-062E-E946A5D64F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</p:spTree>
    <p:extLst>
      <p:ext uri="{BB962C8B-B14F-4D97-AF65-F5344CB8AC3E}">
        <p14:creationId xmlns:p14="http://schemas.microsoft.com/office/powerpoint/2010/main" val="455436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876E7F-191A-C000-4A7A-A1298D34C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bg2"/>
                </a:solidFill>
              </a:rPr>
              <a:t>jQuery</a:t>
            </a:r>
            <a:endParaRPr lang="es-PE" dirty="0">
              <a:solidFill>
                <a:schemeClr val="bg2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6BDDA66-71A4-0DD7-C4AA-0F23D928C3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6E0C46-3215-A421-DB70-E7E204034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Es una librería JavaScript de código abierto mantenida por la fundación jquery.org (ahora JS </a:t>
            </a:r>
            <a:r>
              <a:rPr lang="es-ES" sz="2000" dirty="0" err="1"/>
              <a:t>Foundation</a:t>
            </a:r>
            <a:r>
              <a:rPr lang="es-ES" sz="2000" dirty="0"/>
              <a:t> </a:t>
            </a:r>
            <a:r>
              <a:rPr lang="es-ES" sz="2000" u="sng" dirty="0">
                <a:solidFill>
                  <a:schemeClr val="hlink"/>
                </a:solidFill>
                <a:hlinkClick r:id="rId2"/>
              </a:rPr>
              <a:t>https://js.foundation/</a:t>
            </a:r>
            <a:r>
              <a:rPr lang="es-ES" sz="2000" dirty="0"/>
              <a:t>). Su lema muestra muy bien lo que nos aporta esta librería: “Write </a:t>
            </a:r>
            <a:r>
              <a:rPr lang="es-ES" sz="2000" dirty="0" err="1"/>
              <a:t>less</a:t>
            </a:r>
            <a:r>
              <a:rPr lang="es-ES" sz="2000" dirty="0"/>
              <a:t>, do more, </a:t>
            </a:r>
            <a:r>
              <a:rPr lang="es-ES" sz="2000" dirty="0" err="1"/>
              <a:t>js</a:t>
            </a:r>
            <a:r>
              <a:rPr lang="es-ES" sz="2000" dirty="0"/>
              <a:t> </a:t>
            </a:r>
            <a:r>
              <a:rPr lang="es-ES" sz="2000" dirty="0" err="1"/>
              <a:t>library</a:t>
            </a:r>
            <a:r>
              <a:rPr lang="es-ES" sz="2000" dirty="0"/>
              <a:t>”. Esta librería nos facilita la ardua tarea de manipular los elementos del DOM de HTML que hasta ahora habíamos visto cómo hacerlo con JavaScript. Entre sus diversas funcionalidades permite: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2000" dirty="0"/>
              <a:t>simplificar la manera de interactuar con los documentos HTML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manipular el árbol DOM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manejar eventos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desarrollar animaciones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agregar interacción con la técnica AJAX a páginas web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Puede descargarse desde: </a:t>
            </a:r>
            <a:r>
              <a:rPr lang="es-ES" sz="2000" u="sng" dirty="0">
                <a:solidFill>
                  <a:schemeClr val="hlink"/>
                </a:solidFill>
                <a:hlinkClick r:id="rId3"/>
              </a:rPr>
              <a:t>https://jquery.com/</a:t>
            </a:r>
            <a:endParaRPr lang="es-ES" sz="2000" dirty="0"/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313595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EF05D7-C3C7-46F0-AE69-679871D7B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Registro de la librería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7AD8D10-21F3-589E-4868-448944A9CB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18E0D3-AD28-A9B5-E63F-BB0A89533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Para utilizar la librería se puede descargar de la página de jQuery o se puede utilizar el CDN.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Observación: la librería debe preceder siempre al código jQuery, caso contrario, lanzará error.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En el curso usaremos la versión 3 de jQuery. Tener cuidado que en algunos ejemplos en internet se usa la versión 2 y algunas funciones podrían ya estar obsoletas.</a:t>
            </a:r>
          </a:p>
          <a:p>
            <a:endParaRPr lang="es-PE" dirty="0"/>
          </a:p>
        </p:txBody>
      </p:sp>
      <p:pic>
        <p:nvPicPr>
          <p:cNvPr id="6" name="Google Shape;91;p16">
            <a:extLst>
              <a:ext uri="{FF2B5EF4-FFF2-40B4-BE49-F238E27FC236}">
                <a16:creationId xmlns:a16="http://schemas.microsoft.com/office/drawing/2014/main" id="{F98EFAFB-BAE9-05B1-8A14-3F6E8121DF1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55677" y="2743811"/>
            <a:ext cx="7934325" cy="1085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639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3B713-43EF-63DF-FEE2-316E7E949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48F38E-38A5-7D4B-7182-4EB9DCFEB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Contenedor jQuery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50B5BDC-B02E-007A-5894-9F85EE91D0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964C1F-8A6E-F008-7241-2BD3AA186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Para que todo el código jQuery se ejecute correctamente, se debe asegurar que todo el DOM de la página esté cargado, caso contrario, se podría tratar de acceder a un elemento que todavía no está registrado.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Para asegurarnos de eso, jQuery brinda la función </a:t>
            </a:r>
            <a:r>
              <a:rPr lang="es-ES" sz="1800" dirty="0" err="1"/>
              <a:t>ready</a:t>
            </a:r>
            <a:r>
              <a:rPr lang="es-ES" sz="1800" dirty="0"/>
              <a:t>(), la cual asegura que el elemento indicando ya ha sido cargado.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Por tal motivo, todo el código jQuery debe ser registrado dentro del siguiente código:</a:t>
            </a:r>
          </a:p>
          <a:p>
            <a:endParaRPr lang="es-PE" sz="1800" dirty="0"/>
          </a:p>
        </p:txBody>
      </p:sp>
      <p:pic>
        <p:nvPicPr>
          <p:cNvPr id="6" name="Google Shape;100;p17">
            <a:extLst>
              <a:ext uri="{FF2B5EF4-FFF2-40B4-BE49-F238E27FC236}">
                <a16:creationId xmlns:a16="http://schemas.microsoft.com/office/drawing/2014/main" id="{895FCEF5-3924-B257-4F19-5F793F8AA1B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2940" y="3606836"/>
            <a:ext cx="4267200" cy="1438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2444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B6D84-4DB5-F142-D4FA-FD7C1A392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2B2E98-6643-4447-5225-C9DC4C912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Obtener elementos en jQuery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E7B5D8F-3D0C-73D2-6A6C-69202AB6E5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882309-CC55-26AC-4F22-3C1236978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obtener los elementos en jQuery, debemos realizarlo de manera similar a como los obtendríamos en CSS.</a:t>
            </a:r>
          </a:p>
          <a:p>
            <a:endParaRPr lang="es-PE" dirty="0"/>
          </a:p>
        </p:txBody>
      </p:sp>
      <p:pic>
        <p:nvPicPr>
          <p:cNvPr id="5" name="Google Shape;108;p18">
            <a:extLst>
              <a:ext uri="{FF2B5EF4-FFF2-40B4-BE49-F238E27FC236}">
                <a16:creationId xmlns:a16="http://schemas.microsoft.com/office/drawing/2014/main" id="{B07FFECC-D611-8073-B37A-D5563312190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87520" y="2531825"/>
            <a:ext cx="3808500" cy="2228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9;p18">
            <a:extLst>
              <a:ext uri="{FF2B5EF4-FFF2-40B4-BE49-F238E27FC236}">
                <a16:creationId xmlns:a16="http://schemas.microsoft.com/office/drawing/2014/main" id="{CEAAA801-C8B6-4EFC-5A4F-F20C5C91F101}"/>
              </a:ext>
            </a:extLst>
          </p:cNvPr>
          <p:cNvSpPr/>
          <p:nvPr/>
        </p:nvSpPr>
        <p:spPr>
          <a:xfrm>
            <a:off x="6349920" y="3064325"/>
            <a:ext cx="1619700" cy="454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/>
              <a:t>jQuery(“h1”)</a:t>
            </a:r>
            <a:endParaRPr sz="1400"/>
          </a:p>
        </p:txBody>
      </p:sp>
      <p:sp>
        <p:nvSpPr>
          <p:cNvPr id="7" name="Google Shape;110;p18">
            <a:extLst>
              <a:ext uri="{FF2B5EF4-FFF2-40B4-BE49-F238E27FC236}">
                <a16:creationId xmlns:a16="http://schemas.microsoft.com/office/drawing/2014/main" id="{3C802DCE-0261-2B22-2D49-4587CD5E4FE2}"/>
              </a:ext>
            </a:extLst>
          </p:cNvPr>
          <p:cNvSpPr/>
          <p:nvPr/>
        </p:nvSpPr>
        <p:spPr>
          <a:xfrm>
            <a:off x="6349920" y="3835238"/>
            <a:ext cx="1619700" cy="454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/>
              <a:t>jQuery(“p”)</a:t>
            </a:r>
            <a:endParaRPr sz="1400"/>
          </a:p>
        </p:txBody>
      </p:sp>
      <p:sp>
        <p:nvSpPr>
          <p:cNvPr id="8" name="Google Shape;111;p18">
            <a:extLst>
              <a:ext uri="{FF2B5EF4-FFF2-40B4-BE49-F238E27FC236}">
                <a16:creationId xmlns:a16="http://schemas.microsoft.com/office/drawing/2014/main" id="{6E519A44-1300-DEB2-622E-4DDC015C55C1}"/>
              </a:ext>
            </a:extLst>
          </p:cNvPr>
          <p:cNvSpPr/>
          <p:nvPr/>
        </p:nvSpPr>
        <p:spPr>
          <a:xfrm>
            <a:off x="4929045" y="3935750"/>
            <a:ext cx="265200" cy="2178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9" name="Google Shape;112;p18">
            <a:extLst>
              <a:ext uri="{FF2B5EF4-FFF2-40B4-BE49-F238E27FC236}">
                <a16:creationId xmlns:a16="http://schemas.microsoft.com/office/drawing/2014/main" id="{5B894B71-AC2C-6138-CC32-C8FE885656C9}"/>
              </a:ext>
            </a:extLst>
          </p:cNvPr>
          <p:cNvSpPr/>
          <p:nvPr/>
        </p:nvSpPr>
        <p:spPr>
          <a:xfrm>
            <a:off x="4929045" y="4153550"/>
            <a:ext cx="265200" cy="2178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0" name="Google Shape;113;p18">
            <a:extLst>
              <a:ext uri="{FF2B5EF4-FFF2-40B4-BE49-F238E27FC236}">
                <a16:creationId xmlns:a16="http://schemas.microsoft.com/office/drawing/2014/main" id="{CDB35115-559A-62C0-2334-CBF3FEE5AF5A}"/>
              </a:ext>
            </a:extLst>
          </p:cNvPr>
          <p:cNvSpPr/>
          <p:nvPr/>
        </p:nvSpPr>
        <p:spPr>
          <a:xfrm>
            <a:off x="8127695" y="3328588"/>
            <a:ext cx="691500" cy="634500"/>
          </a:xfrm>
          <a:prstGeom prst="mathEqual">
            <a:avLst>
              <a:gd name="adj1" fmla="val 23520"/>
              <a:gd name="adj2" fmla="val 11760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1" name="Google Shape;114;p18">
            <a:extLst>
              <a:ext uri="{FF2B5EF4-FFF2-40B4-BE49-F238E27FC236}">
                <a16:creationId xmlns:a16="http://schemas.microsoft.com/office/drawing/2014/main" id="{41A9B2B9-1CF7-23AE-F7ED-1D221839777A}"/>
              </a:ext>
            </a:extLst>
          </p:cNvPr>
          <p:cNvSpPr/>
          <p:nvPr/>
        </p:nvSpPr>
        <p:spPr>
          <a:xfrm>
            <a:off x="8977270" y="3064325"/>
            <a:ext cx="1619700" cy="454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/>
              <a:t>$(“h1”)</a:t>
            </a:r>
            <a:endParaRPr sz="1400"/>
          </a:p>
        </p:txBody>
      </p:sp>
      <p:sp>
        <p:nvSpPr>
          <p:cNvPr id="12" name="Google Shape;115;p18">
            <a:extLst>
              <a:ext uri="{FF2B5EF4-FFF2-40B4-BE49-F238E27FC236}">
                <a16:creationId xmlns:a16="http://schemas.microsoft.com/office/drawing/2014/main" id="{91D0B91F-C7CF-612D-B298-4D66B3C0E62B}"/>
              </a:ext>
            </a:extLst>
          </p:cNvPr>
          <p:cNvSpPr/>
          <p:nvPr/>
        </p:nvSpPr>
        <p:spPr>
          <a:xfrm>
            <a:off x="8977270" y="3817250"/>
            <a:ext cx="1619700" cy="454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/>
              <a:t>$(“p”)</a:t>
            </a:r>
            <a:endParaRPr sz="1400"/>
          </a:p>
        </p:txBody>
      </p:sp>
      <p:cxnSp>
        <p:nvCxnSpPr>
          <p:cNvPr id="13" name="Google Shape;116;p18">
            <a:extLst>
              <a:ext uri="{FF2B5EF4-FFF2-40B4-BE49-F238E27FC236}">
                <a16:creationId xmlns:a16="http://schemas.microsoft.com/office/drawing/2014/main" id="{A0ABE6C6-BAE8-0673-4E67-7E4D82D8BE7F}"/>
              </a:ext>
            </a:extLst>
          </p:cNvPr>
          <p:cNvCxnSpPr>
            <a:stCxn id="8" idx="3"/>
            <a:endCxn id="6" idx="1"/>
          </p:cNvCxnSpPr>
          <p:nvPr/>
        </p:nvCxnSpPr>
        <p:spPr>
          <a:xfrm rot="10800000" flipH="1">
            <a:off x="5194245" y="3291650"/>
            <a:ext cx="1155600" cy="753000"/>
          </a:xfrm>
          <a:prstGeom prst="curvedConnector3">
            <a:avLst>
              <a:gd name="adj1" fmla="val 5000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" name="Google Shape;117;p18">
            <a:extLst>
              <a:ext uri="{FF2B5EF4-FFF2-40B4-BE49-F238E27FC236}">
                <a16:creationId xmlns:a16="http://schemas.microsoft.com/office/drawing/2014/main" id="{D068FD56-7F0E-B319-C97B-14A5B60BE0E0}"/>
              </a:ext>
            </a:extLst>
          </p:cNvPr>
          <p:cNvCxnSpPr>
            <a:stCxn id="9" idx="3"/>
            <a:endCxn id="7" idx="1"/>
          </p:cNvCxnSpPr>
          <p:nvPr/>
        </p:nvCxnSpPr>
        <p:spPr>
          <a:xfrm rot="10800000" flipH="1">
            <a:off x="5194245" y="4062650"/>
            <a:ext cx="1155600" cy="199800"/>
          </a:xfrm>
          <a:prstGeom prst="curvedConnector3">
            <a:avLst>
              <a:gd name="adj1" fmla="val 5000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308798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B605B-4E4F-A722-516D-7B5088EA2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39484-0209-D545-6C7A-41B93DC74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Selectores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0377866-4F98-60C8-CA69-0FF101559A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2FD5C2-37E9-0DB2-E828-F53FB80B3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Para obtener elementos por el ID se utiliza el # y para clases el 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Para una referencia completa de los selectores entrar a:</a:t>
            </a:r>
          </a:p>
          <a:p>
            <a:pPr lvl="0" indent="-317500">
              <a:spcBef>
                <a:spcPts val="1600"/>
              </a:spcBef>
              <a:buSzPts val="1400"/>
              <a:buChar char="●"/>
            </a:pPr>
            <a:r>
              <a:rPr lang="es-ES" sz="1800" i="1" u="sng" dirty="0">
                <a:solidFill>
                  <a:schemeClr val="hlink"/>
                </a:solidFill>
                <a:hlinkClick r:id="rId2"/>
              </a:rPr>
              <a:t>https://www.w3schools.com/jquery/jquery_ref_selectors.asp</a:t>
            </a:r>
            <a:endParaRPr lang="es-ES" sz="1800" i="1" dirty="0"/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1800" i="1" u="sng" dirty="0">
                <a:solidFill>
                  <a:schemeClr val="hlink"/>
                </a:solidFill>
                <a:hlinkClick r:id="rId3"/>
              </a:rPr>
              <a:t>http://api.jquery.com/category/selectors/</a:t>
            </a:r>
            <a:endParaRPr lang="es-ES" sz="1800" i="1" dirty="0"/>
          </a:p>
          <a:p>
            <a:endParaRPr lang="es-PE" dirty="0"/>
          </a:p>
        </p:txBody>
      </p:sp>
      <p:pic>
        <p:nvPicPr>
          <p:cNvPr id="6" name="Google Shape;125;p19">
            <a:extLst>
              <a:ext uri="{FF2B5EF4-FFF2-40B4-BE49-F238E27FC236}">
                <a16:creationId xmlns:a16="http://schemas.microsoft.com/office/drawing/2014/main" id="{448B3AD9-29BF-5280-7969-1048967FE3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4095" y="2250249"/>
            <a:ext cx="4739427" cy="5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6;p19">
            <a:extLst>
              <a:ext uri="{FF2B5EF4-FFF2-40B4-BE49-F238E27FC236}">
                <a16:creationId xmlns:a16="http://schemas.microsoft.com/office/drawing/2014/main" id="{E1DA8665-8F38-EF67-9AB0-8616C1ED802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9345" y="2970799"/>
            <a:ext cx="2623443" cy="524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7623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F44D6-7ABE-2E17-B1C0-61683CF75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1CE0A-B988-989A-8BA2-A75C8443E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Reaccionar a un </a:t>
            </a:r>
            <a:r>
              <a:rPr lang="es-ES" dirty="0" err="1"/>
              <a:t>click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F888E2A-FDCF-5BF0-DAC1-71651F6906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8364258-62FE-3117-581C-5043F608D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Una analogía para gestionar el evento de </a:t>
            </a:r>
            <a:r>
              <a:rPr lang="es-ES" dirty="0" err="1"/>
              <a:t>click</a:t>
            </a:r>
            <a:r>
              <a:rPr lang="es-ES" dirty="0"/>
              <a:t> en </a:t>
            </a:r>
            <a:r>
              <a:rPr lang="es-ES" dirty="0" err="1"/>
              <a:t>javascript</a:t>
            </a:r>
            <a:r>
              <a:rPr lang="es-ES" dirty="0"/>
              <a:t> VS. jQuery</a:t>
            </a:r>
          </a:p>
          <a:p>
            <a:endParaRPr lang="es-PE" dirty="0"/>
          </a:p>
        </p:txBody>
      </p:sp>
      <p:pic>
        <p:nvPicPr>
          <p:cNvPr id="5" name="Google Shape;134;p20">
            <a:extLst>
              <a:ext uri="{FF2B5EF4-FFF2-40B4-BE49-F238E27FC236}">
                <a16:creationId xmlns:a16="http://schemas.microsoft.com/office/drawing/2014/main" id="{2D121A83-96E0-15ED-0B06-3F3BFC9E67C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69412" y="2004173"/>
            <a:ext cx="3399725" cy="1352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Google Shape;135;p20">
            <a:extLst>
              <a:ext uri="{FF2B5EF4-FFF2-40B4-BE49-F238E27FC236}">
                <a16:creationId xmlns:a16="http://schemas.microsoft.com/office/drawing/2014/main" id="{A249570E-D421-55B2-9546-CF25C5779EBE}"/>
              </a:ext>
            </a:extLst>
          </p:cNvPr>
          <p:cNvCxnSpPr/>
          <p:nvPr/>
        </p:nvCxnSpPr>
        <p:spPr>
          <a:xfrm rot="10800000">
            <a:off x="1453362" y="3646897"/>
            <a:ext cx="8552700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Google Shape;136;p20">
            <a:extLst>
              <a:ext uri="{FF2B5EF4-FFF2-40B4-BE49-F238E27FC236}">
                <a16:creationId xmlns:a16="http://schemas.microsoft.com/office/drawing/2014/main" id="{B7320B50-A5D6-C02E-2B3B-07EBC591EF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0587" y="2208697"/>
            <a:ext cx="5005125" cy="9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37;p20">
            <a:extLst>
              <a:ext uri="{FF2B5EF4-FFF2-40B4-BE49-F238E27FC236}">
                <a16:creationId xmlns:a16="http://schemas.microsoft.com/office/drawing/2014/main" id="{7D2202C0-EFC7-1509-2751-A99D0FDC9E8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9412" y="4089897"/>
            <a:ext cx="3399725" cy="140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38;p20">
            <a:extLst>
              <a:ext uri="{FF2B5EF4-FFF2-40B4-BE49-F238E27FC236}">
                <a16:creationId xmlns:a16="http://schemas.microsoft.com/office/drawing/2014/main" id="{61AFB097-2A4A-F6D2-37F3-A2FC8FECA8F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0587" y="4284872"/>
            <a:ext cx="5005126" cy="6964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5940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5CA59-77D7-378A-8E7F-74D7CE18D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9E18C-1B5D-9D20-3A97-E3165A6B0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Eventos jQuery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37A1F28-5FAF-B346-8550-25F57DF54B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EB74F6-1A0F-22E4-A5A6-C39BE3DB3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419" sz="2000" dirty="0"/>
              <a:t>Aparte del clásico evento </a:t>
            </a:r>
            <a:r>
              <a:rPr lang="es-419" sz="2000" dirty="0" err="1"/>
              <a:t>click</a:t>
            </a:r>
            <a:r>
              <a:rPr lang="es-419" sz="2000" dirty="0"/>
              <a:t>, jQuery soporta una gran cantidad de eventos, entre ellos: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419" sz="2000" dirty="0" err="1"/>
              <a:t>dblclick</a:t>
            </a:r>
            <a:endParaRPr lang="es-419" sz="2000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419" sz="2000" dirty="0" err="1"/>
              <a:t>mouseenter</a:t>
            </a:r>
            <a:r>
              <a:rPr lang="es-419" sz="2000" dirty="0"/>
              <a:t> / </a:t>
            </a:r>
            <a:r>
              <a:rPr lang="es-419" sz="2000" dirty="0" err="1"/>
              <a:t>mouseleave</a:t>
            </a:r>
            <a:endParaRPr lang="es-419" sz="2000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419" sz="2000" dirty="0" err="1"/>
              <a:t>hover</a:t>
            </a:r>
            <a:endParaRPr lang="es-419" sz="2000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419" sz="2000" dirty="0" err="1"/>
              <a:t>focus</a:t>
            </a:r>
            <a:endParaRPr lang="es-419" sz="2000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419" sz="2000" dirty="0" err="1"/>
              <a:t>keydown</a:t>
            </a:r>
            <a:r>
              <a:rPr lang="es-419" sz="2000" dirty="0"/>
              <a:t> / </a:t>
            </a:r>
            <a:r>
              <a:rPr lang="es-419" sz="2000" dirty="0" err="1"/>
              <a:t>keypress</a:t>
            </a:r>
            <a:endParaRPr lang="es-419" sz="2000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419" sz="2000" dirty="0"/>
              <a:t>entre muchos otros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419" sz="2000" dirty="0"/>
              <a:t>La lista completa en:</a:t>
            </a:r>
          </a:p>
          <a:p>
            <a:pPr lvl="0" indent="-317500">
              <a:spcBef>
                <a:spcPts val="1600"/>
              </a:spcBef>
              <a:buSzPts val="1400"/>
              <a:buChar char="●"/>
            </a:pPr>
            <a:r>
              <a:rPr lang="es-419" sz="1600" i="1" u="sng" dirty="0">
                <a:solidFill>
                  <a:schemeClr val="hlink"/>
                </a:solidFill>
                <a:hlinkClick r:id="rId2"/>
              </a:rPr>
              <a:t>http://api.jquery.com/category/events/</a:t>
            </a:r>
            <a:endParaRPr lang="es-419" sz="1600" i="1" dirty="0"/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419" sz="1600" i="1" u="sng" dirty="0">
                <a:solidFill>
                  <a:schemeClr val="hlink"/>
                </a:solidFill>
                <a:hlinkClick r:id="rId3"/>
              </a:rPr>
              <a:t>https://www.w3schools.com/jquery/jquery_ref_events.asp</a:t>
            </a:r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747055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0FD0E-BEA9-2D13-93E1-02C9B3153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FB894-3C59-8070-5339-8D8F94686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Manipulación del DOM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407049F-187C-9D2D-815A-46B3CB1F6F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96C99C-70AC-7930-9EB4-14ED6212B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Así mismo, jQuery brinda funcionalidades para manipular el DOM tales como: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2000" dirty="0" err="1"/>
              <a:t>prepend</a:t>
            </a:r>
            <a:r>
              <a:rPr lang="es-ES" sz="2000" dirty="0"/>
              <a:t> / </a:t>
            </a:r>
            <a:r>
              <a:rPr lang="es-ES" sz="2000" dirty="0" err="1"/>
              <a:t>append</a:t>
            </a:r>
            <a:r>
              <a:rPr lang="es-ES" sz="2000" dirty="0"/>
              <a:t> → colocar como el primer hijo o último hijo de un elemento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 err="1"/>
              <a:t>before</a:t>
            </a:r>
            <a:r>
              <a:rPr lang="es-ES" sz="2000" dirty="0"/>
              <a:t> / after → colocar antes o después del elemento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 err="1"/>
              <a:t>attr</a:t>
            </a:r>
            <a:r>
              <a:rPr lang="es-ES" sz="2000" dirty="0"/>
              <a:t> / </a:t>
            </a:r>
            <a:r>
              <a:rPr lang="es-ES" sz="2000" dirty="0" err="1"/>
              <a:t>css</a:t>
            </a:r>
            <a:r>
              <a:rPr lang="es-ES" sz="2000" dirty="0"/>
              <a:t> → colocar atributos como </a:t>
            </a:r>
            <a:r>
              <a:rPr lang="es-ES" sz="2000" dirty="0" err="1"/>
              <a:t>css</a:t>
            </a:r>
            <a:r>
              <a:rPr lang="es-ES" sz="2000" dirty="0"/>
              <a:t> a un elemento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 err="1"/>
              <a:t>html</a:t>
            </a:r>
            <a:r>
              <a:rPr lang="es-ES" sz="2000" dirty="0"/>
              <a:t> → similar a </a:t>
            </a:r>
            <a:r>
              <a:rPr lang="es-ES" sz="2000" dirty="0" err="1"/>
              <a:t>innerHTML</a:t>
            </a:r>
            <a:r>
              <a:rPr lang="es-ES" sz="2000" dirty="0"/>
              <a:t> en </a:t>
            </a:r>
            <a:r>
              <a:rPr lang="es-ES" sz="2000" dirty="0" err="1"/>
              <a:t>javascript</a:t>
            </a:r>
            <a:r>
              <a:rPr lang="es-ES" sz="2000" dirty="0"/>
              <a:t> puro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 err="1"/>
              <a:t>remove</a:t>
            </a:r>
            <a:r>
              <a:rPr lang="es-ES" sz="2000" dirty="0"/>
              <a:t> → eliminar un elemento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 err="1"/>
              <a:t>hide</a:t>
            </a:r>
            <a:r>
              <a:rPr lang="es-ES" sz="2000" dirty="0"/>
              <a:t> / show → ocultar / mostrar un elemento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entre otros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La lista completa de manipulación la puede encontrar en:</a:t>
            </a:r>
          </a:p>
          <a:p>
            <a:pPr lvl="0" indent="-317500">
              <a:spcBef>
                <a:spcPts val="1600"/>
              </a:spcBef>
              <a:buSzPts val="1400"/>
              <a:buChar char="●"/>
            </a:pPr>
            <a:r>
              <a:rPr lang="es-ES" sz="2000" i="1" u="sng" dirty="0">
                <a:solidFill>
                  <a:schemeClr val="hlink"/>
                </a:solidFill>
                <a:hlinkClick r:id="rId2"/>
              </a:rPr>
              <a:t>http://api.jquery.com/category/manipulation/</a:t>
            </a:r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4046412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38386-F7FD-00FB-F6AB-1EF9A9DDD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A6EE70-006F-FDF9-F04E-01A183AB6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Agregar elementos dinámicamente al DOM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2DB45A2-FD60-1041-F031-418E3F868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AAA4F4B-6AC9-37E8-3CEA-A928C8DE5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65" y="1247597"/>
            <a:ext cx="10354982" cy="3843645"/>
          </a:xfrm>
        </p:spPr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400" dirty="0"/>
              <a:t>Mirar el siguiente ejemplo:</a:t>
            </a:r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1400" dirty="0"/>
              <a:t>Se tiene un botón que agrega más botones. Los nuevos botones van a tener la clase </a:t>
            </a:r>
            <a:r>
              <a:rPr lang="es-ES" sz="1400" dirty="0" err="1"/>
              <a:t>changeBg</a:t>
            </a:r>
            <a:r>
              <a:rPr lang="es-ES" sz="1400" dirty="0"/>
              <a:t>, para cambiar el fondo.</a:t>
            </a:r>
          </a:p>
          <a:p>
            <a:endParaRPr lang="es-PE" sz="1400" dirty="0"/>
          </a:p>
        </p:txBody>
      </p:sp>
      <p:pic>
        <p:nvPicPr>
          <p:cNvPr id="6" name="Google Shape;157;p23">
            <a:extLst>
              <a:ext uri="{FF2B5EF4-FFF2-40B4-BE49-F238E27FC236}">
                <a16:creationId xmlns:a16="http://schemas.microsoft.com/office/drawing/2014/main" id="{C2F508F6-AADE-07D2-05DB-086474F5F78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61284" y="1963513"/>
            <a:ext cx="2388037" cy="10848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" name="Google Shape;161;p23">
            <a:extLst>
              <a:ext uri="{FF2B5EF4-FFF2-40B4-BE49-F238E27FC236}">
                <a16:creationId xmlns:a16="http://schemas.microsoft.com/office/drawing/2014/main" id="{58F9BD69-E1BC-192F-7282-D400B2BE49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8009" y="2607403"/>
            <a:ext cx="6248800" cy="302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62;p23">
            <a:extLst>
              <a:ext uri="{FF2B5EF4-FFF2-40B4-BE49-F238E27FC236}">
                <a16:creationId xmlns:a16="http://schemas.microsoft.com/office/drawing/2014/main" id="{C2D2EC10-BE01-7411-F477-FD4361174C7C}"/>
              </a:ext>
            </a:extLst>
          </p:cNvPr>
          <p:cNvSpPr/>
          <p:nvPr/>
        </p:nvSpPr>
        <p:spPr>
          <a:xfrm>
            <a:off x="4708009" y="2806303"/>
            <a:ext cx="410700" cy="1496700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2" name="Google Shape;163;p23">
            <a:extLst>
              <a:ext uri="{FF2B5EF4-FFF2-40B4-BE49-F238E27FC236}">
                <a16:creationId xmlns:a16="http://schemas.microsoft.com/office/drawing/2014/main" id="{754BE562-B85B-09FD-89FF-677D96D0DD46}"/>
              </a:ext>
            </a:extLst>
          </p:cNvPr>
          <p:cNvSpPr txBox="1"/>
          <p:nvPr/>
        </p:nvSpPr>
        <p:spPr>
          <a:xfrm>
            <a:off x="1812809" y="3236353"/>
            <a:ext cx="30027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/>
              <a:t>Una función JS que devuelve un random de colores en hexadecimal</a:t>
            </a:r>
            <a:endParaRPr sz="1100"/>
          </a:p>
        </p:txBody>
      </p:sp>
      <p:sp>
        <p:nvSpPr>
          <p:cNvPr id="14" name="Google Shape;164;p23">
            <a:extLst>
              <a:ext uri="{FF2B5EF4-FFF2-40B4-BE49-F238E27FC236}">
                <a16:creationId xmlns:a16="http://schemas.microsoft.com/office/drawing/2014/main" id="{50BA08AA-BB33-6393-0E24-702BF3291833}"/>
              </a:ext>
            </a:extLst>
          </p:cNvPr>
          <p:cNvSpPr/>
          <p:nvPr/>
        </p:nvSpPr>
        <p:spPr>
          <a:xfrm>
            <a:off x="4708009" y="4350353"/>
            <a:ext cx="410700" cy="524700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6" name="Google Shape;165;p23">
            <a:extLst>
              <a:ext uri="{FF2B5EF4-FFF2-40B4-BE49-F238E27FC236}">
                <a16:creationId xmlns:a16="http://schemas.microsoft.com/office/drawing/2014/main" id="{18667078-5363-AD2A-925C-443ACD0A56B1}"/>
              </a:ext>
            </a:extLst>
          </p:cNvPr>
          <p:cNvSpPr txBox="1"/>
          <p:nvPr/>
        </p:nvSpPr>
        <p:spPr>
          <a:xfrm>
            <a:off x="1812809" y="4303003"/>
            <a:ext cx="30027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/>
              <a:t>agregar un botón al hacer click en el elemento con ID addBtn</a:t>
            </a:r>
            <a:endParaRPr sz="1100"/>
          </a:p>
        </p:txBody>
      </p:sp>
      <p:sp>
        <p:nvSpPr>
          <p:cNvPr id="18" name="Google Shape;166;p23">
            <a:extLst>
              <a:ext uri="{FF2B5EF4-FFF2-40B4-BE49-F238E27FC236}">
                <a16:creationId xmlns:a16="http://schemas.microsoft.com/office/drawing/2014/main" id="{FB45AD22-71BF-2CB9-6F55-C6E34FE8127F}"/>
              </a:ext>
            </a:extLst>
          </p:cNvPr>
          <p:cNvSpPr txBox="1"/>
          <p:nvPr/>
        </p:nvSpPr>
        <p:spPr>
          <a:xfrm>
            <a:off x="1812809" y="4881703"/>
            <a:ext cx="30027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/>
              <a:t>cambiar el color de fondo cuando se presiona el elemento con clase changeBg</a:t>
            </a:r>
            <a:endParaRPr sz="1100"/>
          </a:p>
        </p:txBody>
      </p:sp>
      <p:sp>
        <p:nvSpPr>
          <p:cNvPr id="20" name="Google Shape;167;p23">
            <a:extLst>
              <a:ext uri="{FF2B5EF4-FFF2-40B4-BE49-F238E27FC236}">
                <a16:creationId xmlns:a16="http://schemas.microsoft.com/office/drawing/2014/main" id="{F0B03FBE-C227-AC95-5845-E4684BD89710}"/>
              </a:ext>
            </a:extLst>
          </p:cNvPr>
          <p:cNvSpPr/>
          <p:nvPr/>
        </p:nvSpPr>
        <p:spPr>
          <a:xfrm>
            <a:off x="4660534" y="4922403"/>
            <a:ext cx="410700" cy="524700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7528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BF963-D857-2846-54E7-6EB186626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D41CB-8011-D3A1-1AAA-EA85EDEE9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Agregar elementos dinámicamente al DOM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2FF754B-6ADA-7429-5785-9008728FCD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F195D02-94F3-DFF8-FB7F-79D683E69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Al ejecutar el ejercicio anterior, podemos ver que se agregan botones; sin embargo, al presionar los nuevos botones, no sucede nada.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Esto se debe a que los elementos agregados dinámicamente tienen la clase “</a:t>
            </a:r>
            <a:r>
              <a:rPr lang="es-ES" sz="1800" dirty="0" err="1"/>
              <a:t>changeBg</a:t>
            </a:r>
            <a:r>
              <a:rPr lang="es-ES" sz="1800" dirty="0"/>
              <a:t>” y ésta clase está funcionando con el evento </a:t>
            </a:r>
            <a:r>
              <a:rPr lang="es-ES" sz="1800" dirty="0" err="1"/>
              <a:t>click</a:t>
            </a:r>
            <a:r>
              <a:rPr lang="es-ES" sz="1800" dirty="0"/>
              <a:t>(), el cual sólo responde a los elementos iniciales del DOM (no a los agregados dinámicamente).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En caso se requiera manipular elementos agregados dinámicamente al DOM (como el ejemplo), se debe usar la delegación de eventos por medio de la función </a:t>
            </a:r>
            <a:r>
              <a:rPr lang="es-ES" sz="1800" b="1" dirty="0" err="1"/>
              <a:t>on</a:t>
            </a:r>
            <a:r>
              <a:rPr lang="es-ES" sz="1800" b="1" dirty="0"/>
              <a:t>()</a:t>
            </a:r>
            <a:r>
              <a:rPr lang="es-ES" sz="1800" dirty="0"/>
              <a:t>, la cual reconoce a los elementos agregados dinámicamente.</a:t>
            </a:r>
          </a:p>
          <a:p>
            <a:endParaRPr lang="es-PE" sz="1800" dirty="0"/>
          </a:p>
        </p:txBody>
      </p:sp>
      <p:pic>
        <p:nvPicPr>
          <p:cNvPr id="6" name="Google Shape;175;p24">
            <a:extLst>
              <a:ext uri="{FF2B5EF4-FFF2-40B4-BE49-F238E27FC236}">
                <a16:creationId xmlns:a16="http://schemas.microsoft.com/office/drawing/2014/main" id="{CFD33925-596D-0193-9C11-96AFDD9554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2028" y="1930988"/>
            <a:ext cx="12001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76;p24">
            <a:extLst>
              <a:ext uri="{FF2B5EF4-FFF2-40B4-BE49-F238E27FC236}">
                <a16:creationId xmlns:a16="http://schemas.microsoft.com/office/drawing/2014/main" id="{FC48EFB2-6EFF-7A02-C49C-C5951EF5910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653" y="2366713"/>
            <a:ext cx="22764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77;p24">
            <a:extLst>
              <a:ext uri="{FF2B5EF4-FFF2-40B4-BE49-F238E27FC236}">
                <a16:creationId xmlns:a16="http://schemas.microsoft.com/office/drawing/2014/main" id="{238BB91E-726F-F69C-BB20-53D6E652218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4653" y="2802438"/>
            <a:ext cx="3238500" cy="361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2849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0B42B-6126-FEB5-BEDD-078F52B2B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32E8B-2CEA-0699-7DA4-A2A0C3630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Agregar elementos dinámicamente al DOM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6B0C9F8-8B0C-0A36-35F8-2DABC1B369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895522-75F9-D7D1-0A5E-7DBCE6CE8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Para solucionar el problema anterior, se debe cambiar el código </a:t>
            </a:r>
            <a:r>
              <a:rPr lang="es-ES" sz="2000" dirty="0" err="1"/>
              <a:t>jquery</a:t>
            </a:r>
            <a:r>
              <a:rPr lang="es-ES" sz="2000" dirty="0"/>
              <a:t> por:</a:t>
            </a:r>
          </a:p>
          <a:p>
            <a:endParaRPr lang="es-PE" sz="2000" dirty="0"/>
          </a:p>
        </p:txBody>
      </p:sp>
      <p:pic>
        <p:nvPicPr>
          <p:cNvPr id="5" name="Google Shape;185;p25">
            <a:extLst>
              <a:ext uri="{FF2B5EF4-FFF2-40B4-BE49-F238E27FC236}">
                <a16:creationId xmlns:a16="http://schemas.microsoft.com/office/drawing/2014/main" id="{0F2D45FC-5B0F-31CF-5810-1B5F8F252FA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203" t="74100" r="49469" b="17770"/>
          <a:stretch/>
        </p:blipFill>
        <p:spPr>
          <a:xfrm>
            <a:off x="3263999" y="1956840"/>
            <a:ext cx="4600713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86;p25">
            <a:extLst>
              <a:ext uri="{FF2B5EF4-FFF2-40B4-BE49-F238E27FC236}">
                <a16:creationId xmlns:a16="http://schemas.microsoft.com/office/drawing/2014/main" id="{E5C61690-8A86-A885-1E56-3C5368FACE7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3999" y="3048373"/>
            <a:ext cx="66294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87;p25">
            <a:extLst>
              <a:ext uri="{FF2B5EF4-FFF2-40B4-BE49-F238E27FC236}">
                <a16:creationId xmlns:a16="http://schemas.microsoft.com/office/drawing/2014/main" id="{90EA1116-8804-2786-8EB4-4D3375589784}"/>
              </a:ext>
            </a:extLst>
          </p:cNvPr>
          <p:cNvSpPr/>
          <p:nvPr/>
        </p:nvSpPr>
        <p:spPr>
          <a:xfrm>
            <a:off x="5424599" y="3472390"/>
            <a:ext cx="435600" cy="3126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8" name="Google Shape;188;p25">
            <a:extLst>
              <a:ext uri="{FF2B5EF4-FFF2-40B4-BE49-F238E27FC236}">
                <a16:creationId xmlns:a16="http://schemas.microsoft.com/office/drawing/2014/main" id="{2718DB80-53E3-2788-2118-D93D6ED79E4E}"/>
              </a:ext>
            </a:extLst>
          </p:cNvPr>
          <p:cNvSpPr txBox="1"/>
          <p:nvPr/>
        </p:nvSpPr>
        <p:spPr>
          <a:xfrm>
            <a:off x="4728299" y="3808965"/>
            <a:ext cx="1828200" cy="6366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Tipo de evento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En el ejemplo click()</a:t>
            </a:r>
            <a:endParaRPr sz="1200"/>
          </a:p>
        </p:txBody>
      </p:sp>
      <p:sp>
        <p:nvSpPr>
          <p:cNvPr id="9" name="Google Shape;189;p25">
            <a:extLst>
              <a:ext uri="{FF2B5EF4-FFF2-40B4-BE49-F238E27FC236}">
                <a16:creationId xmlns:a16="http://schemas.microsoft.com/office/drawing/2014/main" id="{BAA2EFC3-FDFC-614B-253B-4BBCC848D283}"/>
              </a:ext>
            </a:extLst>
          </p:cNvPr>
          <p:cNvSpPr/>
          <p:nvPr/>
        </p:nvSpPr>
        <p:spPr>
          <a:xfrm>
            <a:off x="6884199" y="3472390"/>
            <a:ext cx="435600" cy="9432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0" name="Google Shape;190;p25">
            <a:extLst>
              <a:ext uri="{FF2B5EF4-FFF2-40B4-BE49-F238E27FC236}">
                <a16:creationId xmlns:a16="http://schemas.microsoft.com/office/drawing/2014/main" id="{64557629-2BC0-8513-9F2A-FC665BCAF9E1}"/>
              </a:ext>
            </a:extLst>
          </p:cNvPr>
          <p:cNvSpPr txBox="1"/>
          <p:nvPr/>
        </p:nvSpPr>
        <p:spPr>
          <a:xfrm>
            <a:off x="6187899" y="4439565"/>
            <a:ext cx="1828200" cy="6366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elemento que debe reaccionar al evento</a:t>
            </a:r>
            <a:endParaRPr sz="1200"/>
          </a:p>
        </p:txBody>
      </p:sp>
      <p:sp>
        <p:nvSpPr>
          <p:cNvPr id="11" name="Google Shape;191;p25">
            <a:extLst>
              <a:ext uri="{FF2B5EF4-FFF2-40B4-BE49-F238E27FC236}">
                <a16:creationId xmlns:a16="http://schemas.microsoft.com/office/drawing/2014/main" id="{0D6426B1-9B4B-6C55-EFD8-297919112418}"/>
              </a:ext>
            </a:extLst>
          </p:cNvPr>
          <p:cNvSpPr/>
          <p:nvPr/>
        </p:nvSpPr>
        <p:spPr>
          <a:xfrm>
            <a:off x="4164774" y="1985240"/>
            <a:ext cx="435600" cy="3717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2" name="Google Shape;192;p25">
            <a:extLst>
              <a:ext uri="{FF2B5EF4-FFF2-40B4-BE49-F238E27FC236}">
                <a16:creationId xmlns:a16="http://schemas.microsoft.com/office/drawing/2014/main" id="{26679042-FA6E-6B1C-86FB-4661A129F4B5}"/>
              </a:ext>
            </a:extLst>
          </p:cNvPr>
          <p:cNvSpPr/>
          <p:nvPr/>
        </p:nvSpPr>
        <p:spPr>
          <a:xfrm>
            <a:off x="5424599" y="1983503"/>
            <a:ext cx="435600" cy="3717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3" name="Google Shape;193;p25">
            <a:extLst>
              <a:ext uri="{FF2B5EF4-FFF2-40B4-BE49-F238E27FC236}">
                <a16:creationId xmlns:a16="http://schemas.microsoft.com/office/drawing/2014/main" id="{3B0F9CE3-5327-97FC-7221-FCF350F0C802}"/>
              </a:ext>
            </a:extLst>
          </p:cNvPr>
          <p:cNvSpPr/>
          <p:nvPr/>
        </p:nvSpPr>
        <p:spPr>
          <a:xfrm>
            <a:off x="5346562" y="3048390"/>
            <a:ext cx="435600" cy="3717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4" name="Google Shape;194;p25">
            <a:extLst>
              <a:ext uri="{FF2B5EF4-FFF2-40B4-BE49-F238E27FC236}">
                <a16:creationId xmlns:a16="http://schemas.microsoft.com/office/drawing/2014/main" id="{22C19134-5B13-F517-B048-A4C18443ADFC}"/>
              </a:ext>
            </a:extLst>
          </p:cNvPr>
          <p:cNvSpPr/>
          <p:nvPr/>
        </p:nvSpPr>
        <p:spPr>
          <a:xfrm>
            <a:off x="6884199" y="3048390"/>
            <a:ext cx="435600" cy="3717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cxnSp>
        <p:nvCxnSpPr>
          <p:cNvPr id="15" name="Google Shape;195;p25">
            <a:extLst>
              <a:ext uri="{FF2B5EF4-FFF2-40B4-BE49-F238E27FC236}">
                <a16:creationId xmlns:a16="http://schemas.microsoft.com/office/drawing/2014/main" id="{C91FE945-DB6F-D729-5C97-5F243C1F141D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 rot="-5400000" flipH="1">
            <a:off x="5396574" y="1342940"/>
            <a:ext cx="691500" cy="2719500"/>
          </a:xfrm>
          <a:prstGeom prst="curvedConnector3">
            <a:avLst>
              <a:gd name="adj1" fmla="val 49996"/>
            </a:avLst>
          </a:prstGeom>
          <a:noFill/>
          <a:ln w="28575" cap="flat" cmpd="sng">
            <a:solidFill>
              <a:srgbClr val="3D85C6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6" name="Google Shape;196;p25">
            <a:extLst>
              <a:ext uri="{FF2B5EF4-FFF2-40B4-BE49-F238E27FC236}">
                <a16:creationId xmlns:a16="http://schemas.microsoft.com/office/drawing/2014/main" id="{51F5FBED-2F22-422B-BA75-D8A9E0828A67}"/>
              </a:ext>
            </a:extLst>
          </p:cNvPr>
          <p:cNvCxnSpPr>
            <a:stCxn id="5" idx="2"/>
            <a:endCxn id="13" idx="0"/>
          </p:cNvCxnSpPr>
          <p:nvPr/>
        </p:nvCxnSpPr>
        <p:spPr>
          <a:xfrm rot="-5400000" flipH="1">
            <a:off x="5218906" y="2702340"/>
            <a:ext cx="691500" cy="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rgbClr val="6AA84F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7" name="Google Shape;197;p25">
            <a:extLst>
              <a:ext uri="{FF2B5EF4-FFF2-40B4-BE49-F238E27FC236}">
                <a16:creationId xmlns:a16="http://schemas.microsoft.com/office/drawing/2014/main" id="{395C031C-64BD-4289-4159-2BD8DFD7FF0B}"/>
              </a:ext>
            </a:extLst>
          </p:cNvPr>
          <p:cNvSpPr/>
          <p:nvPr/>
        </p:nvSpPr>
        <p:spPr>
          <a:xfrm>
            <a:off x="3825449" y="3472390"/>
            <a:ext cx="435600" cy="9432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8" name="Google Shape;198;p25">
            <a:extLst>
              <a:ext uri="{FF2B5EF4-FFF2-40B4-BE49-F238E27FC236}">
                <a16:creationId xmlns:a16="http://schemas.microsoft.com/office/drawing/2014/main" id="{2AE9064D-9CF1-00F7-655A-95C379D93E62}"/>
              </a:ext>
            </a:extLst>
          </p:cNvPr>
          <p:cNvSpPr txBox="1"/>
          <p:nvPr/>
        </p:nvSpPr>
        <p:spPr>
          <a:xfrm>
            <a:off x="3129149" y="4439565"/>
            <a:ext cx="1828200" cy="1173600"/>
          </a:xfrm>
          <a:prstGeom prst="rect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Se debe indicar un elemento padre al elemento al cual está registrado el evento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799697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56628-4D0B-1BAB-729C-AC33673BA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BFB7D-CA16-0710-0673-93E55125E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Validación de formulario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DA03591-C8C3-87ED-C530-EF7EDC90A2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429F67-E733-2C9C-F42E-5F2CE3628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800" dirty="0"/>
              <a:t>Para validar un formulario, debemos considerar si tenemos uno o varios en la página. Si hay uno, podemos vincular el evento a la etiqueta “</a:t>
            </a:r>
            <a:r>
              <a:rPr lang="es-ES" sz="1800" dirty="0" err="1"/>
              <a:t>form</a:t>
            </a:r>
            <a:r>
              <a:rPr lang="es-ES" sz="1800" dirty="0"/>
              <a:t>”; sin embargo, si hay varios en la página, debemos colocarle un ID a cada uno que queramos validar.</a:t>
            </a:r>
          </a:p>
          <a:p>
            <a:endParaRPr lang="es-PE" sz="1800" dirty="0"/>
          </a:p>
        </p:txBody>
      </p:sp>
      <p:pic>
        <p:nvPicPr>
          <p:cNvPr id="6" name="Google Shape;206;p26">
            <a:extLst>
              <a:ext uri="{FF2B5EF4-FFF2-40B4-BE49-F238E27FC236}">
                <a16:creationId xmlns:a16="http://schemas.microsoft.com/office/drawing/2014/main" id="{04E65AF1-E924-5C14-5C57-7BF5EFDB695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41149" y="2520298"/>
            <a:ext cx="8309701" cy="2780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9671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4EB1E-F513-938F-BF7C-05C693D59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3E582-5A3C-C241-C5EC-D6C93E67F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Validación de formulario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86ED987-558B-AC26-BD9C-CE3C556F98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5AE2322-C6A3-36FE-E5F4-3FB917C3C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Utilizando jQuery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Observación, algunas acciones ya se pueden realizar con las validaciones HTML5 como </a:t>
            </a:r>
            <a:r>
              <a:rPr lang="es-ES" dirty="0" err="1"/>
              <a:t>requiered</a:t>
            </a:r>
            <a:r>
              <a:rPr lang="es-ES" dirty="0"/>
              <a:t> o fijar el curso con autofocus</a:t>
            </a:r>
          </a:p>
          <a:p>
            <a:endParaRPr lang="es-PE" dirty="0"/>
          </a:p>
        </p:txBody>
      </p:sp>
      <p:pic>
        <p:nvPicPr>
          <p:cNvPr id="6" name="Google Shape;214;p27">
            <a:extLst>
              <a:ext uri="{FF2B5EF4-FFF2-40B4-BE49-F238E27FC236}">
                <a16:creationId xmlns:a16="http://schemas.microsoft.com/office/drawing/2014/main" id="{2360B007-DF2F-2C06-A73B-687CD6D06D6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8853" y="1630000"/>
            <a:ext cx="7176851" cy="26508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4595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10FD3C-C788-13DA-C233-0627F136B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Ejercicio Práctico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BBACBA9-6696-A42C-5301-52CB8C27E5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EC40FF-1BFA-50DD-FD97-E75DB8316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PE" dirty="0"/>
              <a:t>Entra a cualquier página web (no se debe de repetir entre los alumnos)</a:t>
            </a:r>
          </a:p>
          <a:p>
            <a:pPr lvl="1"/>
            <a:r>
              <a:rPr lang="es-PE" dirty="0"/>
              <a:t>Encuentra con jQuery:</a:t>
            </a:r>
          </a:p>
          <a:p>
            <a:pPr lvl="1"/>
            <a:r>
              <a:rPr lang="es-PE" dirty="0"/>
              <a:t>El título principal. </a:t>
            </a:r>
          </a:p>
          <a:p>
            <a:pPr lvl="1"/>
            <a:r>
              <a:rPr lang="es-PE" dirty="0"/>
              <a:t>El primer botón. </a:t>
            </a:r>
          </a:p>
          <a:p>
            <a:pPr lvl="1"/>
            <a:r>
              <a:rPr lang="es-PE" dirty="0"/>
              <a:t>El primer enlace. </a:t>
            </a:r>
          </a:p>
          <a:p>
            <a:pPr lvl="1"/>
            <a:r>
              <a:rPr lang="es-PE" dirty="0"/>
              <a:t>Todas las imágenes. </a:t>
            </a:r>
          </a:p>
          <a:p>
            <a:pPr lvl="1"/>
            <a:r>
              <a:rPr lang="es-PE" dirty="0"/>
              <a:t>Cambia el texto de un botón. </a:t>
            </a:r>
          </a:p>
          <a:p>
            <a:pPr lvl="1"/>
            <a:r>
              <a:rPr lang="es-PE" dirty="0"/>
              <a:t>Oculta una imagen.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47277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C4D2B-73C5-82BD-EC93-0A3C68A7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9946F-F936-219A-402E-47965CD8D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3419EC2-59EE-F2EC-6700-20CF5A4150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C55024-50D2-5765-70FA-A4A44F85F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419" sz="2000" dirty="0"/>
              <a:t>jQuery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419" sz="2000" u="sng" dirty="0">
                <a:solidFill>
                  <a:schemeClr val="hlink"/>
                </a:solidFill>
                <a:hlinkClick r:id="rId2"/>
              </a:rPr>
              <a:t>https://learn.jquery.com/</a:t>
            </a:r>
            <a:endParaRPr lang="es-419" sz="2000" dirty="0"/>
          </a:p>
          <a:p>
            <a:pPr lvl="0" indent="-342900">
              <a:buSzPts val="1800"/>
              <a:buChar char="●"/>
            </a:pPr>
            <a:r>
              <a:rPr lang="es-419" sz="2000" dirty="0"/>
              <a:t>Libro </a:t>
            </a:r>
            <a:r>
              <a:rPr lang="es-419" sz="2000" dirty="0" err="1"/>
              <a:t>Javascript</a:t>
            </a:r>
            <a:r>
              <a:rPr lang="es-419" sz="2000" dirty="0"/>
              <a:t> y </a:t>
            </a:r>
            <a:r>
              <a:rPr lang="es-419" sz="2000" dirty="0" err="1"/>
              <a:t>Jquery</a:t>
            </a:r>
            <a:r>
              <a:rPr lang="es-419" sz="2000" dirty="0"/>
              <a:t>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419" sz="2000" dirty="0"/>
              <a:t>Duckett, J. (2014).</a:t>
            </a:r>
            <a:r>
              <a:rPr lang="es-419" sz="2000" i="1" dirty="0"/>
              <a:t> JavaScript &amp; JQuery: Interactive Front-End Web </a:t>
            </a:r>
            <a:r>
              <a:rPr lang="es-419" sz="2000" i="1" dirty="0" err="1"/>
              <a:t>Development</a:t>
            </a:r>
            <a:r>
              <a:rPr lang="es-419" sz="2000" dirty="0"/>
              <a:t>. John Wiley &amp; Sons.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015548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715</TotalTime>
  <Words>949</Words>
  <Application>Microsoft Office PowerPoint</Application>
  <PresentationFormat>Panorámica</PresentationFormat>
  <Paragraphs>121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Montserrat</vt:lpstr>
      <vt:lpstr>Montserrat Medium</vt:lpstr>
      <vt:lpstr>Tema de Office</vt:lpstr>
      <vt:lpstr>1_Tema de Office</vt:lpstr>
      <vt:lpstr>Diseño personalizado</vt:lpstr>
      <vt:lpstr>Telecom Pucp</vt:lpstr>
      <vt:lpstr>Presentación de PowerPoint</vt:lpstr>
      <vt:lpstr>JQUERY</vt:lpstr>
      <vt:lpstr>jQuery</vt:lpstr>
      <vt:lpstr>Registro de la librería</vt:lpstr>
      <vt:lpstr>Contenedor jQuery</vt:lpstr>
      <vt:lpstr>Obtener elementos en jQuery</vt:lpstr>
      <vt:lpstr>Selectores</vt:lpstr>
      <vt:lpstr>Reaccionar a un click</vt:lpstr>
      <vt:lpstr>Eventos jQuery</vt:lpstr>
      <vt:lpstr>Manipulación del DOM</vt:lpstr>
      <vt:lpstr>Agregar elementos dinámicamente al DOM</vt:lpstr>
      <vt:lpstr>Agregar elementos dinámicamente al DOM</vt:lpstr>
      <vt:lpstr>Agregar elementos dinámicamente al DOM</vt:lpstr>
      <vt:lpstr>Validación de formulario</vt:lpstr>
      <vt:lpstr>Validación de formulario</vt:lpstr>
      <vt:lpstr>Ejercicio Práctico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35</cp:revision>
  <dcterms:created xsi:type="dcterms:W3CDTF">2023-10-28T21:43:03Z</dcterms:created>
  <dcterms:modified xsi:type="dcterms:W3CDTF">2026-06-10T21:42:08Z</dcterms:modified>
</cp:coreProperties>
</file>