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4" r:id="rId2"/>
    <p:sldMasterId id="2147483660" r:id="rId3"/>
    <p:sldMasterId id="2147483680" r:id="rId4"/>
  </p:sldMasterIdLst>
  <p:notesMasterIdLst>
    <p:notesMasterId r:id="rId17"/>
  </p:notesMasterIdLst>
  <p:handoutMasterIdLst>
    <p:handoutMasterId r:id="rId18"/>
  </p:handoutMasterIdLst>
  <p:sldIdLst>
    <p:sldId id="355" r:id="rId5"/>
    <p:sldId id="356" r:id="rId6"/>
    <p:sldId id="357" r:id="rId7"/>
    <p:sldId id="358" r:id="rId8"/>
    <p:sldId id="359" r:id="rId9"/>
    <p:sldId id="360" r:id="rId10"/>
    <p:sldId id="352" r:id="rId11"/>
    <p:sldId id="362" r:id="rId12"/>
    <p:sldId id="363" r:id="rId13"/>
    <p:sldId id="365" r:id="rId14"/>
    <p:sldId id="364" r:id="rId15"/>
    <p:sldId id="366" r:id="rId1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FADC"/>
    <a:srgbClr val="7E32C8"/>
    <a:srgbClr val="0A2451"/>
    <a:srgbClr val="7F32C8"/>
    <a:srgbClr val="0096C8"/>
    <a:srgbClr val="009A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91" autoAdjust="0"/>
    <p:restoredTop sz="93792" autoAdjust="0"/>
  </p:normalViewPr>
  <p:slideViewPr>
    <p:cSldViewPr snapToGrid="0" snapToObjects="1">
      <p:cViewPr varScale="1">
        <p:scale>
          <a:sx n="107" d="100"/>
          <a:sy n="107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F0BF7D0-ACCD-45E0-9075-7974351BA6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3B6A517-4C1F-40CC-B607-62B10860738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40BD7-4B38-4A99-A6E7-5E1A97DAF11B}" type="datetimeFigureOut">
              <a:rPr lang="es-PE" smtClean="0"/>
              <a:t>10/06/2026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DE1014B-0959-4D3A-8DC3-99369C9107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5F80A8-C49B-4372-B96A-23231D58BE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D7DB4-D5A9-475B-BF72-4B93DC046C5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6361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2EFC3-66C1-4423-B1B2-E7C9DCCB5C75}" type="datetimeFigureOut">
              <a:rPr lang="es-PE" smtClean="0"/>
              <a:t>10/06/2026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75E41-3A85-45FC-A38E-3ABB827C81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5376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BDFEDA-4707-4FCF-B728-8770DE811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1C491-E0CA-4324-AB99-27795370E731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FEC6C11-5534-41C2-AE3F-23A2E42B2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596F09D-DC31-489D-B4ED-C366F889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6910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8E25-E046-416A-8AD2-E2EA35E0D47B}" type="datetime6">
              <a:rPr lang="es-PE" smtClean="0"/>
              <a:t>Junio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28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8130-A112-4F15-AFC2-368CC75448B6}" type="datetime6">
              <a:rPr lang="es-PE" smtClean="0"/>
              <a:t>Junio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96BDD-8036-732D-98BA-0F2E37352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0875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79D8E-AB04-8E45-9319-348AC3CB4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9A28C-F211-4BC4-A82C-550C2815AB6D}" type="datetime6">
              <a:rPr lang="es-PE" smtClean="0"/>
              <a:t>Junio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7A3063-101A-4748-9BF4-BDCEAD74E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81654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1ED01-9170-4915-AD68-3CC34DFA2DBD}" type="datetime6">
              <a:rPr lang="es-PE" smtClean="0"/>
              <a:t>Junio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8F1C9D-46B9-3A4E-AB57-99CFCB4F8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06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DE35-9A49-4AAC-8B2C-BA4A347498EB}" type="datetime6">
              <a:rPr lang="es-PE" smtClean="0"/>
              <a:t>Junio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83630D-DB33-894E-A6FB-7C886A314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31018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BB3AF-5458-4635-87B4-F9A9B12C5458}" type="datetime6">
              <a:rPr lang="es-PE" smtClean="0"/>
              <a:t>Junio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40BCAD-F69B-D846-B7D1-F816049E4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1520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4354-6BA5-49FF-BF43-87C4B22E98B4}" type="datetime6">
              <a:rPr lang="es-PE" smtClean="0"/>
              <a:t>Junio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665C2B-C547-9D48-897C-C27108ED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56347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0608-F1FB-45F6-860F-922B6EF37ED4}" type="datetime6">
              <a:rPr lang="es-PE" smtClean="0"/>
              <a:t>Junio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9B5093-2547-5848-96C5-63FA5D8A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19299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078BD-AB8A-4345-9035-53D22F2B3257}" type="datetime6">
              <a:rPr lang="es-PE" smtClean="0"/>
              <a:t>Junio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95E045-43DC-F64F-8427-01C4927DE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3938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8617"/>
            <a:ext cx="10515600" cy="330490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1771-42A4-45B0-9E2A-31E6848B072B}" type="datetime6">
              <a:rPr lang="es-PE" smtClean="0"/>
              <a:t>Junio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título 1">
            <a:extLst>
              <a:ext uri="{FF2B5EF4-FFF2-40B4-BE49-F238E27FC236}">
                <a16:creationId xmlns:a16="http://schemas.microsoft.com/office/drawing/2014/main" id="{A687CBB4-B26D-433C-982F-3DCCCFE5C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8824"/>
            <a:ext cx="10515600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D43F6072-5465-F57A-EF21-56204254D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42845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5F0A72E7-2671-47A4-AF35-66459EA16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0D25D-3002-4A58-8B13-21BD8EE61204}" type="datetime6">
              <a:rPr lang="es-PE" smtClean="0"/>
              <a:t>Junio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86C3314-7415-4B69-9C72-28C2155C4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07477A4A-ECCB-8B69-A47C-30FB4783A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5517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1DECC-10B9-4F40-90A9-2F5BE622FB80}" type="datetime6">
              <a:rPr lang="es-PE" smtClean="0"/>
              <a:t>Junio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3278E2-83A6-F38B-4712-926F3DB9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5A0FF8-286D-9381-1F09-B45262982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56149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Marcador de fecha 9">
            <a:extLst>
              <a:ext uri="{FF2B5EF4-FFF2-40B4-BE49-F238E27FC236}">
                <a16:creationId xmlns:a16="http://schemas.microsoft.com/office/drawing/2014/main" id="{F008D962-BEC4-402A-A407-79C9AD9F2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C0233-ABB9-4EC0-9B00-FB2CD5E81D0A}" type="datetime6">
              <a:rPr lang="es-PE" smtClean="0"/>
              <a:t>Junio de 2026</a:t>
            </a:fld>
            <a:endParaRPr lang="es-PE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3750F3DD-81E0-4125-8E5B-E0A1E3048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9B72A45B-A8B6-53D1-D299-D8D234C35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330049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0424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32517-B618-4C30-966E-4CE57A9A4AD9}" type="datetime6">
              <a:rPr lang="es-PE" smtClean="0"/>
              <a:t>Junio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975A041E-5422-B9D8-43AC-BC8E8410A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5190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572F-C44F-4ECE-A2FB-0C63931A9A8E}" type="datetime6">
              <a:rPr lang="es-PE" smtClean="0"/>
              <a:t>Junio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024E81AF-5ACD-3527-83DB-C9AD4CA08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08079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5C4A-DDA2-4FA4-84CD-631E9785E0C4}" type="datetime6">
              <a:rPr lang="es-PE" smtClean="0"/>
              <a:t>Junio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59D5B90D-729B-0333-8733-D407F4441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487264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76157-6C99-4927-8D4B-5792D6D36C68}" type="datetime6">
              <a:rPr lang="es-PE" smtClean="0"/>
              <a:t>Junio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C8F8A8AE-3D1C-5104-BD49-852FD075A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18953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1711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108197"/>
            <a:ext cx="10515600" cy="406876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E1B8-50E8-41AE-B289-DDEF242637E2}" type="datetime6">
              <a:rPr lang="es-PE" smtClean="0"/>
              <a:t>Junio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E4FC7515-E45E-EA9E-AB33-84FFF36BD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224937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2286-761A-4DF9-BC80-ED7ACDE5A868}" type="datetime6">
              <a:rPr lang="es-PE" smtClean="0"/>
              <a:t>Junio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9245C2B-EA67-6FB3-B251-E41C03185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244694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40041-0AC9-F54A-8CD6-2C6E25C004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28900" y="2314574"/>
            <a:ext cx="7181850" cy="2224781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Título de clase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940FCB-6F03-EA41-B8CA-B38BB6401C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810750" y="4539355"/>
            <a:ext cx="2131452" cy="65177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2023</a:t>
            </a:r>
            <a:endParaRPr lang="es-PE" dirty="0"/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409037FA-8AD4-46E6-D14A-A0B5918A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8900" y="326688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CC77DF-7156-87EC-5584-40C3F628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4057" y="6089066"/>
            <a:ext cx="4100513" cy="440147"/>
          </a:xfrm>
        </p:spPr>
        <p:txBody>
          <a:bodyPr/>
          <a:lstStyle>
            <a:lvl1pPr marL="0" indent="0">
              <a:buClr>
                <a:schemeClr val="accent6"/>
              </a:buClr>
              <a:buNone/>
              <a:defRPr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Profesor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10030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893" y="4999970"/>
            <a:ext cx="3339907" cy="717550"/>
          </a:xfrm>
        </p:spPr>
        <p:txBody>
          <a:bodyPr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333C54-732D-4A5F-8493-6279F2718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993" y="1285875"/>
            <a:ext cx="6851456" cy="4072870"/>
          </a:xfrm>
        </p:spPr>
        <p:txBody>
          <a:bodyPr/>
          <a:lstStyle>
            <a:lvl1pPr marL="2286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buClr>
                <a:schemeClr val="accent1"/>
              </a:buClr>
              <a:buSzPct val="70000"/>
              <a:buFontTx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>
                <a:schemeClr val="accent1"/>
              </a:buClr>
              <a:buSzPct val="50000"/>
              <a:buFontTx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F12D76C1-E4EF-42D1-88E3-B3E1BE457EF7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70142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936BE4A0-0EF9-4513-98D7-49E1F009126F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722D55-BD67-C2D0-8DB9-2255495858E9}"/>
              </a:ext>
            </a:extLst>
          </p:cNvPr>
          <p:cNvSpPr/>
          <p:nvPr userDrawn="1"/>
        </p:nvSpPr>
        <p:spPr>
          <a:xfrm>
            <a:off x="-1" y="1888177"/>
            <a:ext cx="8737793" cy="2244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2162175"/>
            <a:ext cx="8067675" cy="16954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Nueva Sección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505411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CFF21E75-C2F6-4021-B002-DFF0EB1C555C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32324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490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24F721D9-3A4E-DA31-4304-76691E23E80D}"/>
              </a:ext>
            </a:extLst>
          </p:cNvPr>
          <p:cNvSpPr/>
          <p:nvPr userDrawn="1"/>
        </p:nvSpPr>
        <p:spPr>
          <a:xfrm>
            <a:off x="838200" y="2024743"/>
            <a:ext cx="9716589" cy="3843644"/>
          </a:xfrm>
          <a:prstGeom prst="roundRect">
            <a:avLst>
              <a:gd name="adj" fmla="val 6011"/>
            </a:avLst>
          </a:prstGeom>
          <a:solidFill>
            <a:srgbClr val="0A2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altLang="es-PE" sz="2000" b="1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buClr>
                <a:schemeClr val="accent6"/>
              </a:buClr>
              <a:defRPr sz="2400"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 sz="2200"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52786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5525" y="2549525"/>
            <a:ext cx="5162550" cy="1555750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D79D4C0-AA8A-45B0-85A5-1FD89F1DDE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03038" y="2635960"/>
            <a:ext cx="131409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643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14724" y="663575"/>
            <a:ext cx="7762875" cy="1079500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647276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trada" type="blank">
  <p:cSld name="entrada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-17314"/>
            <a:ext cx="12192000" cy="68580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2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672059" y="2777043"/>
            <a:ext cx="4686308" cy="138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C63A0B1C-38C6-4A94-BC53-9378BD6F4196}"/>
              </a:ext>
            </a:extLst>
          </p:cNvPr>
          <p:cNvSpPr/>
          <p:nvPr/>
        </p:nvSpPr>
        <p:spPr>
          <a:xfrm>
            <a:off x="604699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09FF01B-D296-4FC4-86C6-18C1AA1F0700}"/>
              </a:ext>
            </a:extLst>
          </p:cNvPr>
          <p:cNvSpPr>
            <a:spLocks noChangeAspect="1"/>
          </p:cNvSpPr>
          <p:nvPr/>
        </p:nvSpPr>
        <p:spPr>
          <a:xfrm>
            <a:off x="2087026" y="5059599"/>
            <a:ext cx="1476000" cy="1475999"/>
          </a:xfrm>
          <a:prstGeom prst="ellipse">
            <a:avLst/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iagrama de flujo: retraso 3">
            <a:extLst>
              <a:ext uri="{FF2B5EF4-FFF2-40B4-BE49-F238E27FC236}">
                <a16:creationId xmlns:a16="http://schemas.microsoft.com/office/drawing/2014/main" id="{F33AB0F3-5E83-4F73-B1B3-E7FFB7FAC1CF}"/>
              </a:ext>
            </a:extLst>
          </p:cNvPr>
          <p:cNvSpPr>
            <a:spLocks/>
          </p:cNvSpPr>
          <p:nvPr/>
        </p:nvSpPr>
        <p:spPr>
          <a:xfrm>
            <a:off x="604699" y="3568509"/>
            <a:ext cx="1476000" cy="1476000"/>
          </a:xfrm>
          <a:prstGeom prst="flowChartDelay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írculo parcial 4">
            <a:extLst>
              <a:ext uri="{FF2B5EF4-FFF2-40B4-BE49-F238E27FC236}">
                <a16:creationId xmlns:a16="http://schemas.microsoft.com/office/drawing/2014/main" id="{E01F752C-EAF0-4FBF-B895-7C40EAE76E6B}"/>
              </a:ext>
            </a:extLst>
          </p:cNvPr>
          <p:cNvSpPr>
            <a:spLocks noChangeAspect="1"/>
          </p:cNvSpPr>
          <p:nvPr/>
        </p:nvSpPr>
        <p:spPr>
          <a:xfrm>
            <a:off x="2080320" y="3578476"/>
            <a:ext cx="2934000" cy="2934000"/>
          </a:xfrm>
          <a:prstGeom prst="pie">
            <a:avLst>
              <a:gd name="adj1" fmla="val 16194402"/>
              <a:gd name="adj2" fmla="val 695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508BC26-9C42-409E-A296-12A08043B847}"/>
              </a:ext>
            </a:extLst>
          </p:cNvPr>
          <p:cNvSpPr/>
          <p:nvPr/>
        </p:nvSpPr>
        <p:spPr>
          <a:xfrm>
            <a:off x="2072388" y="3577936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írculo parcial 5">
            <a:extLst>
              <a:ext uri="{FF2B5EF4-FFF2-40B4-BE49-F238E27FC236}">
                <a16:creationId xmlns:a16="http://schemas.microsoft.com/office/drawing/2014/main" id="{A6B1ED3D-FC35-4A2C-AEA0-527CA60D93D8}"/>
              </a:ext>
            </a:extLst>
          </p:cNvPr>
          <p:cNvSpPr>
            <a:spLocks noChangeAspect="1"/>
          </p:cNvSpPr>
          <p:nvPr/>
        </p:nvSpPr>
        <p:spPr>
          <a:xfrm rot="10800000">
            <a:off x="-821269" y="574219"/>
            <a:ext cx="2857435" cy="2995143"/>
          </a:xfrm>
          <a:prstGeom prst="pie">
            <a:avLst>
              <a:gd name="adj1" fmla="val 5387486"/>
              <a:gd name="adj2" fmla="val 16200000"/>
            </a:avLst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1EFD23FD-AE29-404D-8F53-1FD009AE807B}"/>
              </a:ext>
            </a:extLst>
          </p:cNvPr>
          <p:cNvGrpSpPr/>
          <p:nvPr/>
        </p:nvGrpSpPr>
        <p:grpSpPr>
          <a:xfrm>
            <a:off x="2087136" y="2123409"/>
            <a:ext cx="1448999" cy="1443249"/>
            <a:chOff x="2118675" y="2004020"/>
            <a:chExt cx="1448999" cy="1443249"/>
          </a:xfrm>
        </p:grpSpPr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CAC50A2-CB41-4C53-93C3-5260E20DE2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004020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CE6D1487-82A4-4496-B087-91DD796DE7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727269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C95F40AB-463C-4C6E-915C-5D6DF55A45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727269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A7CDF41D-9C35-41E7-8E2B-2AA7C91BEC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004020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3FA7743-AFB1-4869-99F7-BBBF6B5081B5}"/>
              </a:ext>
            </a:extLst>
          </p:cNvPr>
          <p:cNvSpPr/>
          <p:nvPr/>
        </p:nvSpPr>
        <p:spPr>
          <a:xfrm>
            <a:off x="3540368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írculo parcial 18">
            <a:extLst>
              <a:ext uri="{FF2B5EF4-FFF2-40B4-BE49-F238E27FC236}">
                <a16:creationId xmlns:a16="http://schemas.microsoft.com/office/drawing/2014/main" id="{9EEB8DCE-7E2B-489A-B839-B10110611D97}"/>
              </a:ext>
            </a:extLst>
          </p:cNvPr>
          <p:cNvSpPr>
            <a:spLocks noChangeAspect="1"/>
          </p:cNvSpPr>
          <p:nvPr/>
        </p:nvSpPr>
        <p:spPr>
          <a:xfrm>
            <a:off x="3552087" y="5048742"/>
            <a:ext cx="2934000" cy="2934000"/>
          </a:xfrm>
          <a:prstGeom prst="pie">
            <a:avLst>
              <a:gd name="adj1" fmla="val 16202562"/>
              <a:gd name="adj2" fmla="val 1644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3361169"/>
      </p:ext>
    </p:extLst>
  </p:cSld>
  <p:clrMapOvr>
    <a:masterClrMapping/>
  </p:clrMapOvr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Diapositiva de títul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53671" y="5579102"/>
            <a:ext cx="4484658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  <a:defRPr sz="2400" i="1">
                <a:solidFill>
                  <a:srgbClr val="648585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3093359"/>
      </p:ext>
    </p:extLst>
  </p:cSld>
  <p:clrMapOvr>
    <a:masterClrMapping/>
  </p:clrMapOvr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userDrawn="1">
  <p:cSld name="Contenido con título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10354982" cy="643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 dirty="0"/>
              <a:t>Haga clic para modificar el estilo de título del patrón</a:t>
            </a:r>
            <a:endParaRPr dirty="0"/>
          </a:p>
        </p:txBody>
      </p:sp>
      <p:sp>
        <p:nvSpPr>
          <p:cNvPr id="26" name="Google Shape;26;p4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8753475" y="5717000"/>
            <a:ext cx="22666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970058A-F152-4A93-A50A-BC853F5A46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217"/>
          <a:stretch/>
        </p:blipFill>
        <p:spPr>
          <a:xfrm>
            <a:off x="8929708" y="5954450"/>
            <a:ext cx="1856985" cy="464401"/>
          </a:xfrm>
          <a:prstGeom prst="rect">
            <a:avLst/>
          </a:prstGeom>
        </p:spPr>
      </p:pic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31" name="Google Shape;31;p4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Gestión de Servicios TICS</a:t>
            </a: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2396329-D7D9-4B93-942B-A183A1B92B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4783"/>
          <a:stretch/>
        </p:blipFill>
        <p:spPr>
          <a:xfrm>
            <a:off x="7975126" y="5954450"/>
            <a:ext cx="626177" cy="464401"/>
          </a:xfrm>
          <a:prstGeom prst="rect">
            <a:avLst/>
          </a:prstGeom>
        </p:spPr>
      </p:pic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B26728CE-6E0E-6366-6289-34C8746A1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2386"/>
            <a:ext cx="10356570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01539333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Dos objeto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5" name="Google Shape;45;p6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50" name="Google Shape;50;p6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90419245"/>
      </p:ext>
    </p:extLst>
  </p:cSld>
  <p:clrMapOvr>
    <a:masterClrMapping/>
  </p:clrMapOvr>
  <p:hf hd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Imagen con título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53" name="Google Shape;53;p7"/>
          <p:cNvSpPr>
            <a:spLocks noGrp="1"/>
          </p:cNvSpPr>
          <p:nvPr>
            <p:ph type="pic" idx="2"/>
          </p:nvPr>
        </p:nvSpPr>
        <p:spPr>
          <a:xfrm>
            <a:off x="5183200" y="987425"/>
            <a:ext cx="6172200" cy="32043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839800" y="2057400"/>
            <a:ext cx="3932100" cy="23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5" name="Google Shape;55;p7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0" name="Google Shape;60;p7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62725054"/>
      </p:ext>
    </p:extLst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Título y texto vertica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 rot="5400000">
            <a:off x="4161556" y="-1497730"/>
            <a:ext cx="386888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4" name="Google Shape;64;p8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9" name="Google Shape;69;p8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93286561"/>
      </p:ext>
    </p:extLst>
  </p:cSld>
  <p:clrMapOvr>
    <a:masterClrMapping/>
  </p:clrMapOvr>
  <p:hf hd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Título vertical y texto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 rot="5400000">
            <a:off x="7363614" y="1726412"/>
            <a:ext cx="5351473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1"/>
          </p:nvPr>
        </p:nvSpPr>
        <p:spPr>
          <a:xfrm rot="5400000">
            <a:off x="2029614" y="-826288"/>
            <a:ext cx="5351473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3" name="Google Shape;73;p9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78" name="Google Shape;78;p9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43214554"/>
      </p:ext>
    </p:extLst>
  </p:cSld>
  <p:clrMapOvr>
    <a:masterClrMapping/>
  </p:clrMapOvr>
  <p:hf hd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 type="obj">
  <p:cSld name="Título y objetos 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2" name="Google Shape;8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83" name="Google Shape;8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84" name="Google Shape;8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74071198"/>
      </p:ext>
    </p:extLst>
  </p:cSld>
  <p:clrMapOvr>
    <a:masterClrMapping/>
  </p:clrMapOvr>
  <p:hf hd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8" name="Google Shape;88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1" name="Google Shape;9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92" name="Google Shape;9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09552290"/>
      </p:ext>
    </p:extLst>
  </p:cSld>
  <p:clrMapOvr>
    <a:masterClrMapping/>
  </p:clrMapOvr>
  <p:hf hdr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936BE4A0-0EF9-4513-98D7-49E1F009126F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722D55-BD67-C2D0-8DB9-2255495858E9}"/>
              </a:ext>
            </a:extLst>
          </p:cNvPr>
          <p:cNvSpPr/>
          <p:nvPr userDrawn="1"/>
        </p:nvSpPr>
        <p:spPr>
          <a:xfrm>
            <a:off x="-1" y="1888177"/>
            <a:ext cx="8737793" cy="224443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2162175"/>
            <a:ext cx="8067675" cy="16954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Nueva Sección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341807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24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AE6F4FD-2238-AD4E-867E-E58E2DFA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5212"/>
            <a:ext cx="9716589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0C6D7E-5BBC-B741-BB4C-3A3ED127A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3"/>
            <a:ext cx="9716589" cy="3843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2262"/>
            <a:ext cx="1638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616E3388-8A49-4C51-A106-E2F4CF3977CF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6428" y="32226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74F71EA6-14AA-5205-13FE-35911ED08C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17102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4" r:id="rId2"/>
    <p:sldLayoutId id="2147483674" r:id="rId3"/>
    <p:sldLayoutId id="2147483650" r:id="rId4"/>
    <p:sldLayoutId id="2147483652" r:id="rId5"/>
    <p:sldLayoutId id="2147483653" r:id="rId6"/>
    <p:sldLayoutId id="2147483656" r:id="rId7"/>
    <p:sldLayoutId id="2147483657" r:id="rId8"/>
    <p:sldLayoutId id="2147483658" r:id="rId9"/>
    <p:sldLayoutId id="2147483659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4230"/>
            <a:ext cx="1619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9694A8-123C-4838-A10C-DF4D75E09A89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3680" y="32331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título 1">
            <a:extLst>
              <a:ext uri="{FF2B5EF4-FFF2-40B4-BE49-F238E27FC236}">
                <a16:creationId xmlns:a16="http://schemas.microsoft.com/office/drawing/2014/main" id="{144F2274-D960-4C0B-9748-88EE3F0DB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82069"/>
            <a:ext cx="10343606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9D6FEB95-3036-417E-9C50-CD57ED01F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4"/>
            <a:ext cx="10343606" cy="3291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1DCF4E30-8222-0A8A-8EB6-ACF70BC0F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7794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75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3B067A9-18EE-41F0-B696-9386E1AF8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5029"/>
            <a:ext cx="10515600" cy="6456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67C12A-CBBE-4AB2-8C8A-B75DDE302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86189"/>
            <a:ext cx="10515600" cy="3291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C6ED39-B0EA-42B3-A3C3-7CA769E5EA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14064"/>
            <a:ext cx="1524000" cy="3829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8C20A4-1372-4EF1-AE37-02318244F0B2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E1549C-7307-410E-AA79-42C4BDD3F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2993" y="32298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63B87C3E-7B33-EE8E-E722-04A7DDD4F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91725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77" r:id="rId4"/>
    <p:sldLayoutId id="2147483676" r:id="rId5"/>
    <p:sldLayoutId id="2147483678" r:id="rId6"/>
    <p:sldLayoutId id="2147483661" r:id="rId7"/>
    <p:sldLayoutId id="2147483679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3868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6070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9167984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2" r:id="rId10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rawni10/clase9webservice-master.git" TargetMode="External"/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7316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E6D01E-9694-5C21-869C-0CA76B18E7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/>
              <a:t>Servicios Web REST con Spring Boot y Spring Security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65E06E-B862-5794-4B17-97764E1557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</a:pPr>
            <a:r>
              <a:rPr lang="es-ES" dirty="0"/>
              <a:t>Utilice como base:</a:t>
            </a:r>
          </a:p>
          <a:p>
            <a:pPr lvl="0" indent="-342900" algn="l">
              <a:spcBef>
                <a:spcPts val="1600"/>
              </a:spcBef>
              <a:buSzPts val="1800"/>
              <a:buChar char="●"/>
            </a:pPr>
            <a:r>
              <a:rPr lang="es-ES" u="sng" dirty="0">
                <a:solidFill>
                  <a:schemeClr val="accent5"/>
                </a:solidFill>
                <a:hlinkClick r:id="rId2"/>
              </a:rPr>
              <a:t>https://github.com/brawni10/clase9webservice-master.git</a:t>
            </a:r>
            <a:endParaRPr lang="es-ES" u="sng" dirty="0">
              <a:solidFill>
                <a:schemeClr val="accent5"/>
              </a:solidFill>
            </a:endParaRP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149172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4C6C97-8330-ACB7-7D44-274358E10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Autenticación básica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C75FB4C-7C21-64EF-352D-1B4770D180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5734438-C49F-9A2D-482C-869DBECAF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En este ejemplo se está protegiendo la ruta “/api/</a:t>
            </a:r>
            <a:r>
              <a:rPr lang="es-ES" dirty="0" err="1"/>
              <a:t>product</a:t>
            </a:r>
            <a:r>
              <a:rPr lang="es-ES" dirty="0"/>
              <a:t>”.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dirty="0"/>
              <a:t>Sin embargo, al ser un servidor que solo brinda servicios web, no tiene una interfaz para que el usuario realice la autenticación.</a:t>
            </a:r>
          </a:p>
          <a:p>
            <a:endParaRPr lang="es-PE" dirty="0"/>
          </a:p>
        </p:txBody>
      </p:sp>
      <p:sp>
        <p:nvSpPr>
          <p:cNvPr id="5" name="Google Shape;91;p16">
            <a:extLst>
              <a:ext uri="{FF2B5EF4-FFF2-40B4-BE49-F238E27FC236}">
                <a16:creationId xmlns:a16="http://schemas.microsoft.com/office/drawing/2014/main" id="{0856B4A0-4DDA-0064-9CDF-D34F9806D16F}"/>
              </a:ext>
            </a:extLst>
          </p:cNvPr>
          <p:cNvSpPr txBox="1"/>
          <p:nvPr/>
        </p:nvSpPr>
        <p:spPr>
          <a:xfrm>
            <a:off x="1533924" y="2670387"/>
            <a:ext cx="8665800" cy="2585293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BBB52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@Configuration</a:t>
            </a:r>
            <a:endParaRPr sz="1200" dirty="0">
              <a:solidFill>
                <a:srgbClr val="BBB529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 err="1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 dirty="0" err="1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WebSecurityConfig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2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 dirty="0">
                <a:solidFill>
                  <a:srgbClr val="BBB52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@Bean</a:t>
            </a:r>
            <a:endParaRPr sz="1200" dirty="0">
              <a:solidFill>
                <a:srgbClr val="BBB529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BBB52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 dirty="0" err="1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SecurityFilterChain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 dirty="0" err="1">
                <a:solidFill>
                  <a:srgbClr val="FFC66D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filterChain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HttpSecurity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http) </a:t>
            </a:r>
            <a:r>
              <a:rPr lang="es-419" sz="1200" dirty="0" err="1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throws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Exception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2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http.authorizeHttpRequests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2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.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requestMatchers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2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"/api/</a:t>
            </a:r>
            <a:r>
              <a:rPr lang="es-419" sz="1200" dirty="0" err="1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product</a:t>
            </a:r>
            <a:r>
              <a:rPr lang="es-419" sz="12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authenticated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2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.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anyRequest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().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permitAll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dirty="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s-419" sz="1200" dirty="0" err="1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http.build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dirty="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166994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CCA7B-8131-79C5-EA91-359CC92E3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4CE970-122D-9814-8E70-F3B360935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Autenticación básica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B57AECD-69C2-FECF-F408-7CB40AF18A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D3048DF-C8CC-5660-88C3-22D5FD0E4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Para soportar autenticación básica (</a:t>
            </a:r>
            <a:r>
              <a:rPr lang="es-ES" sz="1800" dirty="0" err="1"/>
              <a:t>basic</a:t>
            </a:r>
            <a:r>
              <a:rPr lang="es-ES" sz="1800" dirty="0"/>
              <a:t> </a:t>
            </a:r>
            <a:r>
              <a:rPr lang="es-ES" sz="1800" dirty="0" err="1"/>
              <a:t>auth</a:t>
            </a:r>
            <a:r>
              <a:rPr lang="es-ES" sz="1800" dirty="0"/>
              <a:t>) en </a:t>
            </a:r>
            <a:r>
              <a:rPr lang="es-ES" sz="1800" dirty="0" err="1"/>
              <a:t>webservices</a:t>
            </a:r>
            <a:r>
              <a:rPr lang="es-ES" sz="1800" dirty="0"/>
              <a:t>, debemos realizar las siguientes configuraciones: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1800" dirty="0"/>
              <a:t>Deshabilitar las sesiones, es decir, dejarlo en estado STATELESS para que no se cree una cookie entre el cliente y el servidor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1800" dirty="0"/>
              <a:t>Deshabilitar la protección Cross-site </a:t>
            </a:r>
            <a:r>
              <a:rPr lang="es-ES" sz="1800" dirty="0" err="1"/>
              <a:t>request</a:t>
            </a:r>
            <a:r>
              <a:rPr lang="es-ES" sz="1800" dirty="0"/>
              <a:t> </a:t>
            </a:r>
            <a:r>
              <a:rPr lang="es-ES" sz="1800" dirty="0" err="1"/>
              <a:t>forgery</a:t>
            </a:r>
            <a:r>
              <a:rPr lang="es-ES" sz="1800" dirty="0"/>
              <a:t> (CSRF) pues al no tener una página web, no existe posibilidad de este tipo de ataque.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1800" dirty="0"/>
              <a:t>Habilitar la autenticación básica. </a:t>
            </a:r>
          </a:p>
          <a:p>
            <a:endParaRPr lang="es-PE" sz="1800" dirty="0"/>
          </a:p>
        </p:txBody>
      </p:sp>
      <p:sp>
        <p:nvSpPr>
          <p:cNvPr id="5" name="Google Shape;99;p17">
            <a:extLst>
              <a:ext uri="{FF2B5EF4-FFF2-40B4-BE49-F238E27FC236}">
                <a16:creationId xmlns:a16="http://schemas.microsoft.com/office/drawing/2014/main" id="{2675EB83-C05A-1B70-1A24-8E4A5DFA38A5}"/>
              </a:ext>
            </a:extLst>
          </p:cNvPr>
          <p:cNvSpPr txBox="1"/>
          <p:nvPr/>
        </p:nvSpPr>
        <p:spPr>
          <a:xfrm>
            <a:off x="1189608" y="3100835"/>
            <a:ext cx="9144000" cy="2585293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BBB52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@Bean</a:t>
            </a:r>
            <a:endParaRPr sz="1200" dirty="0">
              <a:solidFill>
                <a:srgbClr val="BBB529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 err="1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SecurityFilterChain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 dirty="0" err="1">
                <a:solidFill>
                  <a:srgbClr val="FFC66D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filterChain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HttpSecurity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http) </a:t>
            </a:r>
            <a:r>
              <a:rPr lang="es-419" sz="1200" dirty="0" err="1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throws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Exception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2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http.sessionManagement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().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sessionCreationPolicy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SessionCreationPolicy.</a:t>
            </a:r>
            <a:r>
              <a:rPr lang="es-419" sz="1200" i="1" dirty="0" err="1">
                <a:solidFill>
                  <a:srgbClr val="9876A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STATELESS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dirty="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http.csrf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().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disable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dirty="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http.httpBasic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dirty="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200" dirty="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http.authorizeHttpRequests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2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.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requestMatchers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2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"/api/</a:t>
            </a:r>
            <a:r>
              <a:rPr lang="es-419" sz="1200" dirty="0" err="1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product</a:t>
            </a:r>
            <a:r>
              <a:rPr lang="es-419" sz="12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authenticated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2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.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anyRequest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().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permitAll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dirty="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 dirty="0" err="1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http.build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dirty="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125671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6F1FA-69A3-685B-1471-202923F68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6464B6-05D7-74C8-C17B-B10524D05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Probando en Postman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A966186-B0F8-803B-3B49-DDA8E33894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5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F452740-3DDC-C83E-18C8-FBB2F62E3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Sin parámetros de autenticación.</a:t>
            </a:r>
          </a:p>
          <a:p>
            <a:endParaRPr lang="es-PE" dirty="0"/>
          </a:p>
        </p:txBody>
      </p:sp>
      <p:pic>
        <p:nvPicPr>
          <p:cNvPr id="5" name="Google Shape;107;p18">
            <a:extLst>
              <a:ext uri="{FF2B5EF4-FFF2-40B4-BE49-F238E27FC236}">
                <a16:creationId xmlns:a16="http://schemas.microsoft.com/office/drawing/2014/main" id="{66FB0D98-4573-D0C3-DBE3-BBF5217C6D1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01922" y="2119638"/>
            <a:ext cx="4429125" cy="32575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92451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C8049-BC0B-1C74-385C-48FA85A69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272E1A-C427-DA28-707F-BA2C947D4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Probando en Postman con Basic Auth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F2F1D2A-AF6F-1A78-7FAA-16971FC894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6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AD17F6C-C3D8-27F0-B131-21AF4E95A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Se configura </a:t>
            </a:r>
            <a:r>
              <a:rPr lang="es-419" b="1" dirty="0" err="1"/>
              <a:t>Authorization</a:t>
            </a:r>
            <a:r>
              <a:rPr lang="es-419" b="1" dirty="0"/>
              <a:t> </a:t>
            </a:r>
            <a:r>
              <a:rPr lang="es-419" dirty="0"/>
              <a:t>y luego </a:t>
            </a:r>
            <a:r>
              <a:rPr lang="es-419" b="1" dirty="0"/>
              <a:t>Basic Auth</a:t>
            </a:r>
            <a:endParaRPr lang="es-PE" dirty="0"/>
          </a:p>
          <a:p>
            <a:endParaRPr lang="es-PE" dirty="0"/>
          </a:p>
        </p:txBody>
      </p:sp>
      <p:pic>
        <p:nvPicPr>
          <p:cNvPr id="5" name="Google Shape;115;p19">
            <a:extLst>
              <a:ext uri="{FF2B5EF4-FFF2-40B4-BE49-F238E27FC236}">
                <a16:creationId xmlns:a16="http://schemas.microsoft.com/office/drawing/2014/main" id="{81E2157B-9BE6-2E28-874C-F8AA274FAE3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52600" y="1843239"/>
            <a:ext cx="8477250" cy="37623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2759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4FB7A18-A451-3582-72D5-EA6A200F9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Consumiendo un servicio protegido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68618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D6FA2-8AD3-B195-1557-798E2F9AB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5D56A8-511B-CA48-6696-E538550D5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Consumir </a:t>
            </a:r>
            <a:r>
              <a:rPr lang="es-ES" dirty="0" err="1"/>
              <a:t>webservice</a:t>
            </a:r>
            <a:r>
              <a:rPr lang="es-ES" dirty="0"/>
              <a:t> protegido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B6955DE-679C-11A0-C8D2-DF71976C7D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8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8A94362-D06E-7159-7DF6-6DE887617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Para consumir un </a:t>
            </a:r>
            <a:r>
              <a:rPr lang="es-ES" b="1" dirty="0"/>
              <a:t>Web Service protegido por Basic Auth</a:t>
            </a:r>
            <a:r>
              <a:rPr lang="es-ES" dirty="0"/>
              <a:t>, utilizamos </a:t>
            </a:r>
            <a:r>
              <a:rPr lang="es-ES" dirty="0" err="1">
                <a:highlight>
                  <a:srgbClr val="C0C0C0"/>
                </a:highlight>
              </a:rPr>
              <a:t>RestTemplate</a:t>
            </a:r>
            <a:r>
              <a:rPr lang="es-ES" dirty="0"/>
              <a:t> para realizar peticiones HTTP. Sin embargo, cuando necesitamos configurar autenticación, usamos </a:t>
            </a:r>
            <a:r>
              <a:rPr lang="es-ES" dirty="0" err="1">
                <a:highlight>
                  <a:srgbClr val="C0C0C0"/>
                </a:highlight>
              </a:rPr>
              <a:t>RestTemplateBuilder</a:t>
            </a:r>
            <a:r>
              <a:rPr lang="es-ES" dirty="0"/>
              <a:t>, que permite:</a:t>
            </a:r>
          </a:p>
          <a:p>
            <a:r>
              <a:rPr lang="es-ES" sz="2000" dirty="0"/>
              <a:t>Configurar credenciales de usuario y contraseña.</a:t>
            </a:r>
          </a:p>
          <a:p>
            <a:r>
              <a:rPr lang="es-ES" sz="2000" dirty="0"/>
              <a:t>Personalizar el </a:t>
            </a:r>
            <a:r>
              <a:rPr lang="es-ES" sz="2000" dirty="0" err="1">
                <a:highlight>
                  <a:srgbClr val="C0C0C0"/>
                </a:highlight>
                <a:latin typeface="Helvetica" pitchFamily="2" charset="0"/>
              </a:rPr>
              <a:t>RestTemplate</a:t>
            </a:r>
            <a:r>
              <a:rPr lang="es-ES" sz="2000" dirty="0"/>
              <a:t> antes de su uso.</a:t>
            </a:r>
          </a:p>
          <a:p>
            <a:r>
              <a:rPr lang="es-ES" sz="2000" dirty="0"/>
              <a:t>Evitar código repetitivo o manual con cabeceras </a:t>
            </a:r>
            <a:r>
              <a:rPr lang="es-ES" sz="2000" dirty="0" err="1">
                <a:highlight>
                  <a:srgbClr val="C0C0C0"/>
                </a:highlight>
              </a:rPr>
              <a:t>HttpHeaders</a:t>
            </a:r>
            <a:r>
              <a:rPr lang="es-ES" sz="2000" dirty="0"/>
              <a:t>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46557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C2208-FB67-7F50-842D-16811FC76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7E5349-155B-3C8F-7298-5813CE505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Consumir </a:t>
            </a:r>
            <a:r>
              <a:rPr lang="es-ES" dirty="0" err="1"/>
              <a:t>webservice</a:t>
            </a:r>
            <a:r>
              <a:rPr lang="es-ES" dirty="0"/>
              <a:t> protegido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4DD61E3-BD14-2176-EEB9-91F34180E4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9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C4AB919-6C30-AD51-3057-6DC796394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/>
              <a:t>[Cliente Java] → </a:t>
            </a:r>
            <a:r>
              <a:rPr lang="es-PE" dirty="0" err="1"/>
              <a:t>RestTemplateBuilder</a:t>
            </a:r>
            <a:r>
              <a:rPr lang="es-PE" dirty="0"/>
              <a:t> → Basic Auth → API REST → Respuesta procesada</a:t>
            </a:r>
          </a:p>
          <a:p>
            <a:endParaRPr lang="es-PE" dirty="0"/>
          </a:p>
        </p:txBody>
      </p:sp>
      <p:sp>
        <p:nvSpPr>
          <p:cNvPr id="5" name="Marcador de número de diapositiva 3">
            <a:extLst>
              <a:ext uri="{FF2B5EF4-FFF2-40B4-BE49-F238E27FC236}">
                <a16:creationId xmlns:a16="http://schemas.microsoft.com/office/drawing/2014/main" id="{6CF71FE9-E73E-44E5-711C-7A77699D0099}"/>
              </a:ext>
            </a:extLst>
          </p:cNvPr>
          <p:cNvSpPr txBox="1">
            <a:spLocks/>
          </p:cNvSpPr>
          <p:nvPr/>
        </p:nvSpPr>
        <p:spPr>
          <a:xfrm>
            <a:off x="11524188" y="5188289"/>
            <a:ext cx="459635" cy="365125"/>
          </a:xfrm>
          <a:prstGeom prst="rect">
            <a:avLst/>
          </a:prstGeom>
        </p:spPr>
        <p:txBody>
          <a:bodyPr/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9</a:t>
            </a:fld>
            <a:endParaRPr lang="es-PE"/>
          </a:p>
        </p:txBody>
      </p:sp>
      <p:pic>
        <p:nvPicPr>
          <p:cNvPr id="6" name="Google Shape;129;p21">
            <a:extLst>
              <a:ext uri="{FF2B5EF4-FFF2-40B4-BE49-F238E27FC236}">
                <a16:creationId xmlns:a16="http://schemas.microsoft.com/office/drawing/2014/main" id="{369BD91B-598F-C7DA-4F78-CAB58DCB253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20044" y="2307054"/>
            <a:ext cx="8118950" cy="243230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D2559974-CFA5-B311-1487-633B433DCE7D}"/>
              </a:ext>
            </a:extLst>
          </p:cNvPr>
          <p:cNvSpPr/>
          <p:nvPr/>
        </p:nvSpPr>
        <p:spPr>
          <a:xfrm>
            <a:off x="3320044" y="2606777"/>
            <a:ext cx="398033" cy="3885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B9DC0660-2A3D-B523-F12E-1BD1833D5D49}"/>
              </a:ext>
            </a:extLst>
          </p:cNvPr>
          <p:cNvSpPr/>
          <p:nvPr/>
        </p:nvSpPr>
        <p:spPr>
          <a:xfrm>
            <a:off x="3320043" y="3328917"/>
            <a:ext cx="398033" cy="3885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2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5041C5FD-D71C-EEEC-1237-A85DDCF4B34E}"/>
              </a:ext>
            </a:extLst>
          </p:cNvPr>
          <p:cNvSpPr/>
          <p:nvPr/>
        </p:nvSpPr>
        <p:spPr>
          <a:xfrm>
            <a:off x="3320044" y="4051057"/>
            <a:ext cx="398033" cy="3885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3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54BA44D-F584-4D7F-68C7-20649341B653}"/>
              </a:ext>
            </a:extLst>
          </p:cNvPr>
          <p:cNvSpPr txBox="1"/>
          <p:nvPr/>
        </p:nvSpPr>
        <p:spPr>
          <a:xfrm>
            <a:off x="490781" y="2693908"/>
            <a:ext cx="28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PE" sz="1200" dirty="0"/>
              <a:t>Crear con autenticación básica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165929F-A525-08E2-2F9A-BA8B1F64E666}"/>
              </a:ext>
            </a:extLst>
          </p:cNvPr>
          <p:cNvSpPr txBox="1"/>
          <p:nvPr/>
        </p:nvSpPr>
        <p:spPr>
          <a:xfrm>
            <a:off x="490782" y="3394299"/>
            <a:ext cx="28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PE" sz="1200" dirty="0"/>
              <a:t>Llamar el servicio protegido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E62C100-62D8-14FA-3136-363E5987C473}"/>
              </a:ext>
            </a:extLst>
          </p:cNvPr>
          <p:cNvSpPr txBox="1"/>
          <p:nvPr/>
        </p:nvSpPr>
        <p:spPr>
          <a:xfrm>
            <a:off x="490781" y="4178933"/>
            <a:ext cx="28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PE" sz="1200" dirty="0"/>
              <a:t>Procesar y retorna la respuesta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D08BF6F-E02D-1564-C72A-1E61506EA1B3}"/>
              </a:ext>
            </a:extLst>
          </p:cNvPr>
          <p:cNvSpPr txBox="1"/>
          <p:nvPr/>
        </p:nvSpPr>
        <p:spPr>
          <a:xfrm>
            <a:off x="880640" y="5082394"/>
            <a:ext cx="7971417" cy="5232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1400" dirty="0" err="1"/>
              <a:t>RestTemplateBuilder</a:t>
            </a:r>
            <a:r>
              <a:rPr lang="es-ES" sz="1400" dirty="0"/>
              <a:t> se usa comúnmente en proyectos </a:t>
            </a:r>
            <a:r>
              <a:rPr lang="es-ES" sz="1400" b="1" dirty="0"/>
              <a:t>Spring Boot</a:t>
            </a:r>
            <a:r>
              <a:rPr lang="es-ES" sz="1400" dirty="0"/>
              <a:t>, donde se inyecta automáticamente y facilita la creación de clientes REST seguros y mantenibles.</a:t>
            </a:r>
            <a:endParaRPr lang="es-PE" sz="1400" dirty="0"/>
          </a:p>
        </p:txBody>
      </p:sp>
    </p:spTree>
    <p:extLst>
      <p:ext uri="{BB962C8B-B14F-4D97-AF65-F5344CB8AC3E}">
        <p14:creationId xmlns:p14="http://schemas.microsoft.com/office/powerpoint/2010/main" val="378430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76C0DD-6556-D20E-84A6-8EFB3F7CD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Ejemplo - RENIC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EB2B382-FEE1-ED82-A68C-5ACC79875B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10</a:t>
            </a:fld>
            <a:endParaRPr lang="es-PE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899869A-6113-0ACA-F18E-0BC1219FC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7610" y="1524083"/>
            <a:ext cx="4054191" cy="325402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50ADFA3-4712-B8E8-51F5-D580E7713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98" y="2522598"/>
            <a:ext cx="4054191" cy="161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702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DBD3D6-13BE-A604-7CF9-6F7B9DCF0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Tips – API </a:t>
            </a:r>
            <a:r>
              <a:rPr lang="es-PE" dirty="0" err="1"/>
              <a:t>Reniec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A0623D9-051C-7299-B386-E7DAC12567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11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BE963DD-8C5C-891E-C71B-C04E24077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2387"/>
            <a:ext cx="10356570" cy="1132226"/>
          </a:xfrm>
        </p:spPr>
        <p:txBody>
          <a:bodyPr/>
          <a:lstStyle/>
          <a:p>
            <a:r>
              <a:rPr lang="es-PE" dirty="0"/>
              <a:t>Crear un DTO para recibir la respuesta del </a:t>
            </a:r>
            <a:r>
              <a:rPr lang="es-PE" dirty="0" err="1"/>
              <a:t>json</a:t>
            </a:r>
            <a:r>
              <a:rPr lang="es-PE" dirty="0"/>
              <a:t>, teniendo la data como un objeto adicional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C25BDAE-8454-AA61-98E7-464878A5C8A4}"/>
              </a:ext>
            </a:extLst>
          </p:cNvPr>
          <p:cNvSpPr txBox="1"/>
          <p:nvPr/>
        </p:nvSpPr>
        <p:spPr>
          <a:xfrm>
            <a:off x="1480344" y="2465294"/>
            <a:ext cx="4536141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Recibes y guardas el JSON</a:t>
            </a:r>
          </a:p>
          <a:p>
            <a:endParaRPr lang="es-PE" dirty="0"/>
          </a:p>
          <a:p>
            <a:r>
              <a:rPr lang="es-PE" sz="1400" dirty="0" err="1"/>
              <a:t>public</a:t>
            </a:r>
            <a:r>
              <a:rPr lang="es-PE" sz="1400" dirty="0"/>
              <a:t> </a:t>
            </a:r>
            <a:r>
              <a:rPr lang="es-PE" sz="1400" dirty="0" err="1"/>
              <a:t>class</a:t>
            </a:r>
            <a:r>
              <a:rPr lang="es-PE" sz="1400" dirty="0"/>
              <a:t> </a:t>
            </a:r>
            <a:r>
              <a:rPr lang="es-PE" sz="1400" dirty="0" err="1"/>
              <a:t>PersonaResponse</a:t>
            </a:r>
            <a:r>
              <a:rPr lang="es-PE" sz="1400" dirty="0"/>
              <a:t> {</a:t>
            </a:r>
            <a:br>
              <a:rPr lang="es-PE" sz="1400" dirty="0"/>
            </a:br>
            <a:r>
              <a:rPr lang="es-PE" sz="1400" dirty="0" err="1"/>
              <a:t>private</a:t>
            </a:r>
            <a:r>
              <a:rPr lang="es-PE" sz="1400" dirty="0"/>
              <a:t> String </a:t>
            </a:r>
            <a:r>
              <a:rPr lang="es-PE" sz="1400" dirty="0" err="1"/>
              <a:t>type</a:t>
            </a:r>
            <a:r>
              <a:rPr lang="es-PE" sz="1400" dirty="0"/>
              <a:t>;</a:t>
            </a:r>
            <a:br>
              <a:rPr lang="es-PE" sz="1400" dirty="0"/>
            </a:br>
            <a:r>
              <a:rPr lang="es-PE" sz="1400" dirty="0" err="1"/>
              <a:t>private</a:t>
            </a:r>
            <a:r>
              <a:rPr lang="es-PE" sz="1400" dirty="0"/>
              <a:t> </a:t>
            </a:r>
            <a:r>
              <a:rPr lang="es-PE" sz="1400" dirty="0" err="1"/>
              <a:t>Integer</a:t>
            </a:r>
            <a:r>
              <a:rPr lang="es-PE" sz="1400" dirty="0"/>
              <a:t> status;</a:t>
            </a:r>
            <a:br>
              <a:rPr lang="es-PE" sz="1400" dirty="0"/>
            </a:br>
            <a:r>
              <a:rPr lang="es-PE" sz="1400" dirty="0" err="1"/>
              <a:t>private</a:t>
            </a:r>
            <a:r>
              <a:rPr lang="es-PE" sz="1400" dirty="0"/>
              <a:t> String </a:t>
            </a:r>
            <a:r>
              <a:rPr lang="es-PE" sz="1400" dirty="0" err="1"/>
              <a:t>message</a:t>
            </a:r>
            <a:r>
              <a:rPr lang="es-PE" sz="1400" dirty="0"/>
              <a:t>;</a:t>
            </a:r>
            <a:br>
              <a:rPr lang="es-PE" sz="1400" dirty="0"/>
            </a:br>
            <a:r>
              <a:rPr lang="es-PE" sz="1400" dirty="0" err="1"/>
              <a:t>private</a:t>
            </a:r>
            <a:r>
              <a:rPr lang="es-PE" sz="1400" dirty="0"/>
              <a:t> </a:t>
            </a:r>
            <a:r>
              <a:rPr lang="es-PE" sz="1400" dirty="0" err="1"/>
              <a:t>PersonaData</a:t>
            </a:r>
            <a:r>
              <a:rPr lang="es-PE" sz="1400" dirty="0"/>
              <a:t> data;</a:t>
            </a:r>
            <a:br>
              <a:rPr lang="es-PE" sz="1400" dirty="0"/>
            </a:br>
            <a:br>
              <a:rPr lang="es-PE" sz="1400" dirty="0"/>
            </a:br>
            <a:r>
              <a:rPr lang="es-PE" sz="1400" dirty="0"/>
              <a:t>// </a:t>
            </a:r>
            <a:r>
              <a:rPr lang="es-PE" sz="1400" dirty="0" err="1"/>
              <a:t>getters</a:t>
            </a:r>
            <a:r>
              <a:rPr lang="es-PE" sz="1400" dirty="0"/>
              <a:t> y </a:t>
            </a:r>
            <a:r>
              <a:rPr lang="es-PE" sz="1400" dirty="0" err="1"/>
              <a:t>setters</a:t>
            </a:r>
            <a:br>
              <a:rPr lang="es-PE" sz="1400" dirty="0"/>
            </a:br>
            <a:r>
              <a:rPr lang="es-PE" sz="1400" dirty="0"/>
              <a:t>}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2618FE2-328A-89AD-F064-80BF053FA040}"/>
              </a:ext>
            </a:extLst>
          </p:cNvPr>
          <p:cNvSpPr txBox="1"/>
          <p:nvPr/>
        </p:nvSpPr>
        <p:spPr>
          <a:xfrm>
            <a:off x="6311152" y="2111351"/>
            <a:ext cx="4760259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Objeto donde guardas la info del mensaje del JSON</a:t>
            </a:r>
          </a:p>
          <a:p>
            <a:r>
              <a:rPr lang="es-PE" sz="1400" dirty="0" err="1"/>
              <a:t>public</a:t>
            </a:r>
            <a:r>
              <a:rPr lang="es-PE" sz="1400" dirty="0"/>
              <a:t> </a:t>
            </a:r>
            <a:r>
              <a:rPr lang="es-PE" sz="1400" dirty="0" err="1"/>
              <a:t>class</a:t>
            </a:r>
            <a:r>
              <a:rPr lang="es-PE" sz="1400" dirty="0"/>
              <a:t> </a:t>
            </a:r>
            <a:r>
              <a:rPr lang="es-PE" sz="1400" dirty="0" err="1"/>
              <a:t>PersonaData</a:t>
            </a:r>
            <a:r>
              <a:rPr lang="es-PE" sz="1400" dirty="0"/>
              <a:t> {</a:t>
            </a:r>
            <a:br>
              <a:rPr lang="es-PE" sz="1400" dirty="0"/>
            </a:br>
            <a:r>
              <a:rPr lang="es-PE" sz="1400" dirty="0"/>
              <a:t>    </a:t>
            </a:r>
            <a:r>
              <a:rPr lang="es-PE" sz="1400" dirty="0" err="1"/>
              <a:t>private</a:t>
            </a:r>
            <a:r>
              <a:rPr lang="es-PE" sz="1400" dirty="0"/>
              <a:t> String dni;</a:t>
            </a:r>
            <a:br>
              <a:rPr lang="es-PE" sz="1400" dirty="0"/>
            </a:br>
            <a:r>
              <a:rPr lang="es-PE" sz="1400" dirty="0"/>
              <a:t>    </a:t>
            </a:r>
            <a:r>
              <a:rPr lang="es-PE" sz="1400" dirty="0" err="1"/>
              <a:t>private</a:t>
            </a:r>
            <a:r>
              <a:rPr lang="es-PE" sz="1400" dirty="0"/>
              <a:t> String nombres;</a:t>
            </a:r>
            <a:br>
              <a:rPr lang="es-PE" sz="1400" dirty="0"/>
            </a:br>
            <a:r>
              <a:rPr lang="es-PE" sz="1400" dirty="0"/>
              <a:t>    </a:t>
            </a:r>
            <a:r>
              <a:rPr lang="es-PE" sz="1400" dirty="0" err="1"/>
              <a:t>private</a:t>
            </a:r>
            <a:r>
              <a:rPr lang="es-PE" sz="1400" dirty="0"/>
              <a:t> String </a:t>
            </a:r>
            <a:r>
              <a:rPr lang="es-PE" sz="1400" dirty="0" err="1"/>
              <a:t>apellido_paterno</a:t>
            </a:r>
            <a:r>
              <a:rPr lang="es-PE" sz="1400" dirty="0"/>
              <a:t>;</a:t>
            </a:r>
            <a:br>
              <a:rPr lang="es-PE" sz="1400" dirty="0"/>
            </a:br>
            <a:r>
              <a:rPr lang="es-PE" sz="1400" dirty="0"/>
              <a:t>    </a:t>
            </a:r>
            <a:r>
              <a:rPr lang="es-PE" sz="1400" dirty="0" err="1"/>
              <a:t>private</a:t>
            </a:r>
            <a:r>
              <a:rPr lang="es-PE" sz="1400" dirty="0"/>
              <a:t> String </a:t>
            </a:r>
            <a:r>
              <a:rPr lang="es-PE" sz="1400" dirty="0" err="1"/>
              <a:t>apellido_materno</a:t>
            </a:r>
            <a:r>
              <a:rPr lang="es-PE" sz="1400" dirty="0"/>
              <a:t>;</a:t>
            </a:r>
            <a:br>
              <a:rPr lang="es-PE" sz="1400" dirty="0"/>
            </a:br>
            <a:r>
              <a:rPr lang="es-PE" sz="1400" dirty="0"/>
              <a:t>    </a:t>
            </a:r>
            <a:r>
              <a:rPr lang="es-PE" sz="1400" dirty="0" err="1"/>
              <a:t>private</a:t>
            </a:r>
            <a:r>
              <a:rPr lang="es-PE" sz="1400" dirty="0"/>
              <a:t> String </a:t>
            </a:r>
            <a:r>
              <a:rPr lang="es-PE" sz="1400" dirty="0" err="1"/>
              <a:t>caracter_verificacion</a:t>
            </a:r>
            <a:r>
              <a:rPr lang="es-PE" sz="1400" dirty="0"/>
              <a:t>;</a:t>
            </a:r>
            <a:br>
              <a:rPr lang="es-PE" sz="1400" dirty="0"/>
            </a:br>
            <a:r>
              <a:rPr lang="es-PE" sz="1400" dirty="0"/>
              <a:t>    </a:t>
            </a:r>
            <a:r>
              <a:rPr lang="es-PE" sz="1400" dirty="0" err="1"/>
              <a:t>private</a:t>
            </a:r>
            <a:r>
              <a:rPr lang="es-PE" sz="1400" dirty="0"/>
              <a:t> String </a:t>
            </a:r>
            <a:r>
              <a:rPr lang="es-PE" sz="1400" dirty="0" err="1"/>
              <a:t>caracter_verificacion_anterior</a:t>
            </a:r>
            <a:r>
              <a:rPr lang="es-PE" sz="1400" dirty="0"/>
              <a:t>;</a:t>
            </a:r>
            <a:br>
              <a:rPr lang="es-PE" sz="1400" dirty="0"/>
            </a:br>
            <a:br>
              <a:rPr lang="es-PE" sz="1400" dirty="0"/>
            </a:br>
            <a:r>
              <a:rPr lang="es-PE" sz="1400" dirty="0"/>
              <a:t>    // </a:t>
            </a:r>
            <a:r>
              <a:rPr lang="es-PE" sz="1400" dirty="0" err="1"/>
              <a:t>getters</a:t>
            </a:r>
            <a:r>
              <a:rPr lang="es-PE" sz="1400" dirty="0"/>
              <a:t> y </a:t>
            </a:r>
            <a:r>
              <a:rPr lang="es-PE" sz="1400" dirty="0" err="1"/>
              <a:t>setters</a:t>
            </a:r>
            <a:br>
              <a:rPr lang="es-PE" sz="1400" dirty="0"/>
            </a:br>
            <a:r>
              <a:rPr lang="es-PE" sz="1400" dirty="0"/>
              <a:t>}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657931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C6FE94-499B-8B29-12E9-9FD9CD4AB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Tips – API Renic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48C067D-FDE6-369E-1854-67B58CE0E3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12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9CB65EF-69C8-FB19-AFF6-8B077E83D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/>
              <a:t>Luego de guardar la data en el segundo DTO</a:t>
            </a:r>
          </a:p>
          <a:p>
            <a:r>
              <a:rPr lang="es-PE" dirty="0"/>
              <a:t>Generar otra clase Java en el </a:t>
            </a:r>
            <a:r>
              <a:rPr lang="es-PE" dirty="0" err="1"/>
              <a:t>package</a:t>
            </a:r>
            <a:r>
              <a:rPr lang="es-PE" dirty="0"/>
              <a:t> </a:t>
            </a:r>
            <a:r>
              <a:rPr lang="es-PE" dirty="0" err="1"/>
              <a:t>security</a:t>
            </a:r>
            <a:r>
              <a:rPr lang="es-PE" dirty="0"/>
              <a:t> solo para la </a:t>
            </a:r>
            <a:r>
              <a:rPr lang="es-PE" dirty="0" err="1"/>
              <a:t>webservice</a:t>
            </a:r>
            <a:r>
              <a:rPr lang="es-PE" dirty="0"/>
              <a:t> de </a:t>
            </a:r>
            <a:r>
              <a:rPr lang="es-PE" dirty="0" err="1"/>
              <a:t>Reniec</a:t>
            </a:r>
            <a:r>
              <a:rPr lang="es-PE" dirty="0"/>
              <a:t>.</a:t>
            </a:r>
          </a:p>
          <a:p>
            <a:pPr lvl="1"/>
            <a:r>
              <a:rPr lang="es-PE" dirty="0"/>
              <a:t>Usar el </a:t>
            </a:r>
            <a:r>
              <a:rPr lang="es-PE" dirty="0" err="1"/>
              <a:t>RestTemplateBuilder</a:t>
            </a:r>
            <a:endParaRPr lang="es-PE" dirty="0"/>
          </a:p>
          <a:p>
            <a:pPr lvl="1"/>
            <a:r>
              <a:rPr lang="es-PE" dirty="0"/>
              <a:t>El API Key colocarlo en el </a:t>
            </a:r>
            <a:r>
              <a:rPr lang="es-PE" dirty="0" err="1"/>
              <a:t>application</a:t>
            </a:r>
            <a:r>
              <a:rPr lang="es-PE" dirty="0"/>
              <a:t> </a:t>
            </a:r>
            <a:r>
              <a:rPr lang="es-PE" dirty="0" err="1"/>
              <a:t>properties</a:t>
            </a:r>
            <a:r>
              <a:rPr lang="es-PE" dirty="0"/>
              <a:t> y luego usarlo en el código de manera referencial.</a:t>
            </a:r>
          </a:p>
          <a:p>
            <a:r>
              <a:rPr lang="es-PE" dirty="0"/>
              <a:t>En el </a:t>
            </a:r>
            <a:r>
              <a:rPr lang="es-PE" dirty="0" err="1"/>
              <a:t>controller</a:t>
            </a:r>
            <a:r>
              <a:rPr lang="es-PE" dirty="0"/>
              <a:t> de usuario o persona, crear el método de guardar con respecto a lo que obtienes del </a:t>
            </a:r>
            <a:r>
              <a:rPr lang="es-PE" dirty="0" err="1"/>
              <a:t>json</a:t>
            </a:r>
            <a:r>
              <a:rPr lang="es-PE" dirty="0"/>
              <a:t> hacia la BD.</a:t>
            </a:r>
          </a:p>
        </p:txBody>
      </p:sp>
    </p:spTree>
    <p:extLst>
      <p:ext uri="{BB962C8B-B14F-4D97-AF65-F5344CB8AC3E}">
        <p14:creationId xmlns:p14="http://schemas.microsoft.com/office/powerpoint/2010/main" val="6792347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1CEE12FC-EFE8-427F-AFDD-10E13BDA9816}"/>
    </a:ext>
  </a:extLst>
</a:theme>
</file>

<file path=ppt/theme/theme2.xml><?xml version="1.0" encoding="utf-8"?>
<a:theme xmlns:a="http://schemas.openxmlformats.org/drawingml/2006/main" name="1_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2968A79A-DB5B-4965-B275-611A9275D097}"/>
    </a:ext>
  </a:extLst>
</a:theme>
</file>

<file path=ppt/theme/theme3.xml><?xml version="1.0" encoding="utf-8"?>
<a:theme xmlns:a="http://schemas.openxmlformats.org/drawingml/2006/main" name="Diseño personalizado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Montserrat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5F575593-E9A2-4645-ABE1-5BD8C9BF19B9}"/>
    </a:ext>
  </a:extLst>
</a:theme>
</file>

<file path=ppt/theme/theme4.xml><?xml version="1.0" encoding="utf-8"?>
<a:theme xmlns:a="http://schemas.openxmlformats.org/drawingml/2006/main" name="Telecom Pucp">
  <a:themeElements>
    <a:clrScheme name="PUCP">
      <a:dk1>
        <a:srgbClr val="191919"/>
      </a:dk1>
      <a:lt1>
        <a:srgbClr val="FFFFFF"/>
      </a:lt1>
      <a:dk2>
        <a:srgbClr val="042354"/>
      </a:dk2>
      <a:lt2>
        <a:srgbClr val="E7EDED"/>
      </a:lt2>
      <a:accent1>
        <a:srgbClr val="2841DD"/>
      </a:accent1>
      <a:accent2>
        <a:srgbClr val="FF9929"/>
      </a:accent2>
      <a:accent3>
        <a:srgbClr val="7F32C8"/>
      </a:accent3>
      <a:accent4>
        <a:srgbClr val="F0AE19"/>
      </a:accent4>
      <a:accent5>
        <a:srgbClr val="0A7BC2"/>
      </a:accent5>
      <a:accent6>
        <a:srgbClr val="16C78E"/>
      </a:accent6>
      <a:hlink>
        <a:srgbClr val="004EA8"/>
      </a:hlink>
      <a:folHlink>
        <a:srgbClr val="C3094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lecom Pucp" id="{04A4479E-36D6-4C66-807A-9F4E8318654E}" vid="{A438D0C6-9502-4DA2-8DE8-05B87C02855A}"/>
    </a:ext>
  </a:extLst>
</a:theme>
</file>

<file path=ppt/theme/theme5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Plantilla_Telecomunicaciones (1)</Template>
  <TotalTime>773</TotalTime>
  <Words>606</Words>
  <Application>Microsoft Office PowerPoint</Application>
  <PresentationFormat>Panorámica</PresentationFormat>
  <Paragraphs>80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12</vt:i4>
      </vt:variant>
    </vt:vector>
  </HeadingPairs>
  <TitlesOfParts>
    <vt:vector size="21" baseType="lpstr">
      <vt:lpstr>Arial</vt:lpstr>
      <vt:lpstr>Courier New</vt:lpstr>
      <vt:lpstr>Helvetica</vt:lpstr>
      <vt:lpstr>Montserrat</vt:lpstr>
      <vt:lpstr>Montserrat Medium</vt:lpstr>
      <vt:lpstr>Tema de Office</vt:lpstr>
      <vt:lpstr>1_Tema de Office</vt:lpstr>
      <vt:lpstr>Diseño personalizado</vt:lpstr>
      <vt:lpstr>Telecom Pucp</vt:lpstr>
      <vt:lpstr>Presentación de PowerPoint</vt:lpstr>
      <vt:lpstr>Servicios Web REST con Spring Boot y Spring Security</vt:lpstr>
      <vt:lpstr>Autenticación básica</vt:lpstr>
      <vt:lpstr>Autenticación básica</vt:lpstr>
      <vt:lpstr>Probando en Postman</vt:lpstr>
      <vt:lpstr>Probando en Postman con Basic Auth</vt:lpstr>
      <vt:lpstr>Consumiendo un servicio protegido</vt:lpstr>
      <vt:lpstr>Consumir webservice protegido</vt:lpstr>
      <vt:lpstr>Consumir webservice protegido</vt:lpstr>
      <vt:lpstr>Ejemplo - RENIC</vt:lpstr>
      <vt:lpstr>Tips – API Reniec</vt:lpstr>
      <vt:lpstr>Tips – API Renic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Orientada a Objetos &amp; Introducción a Java</dc:title>
  <dc:creator>Brenda Tumbalobos</dc:creator>
  <cp:lastModifiedBy>Brenda Tumbalobos Cubas</cp:lastModifiedBy>
  <cp:revision>34</cp:revision>
  <dcterms:created xsi:type="dcterms:W3CDTF">2023-10-28T21:43:03Z</dcterms:created>
  <dcterms:modified xsi:type="dcterms:W3CDTF">2026-06-10T21:31:37Z</dcterms:modified>
</cp:coreProperties>
</file>