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44"/>
  </p:notesMasterIdLst>
  <p:handoutMasterIdLst>
    <p:handoutMasterId r:id="rId45"/>
  </p:handoutMasterIdLst>
  <p:sldIdLst>
    <p:sldId id="387" r:id="rId5"/>
    <p:sldId id="388" r:id="rId6"/>
    <p:sldId id="389" r:id="rId7"/>
    <p:sldId id="390" r:id="rId8"/>
    <p:sldId id="391" r:id="rId9"/>
    <p:sldId id="392" r:id="rId10"/>
    <p:sldId id="355" r:id="rId11"/>
    <p:sldId id="393" r:id="rId12"/>
    <p:sldId id="394" r:id="rId13"/>
    <p:sldId id="395" r:id="rId14"/>
    <p:sldId id="397" r:id="rId15"/>
    <p:sldId id="398" r:id="rId16"/>
    <p:sldId id="361" r:id="rId17"/>
    <p:sldId id="399" r:id="rId18"/>
    <p:sldId id="400" r:id="rId19"/>
    <p:sldId id="410" r:id="rId20"/>
    <p:sldId id="409" r:id="rId21"/>
    <p:sldId id="401" r:id="rId22"/>
    <p:sldId id="367" r:id="rId23"/>
    <p:sldId id="404" r:id="rId24"/>
    <p:sldId id="405" r:id="rId25"/>
    <p:sldId id="411" r:id="rId26"/>
    <p:sldId id="370" r:id="rId27"/>
    <p:sldId id="407" r:id="rId28"/>
    <p:sldId id="408" r:id="rId29"/>
    <p:sldId id="412" r:id="rId30"/>
    <p:sldId id="413" r:id="rId31"/>
    <p:sldId id="414" r:id="rId32"/>
    <p:sldId id="415" r:id="rId33"/>
    <p:sldId id="416" r:id="rId34"/>
    <p:sldId id="417" r:id="rId35"/>
    <p:sldId id="418" r:id="rId36"/>
    <p:sldId id="419" r:id="rId37"/>
    <p:sldId id="420" r:id="rId38"/>
    <p:sldId id="421" r:id="rId39"/>
    <p:sldId id="422" r:id="rId40"/>
    <p:sldId id="423" r:id="rId41"/>
    <p:sldId id="424" r:id="rId42"/>
    <p:sldId id="425" r:id="rId4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ADC"/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1" autoAdjust="0"/>
    <p:restoredTop sz="93792" autoAdjust="0"/>
  </p:normalViewPr>
  <p:slideViewPr>
    <p:cSldViewPr snapToGrid="0" snapToObjects="1">
      <p:cViewPr varScale="1">
        <p:scale>
          <a:sx n="100" d="100"/>
          <a:sy n="100" d="100"/>
        </p:scale>
        <p:origin x="9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Junio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131471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6658845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354982" cy="599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B82F982C-6E71-8AF6-9805-95315C355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893"/>
            <a:ext cx="10356570" cy="402383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75688430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9604932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2579770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6885669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2756424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5015415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0442719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18640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4969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2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api.jquery.com/jQuery.ajax/" TargetMode="Externa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uC0JFON1Z6q1y3uk2broBML3GQWilMgYWW3WHGLLA44" TargetMode="Externa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uC0JFON1Z6q1y3uk2broBML3GQWilMgYWW3WHGLLA44" TargetMode="External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api.jquery.com/jquery.ajax/" TargetMode="Externa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://api.jquery.com/jQuery.get/" TargetMode="Externa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://api.jquery.com/jQuery.post/" TargetMode="Externa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://api.jquery.com/jquery.ajax/" TargetMode="Externa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query/jquery_ref_ajax.asp" TargetMode="External"/><Relationship Id="rId2" Type="http://schemas.openxmlformats.org/officeDocument/2006/relationships/hyperlink" Target="https://api.jquery.com/jquery.ajax/" TargetMode="External"/><Relationship Id="rId1" Type="http://schemas.openxmlformats.org/officeDocument/2006/relationships/slideLayout" Target="../slideLayouts/slideLayout31.xml"/><Relationship Id="rId4" Type="http://schemas.openxmlformats.org/officeDocument/2006/relationships/hyperlink" Target="https://www.w3schools.com/js/js_json_intro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853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DF83F-89C7-9237-AB13-ED3051916E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Ajax con jQuery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A56BD1-A7E4-2D6E-8337-7B00DD5568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924212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7A001-1582-4963-1925-56FF4088E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2"/>
                </a:solidFill>
              </a:rPr>
              <a:t>AJAX</a:t>
            </a:r>
            <a:endParaRPr lang="es-PE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C1B90FE-D48A-75A2-FED9-861EF3F9F2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01CCFF-859E-EEBE-660C-10519CF9F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AJAX (</a:t>
            </a:r>
            <a:r>
              <a:rPr lang="es-ES" sz="2000" dirty="0" err="1"/>
              <a:t>Asynchronous</a:t>
            </a:r>
            <a:r>
              <a:rPr lang="es-ES" sz="2000" dirty="0"/>
              <a:t> JavaScript and XML) es una técnica que permite que una página web interactúe con el servidor sin tener que recargarse por completo.</a:t>
            </a:r>
            <a:br>
              <a:rPr lang="es-ES" sz="2000" dirty="0"/>
            </a:br>
            <a:r>
              <a:rPr lang="es-ES" sz="2000" dirty="0"/>
              <a:t>Esto significa que partes del contenido pueden actualizarse automáticamente mientras el usuario sigue navegando, haciendo que la aplicación sea más rápida, dinámica y amigable.</a:t>
            </a:r>
          </a:p>
          <a:p>
            <a:r>
              <a:rPr lang="es-ES" sz="2000" dirty="0"/>
              <a:t>Con AJAX, el navegador puede enviar y recibir información en segundo plano, lo que mejora la experiencia del usuario al evitar interrupciones.</a:t>
            </a:r>
            <a:br>
              <a:rPr lang="es-ES" sz="2000" dirty="0"/>
            </a:br>
            <a:r>
              <a:rPr lang="es-ES" sz="2000" dirty="0"/>
              <a:t>Para lograrlo, se utiliza JavaScript, que emplea herramientas como el objeto </a:t>
            </a:r>
            <a:r>
              <a:rPr lang="es-ES" sz="2000" dirty="0" err="1"/>
              <a:t>XMLHttpRequest</a:t>
            </a:r>
            <a:r>
              <a:rPr lang="es-ES" sz="2000" dirty="0"/>
              <a:t> o la función </a:t>
            </a:r>
            <a:r>
              <a:rPr lang="es-ES" sz="2000" dirty="0" err="1"/>
              <a:t>fetch</a:t>
            </a:r>
            <a:r>
              <a:rPr lang="es-ES" sz="2000" dirty="0"/>
              <a:t>() para comunicarse con el servidor.</a:t>
            </a:r>
          </a:p>
          <a:p>
            <a:endParaRPr lang="es-PE" sz="2000" dirty="0"/>
          </a:p>
        </p:txBody>
      </p:sp>
      <p:pic>
        <p:nvPicPr>
          <p:cNvPr id="6" name="Google Shape;84;p15">
            <a:extLst>
              <a:ext uri="{FF2B5EF4-FFF2-40B4-BE49-F238E27FC236}">
                <a16:creationId xmlns:a16="http://schemas.microsoft.com/office/drawing/2014/main" id="{7EEEA412-1F46-B5F7-2F75-FCDE37B96C2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17402" y="4181927"/>
            <a:ext cx="2638999" cy="126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2788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344E6-2544-99D8-02E5-FE254EB5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B8C86-2499-7688-62B8-A3BDFB39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Funcionamiento AJAX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72E129D-DB22-7893-2E5A-210BE5D3F4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pic>
        <p:nvPicPr>
          <p:cNvPr id="5" name="Google Shape;91;p16">
            <a:extLst>
              <a:ext uri="{FF2B5EF4-FFF2-40B4-BE49-F238E27FC236}">
                <a16:creationId xmlns:a16="http://schemas.microsoft.com/office/drawing/2014/main" id="{643A1882-CA09-EA87-977D-C0CCDF5AFBD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884" r="7218" b="54740"/>
          <a:stretch/>
        </p:blipFill>
        <p:spPr>
          <a:xfrm>
            <a:off x="1278384" y="1541666"/>
            <a:ext cx="4485349" cy="3225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2;p16">
            <a:extLst>
              <a:ext uri="{FF2B5EF4-FFF2-40B4-BE49-F238E27FC236}">
                <a16:creationId xmlns:a16="http://schemas.microsoft.com/office/drawing/2014/main" id="{512A91FF-D4E1-BD50-1D55-32B8EA2E8A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897" t="49341" r="6564"/>
          <a:stretch/>
        </p:blipFill>
        <p:spPr>
          <a:xfrm>
            <a:off x="5937034" y="1333291"/>
            <a:ext cx="4485349" cy="35444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93;p16">
            <a:extLst>
              <a:ext uri="{FF2B5EF4-FFF2-40B4-BE49-F238E27FC236}">
                <a16:creationId xmlns:a16="http://schemas.microsoft.com/office/drawing/2014/main" id="{046BBF6D-F0E5-A9C9-01B2-08C925460049}"/>
              </a:ext>
            </a:extLst>
          </p:cNvPr>
          <p:cNvCxnSpPr>
            <a:cxnSpLocks/>
          </p:cNvCxnSpPr>
          <p:nvPr/>
        </p:nvCxnSpPr>
        <p:spPr>
          <a:xfrm>
            <a:off x="5850384" y="1118816"/>
            <a:ext cx="0" cy="4253284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6375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14EFF-0F82-D8C2-0914-6864C7A30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9FCED-0EAD-C43B-249F-3454E940F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Funciones Ajax en jQuery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1B0F76E-7B97-2953-837E-E451CD40F3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F88F29-362E-52B1-085F-B33B758FD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Se puede implementar Ajax en </a:t>
            </a:r>
            <a:r>
              <a:rPr lang="es-ES" sz="1800" dirty="0" err="1"/>
              <a:t>javascript</a:t>
            </a:r>
            <a:r>
              <a:rPr lang="es-ES" sz="1800" dirty="0"/>
              <a:t> puro con un código como: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En jQuery, se puede implementar la misma funcionalidad por medio de: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Se utiliza la función “</a:t>
            </a:r>
            <a:r>
              <a:rPr lang="es-ES" sz="1800" dirty="0" err="1"/>
              <a:t>ajax</a:t>
            </a:r>
            <a:r>
              <a:rPr lang="es-ES" sz="1800" dirty="0"/>
              <a:t>”, directamente del elemento $.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Esta función puede recibir un gran número de parámetros, la lista completa en:</a:t>
            </a:r>
          </a:p>
          <a:p>
            <a:pPr lvl="0" indent="-317500">
              <a:spcBef>
                <a:spcPts val="1600"/>
              </a:spcBef>
              <a:buClr>
                <a:srgbClr val="000000"/>
              </a:buClr>
              <a:buSzPts val="1400"/>
              <a:buChar char="●"/>
            </a:pPr>
            <a:r>
              <a:rPr lang="es-ES" sz="1400" i="1" u="sng" dirty="0">
                <a:solidFill>
                  <a:srgbClr val="0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http://api.jquery.com/jQuery.ajax/</a:t>
            </a:r>
            <a:endParaRPr lang="es-ES" sz="1400" i="1" dirty="0">
              <a:solidFill>
                <a:srgbClr val="000000"/>
              </a:solidFill>
            </a:endParaRPr>
          </a:p>
          <a:p>
            <a:endParaRPr lang="es-PE" sz="1800" dirty="0"/>
          </a:p>
        </p:txBody>
      </p:sp>
      <p:pic>
        <p:nvPicPr>
          <p:cNvPr id="6" name="Google Shape;101;p17">
            <a:extLst>
              <a:ext uri="{FF2B5EF4-FFF2-40B4-BE49-F238E27FC236}">
                <a16:creationId xmlns:a16="http://schemas.microsoft.com/office/drawing/2014/main" id="{C53C3E7D-55D0-A1B8-E94E-7D3ED369D82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9067" y="1687476"/>
            <a:ext cx="4406190" cy="862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2;p17">
            <a:extLst>
              <a:ext uri="{FF2B5EF4-FFF2-40B4-BE49-F238E27FC236}">
                <a16:creationId xmlns:a16="http://schemas.microsoft.com/office/drawing/2014/main" id="{13A49476-FC94-7799-FAA0-55DFDCB09A4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1012" y="2990752"/>
            <a:ext cx="4227354" cy="94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3127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10BE7-BA38-BF62-4E8F-FD3059D9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Observación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FD920BF-197E-0218-10EF-DE0A4D5EC0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6DD95D-E65C-5CB0-77BF-5B3D633BE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Las aplicaciones que usan AJAX, se desarrollan en código </a:t>
            </a:r>
            <a:r>
              <a:rPr lang="es-ES" sz="2000" dirty="0" err="1"/>
              <a:t>javascript</a:t>
            </a:r>
            <a:r>
              <a:rPr lang="es-ES" sz="2000" dirty="0"/>
              <a:t>, es decir, se ejecutan en el lado del cliente, independientemente del tipo de servidor donde se esté corriendo (Java, </a:t>
            </a:r>
            <a:r>
              <a:rPr lang="es-ES" sz="2000" dirty="0" err="1"/>
              <a:t>Php</a:t>
            </a:r>
            <a:r>
              <a:rPr lang="es-ES" sz="2000" dirty="0"/>
              <a:t>, Python, </a:t>
            </a:r>
            <a:r>
              <a:rPr lang="es-ES" sz="2000" dirty="0" err="1"/>
              <a:t>Ror</a:t>
            </a:r>
            <a:r>
              <a:rPr lang="es-ES" sz="2000" dirty="0"/>
              <a:t>, </a:t>
            </a:r>
            <a:r>
              <a:rPr lang="es-ES" sz="2000" dirty="0" err="1"/>
              <a:t>etc</a:t>
            </a:r>
            <a:r>
              <a:rPr lang="es-ES" sz="2000" dirty="0"/>
              <a:t>).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Por este motivo, su código </a:t>
            </a:r>
            <a:r>
              <a:rPr lang="es-ES" sz="2000" dirty="0" err="1"/>
              <a:t>javascript</a:t>
            </a:r>
            <a:r>
              <a:rPr lang="es-ES" sz="2000" dirty="0"/>
              <a:t> podría estar montado sobre un archivo con extensión .</a:t>
            </a:r>
            <a:r>
              <a:rPr lang="es-ES" sz="2000" dirty="0" err="1"/>
              <a:t>html</a:t>
            </a:r>
            <a:r>
              <a:rPr lang="es-ES" sz="2000" dirty="0"/>
              <a:t>, .</a:t>
            </a:r>
            <a:r>
              <a:rPr lang="es-ES" sz="2000" dirty="0" err="1"/>
              <a:t>jsp</a:t>
            </a:r>
            <a:r>
              <a:rPr lang="es-ES" sz="2000" dirty="0"/>
              <a:t>, .</a:t>
            </a:r>
            <a:r>
              <a:rPr lang="es-ES" sz="2000" dirty="0" err="1"/>
              <a:t>php</a:t>
            </a:r>
            <a:r>
              <a:rPr lang="es-ES" sz="2000" dirty="0"/>
              <a:t>, etc.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indent="0">
              <a:spcBef>
                <a:spcPts val="1600"/>
              </a:spcBef>
              <a:buNone/>
            </a:pPr>
            <a:r>
              <a:rPr lang="es-ES" sz="2000" b="1" dirty="0"/>
              <a:t>En las clases de AJAX no se analizará el código de los servidores, solo el código del cliente.</a:t>
            </a:r>
            <a:endParaRPr lang="es-ES" sz="2000" dirty="0"/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350812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452FEE6-F38E-A97A-F8F0-574FCE100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AJAX con GET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44876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03B71-41E1-7583-BE50-A7DC817F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1 Ajax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3C2C2C7-2E2C-4A45-46B0-2B59A75B3D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311E72-B6DF-02B8-BCDC-36B00DF9D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obtendrá información del servidor luego que la página ha cargado haciendo clic en un botón:</a:t>
            </a:r>
          </a:p>
          <a:p>
            <a:endParaRPr lang="es-PE" dirty="0"/>
          </a:p>
        </p:txBody>
      </p:sp>
      <p:pic>
        <p:nvPicPr>
          <p:cNvPr id="6" name="Google Shape;130;p21">
            <a:extLst>
              <a:ext uri="{FF2B5EF4-FFF2-40B4-BE49-F238E27FC236}">
                <a16:creationId xmlns:a16="http://schemas.microsoft.com/office/drawing/2014/main" id="{A56B5028-05D4-E898-4470-A0AFE9552D4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35539" y="3689876"/>
            <a:ext cx="8082250" cy="14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1;p21">
            <a:extLst>
              <a:ext uri="{FF2B5EF4-FFF2-40B4-BE49-F238E27FC236}">
                <a16:creationId xmlns:a16="http://schemas.microsoft.com/office/drawing/2014/main" id="{EFC1AA34-EEF6-A633-1B1D-0FE4AA77A367}"/>
              </a:ext>
            </a:extLst>
          </p:cNvPr>
          <p:cNvSpPr/>
          <p:nvPr/>
        </p:nvSpPr>
        <p:spPr>
          <a:xfrm>
            <a:off x="1935539" y="2547325"/>
            <a:ext cx="1032600" cy="4167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HTML</a:t>
            </a:r>
            <a:endParaRPr dirty="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0" name="Google Shape;132;p21">
            <a:extLst>
              <a:ext uri="{FF2B5EF4-FFF2-40B4-BE49-F238E27FC236}">
                <a16:creationId xmlns:a16="http://schemas.microsoft.com/office/drawing/2014/main" id="{24631A57-AB98-A9FC-A4D9-7DE7755041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76724" b="77214"/>
          <a:stretch/>
        </p:blipFill>
        <p:spPr>
          <a:xfrm>
            <a:off x="4740268" y="2556875"/>
            <a:ext cx="2074151" cy="524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5625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CD62E-7983-77D0-0357-B2D3E965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57E61-3540-D3D4-1C92-5D697688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1 Ajax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F9EDA31-DF27-72CC-EE59-5E4ACCB23D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27D3A5-F9BF-8B48-3375-4F9795CAC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La información se encuentra en el documento </a:t>
            </a:r>
            <a:r>
              <a:rPr lang="es-ES" b="1" u="sng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Web-</a:t>
            </a:r>
            <a:r>
              <a:rPr lang="es-ES" b="1" u="sng" dirty="0" err="1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Services</a:t>
            </a:r>
            <a:r>
              <a:rPr lang="es-ES" b="1" u="sng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-ejemplos</a:t>
            </a:r>
            <a:r>
              <a:rPr lang="es-ES" dirty="0"/>
              <a:t>: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 </a:t>
            </a:r>
            <a:r>
              <a:rPr lang="es-ES" sz="2000" dirty="0">
                <a:solidFill>
                  <a:srgbClr val="00796B"/>
                </a:solidFill>
              </a:rPr>
              <a:t>Web Service 1.</a:t>
            </a:r>
          </a:p>
          <a:p>
            <a:pPr marL="0" lvl="0" indent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Se creará una aplicación nueva, en este caso, solo HTML5, pero tenga en cuenta que su código lo puede colocar en el servidor Java de igual forma.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15199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8D170-DE18-7257-7CC7-C473494B3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454342C-F33C-4902-FD47-22F02DFD8D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pic>
        <p:nvPicPr>
          <p:cNvPr id="5" name="Google Shape;148;p23">
            <a:extLst>
              <a:ext uri="{FF2B5EF4-FFF2-40B4-BE49-F238E27FC236}">
                <a16:creationId xmlns:a16="http://schemas.microsoft.com/office/drawing/2014/main" id="{A5EDE7F4-419A-FADD-6B87-4D1E1B0E944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10618" y="1821227"/>
            <a:ext cx="9144000" cy="25714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50;p23">
            <a:extLst>
              <a:ext uri="{FF2B5EF4-FFF2-40B4-BE49-F238E27FC236}">
                <a16:creationId xmlns:a16="http://schemas.microsoft.com/office/drawing/2014/main" id="{FB1C4373-6D65-DD06-00E5-1F162591A721}"/>
              </a:ext>
            </a:extLst>
          </p:cNvPr>
          <p:cNvSpPr/>
          <p:nvPr/>
        </p:nvSpPr>
        <p:spPr>
          <a:xfrm>
            <a:off x="1665893" y="633874"/>
            <a:ext cx="1269300" cy="4167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Javascript</a:t>
            </a:r>
            <a:endParaRPr sz="16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cxnSp>
        <p:nvCxnSpPr>
          <p:cNvPr id="7" name="Google Shape;151;p23">
            <a:extLst>
              <a:ext uri="{FF2B5EF4-FFF2-40B4-BE49-F238E27FC236}">
                <a16:creationId xmlns:a16="http://schemas.microsoft.com/office/drawing/2014/main" id="{9272B6DA-AE8F-6A63-7D86-4C6578982DA9}"/>
              </a:ext>
            </a:extLst>
          </p:cNvPr>
          <p:cNvCxnSpPr>
            <a:stCxn id="12" idx="3"/>
            <a:endCxn id="10" idx="2"/>
          </p:cNvCxnSpPr>
          <p:nvPr/>
        </p:nvCxnSpPr>
        <p:spPr>
          <a:xfrm rot="10800000" flipH="1">
            <a:off x="3643018" y="1179174"/>
            <a:ext cx="4355100" cy="1345800"/>
          </a:xfrm>
          <a:prstGeom prst="curvedConnector2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154;p23">
            <a:extLst>
              <a:ext uri="{FF2B5EF4-FFF2-40B4-BE49-F238E27FC236}">
                <a16:creationId xmlns:a16="http://schemas.microsoft.com/office/drawing/2014/main" id="{5C2FACFB-8A67-82DA-4149-5A8C783D15C3}"/>
              </a:ext>
            </a:extLst>
          </p:cNvPr>
          <p:cNvCxnSpPr>
            <a:stCxn id="13" idx="0"/>
            <a:endCxn id="11" idx="2"/>
          </p:cNvCxnSpPr>
          <p:nvPr/>
        </p:nvCxnSpPr>
        <p:spPr>
          <a:xfrm rot="-5400000">
            <a:off x="8715293" y="1919412"/>
            <a:ext cx="534900" cy="766200"/>
          </a:xfrm>
          <a:prstGeom prst="curvedConnector3">
            <a:avLst>
              <a:gd name="adj1" fmla="val 50008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157;p23">
            <a:extLst>
              <a:ext uri="{FF2B5EF4-FFF2-40B4-BE49-F238E27FC236}">
                <a16:creationId xmlns:a16="http://schemas.microsoft.com/office/drawing/2014/main" id="{A5D5E11C-8861-F932-8505-2078AD1A5571}"/>
              </a:ext>
            </a:extLst>
          </p:cNvPr>
          <p:cNvCxnSpPr>
            <a:stCxn id="15" idx="3"/>
            <a:endCxn id="14" idx="1"/>
          </p:cNvCxnSpPr>
          <p:nvPr/>
        </p:nvCxnSpPr>
        <p:spPr>
          <a:xfrm>
            <a:off x="4314443" y="2947499"/>
            <a:ext cx="2557800" cy="587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153;p23">
            <a:extLst>
              <a:ext uri="{FF2B5EF4-FFF2-40B4-BE49-F238E27FC236}">
                <a16:creationId xmlns:a16="http://schemas.microsoft.com/office/drawing/2014/main" id="{C90599D7-DC86-54F4-65AC-7002EA9B3BF3}"/>
              </a:ext>
            </a:extLst>
          </p:cNvPr>
          <p:cNvSpPr/>
          <p:nvPr/>
        </p:nvSpPr>
        <p:spPr>
          <a:xfrm>
            <a:off x="6693468" y="809974"/>
            <a:ext cx="2609100" cy="3693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</a:rPr>
              <a:t>el método a usar es GET</a:t>
            </a:r>
            <a:endParaRPr sz="1200"/>
          </a:p>
        </p:txBody>
      </p:sp>
      <p:sp>
        <p:nvSpPr>
          <p:cNvPr id="11" name="Google Shape;156;p23">
            <a:extLst>
              <a:ext uri="{FF2B5EF4-FFF2-40B4-BE49-F238E27FC236}">
                <a16:creationId xmlns:a16="http://schemas.microsoft.com/office/drawing/2014/main" id="{79C8046F-5E9D-1844-E9BC-FDDF459A02B0}"/>
              </a:ext>
            </a:extLst>
          </p:cNvPr>
          <p:cNvSpPr/>
          <p:nvPr/>
        </p:nvSpPr>
        <p:spPr>
          <a:xfrm>
            <a:off x="8377018" y="1510274"/>
            <a:ext cx="1977600" cy="5247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</a:rPr>
              <a:t>el URL de destino es una ruta del servidor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" name="Google Shape;152;p23">
            <a:extLst>
              <a:ext uri="{FF2B5EF4-FFF2-40B4-BE49-F238E27FC236}">
                <a16:creationId xmlns:a16="http://schemas.microsoft.com/office/drawing/2014/main" id="{B29D5F9C-1327-A617-1301-B551CBC8FEBA}"/>
              </a:ext>
            </a:extLst>
          </p:cNvPr>
          <p:cNvSpPr/>
          <p:nvPr/>
        </p:nvSpPr>
        <p:spPr>
          <a:xfrm>
            <a:off x="3193018" y="2479974"/>
            <a:ext cx="450000" cy="9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3" name="Google Shape;155;p23">
            <a:extLst>
              <a:ext uri="{FF2B5EF4-FFF2-40B4-BE49-F238E27FC236}">
                <a16:creationId xmlns:a16="http://schemas.microsoft.com/office/drawing/2014/main" id="{0293B9C3-CA7A-72DF-480F-4B7DF0CF3897}"/>
              </a:ext>
            </a:extLst>
          </p:cNvPr>
          <p:cNvSpPr/>
          <p:nvPr/>
        </p:nvSpPr>
        <p:spPr>
          <a:xfrm>
            <a:off x="8374643" y="2569962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4" name="Google Shape;159;p23">
            <a:extLst>
              <a:ext uri="{FF2B5EF4-FFF2-40B4-BE49-F238E27FC236}">
                <a16:creationId xmlns:a16="http://schemas.microsoft.com/office/drawing/2014/main" id="{292A7061-D18C-0254-3667-094DE74D3E25}"/>
              </a:ext>
            </a:extLst>
          </p:cNvPr>
          <p:cNvSpPr/>
          <p:nvPr/>
        </p:nvSpPr>
        <p:spPr>
          <a:xfrm>
            <a:off x="6872243" y="3065762"/>
            <a:ext cx="3454800" cy="938100"/>
          </a:xfrm>
          <a:prstGeom prst="roundRect">
            <a:avLst>
              <a:gd name="adj" fmla="val 8565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</a:rPr>
              <a:t>La función “done” se ejecuta cuando la solicitud ajax finaliza. La información enviada en la respuesta del servidor se almacena en la variable </a:t>
            </a:r>
            <a:r>
              <a:rPr lang="es-419" sz="1200" b="1" i="1">
                <a:solidFill>
                  <a:srgbClr val="FFFFFF"/>
                </a:solidFill>
              </a:rPr>
              <a:t>msg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5" name="Google Shape;158;p23">
            <a:extLst>
              <a:ext uri="{FF2B5EF4-FFF2-40B4-BE49-F238E27FC236}">
                <a16:creationId xmlns:a16="http://schemas.microsoft.com/office/drawing/2014/main" id="{97596981-1C67-D5CB-51CF-21CE534C1B07}"/>
              </a:ext>
            </a:extLst>
          </p:cNvPr>
          <p:cNvSpPr/>
          <p:nvPr/>
        </p:nvSpPr>
        <p:spPr>
          <a:xfrm>
            <a:off x="3864443" y="2857499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6" name="Google Shape;160;p23">
            <a:extLst>
              <a:ext uri="{FF2B5EF4-FFF2-40B4-BE49-F238E27FC236}">
                <a16:creationId xmlns:a16="http://schemas.microsoft.com/office/drawing/2014/main" id="{3829474F-7065-411C-85B0-AC1A4A1D6753}"/>
              </a:ext>
            </a:extLst>
          </p:cNvPr>
          <p:cNvSpPr/>
          <p:nvPr/>
        </p:nvSpPr>
        <p:spPr>
          <a:xfrm>
            <a:off x="4471743" y="4815024"/>
            <a:ext cx="3293700" cy="822900"/>
          </a:xfrm>
          <a:prstGeom prst="roundRect">
            <a:avLst>
              <a:gd name="adj" fmla="val 8565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</a:rPr>
              <a:t>La función “fail” se ejecuta cuando sucede un error con la solicitud AJAX. El error se almacena en la variable </a:t>
            </a:r>
            <a:r>
              <a:rPr lang="es-419" sz="1200" b="1">
                <a:solidFill>
                  <a:srgbClr val="FFFFFF"/>
                </a:solidFill>
              </a:rPr>
              <a:t>err</a:t>
            </a:r>
            <a:endParaRPr sz="1200" b="1">
              <a:solidFill>
                <a:srgbClr val="FFFFFF"/>
              </a:solidFill>
            </a:endParaRPr>
          </a:p>
        </p:txBody>
      </p:sp>
      <p:cxnSp>
        <p:nvCxnSpPr>
          <p:cNvPr id="17" name="Google Shape;161;p23">
            <a:extLst>
              <a:ext uri="{FF2B5EF4-FFF2-40B4-BE49-F238E27FC236}">
                <a16:creationId xmlns:a16="http://schemas.microsoft.com/office/drawing/2014/main" id="{827F1D3D-7911-E7AB-65A8-8923F7574D8C}"/>
              </a:ext>
            </a:extLst>
          </p:cNvPr>
          <p:cNvCxnSpPr>
            <a:stCxn id="18" idx="3"/>
            <a:endCxn id="16" idx="0"/>
          </p:cNvCxnSpPr>
          <p:nvPr/>
        </p:nvCxnSpPr>
        <p:spPr>
          <a:xfrm>
            <a:off x="4030668" y="3334337"/>
            <a:ext cx="2088000" cy="1480800"/>
          </a:xfrm>
          <a:prstGeom prst="curvedConnector2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162;p23">
            <a:extLst>
              <a:ext uri="{FF2B5EF4-FFF2-40B4-BE49-F238E27FC236}">
                <a16:creationId xmlns:a16="http://schemas.microsoft.com/office/drawing/2014/main" id="{367A10A7-996A-83CF-DFC1-EC1BF6815CF0}"/>
              </a:ext>
            </a:extLst>
          </p:cNvPr>
          <p:cNvSpPr/>
          <p:nvPr/>
        </p:nvSpPr>
        <p:spPr>
          <a:xfrm>
            <a:off x="3580668" y="3244337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19" name="Google Shape;163;p23">
            <a:extLst>
              <a:ext uri="{FF2B5EF4-FFF2-40B4-BE49-F238E27FC236}">
                <a16:creationId xmlns:a16="http://schemas.microsoft.com/office/drawing/2014/main" id="{122DADEB-4302-63D6-93F4-86896C60F1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17" y="48733"/>
            <a:ext cx="4121783" cy="7021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8929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72321-F615-9DB2-0E2C-353E9892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A520F-C462-B273-2BE5-F88F2784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Probando: La solicitud es exitosa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5EE2DA3-2941-D0D7-48EE-9A9231D0D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65FA25-C81F-A240-6C48-E4F9C1D18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En el inspector de </a:t>
            </a:r>
            <a:r>
              <a:rPr lang="es-419" dirty="0" err="1"/>
              <a:t>google</a:t>
            </a:r>
            <a:r>
              <a:rPr lang="es-419" dirty="0"/>
              <a:t> </a:t>
            </a:r>
            <a:r>
              <a:rPr lang="es-419" dirty="0" err="1"/>
              <a:t>chrome</a:t>
            </a:r>
            <a:endParaRPr lang="es-419" dirty="0"/>
          </a:p>
          <a:p>
            <a:endParaRPr lang="es-PE" dirty="0"/>
          </a:p>
        </p:txBody>
      </p:sp>
      <p:pic>
        <p:nvPicPr>
          <p:cNvPr id="5" name="Google Shape;168;p24">
            <a:extLst>
              <a:ext uri="{FF2B5EF4-FFF2-40B4-BE49-F238E27FC236}">
                <a16:creationId xmlns:a16="http://schemas.microsoft.com/office/drawing/2014/main" id="{41F8541A-533A-C05E-0FA8-2F4A53677F2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7614"/>
          <a:stretch/>
        </p:blipFill>
        <p:spPr>
          <a:xfrm>
            <a:off x="1952188" y="2495658"/>
            <a:ext cx="7935423" cy="22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0;p24">
            <a:extLst>
              <a:ext uri="{FF2B5EF4-FFF2-40B4-BE49-F238E27FC236}">
                <a16:creationId xmlns:a16="http://schemas.microsoft.com/office/drawing/2014/main" id="{1B6CCFA9-483B-5BFD-2F81-11B04A2C7CE6}"/>
              </a:ext>
            </a:extLst>
          </p:cNvPr>
          <p:cNvSpPr/>
          <p:nvPr/>
        </p:nvSpPr>
        <p:spPr>
          <a:xfrm rot="-2260289">
            <a:off x="4742925" y="2267040"/>
            <a:ext cx="407440" cy="341134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7" name="Google Shape;171;p24">
            <a:extLst>
              <a:ext uri="{FF2B5EF4-FFF2-40B4-BE49-F238E27FC236}">
                <a16:creationId xmlns:a16="http://schemas.microsoft.com/office/drawing/2014/main" id="{87848761-ABFC-5A1B-DBD7-FADCFE5D6FD1}"/>
              </a:ext>
            </a:extLst>
          </p:cNvPr>
          <p:cNvSpPr/>
          <p:nvPr/>
        </p:nvSpPr>
        <p:spPr>
          <a:xfrm rot="-2260289">
            <a:off x="4663875" y="2786040"/>
            <a:ext cx="407440" cy="341134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" name="Google Shape;173;p24">
            <a:extLst>
              <a:ext uri="{FF2B5EF4-FFF2-40B4-BE49-F238E27FC236}">
                <a16:creationId xmlns:a16="http://schemas.microsoft.com/office/drawing/2014/main" id="{42CE7F8B-429B-D024-AB5F-4296C134E303}"/>
              </a:ext>
            </a:extLst>
          </p:cNvPr>
          <p:cNvSpPr/>
          <p:nvPr/>
        </p:nvSpPr>
        <p:spPr>
          <a:xfrm>
            <a:off x="8298525" y="3844233"/>
            <a:ext cx="2150400" cy="5724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</a:rPr>
              <a:t>Una respuesta http exitosa siempre es 200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9" name="Google Shape;174;p24">
            <a:extLst>
              <a:ext uri="{FF2B5EF4-FFF2-40B4-BE49-F238E27FC236}">
                <a16:creationId xmlns:a16="http://schemas.microsoft.com/office/drawing/2014/main" id="{8441A8F9-4897-4E2A-EC74-83BF3C3811A9}"/>
              </a:ext>
            </a:extLst>
          </p:cNvPr>
          <p:cNvCxnSpPr>
            <a:stCxn id="8" idx="1"/>
          </p:cNvCxnSpPr>
          <p:nvPr/>
        </p:nvCxnSpPr>
        <p:spPr>
          <a:xfrm rot="10800000">
            <a:off x="5291025" y="4034733"/>
            <a:ext cx="3007500" cy="9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44003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5C055-7489-0B16-3B1D-1AC8AD2C1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A684E3-8DB4-B607-2DB7-ECFA7C6A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 en la página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07D0F2A-494A-AE2E-A273-23384A186F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pic>
        <p:nvPicPr>
          <p:cNvPr id="6" name="Google Shape;190;p26">
            <a:extLst>
              <a:ext uri="{FF2B5EF4-FFF2-40B4-BE49-F238E27FC236}">
                <a16:creationId xmlns:a16="http://schemas.microsoft.com/office/drawing/2014/main" id="{2EF3BA07-19EB-8333-CFE4-63A2E50B452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57462" y="2514600"/>
            <a:ext cx="7077075" cy="1828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8268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6724C5-1B75-3B47-BDB7-29ADBBDDCBD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02B9C9-39DA-C2B4-85A9-84DB459357B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7103E6-5619-F367-B722-EC9C2A3332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8994" y="6139498"/>
            <a:ext cx="459635" cy="365125"/>
          </a:xfrm>
        </p:spPr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9286869-77F6-D14C-147A-83239B00E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AJAX con POST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58923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C3DF-2D37-0AD6-64E1-2A30EE8B8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2FF53-BBA0-92A2-CF4E-1D703675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Envío de información con POST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F1631D-461E-9490-4DDD-1E7E290017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A3BD9B-7D34-8A7E-1706-0FADF6A6C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También es posible intercambiar información entre el cliente y el servidor mediante el método POST.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b="1" dirty="0"/>
              <a:t>Ejemplo</a:t>
            </a:r>
            <a:r>
              <a:rPr lang="es-ES" dirty="0"/>
              <a:t>: Se tendrá un campo donde la persona deberá digitar su nombre de usuario. El WebService validará si el nombre de usuario ya existe previamente o no.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En el documento </a:t>
            </a:r>
            <a:r>
              <a:rPr lang="es-ES" b="1" u="sng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Web-</a:t>
            </a:r>
            <a:r>
              <a:rPr lang="es-ES" b="1" u="sng" dirty="0" err="1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Services</a:t>
            </a:r>
            <a:r>
              <a:rPr lang="es-ES" b="1" u="sng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-ejemplos</a:t>
            </a:r>
            <a:r>
              <a:rPr lang="es-ES" dirty="0"/>
              <a:t>: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 </a:t>
            </a:r>
            <a:r>
              <a:rPr lang="es-ES" sz="2000" dirty="0">
                <a:solidFill>
                  <a:srgbClr val="00796B"/>
                </a:solidFill>
              </a:rPr>
              <a:t>Web Service 2.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6509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9074-742E-C927-E6CC-8682376B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72D2CB3-5054-EF9F-82BE-76A96DFF9D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6" name="Google Shape;209;p29">
            <a:extLst>
              <a:ext uri="{FF2B5EF4-FFF2-40B4-BE49-F238E27FC236}">
                <a16:creationId xmlns:a16="http://schemas.microsoft.com/office/drawing/2014/main" id="{8E3CBFDA-8CCC-9FD0-AD9F-F010AC0432B0}"/>
              </a:ext>
            </a:extLst>
          </p:cNvPr>
          <p:cNvSpPr/>
          <p:nvPr/>
        </p:nvSpPr>
        <p:spPr>
          <a:xfrm>
            <a:off x="1210106" y="1231214"/>
            <a:ext cx="1032600" cy="4167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HTML</a:t>
            </a:r>
            <a:endParaRPr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8" name="Google Shape;210;p29">
            <a:extLst>
              <a:ext uri="{FF2B5EF4-FFF2-40B4-BE49-F238E27FC236}">
                <a16:creationId xmlns:a16="http://schemas.microsoft.com/office/drawing/2014/main" id="{D0F85D09-C31C-9349-AD77-D7EC4608061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19013" y="3610733"/>
            <a:ext cx="3205175" cy="1765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11;p29">
            <a:extLst>
              <a:ext uri="{FF2B5EF4-FFF2-40B4-BE49-F238E27FC236}">
                <a16:creationId xmlns:a16="http://schemas.microsoft.com/office/drawing/2014/main" id="{5CFF0160-6A04-0579-F77F-CF221E2A347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1736" y="1323975"/>
            <a:ext cx="7839075" cy="2105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1407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E3910-2263-3BB1-9DD2-238657FE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2F03392-BC49-9255-3A96-2307626759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pic>
        <p:nvPicPr>
          <p:cNvPr id="5" name="Google Shape;216;p30">
            <a:extLst>
              <a:ext uri="{FF2B5EF4-FFF2-40B4-BE49-F238E27FC236}">
                <a16:creationId xmlns:a16="http://schemas.microsoft.com/office/drawing/2014/main" id="{CD4A75DB-3F8C-D3FC-4CDA-902EF668BF0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96140" y="1436317"/>
            <a:ext cx="9144000" cy="412834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18;p30">
            <a:extLst>
              <a:ext uri="{FF2B5EF4-FFF2-40B4-BE49-F238E27FC236}">
                <a16:creationId xmlns:a16="http://schemas.microsoft.com/office/drawing/2014/main" id="{09BF44B8-CF67-03CA-8BD5-9DE765DD7671}"/>
              </a:ext>
            </a:extLst>
          </p:cNvPr>
          <p:cNvSpPr/>
          <p:nvPr/>
        </p:nvSpPr>
        <p:spPr>
          <a:xfrm>
            <a:off x="1593040" y="426214"/>
            <a:ext cx="1269300" cy="4167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Javascript</a:t>
            </a:r>
            <a:endParaRPr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cxnSp>
        <p:nvCxnSpPr>
          <p:cNvPr id="7" name="Google Shape;219;p30">
            <a:extLst>
              <a:ext uri="{FF2B5EF4-FFF2-40B4-BE49-F238E27FC236}">
                <a16:creationId xmlns:a16="http://schemas.microsoft.com/office/drawing/2014/main" id="{1AC259B4-F472-F793-4E83-8904144319A2}"/>
              </a:ext>
            </a:extLst>
          </p:cNvPr>
          <p:cNvCxnSpPr>
            <a:stCxn id="9" idx="3"/>
            <a:endCxn id="8" idx="1"/>
          </p:cNvCxnSpPr>
          <p:nvPr/>
        </p:nvCxnSpPr>
        <p:spPr>
          <a:xfrm rot="10800000" flipH="1">
            <a:off x="4319740" y="1027639"/>
            <a:ext cx="3564300" cy="15363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221;p30">
            <a:extLst>
              <a:ext uri="{FF2B5EF4-FFF2-40B4-BE49-F238E27FC236}">
                <a16:creationId xmlns:a16="http://schemas.microsoft.com/office/drawing/2014/main" id="{0FC9E5AD-4046-EFA4-8E2A-D87A04254457}"/>
              </a:ext>
            </a:extLst>
          </p:cNvPr>
          <p:cNvSpPr/>
          <p:nvPr/>
        </p:nvSpPr>
        <p:spPr>
          <a:xfrm>
            <a:off x="7884140" y="842914"/>
            <a:ext cx="2510100" cy="3693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</a:rPr>
              <a:t>el método a usar es POST</a:t>
            </a:r>
            <a:endParaRPr sz="1400"/>
          </a:p>
        </p:txBody>
      </p:sp>
      <p:sp>
        <p:nvSpPr>
          <p:cNvPr id="9" name="Google Shape;220;p30">
            <a:extLst>
              <a:ext uri="{FF2B5EF4-FFF2-40B4-BE49-F238E27FC236}">
                <a16:creationId xmlns:a16="http://schemas.microsoft.com/office/drawing/2014/main" id="{7129D1D7-BD58-E1E3-5A50-EFD656B27836}"/>
              </a:ext>
            </a:extLst>
          </p:cNvPr>
          <p:cNvSpPr/>
          <p:nvPr/>
        </p:nvSpPr>
        <p:spPr>
          <a:xfrm>
            <a:off x="3869740" y="2473939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cxnSp>
        <p:nvCxnSpPr>
          <p:cNvPr id="10" name="Google Shape;222;p30">
            <a:extLst>
              <a:ext uri="{FF2B5EF4-FFF2-40B4-BE49-F238E27FC236}">
                <a16:creationId xmlns:a16="http://schemas.microsoft.com/office/drawing/2014/main" id="{503F0D34-8715-B015-1FC6-B589A7458278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 rot="10800000" flipH="1">
            <a:off x="6517590" y="2035627"/>
            <a:ext cx="1366500" cy="708300"/>
          </a:xfrm>
          <a:prstGeom prst="curvedConnector3">
            <a:avLst>
              <a:gd name="adj1" fmla="val 49998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24;p30">
            <a:extLst>
              <a:ext uri="{FF2B5EF4-FFF2-40B4-BE49-F238E27FC236}">
                <a16:creationId xmlns:a16="http://schemas.microsoft.com/office/drawing/2014/main" id="{10CA365F-3C46-C104-E518-FB1FE2AEE462}"/>
              </a:ext>
            </a:extLst>
          </p:cNvPr>
          <p:cNvSpPr/>
          <p:nvPr/>
        </p:nvSpPr>
        <p:spPr>
          <a:xfrm>
            <a:off x="7884040" y="1501963"/>
            <a:ext cx="2510100" cy="10674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</a:rPr>
              <a:t>La información se envía a través del parámetro data, en formato JSON: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</a:rPr>
              <a:t>{llave: valor, llave: valor, … }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12" name="Google Shape;223;p30">
            <a:extLst>
              <a:ext uri="{FF2B5EF4-FFF2-40B4-BE49-F238E27FC236}">
                <a16:creationId xmlns:a16="http://schemas.microsoft.com/office/drawing/2014/main" id="{6D21E418-EEB2-30A6-5411-5F8724182FC9}"/>
              </a:ext>
            </a:extLst>
          </p:cNvPr>
          <p:cNvSpPr/>
          <p:nvPr/>
        </p:nvSpPr>
        <p:spPr>
          <a:xfrm>
            <a:off x="6067590" y="2653927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3" name="Google Shape;225;p30">
            <a:extLst>
              <a:ext uri="{FF2B5EF4-FFF2-40B4-BE49-F238E27FC236}">
                <a16:creationId xmlns:a16="http://schemas.microsoft.com/office/drawing/2014/main" id="{B3155942-AA74-5D1F-881D-8301BB151584}"/>
              </a:ext>
            </a:extLst>
          </p:cNvPr>
          <p:cNvSpPr/>
          <p:nvPr/>
        </p:nvSpPr>
        <p:spPr>
          <a:xfrm>
            <a:off x="7531640" y="4324089"/>
            <a:ext cx="2862600" cy="8082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</a:rPr>
              <a:t>El servidor responde “existe” o “no existe” si el nombre de usuario está disponible o no.</a:t>
            </a:r>
            <a:endParaRPr sz="1400">
              <a:solidFill>
                <a:srgbClr val="FFFFFF"/>
              </a:solidFill>
            </a:endParaRPr>
          </a:p>
        </p:txBody>
      </p:sp>
      <p:cxnSp>
        <p:nvCxnSpPr>
          <p:cNvPr id="14" name="Google Shape;226;p30">
            <a:extLst>
              <a:ext uri="{FF2B5EF4-FFF2-40B4-BE49-F238E27FC236}">
                <a16:creationId xmlns:a16="http://schemas.microsoft.com/office/drawing/2014/main" id="{7EB1EBFA-A1DC-9F4D-3B54-0D94866656D7}"/>
              </a:ext>
            </a:extLst>
          </p:cNvPr>
          <p:cNvCxnSpPr>
            <a:stCxn id="15" idx="3"/>
            <a:endCxn id="13" idx="0"/>
          </p:cNvCxnSpPr>
          <p:nvPr/>
        </p:nvCxnSpPr>
        <p:spPr>
          <a:xfrm>
            <a:off x="5418115" y="3406902"/>
            <a:ext cx="3544800" cy="917100"/>
          </a:xfrm>
          <a:prstGeom prst="curvedConnector2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227;p30">
            <a:extLst>
              <a:ext uri="{FF2B5EF4-FFF2-40B4-BE49-F238E27FC236}">
                <a16:creationId xmlns:a16="http://schemas.microsoft.com/office/drawing/2014/main" id="{18FC1557-ED2F-DCB9-CA07-52C9CEF41A9C}"/>
              </a:ext>
            </a:extLst>
          </p:cNvPr>
          <p:cNvSpPr/>
          <p:nvPr/>
        </p:nvSpPr>
        <p:spPr>
          <a:xfrm>
            <a:off x="4968115" y="3316902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159495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52BD3-A9DD-419F-5479-F1FD29EF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721C527-13F5-684E-38CF-3571AA2FAC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17</a:t>
            </a:fld>
            <a:endParaRPr lang="es-PE"/>
          </a:p>
        </p:txBody>
      </p:sp>
      <p:pic>
        <p:nvPicPr>
          <p:cNvPr id="6" name="Google Shape;232;p31">
            <a:extLst>
              <a:ext uri="{FF2B5EF4-FFF2-40B4-BE49-F238E27FC236}">
                <a16:creationId xmlns:a16="http://schemas.microsoft.com/office/drawing/2014/main" id="{8821FB2E-FC5A-1786-3F22-3B375E24B39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91255" y="740481"/>
            <a:ext cx="8495745" cy="4745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33;p31">
            <a:extLst>
              <a:ext uri="{FF2B5EF4-FFF2-40B4-BE49-F238E27FC236}">
                <a16:creationId xmlns:a16="http://schemas.microsoft.com/office/drawing/2014/main" id="{6BCFD711-7982-7A05-90EC-26D179F835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78046"/>
          <a:stretch/>
        </p:blipFill>
        <p:spPr>
          <a:xfrm>
            <a:off x="3573605" y="740481"/>
            <a:ext cx="5835050" cy="9592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35;p31">
            <a:extLst>
              <a:ext uri="{FF2B5EF4-FFF2-40B4-BE49-F238E27FC236}">
                <a16:creationId xmlns:a16="http://schemas.microsoft.com/office/drawing/2014/main" id="{EDA79DAC-EC6D-3993-773B-62C7785F79B3}"/>
              </a:ext>
            </a:extLst>
          </p:cNvPr>
          <p:cNvSpPr/>
          <p:nvPr/>
        </p:nvSpPr>
        <p:spPr>
          <a:xfrm>
            <a:off x="559573" y="191418"/>
            <a:ext cx="1846200" cy="4167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En el Inspector</a:t>
            </a:r>
            <a:endParaRPr dirty="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2" name="Google Shape;236;p31">
            <a:extLst>
              <a:ext uri="{FF2B5EF4-FFF2-40B4-BE49-F238E27FC236}">
                <a16:creationId xmlns:a16="http://schemas.microsoft.com/office/drawing/2014/main" id="{B36A3DFF-D495-C185-0A8A-09555248D87F}"/>
              </a:ext>
            </a:extLst>
          </p:cNvPr>
          <p:cNvSpPr/>
          <p:nvPr/>
        </p:nvSpPr>
        <p:spPr>
          <a:xfrm>
            <a:off x="5015100" y="5199289"/>
            <a:ext cx="1080900" cy="341100"/>
          </a:xfrm>
          <a:prstGeom prst="leftArrow">
            <a:avLst>
              <a:gd name="adj1" fmla="val 50000"/>
              <a:gd name="adj2" fmla="val 58182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37;p31">
            <a:extLst>
              <a:ext uri="{FF2B5EF4-FFF2-40B4-BE49-F238E27FC236}">
                <a16:creationId xmlns:a16="http://schemas.microsoft.com/office/drawing/2014/main" id="{55F5CA20-D0AD-1714-664E-A046D7FF3A2C}"/>
              </a:ext>
            </a:extLst>
          </p:cNvPr>
          <p:cNvSpPr/>
          <p:nvPr/>
        </p:nvSpPr>
        <p:spPr>
          <a:xfrm>
            <a:off x="4540050" y="4817197"/>
            <a:ext cx="1080900" cy="341100"/>
          </a:xfrm>
          <a:prstGeom prst="leftArrow">
            <a:avLst>
              <a:gd name="adj1" fmla="val 50000"/>
              <a:gd name="adj2" fmla="val 58182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4678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8B6C4-49BC-4F42-79ED-555BB440C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B46A1F5-E826-232F-29DD-B0DB070BAF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6" name="Google Shape;243;p32">
            <a:extLst>
              <a:ext uri="{FF2B5EF4-FFF2-40B4-BE49-F238E27FC236}">
                <a16:creationId xmlns:a16="http://schemas.microsoft.com/office/drawing/2014/main" id="{DAB928C9-2327-469B-E0F4-F8A920204A5C}"/>
              </a:ext>
            </a:extLst>
          </p:cNvPr>
          <p:cNvSpPr/>
          <p:nvPr/>
        </p:nvSpPr>
        <p:spPr>
          <a:xfrm>
            <a:off x="2186960" y="1140280"/>
            <a:ext cx="1846200" cy="4167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En el Inspector</a:t>
            </a:r>
            <a:endParaRPr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8" name="Google Shape;244;p32">
            <a:extLst>
              <a:ext uri="{FF2B5EF4-FFF2-40B4-BE49-F238E27FC236}">
                <a16:creationId xmlns:a16="http://schemas.microsoft.com/office/drawing/2014/main" id="{8770CF94-72FA-7D89-35F7-F1A94223755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6635" y="2113118"/>
            <a:ext cx="6105525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45;p32">
            <a:extLst>
              <a:ext uri="{FF2B5EF4-FFF2-40B4-BE49-F238E27FC236}">
                <a16:creationId xmlns:a16="http://schemas.microsoft.com/office/drawing/2014/main" id="{03757E2A-45EE-5384-12BB-7E945F432809}"/>
              </a:ext>
            </a:extLst>
          </p:cNvPr>
          <p:cNvSpPr/>
          <p:nvPr/>
        </p:nvSpPr>
        <p:spPr>
          <a:xfrm>
            <a:off x="6368255" y="2417830"/>
            <a:ext cx="1080900" cy="341100"/>
          </a:xfrm>
          <a:prstGeom prst="leftArrow">
            <a:avLst>
              <a:gd name="adj1" fmla="val 50000"/>
              <a:gd name="adj2" fmla="val 58182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506200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4068AA0-027F-79A3-C2D1-63A62565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 cortos para $.</a:t>
            </a:r>
            <a:r>
              <a:rPr lang="es-ES" dirty="0" err="1"/>
              <a:t>ajax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58875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95891-C242-8CD9-0BE6-643073535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9F2FA-234F-8341-B577-8D8E35348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Versiones resumidas $.GET / $.POST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6EA0BF-2762-1EA5-5F69-D3DB177799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CD31CF-3544-5671-E2DF-175EE5FFA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La función $.</a:t>
            </a:r>
            <a:r>
              <a:rPr lang="es-ES" sz="2000" dirty="0" err="1"/>
              <a:t>ajax</a:t>
            </a:r>
            <a:r>
              <a:rPr lang="es-ES" sz="2000" dirty="0"/>
              <a:t> soporta un gran número de parámetros de configuración, que se pueden ver en el siguiente enlace:</a:t>
            </a:r>
          </a:p>
          <a:p>
            <a:pPr lvl="0" indent="-317500">
              <a:spcBef>
                <a:spcPts val="1600"/>
              </a:spcBef>
              <a:buSzPts val="1400"/>
              <a:buChar char="●"/>
            </a:pPr>
            <a:r>
              <a:rPr lang="es-ES" sz="1600" i="1" u="sng" dirty="0">
                <a:solidFill>
                  <a:schemeClr val="hlink"/>
                </a:solidFill>
                <a:hlinkClick r:id="rId2"/>
              </a:rPr>
              <a:t>http://api.jquery.com/jquery.ajax/</a:t>
            </a:r>
            <a:endParaRPr lang="es-ES" sz="1600" i="1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Debido a este gran número de parámetros, se le conoce a </a:t>
            </a:r>
            <a:r>
              <a:rPr lang="es-ES" sz="2000" b="1" dirty="0"/>
              <a:t>$.</a:t>
            </a:r>
            <a:r>
              <a:rPr lang="es-ES" sz="2000" b="1" dirty="0" err="1"/>
              <a:t>ajax</a:t>
            </a:r>
            <a:r>
              <a:rPr lang="es-ES" sz="2000" dirty="0"/>
              <a:t> como </a:t>
            </a:r>
            <a:r>
              <a:rPr lang="es-ES" sz="2000" dirty="0" err="1"/>
              <a:t>low-level</a:t>
            </a:r>
            <a:r>
              <a:rPr lang="es-ES" sz="2000" dirty="0"/>
              <a:t> interface. Por suerte, jQuery brinda dos funciones más simplificadas para hacer solicitudes AJAX al servidor (siempre y cuando no se requiera utilizar las funciones avanzadas de </a:t>
            </a:r>
            <a:r>
              <a:rPr lang="es-ES" sz="2000" i="1" dirty="0"/>
              <a:t>$.</a:t>
            </a:r>
            <a:r>
              <a:rPr lang="es-ES" sz="2000" i="1" dirty="0" err="1"/>
              <a:t>ajax</a:t>
            </a:r>
            <a:r>
              <a:rPr lang="es-ES" sz="2000" i="1" dirty="0"/>
              <a:t>()</a:t>
            </a:r>
            <a:r>
              <a:rPr lang="es-ES" sz="2000" dirty="0"/>
              <a:t> ). 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Estas funciones son conocidas como </a:t>
            </a:r>
            <a:r>
              <a:rPr lang="es-ES" sz="2000" dirty="0" err="1"/>
              <a:t>Shorthand</a:t>
            </a:r>
            <a:r>
              <a:rPr lang="es-ES" sz="2000" dirty="0"/>
              <a:t> </a:t>
            </a:r>
            <a:r>
              <a:rPr lang="es-ES" sz="2000" dirty="0" err="1"/>
              <a:t>Methods</a:t>
            </a:r>
            <a:r>
              <a:rPr lang="es-ES" sz="2000" dirty="0"/>
              <a:t>: </a:t>
            </a:r>
            <a:r>
              <a:rPr lang="es-ES" sz="2000" b="1" dirty="0"/>
              <a:t>$.GET</a:t>
            </a:r>
            <a:r>
              <a:rPr lang="es-ES" sz="2000" dirty="0"/>
              <a:t> y </a:t>
            </a:r>
            <a:r>
              <a:rPr lang="es-ES" sz="2000" b="1" dirty="0"/>
              <a:t>$.POST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2177474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E6DE-1402-8FEB-1A17-B84FE7BA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4C23F-73A1-0F27-71A4-5FE3F7B36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$.GET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3D24409-F34F-4E5C-2F5E-69E1A3352D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5EA4E1-5532-B03B-13BC-1F3133DC5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Puede encontrar la guía completa en: </a:t>
            </a:r>
            <a:r>
              <a:rPr lang="es-ES" sz="1400" i="1" u="sng" dirty="0">
                <a:solidFill>
                  <a:schemeClr val="hlink"/>
                </a:solidFill>
                <a:hlinkClick r:id="rId2"/>
              </a:rPr>
              <a:t>http://api.jquery.com/jQuery.get/</a:t>
            </a:r>
            <a:endParaRPr lang="es-ES" sz="1400" i="1" dirty="0"/>
          </a:p>
          <a:p>
            <a:endParaRPr lang="es-PE" dirty="0"/>
          </a:p>
        </p:txBody>
      </p:sp>
      <p:pic>
        <p:nvPicPr>
          <p:cNvPr id="5" name="Google Shape;263;p35">
            <a:extLst>
              <a:ext uri="{FF2B5EF4-FFF2-40B4-BE49-F238E27FC236}">
                <a16:creationId xmlns:a16="http://schemas.microsoft.com/office/drawing/2014/main" id="{331E4EAF-95CB-120A-C15D-2AD38F8525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825" y="4084987"/>
            <a:ext cx="88963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64;p35">
            <a:extLst>
              <a:ext uri="{FF2B5EF4-FFF2-40B4-BE49-F238E27FC236}">
                <a16:creationId xmlns:a16="http://schemas.microsoft.com/office/drawing/2014/main" id="{82605DAE-E076-F436-AFAB-DFDA5DFAD91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362" y="1952937"/>
            <a:ext cx="8428751" cy="16618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68;p35">
            <a:extLst>
              <a:ext uri="{FF2B5EF4-FFF2-40B4-BE49-F238E27FC236}">
                <a16:creationId xmlns:a16="http://schemas.microsoft.com/office/drawing/2014/main" id="{D5D41B55-DCE7-F466-C027-69CCBE51226B}"/>
              </a:ext>
            </a:extLst>
          </p:cNvPr>
          <p:cNvSpPr/>
          <p:nvPr/>
        </p:nvSpPr>
        <p:spPr>
          <a:xfrm>
            <a:off x="5700812" y="4030012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" name="Google Shape;269;p35">
            <a:extLst>
              <a:ext uri="{FF2B5EF4-FFF2-40B4-BE49-F238E27FC236}">
                <a16:creationId xmlns:a16="http://schemas.microsoft.com/office/drawing/2014/main" id="{67DAB384-DFAF-BE28-8A60-DA9DFD6B7F17}"/>
              </a:ext>
            </a:extLst>
          </p:cNvPr>
          <p:cNvSpPr/>
          <p:nvPr/>
        </p:nvSpPr>
        <p:spPr>
          <a:xfrm>
            <a:off x="6591412" y="1980237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9" name="Google Shape;270;p35">
            <a:extLst>
              <a:ext uri="{FF2B5EF4-FFF2-40B4-BE49-F238E27FC236}">
                <a16:creationId xmlns:a16="http://schemas.microsoft.com/office/drawing/2014/main" id="{79CC0004-802A-230D-0AB6-8F6FD54C40A1}"/>
              </a:ext>
            </a:extLst>
          </p:cNvPr>
          <p:cNvSpPr/>
          <p:nvPr/>
        </p:nvSpPr>
        <p:spPr>
          <a:xfrm>
            <a:off x="8028887" y="4601012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cxnSp>
        <p:nvCxnSpPr>
          <p:cNvPr id="10" name="Google Shape;271;p35">
            <a:extLst>
              <a:ext uri="{FF2B5EF4-FFF2-40B4-BE49-F238E27FC236}">
                <a16:creationId xmlns:a16="http://schemas.microsoft.com/office/drawing/2014/main" id="{ADD6A5B0-E53E-918E-B643-575809F984DC}"/>
              </a:ext>
            </a:extLst>
          </p:cNvPr>
          <p:cNvCxnSpPr>
            <a:cxnSpLocks/>
          </p:cNvCxnSpPr>
          <p:nvPr/>
        </p:nvCxnSpPr>
        <p:spPr>
          <a:xfrm rot="-5400000" flipH="1">
            <a:off x="6947041" y="3054750"/>
            <a:ext cx="1954500" cy="7485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FF0000"/>
            </a:solidFill>
            <a:prstDash val="dashDot"/>
            <a:round/>
            <a:headEnd type="none" w="med" len="med"/>
            <a:tailEnd type="triangle" w="med" len="med"/>
          </a:ln>
        </p:spPr>
      </p:cxnSp>
      <p:sp>
        <p:nvSpPr>
          <p:cNvPr id="11" name="Google Shape;272;p35">
            <a:extLst>
              <a:ext uri="{FF2B5EF4-FFF2-40B4-BE49-F238E27FC236}">
                <a16:creationId xmlns:a16="http://schemas.microsoft.com/office/drawing/2014/main" id="{2BE17E24-AE4E-C936-8F42-AB9115B81630}"/>
              </a:ext>
            </a:extLst>
          </p:cNvPr>
          <p:cNvSpPr/>
          <p:nvPr/>
        </p:nvSpPr>
        <p:spPr>
          <a:xfrm>
            <a:off x="7477687" y="2466562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2" name="Google Shape;273;p35">
            <a:extLst>
              <a:ext uri="{FF2B5EF4-FFF2-40B4-BE49-F238E27FC236}">
                <a16:creationId xmlns:a16="http://schemas.microsoft.com/office/drawing/2014/main" id="{6FFD7B48-51D9-C9C0-A0CC-DAD2AACCDB36}"/>
              </a:ext>
            </a:extLst>
          </p:cNvPr>
          <p:cNvSpPr/>
          <p:nvPr/>
        </p:nvSpPr>
        <p:spPr>
          <a:xfrm>
            <a:off x="8226212" y="4601012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cxnSp>
        <p:nvCxnSpPr>
          <p:cNvPr id="13" name="Google Shape;274;p35">
            <a:extLst>
              <a:ext uri="{FF2B5EF4-FFF2-40B4-BE49-F238E27FC236}">
                <a16:creationId xmlns:a16="http://schemas.microsoft.com/office/drawing/2014/main" id="{85115C31-E82C-8FC2-ACC2-31A88632A717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H="1" flipV="1">
            <a:off x="2043887" y="2305861"/>
            <a:ext cx="5400" cy="1891437"/>
          </a:xfrm>
          <a:prstGeom prst="curvedConnector4">
            <a:avLst>
              <a:gd name="adj1" fmla="val -4233333"/>
              <a:gd name="adj2" fmla="val 52379"/>
            </a:avLst>
          </a:prstGeom>
          <a:noFill/>
          <a:ln w="19050" cap="flat" cmpd="sng">
            <a:solidFill>
              <a:srgbClr val="FF0000"/>
            </a:solidFill>
            <a:prstDash val="dashDot"/>
            <a:round/>
            <a:headEnd type="none" w="med" len="med"/>
            <a:tailEnd type="triangle" w="med" len="med"/>
          </a:ln>
        </p:spPr>
      </p:cxnSp>
      <p:sp>
        <p:nvSpPr>
          <p:cNvPr id="14" name="Google Shape;275;p35">
            <a:extLst>
              <a:ext uri="{FF2B5EF4-FFF2-40B4-BE49-F238E27FC236}">
                <a16:creationId xmlns:a16="http://schemas.microsoft.com/office/drawing/2014/main" id="{D1354476-C2A0-EB4F-83AE-C0C15FCBF4DA}"/>
              </a:ext>
            </a:extLst>
          </p:cNvPr>
          <p:cNvSpPr/>
          <p:nvPr/>
        </p:nvSpPr>
        <p:spPr>
          <a:xfrm>
            <a:off x="2043887" y="2215862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5" name="Google Shape;276;p35">
            <a:extLst>
              <a:ext uri="{FF2B5EF4-FFF2-40B4-BE49-F238E27FC236}">
                <a16:creationId xmlns:a16="http://schemas.microsoft.com/office/drawing/2014/main" id="{04912BEE-EE02-9DF7-B948-819C339D1C94}"/>
              </a:ext>
            </a:extLst>
          </p:cNvPr>
          <p:cNvSpPr/>
          <p:nvPr/>
        </p:nvSpPr>
        <p:spPr>
          <a:xfrm>
            <a:off x="1824237" y="4667512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762955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DBC11-0597-F683-2A48-981B96C9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2D501-6DA8-EBBE-B1F8-51271E7CB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08" y="152374"/>
            <a:ext cx="10354982" cy="599243"/>
          </a:xfrm>
        </p:spPr>
        <p:txBody>
          <a:bodyPr/>
          <a:lstStyle/>
          <a:p>
            <a:r>
              <a:rPr lang="es-PE" dirty="0"/>
              <a:t>$.POST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B451BE6-C1A8-11D5-44C0-20960E2994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6D1F21-ED51-843A-B4BE-940CBDC9D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5201" y="317345"/>
            <a:ext cx="9044324" cy="4023831"/>
          </a:xfrm>
        </p:spPr>
        <p:txBody>
          <a:bodyPr>
            <a:normAutofit/>
          </a:bodyPr>
          <a:lstStyle/>
          <a:p>
            <a:r>
              <a:rPr lang="es-ES" sz="1800" dirty="0"/>
              <a:t>Puede encontrar la guía completa en: </a:t>
            </a:r>
            <a:r>
              <a:rPr lang="es-ES" sz="1100" i="1" u="sng" dirty="0">
                <a:solidFill>
                  <a:schemeClr val="hlink"/>
                </a:solidFill>
                <a:hlinkClick r:id="rId2"/>
              </a:rPr>
              <a:t>http://api.jquery.com/jQuery.post/</a:t>
            </a:r>
            <a:endParaRPr lang="es-ES" sz="1100" i="1" dirty="0"/>
          </a:p>
          <a:p>
            <a:endParaRPr lang="es-PE" sz="1800" dirty="0"/>
          </a:p>
        </p:txBody>
      </p:sp>
      <p:pic>
        <p:nvPicPr>
          <p:cNvPr id="16" name="Google Shape;281;p36">
            <a:extLst>
              <a:ext uri="{FF2B5EF4-FFF2-40B4-BE49-F238E27FC236}">
                <a16:creationId xmlns:a16="http://schemas.microsoft.com/office/drawing/2014/main" id="{01D2D069-CCF5-EFC9-3B1E-9D870D888E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2799" y="1056443"/>
            <a:ext cx="6998099" cy="23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82;p36">
            <a:extLst>
              <a:ext uri="{FF2B5EF4-FFF2-40B4-BE49-F238E27FC236}">
                <a16:creationId xmlns:a16="http://schemas.microsoft.com/office/drawing/2014/main" id="{0186368F-10DB-2304-F459-A5B11037380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4849" y="3890868"/>
            <a:ext cx="9143999" cy="17705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86;p36">
            <a:extLst>
              <a:ext uri="{FF2B5EF4-FFF2-40B4-BE49-F238E27FC236}">
                <a16:creationId xmlns:a16="http://schemas.microsoft.com/office/drawing/2014/main" id="{9EC192C0-26E3-7832-DF68-49C3CCD4AB88}"/>
              </a:ext>
            </a:extLst>
          </p:cNvPr>
          <p:cNvSpPr/>
          <p:nvPr/>
        </p:nvSpPr>
        <p:spPr>
          <a:xfrm>
            <a:off x="5464149" y="1949355"/>
            <a:ext cx="4500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9" name="Google Shape;287;p36">
            <a:extLst>
              <a:ext uri="{FF2B5EF4-FFF2-40B4-BE49-F238E27FC236}">
                <a16:creationId xmlns:a16="http://schemas.microsoft.com/office/drawing/2014/main" id="{8331982B-2F46-6CCA-42AC-D1B3BA68BBB8}"/>
              </a:ext>
            </a:extLst>
          </p:cNvPr>
          <p:cNvSpPr/>
          <p:nvPr/>
        </p:nvSpPr>
        <p:spPr>
          <a:xfrm>
            <a:off x="6201049" y="3196680"/>
            <a:ext cx="43500" cy="1800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grpSp>
        <p:nvGrpSpPr>
          <p:cNvPr id="20" name="Google Shape;288;p36">
            <a:extLst>
              <a:ext uri="{FF2B5EF4-FFF2-40B4-BE49-F238E27FC236}">
                <a16:creationId xmlns:a16="http://schemas.microsoft.com/office/drawing/2014/main" id="{1C8A95C0-B8DE-85F6-166D-948BB39E15B7}"/>
              </a:ext>
            </a:extLst>
          </p:cNvPr>
          <p:cNvGrpSpPr/>
          <p:nvPr/>
        </p:nvGrpSpPr>
        <p:grpSpPr>
          <a:xfrm>
            <a:off x="3685349" y="1190030"/>
            <a:ext cx="1003500" cy="256500"/>
            <a:chOff x="1501550" y="2252550"/>
            <a:chExt cx="1003500" cy="256500"/>
          </a:xfrm>
        </p:grpSpPr>
        <p:sp>
          <p:nvSpPr>
            <p:cNvPr id="21" name="Google Shape;289;p36">
              <a:extLst>
                <a:ext uri="{FF2B5EF4-FFF2-40B4-BE49-F238E27FC236}">
                  <a16:creationId xmlns:a16="http://schemas.microsoft.com/office/drawing/2014/main" id="{DB99AD88-6210-3F8F-5007-33B45E7CD17B}"/>
                </a:ext>
              </a:extLst>
            </p:cNvPr>
            <p:cNvSpPr/>
            <p:nvPr/>
          </p:nvSpPr>
          <p:spPr>
            <a:xfrm>
              <a:off x="2237450" y="2252550"/>
              <a:ext cx="267600" cy="256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50">
                  <a:solidFill>
                    <a:srgbClr val="FFFFFF"/>
                  </a:solidFill>
                </a:rPr>
                <a:t>1</a:t>
              </a:r>
              <a:endParaRPr sz="1050">
                <a:solidFill>
                  <a:srgbClr val="FFFFFF"/>
                </a:solidFill>
              </a:endParaRPr>
            </a:p>
          </p:txBody>
        </p:sp>
        <p:cxnSp>
          <p:nvCxnSpPr>
            <p:cNvPr id="22" name="Google Shape;290;p36">
              <a:extLst>
                <a:ext uri="{FF2B5EF4-FFF2-40B4-BE49-F238E27FC236}">
                  <a16:creationId xmlns:a16="http://schemas.microsoft.com/office/drawing/2014/main" id="{3296CA88-1F4E-CAA5-E6D6-AADEC494672E}"/>
                </a:ext>
              </a:extLst>
            </p:cNvPr>
            <p:cNvCxnSpPr>
              <a:stCxn id="21" idx="2"/>
            </p:cNvCxnSpPr>
            <p:nvPr/>
          </p:nvCxnSpPr>
          <p:spPr>
            <a:xfrm rot="10800000">
              <a:off x="1501550" y="2380800"/>
              <a:ext cx="7359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3" name="Google Shape;291;p36">
            <a:extLst>
              <a:ext uri="{FF2B5EF4-FFF2-40B4-BE49-F238E27FC236}">
                <a16:creationId xmlns:a16="http://schemas.microsoft.com/office/drawing/2014/main" id="{B78FDF67-E048-580B-C1E2-DEB690C5C5D1}"/>
              </a:ext>
            </a:extLst>
          </p:cNvPr>
          <p:cNvSpPr/>
          <p:nvPr/>
        </p:nvSpPr>
        <p:spPr>
          <a:xfrm>
            <a:off x="9796799" y="1375280"/>
            <a:ext cx="267600" cy="256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FFFFFF"/>
                </a:solidFill>
              </a:rPr>
              <a:t>2</a:t>
            </a:r>
            <a:endParaRPr sz="1050">
              <a:solidFill>
                <a:srgbClr val="FFFFFF"/>
              </a:solidFill>
            </a:endParaRPr>
          </a:p>
        </p:txBody>
      </p:sp>
      <p:cxnSp>
        <p:nvCxnSpPr>
          <p:cNvPr id="24" name="Google Shape;292;p36">
            <a:extLst>
              <a:ext uri="{FF2B5EF4-FFF2-40B4-BE49-F238E27FC236}">
                <a16:creationId xmlns:a16="http://schemas.microsoft.com/office/drawing/2014/main" id="{C7D7B541-350E-3FCE-7174-89D652289C72}"/>
              </a:ext>
            </a:extLst>
          </p:cNvPr>
          <p:cNvCxnSpPr>
            <a:stCxn id="23" idx="2"/>
          </p:cNvCxnSpPr>
          <p:nvPr/>
        </p:nvCxnSpPr>
        <p:spPr>
          <a:xfrm rot="10800000">
            <a:off x="9060899" y="1503530"/>
            <a:ext cx="7359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Google Shape;293;p36">
            <a:extLst>
              <a:ext uri="{FF2B5EF4-FFF2-40B4-BE49-F238E27FC236}">
                <a16:creationId xmlns:a16="http://schemas.microsoft.com/office/drawing/2014/main" id="{A94FE35F-0DCE-F2C6-E21E-FEF24F176BDE}"/>
              </a:ext>
            </a:extLst>
          </p:cNvPr>
          <p:cNvSpPr/>
          <p:nvPr/>
        </p:nvSpPr>
        <p:spPr>
          <a:xfrm>
            <a:off x="6358299" y="1564605"/>
            <a:ext cx="267600" cy="256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FFFFFF"/>
                </a:solidFill>
              </a:rPr>
              <a:t>3</a:t>
            </a:r>
            <a:endParaRPr sz="1050">
              <a:solidFill>
                <a:srgbClr val="FFFFFF"/>
              </a:solidFill>
            </a:endParaRPr>
          </a:p>
        </p:txBody>
      </p:sp>
      <p:cxnSp>
        <p:nvCxnSpPr>
          <p:cNvPr id="26" name="Google Shape;294;p36">
            <a:extLst>
              <a:ext uri="{FF2B5EF4-FFF2-40B4-BE49-F238E27FC236}">
                <a16:creationId xmlns:a16="http://schemas.microsoft.com/office/drawing/2014/main" id="{BDF51505-7E31-5CBD-CC6A-6B0C0DE8D31B}"/>
              </a:ext>
            </a:extLst>
          </p:cNvPr>
          <p:cNvCxnSpPr>
            <a:stCxn id="25" idx="2"/>
          </p:cNvCxnSpPr>
          <p:nvPr/>
        </p:nvCxnSpPr>
        <p:spPr>
          <a:xfrm rot="10800000">
            <a:off x="5622399" y="1692855"/>
            <a:ext cx="7359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295;p36">
            <a:extLst>
              <a:ext uri="{FF2B5EF4-FFF2-40B4-BE49-F238E27FC236}">
                <a16:creationId xmlns:a16="http://schemas.microsoft.com/office/drawing/2014/main" id="{A53C5438-CA91-92E2-A5CD-AED7EBF8CE23}"/>
              </a:ext>
            </a:extLst>
          </p:cNvPr>
          <p:cNvSpPr/>
          <p:nvPr/>
        </p:nvSpPr>
        <p:spPr>
          <a:xfrm>
            <a:off x="2230749" y="3472305"/>
            <a:ext cx="267600" cy="256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FFFFFF"/>
                </a:solidFill>
              </a:rPr>
              <a:t>1</a:t>
            </a:r>
            <a:endParaRPr sz="1050">
              <a:solidFill>
                <a:srgbClr val="FFFFFF"/>
              </a:solidFill>
            </a:endParaRPr>
          </a:p>
        </p:txBody>
      </p:sp>
      <p:cxnSp>
        <p:nvCxnSpPr>
          <p:cNvPr id="28" name="Google Shape;296;p36">
            <a:extLst>
              <a:ext uri="{FF2B5EF4-FFF2-40B4-BE49-F238E27FC236}">
                <a16:creationId xmlns:a16="http://schemas.microsoft.com/office/drawing/2014/main" id="{99211F56-5EED-A9C3-59BF-0DBBDCC9936E}"/>
              </a:ext>
            </a:extLst>
          </p:cNvPr>
          <p:cNvCxnSpPr>
            <a:stCxn id="27" idx="4"/>
          </p:cNvCxnSpPr>
          <p:nvPr/>
        </p:nvCxnSpPr>
        <p:spPr>
          <a:xfrm>
            <a:off x="2364549" y="3728805"/>
            <a:ext cx="0" cy="218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297;p36">
            <a:extLst>
              <a:ext uri="{FF2B5EF4-FFF2-40B4-BE49-F238E27FC236}">
                <a16:creationId xmlns:a16="http://schemas.microsoft.com/office/drawing/2014/main" id="{08740E8C-CFCF-84AC-684F-956875F860FB}"/>
              </a:ext>
            </a:extLst>
          </p:cNvPr>
          <p:cNvSpPr/>
          <p:nvPr/>
        </p:nvSpPr>
        <p:spPr>
          <a:xfrm>
            <a:off x="9957949" y="3376680"/>
            <a:ext cx="267600" cy="256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FFFFFF"/>
                </a:solidFill>
              </a:rPr>
              <a:t>3</a:t>
            </a:r>
            <a:endParaRPr sz="1050">
              <a:solidFill>
                <a:srgbClr val="FFFFFF"/>
              </a:solidFill>
            </a:endParaRPr>
          </a:p>
        </p:txBody>
      </p:sp>
      <p:cxnSp>
        <p:nvCxnSpPr>
          <p:cNvPr id="30" name="Google Shape;298;p36">
            <a:extLst>
              <a:ext uri="{FF2B5EF4-FFF2-40B4-BE49-F238E27FC236}">
                <a16:creationId xmlns:a16="http://schemas.microsoft.com/office/drawing/2014/main" id="{1FC5ED71-BE7B-6743-AD47-483CF29D33C0}"/>
              </a:ext>
            </a:extLst>
          </p:cNvPr>
          <p:cNvCxnSpPr>
            <a:stCxn id="29" idx="3"/>
          </p:cNvCxnSpPr>
          <p:nvPr/>
        </p:nvCxnSpPr>
        <p:spPr>
          <a:xfrm flipH="1">
            <a:off x="9556738" y="3595616"/>
            <a:ext cx="440400" cy="299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Google Shape;299;p36">
            <a:extLst>
              <a:ext uri="{FF2B5EF4-FFF2-40B4-BE49-F238E27FC236}">
                <a16:creationId xmlns:a16="http://schemas.microsoft.com/office/drawing/2014/main" id="{AAA6B184-F290-4DBB-9009-FEC5734854B5}"/>
              </a:ext>
            </a:extLst>
          </p:cNvPr>
          <p:cNvSpPr/>
          <p:nvPr/>
        </p:nvSpPr>
        <p:spPr>
          <a:xfrm>
            <a:off x="6983224" y="3412555"/>
            <a:ext cx="267600" cy="256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FFFFFF"/>
                </a:solidFill>
              </a:rPr>
              <a:t>2</a:t>
            </a:r>
            <a:endParaRPr sz="1050">
              <a:solidFill>
                <a:srgbClr val="FFFFFF"/>
              </a:solidFill>
            </a:endParaRPr>
          </a:p>
        </p:txBody>
      </p:sp>
      <p:cxnSp>
        <p:nvCxnSpPr>
          <p:cNvPr id="32" name="Google Shape;300;p36">
            <a:extLst>
              <a:ext uri="{FF2B5EF4-FFF2-40B4-BE49-F238E27FC236}">
                <a16:creationId xmlns:a16="http://schemas.microsoft.com/office/drawing/2014/main" id="{FC46B43C-1A89-3C55-D774-8BFD78AD4E5E}"/>
              </a:ext>
            </a:extLst>
          </p:cNvPr>
          <p:cNvCxnSpPr>
            <a:stCxn id="31" idx="3"/>
          </p:cNvCxnSpPr>
          <p:nvPr/>
        </p:nvCxnSpPr>
        <p:spPr>
          <a:xfrm flipH="1">
            <a:off x="6703513" y="3631491"/>
            <a:ext cx="318900" cy="267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601321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05576DE-D6EA-04B9-66F3-A2354A8B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Ajax con JSON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26143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B782-04D2-A243-B55F-3A1C1B12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DA414-2FBD-5A2E-8901-DB020C816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$.</a:t>
            </a:r>
            <a:r>
              <a:rPr lang="es-ES" dirty="0" err="1"/>
              <a:t>ajax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9495FA2-1AB6-BDB0-5845-C999E8666A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3533B8-424A-076E-886A-DC194A7B6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893"/>
            <a:ext cx="6800850" cy="4023831"/>
          </a:xfrm>
        </p:spPr>
        <p:txBody>
          <a:bodyPr>
            <a:normAutofit/>
          </a:bodyPr>
          <a:lstStyle/>
          <a:p>
            <a:r>
              <a:rPr lang="es-ES" sz="1800" dirty="0"/>
              <a:t>En este ejemplo usaremos $.</a:t>
            </a:r>
            <a:r>
              <a:rPr lang="es-ES" sz="1800" dirty="0" err="1"/>
              <a:t>ajax</a:t>
            </a:r>
            <a:r>
              <a:rPr lang="es-ES" sz="1800" dirty="0"/>
              <a:t>, puesto que el tipo de dato de retorno es un </a:t>
            </a:r>
            <a:r>
              <a:rPr lang="es-ES" sz="1800" dirty="0" err="1"/>
              <a:t>json</a:t>
            </a:r>
            <a:r>
              <a:rPr lang="es-ES" sz="1800" dirty="0"/>
              <a:t>. Se podría realizar también con $.post.</a:t>
            </a:r>
          </a:p>
          <a:p>
            <a:endParaRPr lang="es-PE" sz="1800" dirty="0"/>
          </a:p>
        </p:txBody>
      </p:sp>
      <p:pic>
        <p:nvPicPr>
          <p:cNvPr id="6" name="Google Shape;328;p40">
            <a:extLst>
              <a:ext uri="{FF2B5EF4-FFF2-40B4-BE49-F238E27FC236}">
                <a16:creationId xmlns:a16="http://schemas.microsoft.com/office/drawing/2014/main" id="{1818E1BA-7910-54A9-3327-0BD5F854426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95375" y="2737731"/>
            <a:ext cx="6800850" cy="18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29;p40">
            <a:extLst>
              <a:ext uri="{FF2B5EF4-FFF2-40B4-BE49-F238E27FC236}">
                <a16:creationId xmlns:a16="http://schemas.microsoft.com/office/drawing/2014/main" id="{F585F700-AA33-D29C-9859-F0A1A43698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3875" y="1056443"/>
            <a:ext cx="3467100" cy="445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1328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719BD-030F-BAAA-BC4D-E3CBB7AF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E3AB7FB-9B9E-49F2-3D53-C26A070C3A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25</a:t>
            </a:fld>
            <a:endParaRPr lang="es-PE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09C21C86-2302-B428-DF84-5864DF81A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818"/>
            <a:ext cx="10356570" cy="402383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s-ES" sz="1800" dirty="0"/>
              <a:t>Según la documentación, debemos acomodar nuestra solicitud a:</a:t>
            </a:r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FontTx/>
              <a:buNone/>
            </a:pPr>
            <a:r>
              <a:rPr lang="es-ES" sz="1800" b="1" dirty="0"/>
              <a:t>Entonces</a:t>
            </a:r>
            <a:r>
              <a:rPr lang="es-ES" sz="1800" dirty="0"/>
              <a:t>:</a:t>
            </a:r>
          </a:p>
          <a:p>
            <a:endParaRPr lang="es-PE" sz="1800" dirty="0"/>
          </a:p>
        </p:txBody>
      </p:sp>
      <p:pic>
        <p:nvPicPr>
          <p:cNvPr id="7" name="Google Shape;336;p41">
            <a:extLst>
              <a:ext uri="{FF2B5EF4-FFF2-40B4-BE49-F238E27FC236}">
                <a16:creationId xmlns:a16="http://schemas.microsoft.com/office/drawing/2014/main" id="{515CB208-2D59-FC95-1F9C-0C1617D39B6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87750" y="981786"/>
            <a:ext cx="9143999" cy="1193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37;p41">
            <a:extLst>
              <a:ext uri="{FF2B5EF4-FFF2-40B4-BE49-F238E27FC236}">
                <a16:creationId xmlns:a16="http://schemas.microsoft.com/office/drawing/2014/main" id="{55E28B02-41E1-B00C-E491-E865E8EB50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000" y="3588356"/>
            <a:ext cx="8167659" cy="19923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889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510C-6F06-7AB8-9DAD-EA914634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8ECAAFD-D2F6-EAC5-0FCD-4188B75F02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26</a:t>
            </a:fld>
            <a:endParaRPr lang="es-PE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38729EFB-82FB-5AF3-D88F-2ABB0B31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818"/>
            <a:ext cx="10356570" cy="402383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s-ES" sz="1800" dirty="0"/>
              <a:t>La respuesta, es del tipo </a:t>
            </a:r>
            <a:r>
              <a:rPr lang="es-ES" sz="1800" dirty="0" err="1"/>
              <a:t>json</a:t>
            </a:r>
            <a:r>
              <a:rPr lang="es-ES" sz="1800" dirty="0"/>
              <a:t>, con el siguiente formato:</a:t>
            </a:r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b="1" dirty="0"/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b="1"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FontTx/>
              <a:buNone/>
            </a:pPr>
            <a:r>
              <a:rPr lang="es-ES" sz="1800" b="1" dirty="0"/>
              <a:t>Entonces</a:t>
            </a:r>
            <a:r>
              <a:rPr lang="es-ES" sz="1800" dirty="0"/>
              <a:t>:</a:t>
            </a:r>
          </a:p>
          <a:p>
            <a:endParaRPr lang="es-PE" sz="1800" dirty="0"/>
          </a:p>
        </p:txBody>
      </p:sp>
      <p:pic>
        <p:nvPicPr>
          <p:cNvPr id="7" name="Google Shape;344;p42">
            <a:extLst>
              <a:ext uri="{FF2B5EF4-FFF2-40B4-BE49-F238E27FC236}">
                <a16:creationId xmlns:a16="http://schemas.microsoft.com/office/drawing/2014/main" id="{79B40281-E9BD-2A08-DF16-D294BCEF601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867" t="57162" r="56976"/>
          <a:stretch/>
        </p:blipFill>
        <p:spPr>
          <a:xfrm>
            <a:off x="8909969" y="312818"/>
            <a:ext cx="2842726" cy="205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45;p42">
            <a:extLst>
              <a:ext uri="{FF2B5EF4-FFF2-40B4-BE49-F238E27FC236}">
                <a16:creationId xmlns:a16="http://schemas.microsoft.com/office/drawing/2014/main" id="{0E69D8C0-0F36-A93B-3AE4-2607467C977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5469" y="1867449"/>
            <a:ext cx="6437750" cy="369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0627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8012A-7CCA-5D38-B050-35B37D82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15DDC04-171F-1D78-B8CC-4C0B44DABE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27</a:t>
            </a:fld>
            <a:endParaRPr lang="es-PE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1A164F0A-EAE7-826C-D0B0-5A4BF25B7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5406"/>
            <a:ext cx="10356570" cy="402383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s-ES" sz="1800" dirty="0"/>
              <a:t>Si la solicitud falla, gestionamos el error:</a:t>
            </a:r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FontTx/>
              <a:buNone/>
            </a:pPr>
            <a:r>
              <a:rPr lang="es-ES" sz="1800" dirty="0"/>
              <a:t>Finalmente, para que no se refresque la página por la acción de enviar un formulario:</a:t>
            </a:r>
          </a:p>
          <a:p>
            <a:endParaRPr lang="es-PE" sz="1800" dirty="0"/>
          </a:p>
        </p:txBody>
      </p:sp>
      <p:pic>
        <p:nvPicPr>
          <p:cNvPr id="7" name="Google Shape;352;p43">
            <a:extLst>
              <a:ext uri="{FF2B5EF4-FFF2-40B4-BE49-F238E27FC236}">
                <a16:creationId xmlns:a16="http://schemas.microsoft.com/office/drawing/2014/main" id="{3C2E9286-48F5-3A30-638B-A522D07A439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6624"/>
          <a:stretch/>
        </p:blipFill>
        <p:spPr>
          <a:xfrm>
            <a:off x="3327000" y="1333911"/>
            <a:ext cx="4299750" cy="12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53;p43">
            <a:extLst>
              <a:ext uri="{FF2B5EF4-FFF2-40B4-BE49-F238E27FC236}">
                <a16:creationId xmlns:a16="http://schemas.microsoft.com/office/drawing/2014/main" id="{93844AB8-971B-3924-6D1C-402CB763D73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4215"/>
          <a:stretch/>
        </p:blipFill>
        <p:spPr>
          <a:xfrm>
            <a:off x="3327000" y="3720412"/>
            <a:ext cx="4299750" cy="24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60388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250E-4E9E-FC55-B53C-A5A924754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12438-3B46-F8F9-2D2A-BD508141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4CF8997-3BDF-89C2-F326-DDA6B15556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2D1C17-BE1D-A4DC-4A43-D0D3157DC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enviamos un ID que existe:</a:t>
            </a:r>
          </a:p>
          <a:p>
            <a:endParaRPr lang="es-PE" dirty="0"/>
          </a:p>
        </p:txBody>
      </p:sp>
      <p:pic>
        <p:nvPicPr>
          <p:cNvPr id="6" name="Google Shape;377;p46">
            <a:extLst>
              <a:ext uri="{FF2B5EF4-FFF2-40B4-BE49-F238E27FC236}">
                <a16:creationId xmlns:a16="http://schemas.microsoft.com/office/drawing/2014/main" id="{5C33E2A8-47A1-6B83-9803-1E48B4DA0AA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92289" y="903887"/>
            <a:ext cx="3648075" cy="4533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4115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3E495-A63A-F3AF-2FF1-D1EE07B8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$.</a:t>
            </a:r>
            <a:r>
              <a:rPr lang="es-ES" dirty="0" err="1"/>
              <a:t>ajax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D87C409-CAE3-74F7-3434-4199250AA4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9DFF7F-FEC5-FB60-48B9-DA6E2ABB7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este ejemplo usaremos $.</a:t>
            </a:r>
            <a:r>
              <a:rPr lang="es-ES" dirty="0" err="1"/>
              <a:t>ajax</a:t>
            </a:r>
            <a:r>
              <a:rPr lang="es-ES" dirty="0"/>
              <a:t>, puesto que el tipo de dato de retorno es un </a:t>
            </a:r>
            <a:r>
              <a:rPr lang="es-ES" dirty="0" err="1"/>
              <a:t>json</a:t>
            </a:r>
            <a:r>
              <a:rPr lang="es-ES" dirty="0"/>
              <a:t> y necesitamos enviar cabeceras particulares al servidor.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16152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8A80E-3941-D5A3-6EBE-13BA2301B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Cabeceras </a:t>
            </a:r>
            <a:r>
              <a:rPr lang="es-ES" dirty="0" err="1"/>
              <a:t>ajax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DA81282-656E-AF02-1A27-7912B39CB4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15D102-26DC-B119-5FB1-0B5D925FC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 esta ocasión, en la documentación del web </a:t>
            </a:r>
            <a:r>
              <a:rPr lang="es-ES" sz="1800" dirty="0" err="1"/>
              <a:t>service</a:t>
            </a:r>
            <a:r>
              <a:rPr lang="es-ES" sz="1800" dirty="0"/>
              <a:t> se pide definir una cabecera específica para la solicitud AJAX. 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3200" dirty="0"/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Si revisa la documentación de </a:t>
            </a:r>
            <a:r>
              <a:rPr lang="es-ES" sz="1800" u="sng" dirty="0" err="1">
                <a:solidFill>
                  <a:schemeClr val="hlink"/>
                </a:solidFill>
                <a:hlinkClick r:id="rId2"/>
              </a:rPr>
              <a:t>jquery.ajax</a:t>
            </a:r>
            <a:r>
              <a:rPr lang="es-ES" sz="1800" dirty="0"/>
              <a:t>, observará que puede adicionar un parámetro “</a:t>
            </a:r>
            <a:r>
              <a:rPr lang="es-ES" sz="1800" dirty="0" err="1"/>
              <a:t>headers</a:t>
            </a:r>
            <a:r>
              <a:rPr lang="es-ES" sz="1800" dirty="0"/>
              <a:t>” a la configuración y pasarle parámetros por medio de un objeto JSON.</a:t>
            </a:r>
          </a:p>
          <a:p>
            <a:endParaRPr lang="es-PE" sz="1800" dirty="0"/>
          </a:p>
        </p:txBody>
      </p:sp>
      <p:pic>
        <p:nvPicPr>
          <p:cNvPr id="6" name="Google Shape;406;p50">
            <a:extLst>
              <a:ext uri="{FF2B5EF4-FFF2-40B4-BE49-F238E27FC236}">
                <a16:creationId xmlns:a16="http://schemas.microsoft.com/office/drawing/2014/main" id="{F1F68575-DFBC-5121-3AA3-2051315C8D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0275" y="3827502"/>
            <a:ext cx="8036128" cy="155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07;p50">
            <a:extLst>
              <a:ext uri="{FF2B5EF4-FFF2-40B4-BE49-F238E27FC236}">
                <a16:creationId xmlns:a16="http://schemas.microsoft.com/office/drawing/2014/main" id="{62698593-5703-948B-9F0D-6A2D7FF276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8834"/>
          <a:stretch/>
        </p:blipFill>
        <p:spPr>
          <a:xfrm>
            <a:off x="1190625" y="2127775"/>
            <a:ext cx="9144000" cy="61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4433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2E78E-D980-4C73-616F-F62CEA00D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ED9D2-399E-E769-77C0-94B6B36E9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HTML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5DB3D07-9DD4-5B3A-9628-11F8A46BF2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31</a:t>
            </a:fld>
            <a:endParaRPr lang="es-PE"/>
          </a:p>
        </p:txBody>
      </p:sp>
      <p:pic>
        <p:nvPicPr>
          <p:cNvPr id="6" name="Google Shape;414;p51">
            <a:extLst>
              <a:ext uri="{FF2B5EF4-FFF2-40B4-BE49-F238E27FC236}">
                <a16:creationId xmlns:a16="http://schemas.microsoft.com/office/drawing/2014/main" id="{23684948-3FB7-7C72-0748-A328DBF7177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96236" y="457200"/>
            <a:ext cx="68770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15;p51">
            <a:extLst>
              <a:ext uri="{FF2B5EF4-FFF2-40B4-BE49-F238E27FC236}">
                <a16:creationId xmlns:a16="http://schemas.microsoft.com/office/drawing/2014/main" id="{D2F87D8D-58F7-3BA4-5FC0-F880BDEA71F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425" y="2203313"/>
            <a:ext cx="6474375" cy="3195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7493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09601-5B44-9C59-DCDC-501FEB898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D2CAF3C-EFED-931C-039A-5C1E7D7D9C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787DDA-24D7-A153-873A-6F0347156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8813"/>
            <a:ext cx="10356570" cy="402383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s-ES" sz="1800" dirty="0"/>
              <a:t>Según la documentación, se debe acomodar la solicitud a:</a:t>
            </a:r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FontTx/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FontTx/>
              <a:buNone/>
            </a:pPr>
            <a:r>
              <a:rPr lang="es-ES" sz="1800" b="1" dirty="0"/>
              <a:t>Entonces</a:t>
            </a:r>
            <a:r>
              <a:rPr lang="es-ES" sz="1800" dirty="0"/>
              <a:t>: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s-ES" sz="1800" dirty="0"/>
              <a:t>Se adiciona la cabecera por medio del parámetro </a:t>
            </a:r>
            <a:r>
              <a:rPr lang="es-ES" sz="1800" b="1" dirty="0" err="1"/>
              <a:t>headers</a:t>
            </a:r>
            <a:r>
              <a:rPr lang="es-ES" sz="1800" dirty="0"/>
              <a:t> en formato </a:t>
            </a:r>
            <a:r>
              <a:rPr lang="es-ES" sz="1800" dirty="0" err="1"/>
              <a:t>json</a:t>
            </a:r>
            <a:r>
              <a:rPr lang="es-ES" sz="1800" dirty="0"/>
              <a:t>.</a:t>
            </a:r>
          </a:p>
          <a:p>
            <a:endParaRPr lang="es-PE" sz="1800" dirty="0"/>
          </a:p>
        </p:txBody>
      </p:sp>
      <p:pic>
        <p:nvPicPr>
          <p:cNvPr id="6" name="Google Shape;423;p52">
            <a:extLst>
              <a:ext uri="{FF2B5EF4-FFF2-40B4-BE49-F238E27FC236}">
                <a16:creationId xmlns:a16="http://schemas.microsoft.com/office/drawing/2014/main" id="{C8C75006-BE91-DBC0-F8B0-1821FD2577C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7447" y="3774456"/>
            <a:ext cx="7458075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22;p52">
            <a:extLst>
              <a:ext uri="{FF2B5EF4-FFF2-40B4-BE49-F238E27FC236}">
                <a16:creationId xmlns:a16="http://schemas.microsoft.com/office/drawing/2014/main" id="{6A382F5F-EB6C-7275-0480-39CB0C59AD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1039751"/>
            <a:ext cx="9144000" cy="1460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22972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D0F8-54FE-B9E7-6A57-75A8CC850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F74C00F-ECC6-6520-C662-8FDFEE2558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99F0D4-78E9-744A-7EAF-8A2E5B2AD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133" y="307237"/>
            <a:ext cx="10356570" cy="402383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s-ES" sz="2000" dirty="0"/>
              <a:t>La respuesta, es del tipo </a:t>
            </a:r>
            <a:r>
              <a:rPr lang="es-ES" sz="2000" dirty="0" err="1"/>
              <a:t>json</a:t>
            </a:r>
            <a:r>
              <a:rPr lang="es-ES" sz="2000" dirty="0"/>
              <a:t>, con el siguiente formato: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FontTx/>
              <a:buNone/>
            </a:pPr>
            <a:r>
              <a:rPr lang="es-ES" sz="2000" b="1" dirty="0"/>
              <a:t>Entonces</a:t>
            </a:r>
            <a:r>
              <a:rPr lang="es-ES" sz="2000" dirty="0"/>
              <a:t>:</a:t>
            </a:r>
          </a:p>
          <a:p>
            <a:endParaRPr lang="es-PE" sz="2000" dirty="0"/>
          </a:p>
        </p:txBody>
      </p:sp>
      <p:pic>
        <p:nvPicPr>
          <p:cNvPr id="6" name="Google Shape;430;p53">
            <a:extLst>
              <a:ext uri="{FF2B5EF4-FFF2-40B4-BE49-F238E27FC236}">
                <a16:creationId xmlns:a16="http://schemas.microsoft.com/office/drawing/2014/main" id="{F849975E-13C5-02EA-8F4D-B45D5566E57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71863" y="1323188"/>
            <a:ext cx="6381487" cy="4172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31;p53">
            <a:extLst>
              <a:ext uri="{FF2B5EF4-FFF2-40B4-BE49-F238E27FC236}">
                <a16:creationId xmlns:a16="http://schemas.microsoft.com/office/drawing/2014/main" id="{FE00DF35-AD9A-66C3-A01D-8E1D0DB2B6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5503" y="1918350"/>
            <a:ext cx="2276475" cy="2695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08180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0EB45-9FF4-B574-AFAA-FE1395AF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F0D9C0D-84E2-C14F-CEF8-9E6B381D9C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FB4ED9-B2BA-3A79-91C7-3B784B4A5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6218"/>
            <a:ext cx="10356570" cy="4023831"/>
          </a:xfrm>
        </p:spPr>
        <p:txBody>
          <a:bodyPr/>
          <a:lstStyle/>
          <a:p>
            <a:r>
              <a:rPr lang="es-ES" dirty="0"/>
              <a:t>Si el estado no es “ok” o si la solicitud falla, gestionamos el error y mostramos la información:</a:t>
            </a:r>
          </a:p>
          <a:p>
            <a:endParaRPr lang="es-PE" dirty="0"/>
          </a:p>
        </p:txBody>
      </p:sp>
      <p:pic>
        <p:nvPicPr>
          <p:cNvPr id="6" name="Google Shape;438;p54">
            <a:extLst>
              <a:ext uri="{FF2B5EF4-FFF2-40B4-BE49-F238E27FC236}">
                <a16:creationId xmlns:a16="http://schemas.microsoft.com/office/drawing/2014/main" id="{A36F2461-4DBA-7D88-662A-8E9302BD010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5713" y="2276475"/>
            <a:ext cx="4029075" cy="2305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4095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3CDAD-6360-16A3-7460-06FEAD036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077C8-5469-350F-F318-0E0047970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50FA66A-DAD8-3E83-F82B-69D83E302C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5C3240-B6A6-7E5C-3C63-BD287B176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no se envía el api-</a:t>
            </a:r>
            <a:r>
              <a:rPr lang="es-ES" dirty="0" err="1"/>
              <a:t>key</a:t>
            </a:r>
            <a:endParaRPr lang="es-PE" dirty="0"/>
          </a:p>
          <a:p>
            <a:endParaRPr lang="es-PE" dirty="0"/>
          </a:p>
        </p:txBody>
      </p:sp>
      <p:pic>
        <p:nvPicPr>
          <p:cNvPr id="6" name="Google Shape;446;p55">
            <a:extLst>
              <a:ext uri="{FF2B5EF4-FFF2-40B4-BE49-F238E27FC236}">
                <a16:creationId xmlns:a16="http://schemas.microsoft.com/office/drawing/2014/main" id="{4D8FF2FB-08B8-29E3-C872-55F054FAB08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9400" y="3588257"/>
            <a:ext cx="62865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47;p55">
            <a:extLst>
              <a:ext uri="{FF2B5EF4-FFF2-40B4-BE49-F238E27FC236}">
                <a16:creationId xmlns:a16="http://schemas.microsoft.com/office/drawing/2014/main" id="{B65FEC82-4E9D-1D02-4966-F73E309612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175" y="2012976"/>
            <a:ext cx="7600950" cy="1038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74630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31E20-9901-3958-6767-9CCB6E11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B67DA89-7CF3-D2BD-A843-5BBE94F596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CE7DC3-8651-7F41-D206-059C16942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se envía un api-</a:t>
            </a:r>
            <a:r>
              <a:rPr lang="es-ES" dirty="0" err="1"/>
              <a:t>key</a:t>
            </a:r>
            <a:r>
              <a:rPr lang="es-ES" dirty="0"/>
              <a:t> que no existe:</a:t>
            </a:r>
          </a:p>
          <a:p>
            <a:endParaRPr lang="es-PE" dirty="0"/>
          </a:p>
        </p:txBody>
      </p:sp>
      <p:pic>
        <p:nvPicPr>
          <p:cNvPr id="6" name="Google Shape;455;p56">
            <a:extLst>
              <a:ext uri="{FF2B5EF4-FFF2-40B4-BE49-F238E27FC236}">
                <a16:creationId xmlns:a16="http://schemas.microsoft.com/office/drawing/2014/main" id="{0514663F-24FC-4DCC-DDED-C4CA138AE72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1287" y="3659032"/>
            <a:ext cx="682942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56;p56">
            <a:extLst>
              <a:ext uri="{FF2B5EF4-FFF2-40B4-BE49-F238E27FC236}">
                <a16:creationId xmlns:a16="http://schemas.microsoft.com/office/drawing/2014/main" id="{50BE8991-9116-DD6B-E3F8-12E906313AC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938" y="1932144"/>
            <a:ext cx="7610475" cy="1266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83477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877BB-DF79-C832-0613-3306831D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E216-046F-6968-D933-8DB4AB65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FAA2C59-1E3C-3919-DA72-723E7EBF06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146851-FC35-7023-CB9F-C148F315D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se envía el api-</a:t>
            </a:r>
            <a:r>
              <a:rPr lang="es-ES" dirty="0" err="1"/>
              <a:t>key</a:t>
            </a:r>
            <a:r>
              <a:rPr lang="es-ES" dirty="0"/>
              <a:t> correcto según la documentación:</a:t>
            </a:r>
          </a:p>
          <a:p>
            <a:endParaRPr lang="es-PE" dirty="0"/>
          </a:p>
        </p:txBody>
      </p:sp>
      <p:pic>
        <p:nvPicPr>
          <p:cNvPr id="6" name="Google Shape;464;p57">
            <a:extLst>
              <a:ext uri="{FF2B5EF4-FFF2-40B4-BE49-F238E27FC236}">
                <a16:creationId xmlns:a16="http://schemas.microsoft.com/office/drawing/2014/main" id="{9B59CDB1-C5EA-FDA6-2699-AF84099427C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51871" y="1956552"/>
            <a:ext cx="6330543" cy="888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65;p57">
            <a:extLst>
              <a:ext uri="{FF2B5EF4-FFF2-40B4-BE49-F238E27FC236}">
                <a16:creationId xmlns:a16="http://schemas.microsoft.com/office/drawing/2014/main" id="{13363C83-CC17-26DD-2698-F0AA473434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9991" y="3090945"/>
            <a:ext cx="4783556" cy="27092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65758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9B37-35BA-12C1-71FE-4D6C6BE3B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A8A34-1E34-1DDD-9613-115E92A0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 y desventajas de Ajax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68BBCD3-9839-663E-49E3-3C5638AC12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B15589-DE81-505F-336E-555797A77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400" u="sng" dirty="0"/>
              <a:t>Ventajas</a:t>
            </a:r>
            <a:r>
              <a:rPr lang="es-ES" sz="1400" dirty="0"/>
              <a:t>: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400" b="1" dirty="0"/>
              <a:t>Mejor interactividad: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400" dirty="0"/>
              <a:t>AJAX permite una interacción más fácil y rápida entre el usuario y el sitio web ya que las páginas no se vuelven a cargar para que se muestre el contenido (por ejemplo fb.com) y permite una navegación más fácil para los usuarios.</a:t>
            </a:r>
          </a:p>
          <a:p>
            <a:pPr lvl="0" indent="-317500">
              <a:buSzPts val="1400"/>
              <a:buChar char="●"/>
            </a:pPr>
            <a:r>
              <a:rPr lang="es-ES" sz="1400" b="1" dirty="0"/>
              <a:t>Respaldado por marcas de renombre:</a:t>
            </a:r>
          </a:p>
          <a:p>
            <a:pPr lvl="1" indent="-317500">
              <a:lnSpc>
                <a:spcPct val="114000"/>
              </a:lnSpc>
              <a:spcBef>
                <a:spcPts val="0"/>
              </a:spcBef>
              <a:buSzPts val="1400"/>
              <a:buChar char="○"/>
            </a:pPr>
            <a:r>
              <a:rPr lang="es-ES" sz="1400" dirty="0"/>
              <a:t>Varias aplicaciones web complejas se manejan usando AJAX, Google Maps es el ejemplo más impresionante y obvio, otros scripts populares y potentes como angular.js, backbone.js o ext.js soportan de manera nativa en su código AJAX.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s-ES" sz="1400" u="sng" dirty="0"/>
              <a:t>Desventajas</a:t>
            </a:r>
            <a:r>
              <a:rPr lang="es-ES" sz="1400" dirty="0"/>
              <a:t>: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400" b="1" dirty="0"/>
              <a:t>Problema con el botón de volver y actualizar: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400" dirty="0"/>
              <a:t>En AJAX, como todas las funciones se cargan en una página dinámica sin que éste se recargue (no se cambia la URL), al hacer clic en el botón Atrás o Actualizar, se cargará una página web completamente diferente o el comienzo de lo que estaba procesando. Este es el principal inconveniente de AJAX pero, afortunadamente, con buenas habilidades de programación, este problema puede solucionarse.</a:t>
            </a:r>
          </a:p>
          <a:p>
            <a:pPr lvl="0" indent="-317500">
              <a:buSzPts val="1400"/>
              <a:buChar char="●"/>
            </a:pPr>
            <a:r>
              <a:rPr lang="es-ES" sz="1400" b="1" dirty="0"/>
              <a:t>Está construido en </a:t>
            </a:r>
            <a:r>
              <a:rPr lang="es-ES" sz="1400" b="1" dirty="0" err="1"/>
              <a:t>javascript</a:t>
            </a:r>
            <a:r>
              <a:rPr lang="es-ES" sz="1400" b="1" dirty="0"/>
              <a:t>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400" dirty="0" err="1"/>
              <a:t>Javascript</a:t>
            </a:r>
            <a:r>
              <a:rPr lang="es-ES" sz="1400" dirty="0"/>
              <a:t> puede ser desactivado, lo que hace que la aplicación AJAX sea inútil.</a:t>
            </a:r>
          </a:p>
        </p:txBody>
      </p:sp>
    </p:spTree>
    <p:extLst>
      <p:ext uri="{BB962C8B-B14F-4D97-AF65-F5344CB8AC3E}">
        <p14:creationId xmlns:p14="http://schemas.microsoft.com/office/powerpoint/2010/main" val="2006518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5FAFF-663C-9A46-4E59-124BC9A0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3C21B25-696E-A82B-62B5-DB0709FF46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E9EB8B-B402-9EB4-C0FA-6D8AA356D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u="sng" dirty="0">
                <a:solidFill>
                  <a:schemeClr val="hlink"/>
                </a:solidFill>
                <a:hlinkClick r:id="rId2"/>
              </a:rPr>
              <a:t>https://api.jquery.com/jquery.ajax/</a:t>
            </a:r>
            <a:endParaRPr lang="es-419" dirty="0"/>
          </a:p>
          <a:p>
            <a:pPr lvl="0" indent="-342900">
              <a:buSzPts val="1800"/>
              <a:buChar char="●"/>
            </a:pPr>
            <a:r>
              <a:rPr lang="es-419" u="sng" dirty="0">
                <a:solidFill>
                  <a:schemeClr val="hlink"/>
                </a:solidFill>
                <a:hlinkClick r:id="rId3"/>
              </a:rPr>
              <a:t>https://www.w3schools.com/jquery/jquery_ref_ajax.asp</a:t>
            </a:r>
            <a:endParaRPr lang="es-419" dirty="0"/>
          </a:p>
          <a:p>
            <a:pPr lvl="0" indent="-342900">
              <a:buSzPts val="1800"/>
              <a:buChar char="●"/>
            </a:pPr>
            <a:r>
              <a:rPr lang="es-419" u="sng" dirty="0">
                <a:solidFill>
                  <a:schemeClr val="hlink"/>
                </a:solidFill>
                <a:hlinkClick r:id="rId4"/>
              </a:rPr>
              <a:t>https://www.w3schools.com/js/js_json_intro.asp</a:t>
            </a:r>
            <a:endParaRPr lang="es-419" dirty="0"/>
          </a:p>
          <a:p>
            <a:pPr lvl="0" indent="-342900">
              <a:buSzPts val="1800"/>
              <a:buChar char="●"/>
            </a:pPr>
            <a:r>
              <a:rPr lang="es-419" dirty="0"/>
              <a:t>Libro </a:t>
            </a:r>
            <a:r>
              <a:rPr lang="es-419" dirty="0" err="1"/>
              <a:t>Javascript</a:t>
            </a:r>
            <a:r>
              <a:rPr lang="es-419" dirty="0"/>
              <a:t> y </a:t>
            </a:r>
            <a:r>
              <a:rPr lang="es-419" dirty="0" err="1"/>
              <a:t>Jquery</a:t>
            </a:r>
            <a:r>
              <a:rPr lang="es-419" dirty="0"/>
              <a:t>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dirty="0"/>
              <a:t>Duckett, J. (2014).</a:t>
            </a:r>
            <a:r>
              <a:rPr lang="es-419" i="1" dirty="0"/>
              <a:t> JavaScript &amp; JQuery: Interactive Front-End Web </a:t>
            </a:r>
            <a:r>
              <a:rPr lang="es-419" i="1" dirty="0" err="1"/>
              <a:t>Development</a:t>
            </a:r>
            <a:r>
              <a:rPr lang="es-419" dirty="0"/>
              <a:t>. John Wiley &amp; Sons.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947167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912</TotalTime>
  <Words>1305</Words>
  <Application>Microsoft Office PowerPoint</Application>
  <PresentationFormat>Panorámica</PresentationFormat>
  <Paragraphs>167</Paragraphs>
  <Slides>39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39</vt:i4>
      </vt:variant>
    </vt:vector>
  </HeadingPairs>
  <TitlesOfParts>
    <vt:vector size="47" baseType="lpstr">
      <vt:lpstr>Arial</vt:lpstr>
      <vt:lpstr>Caveat</vt:lpstr>
      <vt:lpstr>Montserrat</vt:lpstr>
      <vt:lpstr>Montserrat Medium</vt:lpstr>
      <vt:lpstr>Tema de Office</vt:lpstr>
      <vt:lpstr>1_Tema de Office</vt:lpstr>
      <vt:lpstr>Diseño personalizado</vt:lpstr>
      <vt:lpstr>Telecom Pucp</vt:lpstr>
      <vt:lpstr>Presentación de PowerPoint</vt:lpstr>
      <vt:lpstr>Ajax con jQuery</vt:lpstr>
      <vt:lpstr>AJAX</vt:lpstr>
      <vt:lpstr>Funcionamiento AJAX</vt:lpstr>
      <vt:lpstr>Funciones Ajax en jQuery</vt:lpstr>
      <vt:lpstr>Observación</vt:lpstr>
      <vt:lpstr>AJAX con GET</vt:lpstr>
      <vt:lpstr>Ejemplo 1 Ajax</vt:lpstr>
      <vt:lpstr>Ejemplo 1 Ajax</vt:lpstr>
      <vt:lpstr>Presentación de PowerPoint</vt:lpstr>
      <vt:lpstr>Probando: La solicitud es exitosa</vt:lpstr>
      <vt:lpstr>Resultado en la página</vt:lpstr>
      <vt:lpstr>AJAX con POST</vt:lpstr>
      <vt:lpstr>Envío de información con POST</vt:lpstr>
      <vt:lpstr>Presentación de PowerPoint</vt:lpstr>
      <vt:lpstr>Presentación de PowerPoint</vt:lpstr>
      <vt:lpstr>Presentación de PowerPoint</vt:lpstr>
      <vt:lpstr>Presentación de PowerPoint</vt:lpstr>
      <vt:lpstr>Métodos cortos para $.ajax</vt:lpstr>
      <vt:lpstr>Versiones resumidas $.GET / $.POST</vt:lpstr>
      <vt:lpstr>$.GET</vt:lpstr>
      <vt:lpstr>$.POST</vt:lpstr>
      <vt:lpstr>Ajax con JSON</vt:lpstr>
      <vt:lpstr>$.ajax</vt:lpstr>
      <vt:lpstr>Presentación de PowerPoint</vt:lpstr>
      <vt:lpstr>Presentación de PowerPoint</vt:lpstr>
      <vt:lpstr>Presentación de PowerPoint</vt:lpstr>
      <vt:lpstr>Probando</vt:lpstr>
      <vt:lpstr>$.ajax</vt:lpstr>
      <vt:lpstr>Cabeceras ajax</vt:lpstr>
      <vt:lpstr>HTML</vt:lpstr>
      <vt:lpstr>Presentación de PowerPoint</vt:lpstr>
      <vt:lpstr>Presentación de PowerPoint</vt:lpstr>
      <vt:lpstr>Presentación de PowerPoint</vt:lpstr>
      <vt:lpstr>Probando</vt:lpstr>
      <vt:lpstr>Probando</vt:lpstr>
      <vt:lpstr>Probando</vt:lpstr>
      <vt:lpstr>Ventajas y desventajas de Ajax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39</cp:revision>
  <dcterms:created xsi:type="dcterms:W3CDTF">2023-10-28T21:43:03Z</dcterms:created>
  <dcterms:modified xsi:type="dcterms:W3CDTF">2026-06-17T22:24:05Z</dcterms:modified>
</cp:coreProperties>
</file>