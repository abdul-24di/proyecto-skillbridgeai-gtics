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28"/>
  </p:notesMasterIdLst>
  <p:handoutMasterIdLst>
    <p:handoutMasterId r:id="rId29"/>
  </p:handoutMasterIdLst>
  <p:sldIdLst>
    <p:sldId id="365" r:id="rId5"/>
    <p:sldId id="366" r:id="rId6"/>
    <p:sldId id="367" r:id="rId7"/>
    <p:sldId id="368" r:id="rId8"/>
    <p:sldId id="369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383" r:id="rId23"/>
    <p:sldId id="384" r:id="rId24"/>
    <p:sldId id="385" r:id="rId25"/>
    <p:sldId id="387" r:id="rId26"/>
    <p:sldId id="386" r:id="rId2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FADC"/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3792" autoAdjust="0"/>
  </p:normalViewPr>
  <p:slideViewPr>
    <p:cSldViewPr snapToGrid="0" snapToObjects="1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10/06/2026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Junio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Junio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Junio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Junio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Junio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891033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3520994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354982" cy="679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2C522CE4-09AA-23E3-95C1-F2C3F3B8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373792"/>
            <a:ext cx="10354982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06972502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8441576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9648361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44733068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50602855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7791419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38918036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Junio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7803683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ww.w3schools.com/jsref/dom_obj_event.asp" TargetMode="Externa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jsref_obj_math.asp" TargetMode="External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js/js_loop_while.asp" TargetMode="External"/><Relationship Id="rId2" Type="http://schemas.openxmlformats.org/officeDocument/2006/relationships/hyperlink" Target="https://www.w3schools.com/js/js_loop_for.asp" TargetMode="Externa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pen.io/pen/" TargetMode="External"/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s/docs/Web/JavaScript" TargetMode="Externa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474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951C5-7798-5483-5BB3-ED0B274919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err="1"/>
              <a:t>Javascript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2A7F6F-2BB3-6892-C1D0-056B1C31F5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2736311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821A9-B220-1CA7-B28E-A0EA99562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 err="1">
                <a:solidFill>
                  <a:schemeClr val="bg2"/>
                </a:solidFill>
              </a:rPr>
              <a:t>Javascript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64B8F59-E0F4-8C2A-FD8E-69C6121807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2B2EC98-CEB0-4BA9-B1B5-6ACD144E1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 err="1"/>
              <a:t>Javascript</a:t>
            </a:r>
            <a:r>
              <a:rPr lang="es-ES" sz="2000" dirty="0"/>
              <a:t> es un lenguaje de programación que surgió con el objetivo inicial de programar ciertos comportamientos sobre las páginas web, respondiendo a la interacción del usuario y la realización de automatismos sencillos. En ese contexto podríamos decir que nació como un "lenguaje de scripting" del lado del cliente, sin embargo, hoy </a:t>
            </a:r>
            <a:r>
              <a:rPr lang="es-ES" sz="2000" dirty="0" err="1"/>
              <a:t>Javascript</a:t>
            </a:r>
            <a:r>
              <a:rPr lang="es-ES" sz="2000" dirty="0"/>
              <a:t> es mucho más. 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Las necesidades de las aplicaciones web modernas y el HTML5 ha provocado que el uso de </a:t>
            </a:r>
            <a:r>
              <a:rPr lang="es-ES" sz="2000" dirty="0" err="1"/>
              <a:t>Javascript</a:t>
            </a:r>
            <a:r>
              <a:rPr lang="es-ES" sz="2000" dirty="0"/>
              <a:t> que encontramos hoy haya llegado a unos niveles de complejidad y prestaciones tan grandes como otros lenguajes de primer nivel (como java, </a:t>
            </a:r>
            <a:r>
              <a:rPr lang="es-ES" sz="2000" dirty="0" err="1"/>
              <a:t>Php</a:t>
            </a:r>
            <a:r>
              <a:rPr lang="es-ES" sz="2000" dirty="0"/>
              <a:t>, </a:t>
            </a:r>
            <a:r>
              <a:rPr lang="es-ES" sz="2000" dirty="0" err="1"/>
              <a:t>rails</a:t>
            </a:r>
            <a:r>
              <a:rPr lang="es-ES" sz="2000" dirty="0"/>
              <a:t>, </a:t>
            </a:r>
            <a:r>
              <a:rPr lang="es-ES" sz="2000" dirty="0" err="1"/>
              <a:t>etc</a:t>
            </a:r>
            <a:r>
              <a:rPr lang="es-ES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46286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583A96-CE13-6874-8966-80CE42F54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Elemento base en </a:t>
            </a:r>
            <a:r>
              <a:rPr lang="es-ES" dirty="0" err="1"/>
              <a:t>javascript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5BFE0D2-31A4-F1A3-EA3F-6477CA24DC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2760BC-15FC-6560-D7D6-F9F1A3E47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Cuando una página web se carga el navegador crea el DOM (</a:t>
            </a:r>
            <a:r>
              <a:rPr lang="es-ES" sz="2000" dirty="0" err="1"/>
              <a:t>Document</a:t>
            </a:r>
            <a:r>
              <a:rPr lang="es-ES" sz="2000" dirty="0"/>
              <a:t> </a:t>
            </a:r>
            <a:r>
              <a:rPr lang="es-ES" sz="2000" dirty="0" err="1"/>
              <a:t>Object</a:t>
            </a:r>
            <a:r>
              <a:rPr lang="es-ES" sz="2000" dirty="0"/>
              <a:t> Model).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El DOM consiste en un árbol jerárquico de todos los TAG HTML.</a:t>
            </a:r>
          </a:p>
          <a:p>
            <a:endParaRPr lang="es-PE" sz="2000" dirty="0"/>
          </a:p>
        </p:txBody>
      </p:sp>
      <p:pic>
        <p:nvPicPr>
          <p:cNvPr id="5" name="Google Shape;91;p16">
            <a:extLst>
              <a:ext uri="{FF2B5EF4-FFF2-40B4-BE49-F238E27FC236}">
                <a16:creationId xmlns:a16="http://schemas.microsoft.com/office/drawing/2014/main" id="{5E4EF224-69D1-5B8C-8F18-14F031CFE89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89495" y="2563393"/>
            <a:ext cx="4629150" cy="2533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147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48CF6-EA23-C1BB-1462-C2952E04E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64A1E7-9543-BA72-9FDB-C0A540FE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DOM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8ADA07B-614A-4FA8-98A8-67EB267589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5888D5-522B-FAA2-AF54-D74AE827A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 err="1"/>
              <a:t>Javascript</a:t>
            </a:r>
            <a:r>
              <a:rPr lang="es-ES" dirty="0"/>
              <a:t> puede acceder a todos los elementos del DOM mediante la palabra reservada “</a:t>
            </a:r>
            <a:r>
              <a:rPr lang="es-ES" dirty="0" err="1"/>
              <a:t>document</a:t>
            </a:r>
            <a:r>
              <a:rPr lang="es-ES" dirty="0"/>
              <a:t>”, lo cual le permite entre otras cosas: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dirty="0"/>
              <a:t>Cambiar cualquier elemento HTML de la página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Cambiar cualquier atributo de las etiquetas HTML.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Cambiar el estilo (CSS) de la página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Cargar dinámicamente contenido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Eliminar contenido HTML de la página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Crear eventos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Entre </a:t>
            </a:r>
            <a:r>
              <a:rPr lang="es-ES" dirty="0" err="1"/>
              <a:t>muuuuuchas</a:t>
            </a:r>
            <a:r>
              <a:rPr lang="es-ES" dirty="0"/>
              <a:t> otras cosas más.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77691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19EF-D52E-E654-202A-63A62C82A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4FDA5-A915-E5C8-AABD-488EFF87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DOM - ejemplo</a:t>
            </a:r>
            <a:endParaRPr lang="es-PE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1EEA382-51B8-49D4-9EAE-A9EFB17CCB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C52825-D91C-5033-AD26-E2445C681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373792"/>
            <a:ext cx="5444471" cy="3843645"/>
          </a:xfrm>
        </p:spPr>
        <p:txBody>
          <a:bodyPr/>
          <a:lstStyle/>
          <a:p>
            <a:r>
              <a:rPr lang="es-ES" dirty="0"/>
              <a:t>Si tienes la siguiente página HTML, su correspondiente DOM será:</a:t>
            </a:r>
          </a:p>
          <a:p>
            <a:endParaRPr lang="es-PE" dirty="0"/>
          </a:p>
        </p:txBody>
      </p:sp>
      <p:sp>
        <p:nvSpPr>
          <p:cNvPr id="6" name="Google Shape;107;p18">
            <a:extLst>
              <a:ext uri="{FF2B5EF4-FFF2-40B4-BE49-F238E27FC236}">
                <a16:creationId xmlns:a16="http://schemas.microsoft.com/office/drawing/2014/main" id="{702EF50E-B7D9-BBCE-4B34-470B4CC17FE9}"/>
              </a:ext>
            </a:extLst>
          </p:cNvPr>
          <p:cNvSpPr/>
          <p:nvPr/>
        </p:nvSpPr>
        <p:spPr>
          <a:xfrm>
            <a:off x="7000375" y="848709"/>
            <a:ext cx="4409400" cy="4557900"/>
          </a:xfrm>
          <a:prstGeom prst="rect">
            <a:avLst/>
          </a:prstGeom>
          <a:solidFill>
            <a:srgbClr val="310000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7" name="Google Shape;108;p18">
            <a:extLst>
              <a:ext uri="{FF2B5EF4-FFF2-40B4-BE49-F238E27FC236}">
                <a16:creationId xmlns:a16="http://schemas.microsoft.com/office/drawing/2014/main" id="{162C7BB1-CAA5-49CE-E882-27DBDF7EDBCD}"/>
              </a:ext>
            </a:extLst>
          </p:cNvPr>
          <p:cNvSpPr/>
          <p:nvPr/>
        </p:nvSpPr>
        <p:spPr>
          <a:xfrm>
            <a:off x="7071500" y="940133"/>
            <a:ext cx="1269900" cy="310200"/>
          </a:xfrm>
          <a:prstGeom prst="roundRect">
            <a:avLst>
              <a:gd name="adj" fmla="val 16667"/>
            </a:avLst>
          </a:prstGeom>
          <a:solidFill>
            <a:srgbClr val="1155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document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" name="Google Shape;109;p18">
            <a:extLst>
              <a:ext uri="{FF2B5EF4-FFF2-40B4-BE49-F238E27FC236}">
                <a16:creationId xmlns:a16="http://schemas.microsoft.com/office/drawing/2014/main" id="{DDFE4F46-8EDA-4D24-1D0E-0CBF2DCE26D9}"/>
              </a:ext>
            </a:extLst>
          </p:cNvPr>
          <p:cNvSpPr/>
          <p:nvPr/>
        </p:nvSpPr>
        <p:spPr>
          <a:xfrm>
            <a:off x="7507450" y="1468909"/>
            <a:ext cx="721200" cy="265200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" name="Google Shape;110;p18">
            <a:extLst>
              <a:ext uri="{FF2B5EF4-FFF2-40B4-BE49-F238E27FC236}">
                <a16:creationId xmlns:a16="http://schemas.microsoft.com/office/drawing/2014/main" id="{570354A6-1016-77C7-1114-E759689253EF}"/>
              </a:ext>
            </a:extLst>
          </p:cNvPr>
          <p:cNvSpPr/>
          <p:nvPr/>
        </p:nvSpPr>
        <p:spPr>
          <a:xfrm>
            <a:off x="7975850" y="1838543"/>
            <a:ext cx="721200" cy="265200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" name="Google Shape;111;p18">
            <a:extLst>
              <a:ext uri="{FF2B5EF4-FFF2-40B4-BE49-F238E27FC236}">
                <a16:creationId xmlns:a16="http://schemas.microsoft.com/office/drawing/2014/main" id="{26B048E2-42F2-FC32-F3FB-4777C0836BC5}"/>
              </a:ext>
            </a:extLst>
          </p:cNvPr>
          <p:cNvSpPr/>
          <p:nvPr/>
        </p:nvSpPr>
        <p:spPr>
          <a:xfrm>
            <a:off x="7975850" y="3002122"/>
            <a:ext cx="721200" cy="265200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" name="Google Shape;112;p18">
            <a:extLst>
              <a:ext uri="{FF2B5EF4-FFF2-40B4-BE49-F238E27FC236}">
                <a16:creationId xmlns:a16="http://schemas.microsoft.com/office/drawing/2014/main" id="{6A8F858F-2CB1-5429-64AF-DB19D904BEB0}"/>
              </a:ext>
            </a:extLst>
          </p:cNvPr>
          <p:cNvSpPr/>
          <p:nvPr/>
        </p:nvSpPr>
        <p:spPr>
          <a:xfrm>
            <a:off x="8499050" y="2206422"/>
            <a:ext cx="762000" cy="265200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" name="Google Shape;113;p18">
            <a:extLst>
              <a:ext uri="{FF2B5EF4-FFF2-40B4-BE49-F238E27FC236}">
                <a16:creationId xmlns:a16="http://schemas.microsoft.com/office/drawing/2014/main" id="{0E719590-20FE-F930-6720-6A664B68CDD4}"/>
              </a:ext>
            </a:extLst>
          </p:cNvPr>
          <p:cNvSpPr/>
          <p:nvPr/>
        </p:nvSpPr>
        <p:spPr>
          <a:xfrm>
            <a:off x="8981475" y="2584572"/>
            <a:ext cx="2306400" cy="2652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Página de inicio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" name="Google Shape;114;p18">
            <a:extLst>
              <a:ext uri="{FF2B5EF4-FFF2-40B4-BE49-F238E27FC236}">
                <a16:creationId xmlns:a16="http://schemas.microsoft.com/office/drawing/2014/main" id="{2D43EE74-F0A8-69BF-0F75-1FE0FAE62E04}"/>
              </a:ext>
            </a:extLst>
          </p:cNvPr>
          <p:cNvSpPr/>
          <p:nvPr/>
        </p:nvSpPr>
        <p:spPr>
          <a:xfrm>
            <a:off x="8498900" y="4076709"/>
            <a:ext cx="548700" cy="265200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h1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" name="Google Shape;115;p18">
            <a:extLst>
              <a:ext uri="{FF2B5EF4-FFF2-40B4-BE49-F238E27FC236}">
                <a16:creationId xmlns:a16="http://schemas.microsoft.com/office/drawing/2014/main" id="{774A8B6B-F7A3-B263-41ED-6B297CFBF110}"/>
              </a:ext>
            </a:extLst>
          </p:cNvPr>
          <p:cNvSpPr/>
          <p:nvPr/>
        </p:nvSpPr>
        <p:spPr>
          <a:xfrm>
            <a:off x="8498900" y="4718509"/>
            <a:ext cx="548700" cy="265200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" name="Google Shape;116;p18">
            <a:extLst>
              <a:ext uri="{FF2B5EF4-FFF2-40B4-BE49-F238E27FC236}">
                <a16:creationId xmlns:a16="http://schemas.microsoft.com/office/drawing/2014/main" id="{8414EFEE-4BBC-A53B-CD5F-93D204B0E8D3}"/>
              </a:ext>
            </a:extLst>
          </p:cNvPr>
          <p:cNvSpPr/>
          <p:nvPr/>
        </p:nvSpPr>
        <p:spPr>
          <a:xfrm>
            <a:off x="8905250" y="3737897"/>
            <a:ext cx="1833000" cy="2652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Div por defecto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" name="Google Shape;117;p18">
            <a:extLst>
              <a:ext uri="{FF2B5EF4-FFF2-40B4-BE49-F238E27FC236}">
                <a16:creationId xmlns:a16="http://schemas.microsoft.com/office/drawing/2014/main" id="{CE658531-ACFE-252B-99AD-57912070C6E9}"/>
              </a:ext>
            </a:extLst>
          </p:cNvPr>
          <p:cNvSpPr/>
          <p:nvPr/>
        </p:nvSpPr>
        <p:spPr>
          <a:xfrm>
            <a:off x="8498900" y="3399105"/>
            <a:ext cx="548700" cy="265200"/>
          </a:xfrm>
          <a:prstGeom prst="roundRect">
            <a:avLst>
              <a:gd name="adj" fmla="val 16667"/>
            </a:avLst>
          </a:prstGeom>
          <a:solidFill>
            <a:srgbClr val="6FA8D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div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" name="Google Shape;118;p18">
            <a:extLst>
              <a:ext uri="{FF2B5EF4-FFF2-40B4-BE49-F238E27FC236}">
                <a16:creationId xmlns:a16="http://schemas.microsoft.com/office/drawing/2014/main" id="{5CDEA61A-D144-B9F0-5399-7AF2067DBC6E}"/>
              </a:ext>
            </a:extLst>
          </p:cNvPr>
          <p:cNvSpPr/>
          <p:nvPr/>
        </p:nvSpPr>
        <p:spPr>
          <a:xfrm>
            <a:off x="8905250" y="4397609"/>
            <a:ext cx="2260800" cy="2652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¿A donde deseas ir?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" name="Google Shape;119;p18">
            <a:extLst>
              <a:ext uri="{FF2B5EF4-FFF2-40B4-BE49-F238E27FC236}">
                <a16:creationId xmlns:a16="http://schemas.microsoft.com/office/drawing/2014/main" id="{3F46CC91-5EA5-67B7-92A8-A8D3C65A8A4D}"/>
              </a:ext>
            </a:extLst>
          </p:cNvPr>
          <p:cNvSpPr/>
          <p:nvPr/>
        </p:nvSpPr>
        <p:spPr>
          <a:xfrm>
            <a:off x="8905275" y="5039409"/>
            <a:ext cx="2469000" cy="2652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Planea tus vacaciones</a:t>
            </a:r>
            <a:endParaRPr sz="14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9" name="Google Shape;120;p18">
            <a:extLst>
              <a:ext uri="{FF2B5EF4-FFF2-40B4-BE49-F238E27FC236}">
                <a16:creationId xmlns:a16="http://schemas.microsoft.com/office/drawing/2014/main" id="{AA9B0910-24BE-83E6-008A-21B718624F9F}"/>
              </a:ext>
            </a:extLst>
          </p:cNvPr>
          <p:cNvCxnSpPr>
            <a:stCxn id="14" idx="2"/>
            <a:endCxn id="18" idx="1"/>
          </p:cNvCxnSpPr>
          <p:nvPr/>
        </p:nvCxnSpPr>
        <p:spPr>
          <a:xfrm rot="-5400000" flipH="1">
            <a:off x="8745050" y="5011909"/>
            <a:ext cx="188400" cy="132000"/>
          </a:xfrm>
          <a:prstGeom prst="bentConnector2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21;p18">
            <a:extLst>
              <a:ext uri="{FF2B5EF4-FFF2-40B4-BE49-F238E27FC236}">
                <a16:creationId xmlns:a16="http://schemas.microsoft.com/office/drawing/2014/main" id="{97904FB5-1A0E-0DB5-7E11-B97BA29E1BC8}"/>
              </a:ext>
            </a:extLst>
          </p:cNvPr>
          <p:cNvCxnSpPr>
            <a:stCxn id="13" idx="2"/>
            <a:endCxn id="17" idx="1"/>
          </p:cNvCxnSpPr>
          <p:nvPr/>
        </p:nvCxnSpPr>
        <p:spPr>
          <a:xfrm rot="-5400000" flipH="1">
            <a:off x="8745050" y="4370109"/>
            <a:ext cx="188400" cy="132000"/>
          </a:xfrm>
          <a:prstGeom prst="bentConnector2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22;p18">
            <a:extLst>
              <a:ext uri="{FF2B5EF4-FFF2-40B4-BE49-F238E27FC236}">
                <a16:creationId xmlns:a16="http://schemas.microsoft.com/office/drawing/2014/main" id="{0C7C68F9-FF69-7A21-C0AC-B4351FD58938}"/>
              </a:ext>
            </a:extLst>
          </p:cNvPr>
          <p:cNvCxnSpPr>
            <a:stCxn id="10" idx="2"/>
            <a:endCxn id="13" idx="1"/>
          </p:cNvCxnSpPr>
          <p:nvPr/>
        </p:nvCxnSpPr>
        <p:spPr>
          <a:xfrm rot="-5400000" flipH="1">
            <a:off x="7946750" y="3657022"/>
            <a:ext cx="942000" cy="162600"/>
          </a:xfrm>
          <a:prstGeom prst="bentConnector2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123;p18">
            <a:extLst>
              <a:ext uri="{FF2B5EF4-FFF2-40B4-BE49-F238E27FC236}">
                <a16:creationId xmlns:a16="http://schemas.microsoft.com/office/drawing/2014/main" id="{D4529967-3546-8239-6AFF-8EBA85EF6D51}"/>
              </a:ext>
            </a:extLst>
          </p:cNvPr>
          <p:cNvCxnSpPr>
            <a:stCxn id="8" idx="2"/>
            <a:endCxn id="10" idx="1"/>
          </p:cNvCxnSpPr>
          <p:nvPr/>
        </p:nvCxnSpPr>
        <p:spPr>
          <a:xfrm rot="-5400000" flipH="1">
            <a:off x="7221550" y="2380609"/>
            <a:ext cx="1400700" cy="107700"/>
          </a:xfrm>
          <a:prstGeom prst="bentConnector2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" name="Google Shape;124;p18">
            <a:extLst>
              <a:ext uri="{FF2B5EF4-FFF2-40B4-BE49-F238E27FC236}">
                <a16:creationId xmlns:a16="http://schemas.microsoft.com/office/drawing/2014/main" id="{907BDA6D-EAFA-7E6E-A56C-485A50DC23D6}"/>
              </a:ext>
            </a:extLst>
          </p:cNvPr>
          <p:cNvCxnSpPr>
            <a:endCxn id="8" idx="1"/>
          </p:cNvCxnSpPr>
          <p:nvPr/>
        </p:nvCxnSpPr>
        <p:spPr>
          <a:xfrm rot="-5400000" flipH="1">
            <a:off x="7255900" y="1349959"/>
            <a:ext cx="336300" cy="166800"/>
          </a:xfrm>
          <a:prstGeom prst="bentConnector2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" name="Google Shape;125;p18">
            <a:extLst>
              <a:ext uri="{FF2B5EF4-FFF2-40B4-BE49-F238E27FC236}">
                <a16:creationId xmlns:a16="http://schemas.microsoft.com/office/drawing/2014/main" id="{9D5A2E60-E65A-4B29-838B-FD9778EDAF12}"/>
              </a:ext>
            </a:extLst>
          </p:cNvPr>
          <p:cNvCxnSpPr>
            <a:stCxn id="9" idx="2"/>
            <a:endCxn id="11" idx="1"/>
          </p:cNvCxnSpPr>
          <p:nvPr/>
        </p:nvCxnSpPr>
        <p:spPr>
          <a:xfrm rot="-5400000" flipH="1">
            <a:off x="8300150" y="2140043"/>
            <a:ext cx="235200" cy="162600"/>
          </a:xfrm>
          <a:prstGeom prst="bentConnector2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Google Shape;126;p18">
            <a:extLst>
              <a:ext uri="{FF2B5EF4-FFF2-40B4-BE49-F238E27FC236}">
                <a16:creationId xmlns:a16="http://schemas.microsoft.com/office/drawing/2014/main" id="{B5AAC050-81A9-273C-1E07-DD8389C1E7C2}"/>
              </a:ext>
            </a:extLst>
          </p:cNvPr>
          <p:cNvCxnSpPr>
            <a:stCxn id="11" idx="2"/>
            <a:endCxn id="12" idx="1"/>
          </p:cNvCxnSpPr>
          <p:nvPr/>
        </p:nvCxnSpPr>
        <p:spPr>
          <a:xfrm rot="-5400000" flipH="1">
            <a:off x="8807900" y="2543772"/>
            <a:ext cx="245700" cy="101400"/>
          </a:xfrm>
          <a:prstGeom prst="bentConnector2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" name="Google Shape;127;p18">
            <a:extLst>
              <a:ext uri="{FF2B5EF4-FFF2-40B4-BE49-F238E27FC236}">
                <a16:creationId xmlns:a16="http://schemas.microsoft.com/office/drawing/2014/main" id="{3728C9B0-9BCC-49AD-A711-D537476D88F3}"/>
              </a:ext>
            </a:extLst>
          </p:cNvPr>
          <p:cNvCxnSpPr>
            <a:stCxn id="8" idx="2"/>
            <a:endCxn id="9" idx="1"/>
          </p:cNvCxnSpPr>
          <p:nvPr/>
        </p:nvCxnSpPr>
        <p:spPr>
          <a:xfrm rot="-5400000" flipH="1">
            <a:off x="7803400" y="1798759"/>
            <a:ext cx="237000" cy="107700"/>
          </a:xfrm>
          <a:prstGeom prst="bentConnector2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128;p18">
            <a:extLst>
              <a:ext uri="{FF2B5EF4-FFF2-40B4-BE49-F238E27FC236}">
                <a16:creationId xmlns:a16="http://schemas.microsoft.com/office/drawing/2014/main" id="{9CB29670-6C20-2DA1-5156-891F4E11D7E5}"/>
              </a:ext>
            </a:extLst>
          </p:cNvPr>
          <p:cNvCxnSpPr>
            <a:stCxn id="16" idx="2"/>
            <a:endCxn id="15" idx="1"/>
          </p:cNvCxnSpPr>
          <p:nvPr/>
        </p:nvCxnSpPr>
        <p:spPr>
          <a:xfrm rot="-5400000" flipH="1">
            <a:off x="8736200" y="3701355"/>
            <a:ext cx="206100" cy="132000"/>
          </a:xfrm>
          <a:prstGeom prst="bentConnector2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129;p18">
            <a:extLst>
              <a:ext uri="{FF2B5EF4-FFF2-40B4-BE49-F238E27FC236}">
                <a16:creationId xmlns:a16="http://schemas.microsoft.com/office/drawing/2014/main" id="{F9C7C7CB-7610-397B-642C-03B706F2328A}"/>
              </a:ext>
            </a:extLst>
          </p:cNvPr>
          <p:cNvCxnSpPr>
            <a:stCxn id="10" idx="2"/>
            <a:endCxn id="16" idx="1"/>
          </p:cNvCxnSpPr>
          <p:nvPr/>
        </p:nvCxnSpPr>
        <p:spPr>
          <a:xfrm rot="-5400000" flipH="1">
            <a:off x="8285600" y="3318172"/>
            <a:ext cx="264300" cy="162600"/>
          </a:xfrm>
          <a:prstGeom prst="bentConnector2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130;p18">
            <a:extLst>
              <a:ext uri="{FF2B5EF4-FFF2-40B4-BE49-F238E27FC236}">
                <a16:creationId xmlns:a16="http://schemas.microsoft.com/office/drawing/2014/main" id="{AE474BD3-61F9-AAE8-5A06-549C2318C6A3}"/>
              </a:ext>
            </a:extLst>
          </p:cNvPr>
          <p:cNvCxnSpPr>
            <a:stCxn id="10" idx="2"/>
            <a:endCxn id="14" idx="1"/>
          </p:cNvCxnSpPr>
          <p:nvPr/>
        </p:nvCxnSpPr>
        <p:spPr>
          <a:xfrm rot="-5400000" flipH="1">
            <a:off x="7625900" y="3977872"/>
            <a:ext cx="1583700" cy="162600"/>
          </a:xfrm>
          <a:prstGeom prst="bentConnector2">
            <a:avLst/>
          </a:prstGeom>
          <a:noFill/>
          <a:ln w="2857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0" name="Google Shape;106;p18">
            <a:extLst>
              <a:ext uri="{FF2B5EF4-FFF2-40B4-BE49-F238E27FC236}">
                <a16:creationId xmlns:a16="http://schemas.microsoft.com/office/drawing/2014/main" id="{9407E770-CBE3-B5A8-B8C6-F55E63242D2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34175" y="2455462"/>
            <a:ext cx="4500875" cy="2633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00E0-1402-4B3D-B107-886F807CB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A9222-E873-F812-3018-16BEC95F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Obtener un elemento HTML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8F707B4-B372-39AD-2272-B142209878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F04590C-01AB-0826-0735-AB5B47098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Para obtener un elemento HTML, lo realizamos por medio de su ID, mediante el comando.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	</a:t>
            </a:r>
            <a:r>
              <a:rPr lang="es-ES" sz="2000" b="1" dirty="0" err="1">
                <a:latin typeface="Source Code Pro"/>
                <a:ea typeface="Source Code Pro"/>
                <a:cs typeface="Source Code Pro"/>
                <a:sym typeface="Source Code Pro"/>
              </a:rPr>
              <a:t>document.getElementById</a:t>
            </a:r>
            <a:r>
              <a:rPr lang="es-ES" sz="2000" b="1" dirty="0">
                <a:latin typeface="Source Code Pro"/>
                <a:ea typeface="Source Code Pro"/>
                <a:cs typeface="Source Code Pro"/>
                <a:sym typeface="Source Code Pro"/>
              </a:rPr>
              <a:t>()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Dentro del paréntesis se coloca el ID del elemento que se desea manipular.</a:t>
            </a:r>
          </a:p>
          <a:p>
            <a:endParaRPr lang="es-PE" dirty="0"/>
          </a:p>
        </p:txBody>
      </p:sp>
      <p:pic>
        <p:nvPicPr>
          <p:cNvPr id="5" name="Google Shape;138;p19">
            <a:extLst>
              <a:ext uri="{FF2B5EF4-FFF2-40B4-BE49-F238E27FC236}">
                <a16:creationId xmlns:a16="http://schemas.microsoft.com/office/drawing/2014/main" id="{B0924D2B-7A45-73F6-A90A-651E78394F1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51920" y="3429000"/>
            <a:ext cx="45815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9;p19">
            <a:extLst>
              <a:ext uri="{FF2B5EF4-FFF2-40B4-BE49-F238E27FC236}">
                <a16:creationId xmlns:a16="http://schemas.microsoft.com/office/drawing/2014/main" id="{EF54A462-0F64-4B49-70DC-5A7C741FB4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408" y="3994517"/>
            <a:ext cx="5629275" cy="1209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67388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DE947-FE9C-992A-66CD-8289C63B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A8792-7679-192D-CA34-010BAA80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Elemento por clase, </a:t>
            </a:r>
            <a:r>
              <a:rPr lang="es-ES" dirty="0" err="1"/>
              <a:t>name</a:t>
            </a:r>
            <a:r>
              <a:rPr lang="es-ES" dirty="0"/>
              <a:t> y tag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98C610A-5096-D15E-3F33-C88A1F8C77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20677E-BA36-090B-ACE2-21E716BAE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También es posible obtener elementos por la clase, el nombre y el tag.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La diferencia es que estas funciones devuelven un arreglo de elementos (aún si solo hay uno) y para acceder a ellos se debe realizar como un arreglo.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Por ejemplo, para acceder al primer elemento de la clase “parrafo1”:</a:t>
            </a:r>
          </a:p>
          <a:p>
            <a:endParaRPr lang="es-PE" sz="2000" dirty="0"/>
          </a:p>
        </p:txBody>
      </p:sp>
      <p:pic>
        <p:nvPicPr>
          <p:cNvPr id="5" name="Google Shape;147;p20">
            <a:extLst>
              <a:ext uri="{FF2B5EF4-FFF2-40B4-BE49-F238E27FC236}">
                <a16:creationId xmlns:a16="http://schemas.microsoft.com/office/drawing/2014/main" id="{9D80D0EB-A924-AABB-9589-E7B9B14F685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80279" y="2634272"/>
            <a:ext cx="378142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8;p20">
            <a:extLst>
              <a:ext uri="{FF2B5EF4-FFF2-40B4-BE49-F238E27FC236}">
                <a16:creationId xmlns:a16="http://schemas.microsoft.com/office/drawing/2014/main" id="{0F40AD25-5D36-0617-D743-650F0C92A7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3516" y="4240455"/>
            <a:ext cx="7639050" cy="276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848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81E31-E224-F1DC-C86F-CD0C141B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10504-8644-620C-0E16-82B1307F7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Escritura de información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C457C6A-601D-C8A0-8B03-BD90F4CC60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305D60-6EDA-3233-725E-63C5777B5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Javascript</a:t>
            </a:r>
            <a:r>
              <a:rPr lang="es-ES" dirty="0"/>
              <a:t> permite escribir información en formato HTML en cualquier elemento que tengamos acceso, mediante el comando </a:t>
            </a:r>
            <a:r>
              <a:rPr lang="es-ES" dirty="0" err="1"/>
              <a:t>innerHTML</a:t>
            </a:r>
            <a:r>
              <a:rPr lang="es-ES" dirty="0"/>
              <a:t>.</a:t>
            </a:r>
          </a:p>
          <a:p>
            <a:endParaRPr lang="es-PE" dirty="0"/>
          </a:p>
        </p:txBody>
      </p:sp>
      <p:pic>
        <p:nvPicPr>
          <p:cNvPr id="5" name="Google Shape;156;p21">
            <a:extLst>
              <a:ext uri="{FF2B5EF4-FFF2-40B4-BE49-F238E27FC236}">
                <a16:creationId xmlns:a16="http://schemas.microsoft.com/office/drawing/2014/main" id="{98224656-3FA9-1A14-F13A-ADCA6C69E8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50272" y="2591361"/>
            <a:ext cx="46672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7;p21">
            <a:extLst>
              <a:ext uri="{FF2B5EF4-FFF2-40B4-BE49-F238E27FC236}">
                <a16:creationId xmlns:a16="http://schemas.microsoft.com/office/drawing/2014/main" id="{13190AB9-794A-50DB-1883-3262A58C36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2072" y="3281036"/>
            <a:ext cx="4820978" cy="46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58;p21">
            <a:extLst>
              <a:ext uri="{FF2B5EF4-FFF2-40B4-BE49-F238E27FC236}">
                <a16:creationId xmlns:a16="http://schemas.microsoft.com/office/drawing/2014/main" id="{43CFE9FE-7CF5-7A10-CBBA-E3F702F150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10472" y="4378449"/>
            <a:ext cx="2549427" cy="461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59;p21">
            <a:extLst>
              <a:ext uri="{FF2B5EF4-FFF2-40B4-BE49-F238E27FC236}">
                <a16:creationId xmlns:a16="http://schemas.microsoft.com/office/drawing/2014/main" id="{8482E71A-566C-8335-993F-D57434D9D59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1697" y="4272199"/>
            <a:ext cx="2761525" cy="67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60;p21">
            <a:extLst>
              <a:ext uri="{FF2B5EF4-FFF2-40B4-BE49-F238E27FC236}">
                <a16:creationId xmlns:a16="http://schemas.microsoft.com/office/drawing/2014/main" id="{E1C43752-8E7D-2BE0-42FE-A0FA58B8D996}"/>
              </a:ext>
            </a:extLst>
          </p:cNvPr>
          <p:cNvSpPr/>
          <p:nvPr/>
        </p:nvSpPr>
        <p:spPr>
          <a:xfrm>
            <a:off x="5811397" y="4378428"/>
            <a:ext cx="660900" cy="461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2624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8C0F3-D6C9-78C4-5C10-82491872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23526-EA76-2EA8-0318-1EE59D66C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Eventos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D39621C-7544-9416-E4A8-29CE6470D4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A13BF2-512C-E74B-357D-9D5AE3286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HTML tiene una cantidad de eventos que son acciones que suceden ante cierta acción del usuario: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1800" dirty="0" err="1"/>
              <a:t>onclick</a:t>
            </a:r>
            <a:endParaRPr lang="es-ES" sz="18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 err="1"/>
              <a:t>onchange</a:t>
            </a:r>
            <a:endParaRPr lang="es-ES" sz="18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 err="1"/>
              <a:t>onmouseover</a:t>
            </a:r>
            <a:endParaRPr lang="es-ES" sz="18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 err="1"/>
              <a:t>onmouseout</a:t>
            </a:r>
            <a:endParaRPr lang="es-ES" sz="1800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entre otros, puede encontrar la lista completa en: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800" i="1" u="sng" dirty="0">
                <a:solidFill>
                  <a:schemeClr val="hlink"/>
                </a:solidFill>
                <a:hlinkClick r:id="rId2"/>
              </a:rPr>
              <a:t>https://www.w3schools.com/jsref/dom_obj_event.asp</a:t>
            </a:r>
            <a:endParaRPr lang="es-ES" sz="1800" i="1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Por ejemplo: Para cambiar el texto al presionar el botón:</a:t>
            </a:r>
          </a:p>
          <a:p>
            <a:endParaRPr lang="es-PE" dirty="0"/>
          </a:p>
        </p:txBody>
      </p:sp>
      <p:pic>
        <p:nvPicPr>
          <p:cNvPr id="5" name="Google Shape;168;p22">
            <a:extLst>
              <a:ext uri="{FF2B5EF4-FFF2-40B4-BE49-F238E27FC236}">
                <a16:creationId xmlns:a16="http://schemas.microsoft.com/office/drawing/2014/main" id="{DB5503D5-219F-A067-A130-D599FC65E65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167" y="3863280"/>
            <a:ext cx="9143999" cy="894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9;p22">
            <a:extLst>
              <a:ext uri="{FF2B5EF4-FFF2-40B4-BE49-F238E27FC236}">
                <a16:creationId xmlns:a16="http://schemas.microsoft.com/office/drawing/2014/main" id="{CD3ACB41-5594-3E0B-5918-662981FBA66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9867" y="4941131"/>
            <a:ext cx="1476375" cy="4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70;p22">
            <a:extLst>
              <a:ext uri="{FF2B5EF4-FFF2-40B4-BE49-F238E27FC236}">
                <a16:creationId xmlns:a16="http://schemas.microsoft.com/office/drawing/2014/main" id="{18D23890-E9DF-50C5-FE16-57CCC25F96D3}"/>
              </a:ext>
            </a:extLst>
          </p:cNvPr>
          <p:cNvSpPr/>
          <p:nvPr/>
        </p:nvSpPr>
        <p:spPr>
          <a:xfrm>
            <a:off x="5258067" y="4929648"/>
            <a:ext cx="660900" cy="461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Google Shape;171;p22">
            <a:extLst>
              <a:ext uri="{FF2B5EF4-FFF2-40B4-BE49-F238E27FC236}">
                <a16:creationId xmlns:a16="http://schemas.microsoft.com/office/drawing/2014/main" id="{77080DBB-B988-4194-0E21-8446A57E99A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9355" y="4750623"/>
            <a:ext cx="2543175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8;p22">
            <a:extLst>
              <a:ext uri="{FF2B5EF4-FFF2-40B4-BE49-F238E27FC236}">
                <a16:creationId xmlns:a16="http://schemas.microsoft.com/office/drawing/2014/main" id="{F79B40A3-1901-15E7-47B3-A0425EA642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3863280"/>
            <a:ext cx="9143999" cy="89423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0;p22">
            <a:extLst>
              <a:ext uri="{FF2B5EF4-FFF2-40B4-BE49-F238E27FC236}">
                <a16:creationId xmlns:a16="http://schemas.microsoft.com/office/drawing/2014/main" id="{DE1886C0-DEA0-652A-6A22-3587CD5319C2}"/>
              </a:ext>
            </a:extLst>
          </p:cNvPr>
          <p:cNvSpPr/>
          <p:nvPr/>
        </p:nvSpPr>
        <p:spPr>
          <a:xfrm>
            <a:off x="5256900" y="4929648"/>
            <a:ext cx="660900" cy="4611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662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2FD28-E536-CD02-A9EA-9EB496415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9C343-EDC7-3217-CE30-2D4331E89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Otras funcionalidades adicionales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80DA938-93BD-CD59-B053-17B4595449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22A4BA-3D43-F7CC-A775-E800B1FDD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Para cambiar el </a:t>
            </a:r>
            <a:r>
              <a:rPr lang="es-ES" sz="2000" dirty="0" err="1"/>
              <a:t>src</a:t>
            </a:r>
            <a:r>
              <a:rPr lang="es-ES" sz="2000" dirty="0"/>
              <a:t> de una imagen: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Para cambiar el estilo de algún elemento: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→ Para ocultarlo: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→ Para mostrarlo: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→ Para cambiar el tamaño de fuente:</a:t>
            </a:r>
          </a:p>
          <a:p>
            <a:endParaRPr lang="es-PE" sz="2000" dirty="0"/>
          </a:p>
        </p:txBody>
      </p:sp>
      <p:pic>
        <p:nvPicPr>
          <p:cNvPr id="5" name="Google Shape;179;p23">
            <a:extLst>
              <a:ext uri="{FF2B5EF4-FFF2-40B4-BE49-F238E27FC236}">
                <a16:creationId xmlns:a16="http://schemas.microsoft.com/office/drawing/2014/main" id="{1D1B4409-24B2-919A-E33A-0FC0E450108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88437" y="1876256"/>
            <a:ext cx="58769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0;p23">
            <a:extLst>
              <a:ext uri="{FF2B5EF4-FFF2-40B4-BE49-F238E27FC236}">
                <a16:creationId xmlns:a16="http://schemas.microsoft.com/office/drawing/2014/main" id="{CBD672CC-A5A0-0001-4A05-EE43B9EF0B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437" y="3271157"/>
            <a:ext cx="60960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81;p23">
            <a:extLst>
              <a:ext uri="{FF2B5EF4-FFF2-40B4-BE49-F238E27FC236}">
                <a16:creationId xmlns:a16="http://schemas.microsoft.com/office/drawing/2014/main" id="{EAF676D9-B669-5130-42DA-AD4B27179A6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737" y="4192170"/>
            <a:ext cx="61436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2;p23">
            <a:extLst>
              <a:ext uri="{FF2B5EF4-FFF2-40B4-BE49-F238E27FC236}">
                <a16:creationId xmlns:a16="http://schemas.microsoft.com/office/drawing/2014/main" id="{5DEE2A0B-8756-48E4-8B7C-6EACEE0BE23B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2737" y="5055912"/>
            <a:ext cx="6172200" cy="3238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3377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E562-2848-E514-F1EF-3FE5D1BDF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827BEE-38DB-F684-F213-DDCB3A027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AAC1EB9-1F83-ED00-8859-1CDDDDA42A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97BD6D-642A-3FB1-5514-BA1374EE0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 err="1"/>
              <a:t>Javascript</a:t>
            </a:r>
            <a:r>
              <a:rPr lang="es-ES" dirty="0"/>
              <a:t> soporta también la definición de funciones, mediante la palabra reservada </a:t>
            </a:r>
            <a:r>
              <a:rPr lang="es-ES" b="1" dirty="0" err="1"/>
              <a:t>function</a:t>
            </a:r>
            <a:r>
              <a:rPr lang="es-ES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Por ejemplo: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Replicamos el ejemplo de la diapositiva 10 pero usando una función:</a:t>
            </a:r>
          </a:p>
          <a:p>
            <a:endParaRPr lang="es-PE" dirty="0"/>
          </a:p>
        </p:txBody>
      </p:sp>
      <p:pic>
        <p:nvPicPr>
          <p:cNvPr id="5" name="Google Shape;190;p24">
            <a:extLst>
              <a:ext uri="{FF2B5EF4-FFF2-40B4-BE49-F238E27FC236}">
                <a16:creationId xmlns:a16="http://schemas.microsoft.com/office/drawing/2014/main" id="{6A095ADB-EB14-BC70-2635-2B60C6916E9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09250" y="3142458"/>
            <a:ext cx="8520600" cy="1636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91;p24">
            <a:extLst>
              <a:ext uri="{FF2B5EF4-FFF2-40B4-BE49-F238E27FC236}">
                <a16:creationId xmlns:a16="http://schemas.microsoft.com/office/drawing/2014/main" id="{4B0874F6-67BA-B91D-7A37-557AA680073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8613" y="5023141"/>
            <a:ext cx="5461867" cy="4610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6390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14B2C-6108-B455-71A1-12123F03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8ACA4-A4BA-DC06-A028-403824652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Depurar información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1D7B026-FD19-6FB0-15E3-12035DF97E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5F254F-4AEB-BB0D-F894-5B265B759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 err="1"/>
              <a:t>Javascript</a:t>
            </a:r>
            <a:r>
              <a:rPr lang="es-ES" sz="2000" dirty="0"/>
              <a:t> permite mostrar información de diversas maneras, dos muy importantes son: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2000" b="1" dirty="0" err="1"/>
              <a:t>alert</a:t>
            </a:r>
            <a:r>
              <a:rPr lang="es-ES" sz="2000" b="1" dirty="0"/>
              <a:t>()</a:t>
            </a:r>
            <a:r>
              <a:rPr lang="es-ES" sz="2000" dirty="0"/>
              <a:t> → Muestra una alerta en la página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2000" b="1" dirty="0"/>
              <a:t>console.log()</a:t>
            </a:r>
            <a:r>
              <a:rPr lang="es-ES" sz="2000" dirty="0"/>
              <a:t> → Muestra información en consola, la cual puede ser accedida en </a:t>
            </a:r>
            <a:r>
              <a:rPr lang="es-ES" sz="2000" dirty="0" err="1"/>
              <a:t>google</a:t>
            </a:r>
            <a:r>
              <a:rPr lang="es-ES" sz="2000" dirty="0"/>
              <a:t> </a:t>
            </a:r>
            <a:r>
              <a:rPr lang="es-ES" sz="2000" dirty="0" err="1"/>
              <a:t>chrome</a:t>
            </a:r>
            <a:r>
              <a:rPr lang="es-ES" sz="2000" dirty="0"/>
              <a:t> presionando clic derecho e inspector de elementos. Así mismo, para ver la consola, en el inspector, presionar escape o entrar a la pestaña consola.</a:t>
            </a:r>
          </a:p>
          <a:p>
            <a:endParaRPr lang="es-PE" sz="2000" dirty="0"/>
          </a:p>
        </p:txBody>
      </p:sp>
      <p:pic>
        <p:nvPicPr>
          <p:cNvPr id="5" name="Google Shape;199;p25">
            <a:extLst>
              <a:ext uri="{FF2B5EF4-FFF2-40B4-BE49-F238E27FC236}">
                <a16:creationId xmlns:a16="http://schemas.microsoft.com/office/drawing/2014/main" id="{9BECE657-668A-9205-72E7-A22C246612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3978" t="39400" b="39409"/>
          <a:stretch/>
        </p:blipFill>
        <p:spPr>
          <a:xfrm>
            <a:off x="1470593" y="2326402"/>
            <a:ext cx="2335125" cy="25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00;p25">
            <a:extLst>
              <a:ext uri="{FF2B5EF4-FFF2-40B4-BE49-F238E27FC236}">
                <a16:creationId xmlns:a16="http://schemas.microsoft.com/office/drawing/2014/main" id="{9135AA3D-A857-4756-027C-08B2B50AEF9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9547" b="19346"/>
          <a:stretch/>
        </p:blipFill>
        <p:spPr>
          <a:xfrm>
            <a:off x="1763556" y="3909608"/>
            <a:ext cx="2495550" cy="25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01;p25">
            <a:extLst>
              <a:ext uri="{FF2B5EF4-FFF2-40B4-BE49-F238E27FC236}">
                <a16:creationId xmlns:a16="http://schemas.microsoft.com/office/drawing/2014/main" id="{5EC67093-B07F-F5C1-6B9A-5D7D4EC9921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28744"/>
          <a:stretch/>
        </p:blipFill>
        <p:spPr>
          <a:xfrm>
            <a:off x="5373644" y="3909608"/>
            <a:ext cx="3152775" cy="1574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3950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3EFA0-11A8-D553-FC04-EB1D64EC4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88655-90C7-A84B-3426-06E7C686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Comentarios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12D6DB1-9677-4A88-8A92-811E2559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ABD305-DFC9-A3AA-7513-DA2C820F0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hacer comentarios en </a:t>
            </a:r>
            <a:r>
              <a:rPr lang="es-ES" dirty="0" err="1"/>
              <a:t>javascript</a:t>
            </a:r>
            <a:r>
              <a:rPr lang="es-ES" dirty="0"/>
              <a:t>, puede ser de una línea con </a:t>
            </a:r>
            <a:r>
              <a:rPr lang="es-ES" b="1" dirty="0"/>
              <a:t>//</a:t>
            </a:r>
            <a:r>
              <a:rPr lang="es-ES" dirty="0"/>
              <a:t> o multilínea con </a:t>
            </a:r>
            <a:r>
              <a:rPr lang="es-ES" b="1" dirty="0"/>
              <a:t>/*    */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04973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2CA3-3692-02FD-FFB2-F8D0C08FD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2A6A6D-9438-6317-06C7-C5338A24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D93F9C0-91DF-7995-38E3-C89C296603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33B6905-6EEC-8EC7-8B83-021CC7884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En </a:t>
            </a:r>
            <a:r>
              <a:rPr lang="es-ES" sz="1800" dirty="0" err="1"/>
              <a:t>javascript</a:t>
            </a:r>
            <a:r>
              <a:rPr lang="es-ES" sz="1800" dirty="0"/>
              <a:t> las variables tiene dos ámbitos: globales y locales: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800" dirty="0"/>
              <a:t>Variables locales: creadas dentro de una función con la palabra “</a:t>
            </a:r>
            <a:r>
              <a:rPr lang="es-ES" sz="1800" b="1" dirty="0" err="1"/>
              <a:t>let</a:t>
            </a:r>
            <a:r>
              <a:rPr lang="es-ES" sz="1800" dirty="0"/>
              <a:t>” por delante.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800" dirty="0"/>
              <a:t>Variables globales: creadas al nivel del tag &lt;script&gt; y accesibles desde cualquier función y línea de código en </a:t>
            </a:r>
            <a:r>
              <a:rPr lang="es-ES" sz="1800" dirty="0" err="1"/>
              <a:t>javascript</a:t>
            </a:r>
            <a:r>
              <a:rPr lang="es-ES" sz="1800" dirty="0"/>
              <a:t> (posterior a su creación).</a:t>
            </a:r>
          </a:p>
          <a:p>
            <a:pPr lvl="0" indent="-342900">
              <a:buSzPts val="1800"/>
              <a:buChar char="●"/>
            </a:pPr>
            <a:r>
              <a:rPr lang="es-ES" sz="1800" dirty="0"/>
              <a:t>Las variables pueden tener como primera letra: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800" dirty="0"/>
              <a:t>una letra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800" dirty="0"/>
              <a:t>$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ES" sz="1800" dirty="0"/>
              <a:t>_</a:t>
            </a:r>
          </a:p>
          <a:p>
            <a:pPr lvl="0" indent="-342900">
              <a:buSzPts val="1800"/>
              <a:buChar char="●"/>
            </a:pPr>
            <a:r>
              <a:rPr lang="es-ES" sz="1800" dirty="0"/>
              <a:t> No pueden tener un número como primera letra.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→ Por defecto, una variable creada y sin asignación tiene el valor de “</a:t>
            </a:r>
            <a:r>
              <a:rPr lang="es-ES" sz="1800" dirty="0" err="1"/>
              <a:t>undefined</a:t>
            </a:r>
            <a:r>
              <a:rPr lang="es-ES" sz="1800" dirty="0"/>
              <a:t>”.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44680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F1D16-B0D2-BF88-AD39-E463C78FB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943AC-005D-1D0D-6C3C-A571C839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5D6CC04-5493-B9AD-C57F-1591240257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0BFEC3-788B-BBFD-18E8-6480362B9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Algunos operadores en </a:t>
            </a:r>
            <a:r>
              <a:rPr lang="es-ES" sz="2000" dirty="0" err="1"/>
              <a:t>javascript</a:t>
            </a:r>
            <a:r>
              <a:rPr lang="es-ES" sz="2000" dirty="0"/>
              <a:t>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2000" dirty="0"/>
              <a:t>++    --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+=    -=     *=     /=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== (compara valor)    === (compara valor y tipo de dato)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&amp;&amp; (y lógico)    || (o lógico)     ! (negación)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ternario:    ?   :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Algunas operaciones se pueden realizar con funciones de la clase Math, como: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2000" dirty="0"/>
              <a:t>potencia → </a:t>
            </a:r>
            <a:r>
              <a:rPr lang="es-ES" sz="2000" dirty="0" err="1"/>
              <a:t>pow</a:t>
            </a:r>
            <a:r>
              <a:rPr lang="es-ES" sz="2000" dirty="0"/>
              <a:t> (</a:t>
            </a:r>
            <a:r>
              <a:rPr lang="es-ES" sz="2000" dirty="0" err="1"/>
              <a:t>x,y</a:t>
            </a:r>
            <a:r>
              <a:rPr lang="es-ES" sz="2000" dirty="0"/>
              <a:t>)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raíz cuadrada → </a:t>
            </a:r>
            <a:r>
              <a:rPr lang="es-ES" sz="2000" dirty="0" err="1"/>
              <a:t>sqrt</a:t>
            </a:r>
            <a:r>
              <a:rPr lang="es-ES" sz="2000" dirty="0"/>
              <a:t> (x)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Una lista completa de funciones y constantes en: </a:t>
            </a:r>
            <a:r>
              <a:rPr lang="es-ES" sz="2000" i="1" u="sng" dirty="0">
                <a:solidFill>
                  <a:schemeClr val="hlink"/>
                </a:solidFill>
                <a:hlinkClick r:id="rId2"/>
              </a:rPr>
              <a:t>https://www.w3schools.com/jsref/jsref_obj_math.asp</a:t>
            </a:r>
            <a:endParaRPr lang="es-ES" sz="2000" i="1" dirty="0"/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2594349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5EE28-1CF8-4387-FA3E-6271FBE7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0AA13-33B6-500D-E116-0B3BD549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Arreglos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FE4BFB9-7C88-53FE-D99D-8391B83E1D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6EBEDA-F715-6092-00EF-1943E6082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Crear un arreglo vacío: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En </a:t>
            </a:r>
            <a:r>
              <a:rPr lang="es-ES" sz="1800" dirty="0" err="1"/>
              <a:t>Javascript</a:t>
            </a:r>
            <a:r>
              <a:rPr lang="es-ES" sz="1800" dirty="0"/>
              <a:t> se le puede colocar un tamaño del arreglo pero el lenguaje lo obviara.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Crear un arreglo con valores: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Acceder a un valor del arreglo: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4000" dirty="0"/>
          </a:p>
          <a:p>
            <a:pPr marL="0" lvl="0" indent="0">
              <a:spcBef>
                <a:spcPts val="1600"/>
              </a:spcBef>
              <a:buNone/>
            </a:pPr>
            <a:endParaRPr lang="es-ES" sz="40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Asignar un valor a un elemento del arreglo (comienzan con índice 0):</a:t>
            </a:r>
          </a:p>
          <a:p>
            <a:endParaRPr lang="es-PE" dirty="0"/>
          </a:p>
        </p:txBody>
      </p:sp>
      <p:pic>
        <p:nvPicPr>
          <p:cNvPr id="5" name="Google Shape;230;p29">
            <a:extLst>
              <a:ext uri="{FF2B5EF4-FFF2-40B4-BE49-F238E27FC236}">
                <a16:creationId xmlns:a16="http://schemas.microsoft.com/office/drawing/2014/main" id="{47939DB0-2BD0-B8D8-DF78-3534D9FFBD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13621" y="1627185"/>
            <a:ext cx="2105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31;p29">
            <a:extLst>
              <a:ext uri="{FF2B5EF4-FFF2-40B4-BE49-F238E27FC236}">
                <a16:creationId xmlns:a16="http://schemas.microsoft.com/office/drawing/2014/main" id="{D810DCDE-862B-0846-F2FC-0075816957E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621" y="2701984"/>
            <a:ext cx="5035191" cy="524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232;p29">
            <a:extLst>
              <a:ext uri="{FF2B5EF4-FFF2-40B4-BE49-F238E27FC236}">
                <a16:creationId xmlns:a16="http://schemas.microsoft.com/office/drawing/2014/main" id="{52C69F9E-D339-034A-36F9-D6ED4C7A8F79}"/>
              </a:ext>
            </a:extLst>
          </p:cNvPr>
          <p:cNvCxnSpPr/>
          <p:nvPr/>
        </p:nvCxnSpPr>
        <p:spPr>
          <a:xfrm rot="10800000">
            <a:off x="4953529" y="3069792"/>
            <a:ext cx="239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" name="Google Shape;233;p29">
            <a:extLst>
              <a:ext uri="{FF2B5EF4-FFF2-40B4-BE49-F238E27FC236}">
                <a16:creationId xmlns:a16="http://schemas.microsoft.com/office/drawing/2014/main" id="{C159DAFE-089B-E0E5-38E9-9426F1F213CB}"/>
              </a:ext>
            </a:extLst>
          </p:cNvPr>
          <p:cNvSpPr txBox="1"/>
          <p:nvPr/>
        </p:nvSpPr>
        <p:spPr>
          <a:xfrm>
            <a:off x="7346329" y="2846645"/>
            <a:ext cx="17253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/>
              <a:t>Imprimir la longitud del arreglo</a:t>
            </a:r>
            <a:endParaRPr sz="1200" dirty="0"/>
          </a:p>
        </p:txBody>
      </p:sp>
      <p:pic>
        <p:nvPicPr>
          <p:cNvPr id="9" name="Google Shape;234;p29">
            <a:extLst>
              <a:ext uri="{FF2B5EF4-FFF2-40B4-BE49-F238E27FC236}">
                <a16:creationId xmlns:a16="http://schemas.microsoft.com/office/drawing/2014/main" id="{B097CC15-D0AB-F9C4-28F4-873C8B33110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6129" y="3673148"/>
            <a:ext cx="5210175" cy="828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" name="Google Shape;235;p29">
            <a:extLst>
              <a:ext uri="{FF2B5EF4-FFF2-40B4-BE49-F238E27FC236}">
                <a16:creationId xmlns:a16="http://schemas.microsoft.com/office/drawing/2014/main" id="{DA6F62FE-E9FD-B44D-499B-835AF6278C52}"/>
              </a:ext>
            </a:extLst>
          </p:cNvPr>
          <p:cNvCxnSpPr/>
          <p:nvPr/>
        </p:nvCxnSpPr>
        <p:spPr>
          <a:xfrm rot="10800000">
            <a:off x="4628681" y="4093839"/>
            <a:ext cx="2392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236;p29">
            <a:extLst>
              <a:ext uri="{FF2B5EF4-FFF2-40B4-BE49-F238E27FC236}">
                <a16:creationId xmlns:a16="http://schemas.microsoft.com/office/drawing/2014/main" id="{9EB042D5-4BB0-6482-91D5-7958E355DBE3}"/>
              </a:ext>
            </a:extLst>
          </p:cNvPr>
          <p:cNvSpPr txBox="1"/>
          <p:nvPr/>
        </p:nvSpPr>
        <p:spPr>
          <a:xfrm>
            <a:off x="7339164" y="3847157"/>
            <a:ext cx="21924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dirty="0"/>
              <a:t>muestra en consola:</a:t>
            </a: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i="1" dirty="0"/>
              <a:t>plátano </a:t>
            </a:r>
            <a:r>
              <a:rPr lang="es-419" sz="1200" dirty="0"/>
              <a:t>y debajo </a:t>
            </a:r>
            <a:r>
              <a:rPr lang="es-419" sz="1200" i="1" dirty="0"/>
              <a:t>pera</a:t>
            </a:r>
            <a:endParaRPr sz="1200" i="1" dirty="0"/>
          </a:p>
        </p:txBody>
      </p:sp>
      <p:pic>
        <p:nvPicPr>
          <p:cNvPr id="12" name="Google Shape;237;p29">
            <a:extLst>
              <a:ext uri="{FF2B5EF4-FFF2-40B4-BE49-F238E27FC236}">
                <a16:creationId xmlns:a16="http://schemas.microsoft.com/office/drawing/2014/main" id="{8F17AB0F-0596-A5CA-3566-C53185B915E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26129" y="4987714"/>
            <a:ext cx="2733675" cy="266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7564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91723-A738-3C94-C412-3F741498A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0160C-83F5-EC84-7C1E-7CF595BE3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FE80D06-E303-C73D-9C7E-98D8838A7B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A74582-A16A-C392-44CE-4ACC40705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Crear un objeto vacío: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Crear un objeto con valores: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sz="3200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El objeto2 tiene 5 atributos, de los cuales 1 de ellos es una función “</a:t>
            </a:r>
            <a:r>
              <a:rPr lang="es-ES" dirty="0" err="1"/>
              <a:t>nombreCompleto</a:t>
            </a:r>
            <a:r>
              <a:rPr lang="es-ES" dirty="0"/>
              <a:t>”.</a:t>
            </a:r>
          </a:p>
          <a:p>
            <a:endParaRPr lang="es-PE" dirty="0"/>
          </a:p>
        </p:txBody>
      </p:sp>
      <p:pic>
        <p:nvPicPr>
          <p:cNvPr id="5" name="Google Shape;245;p30">
            <a:extLst>
              <a:ext uri="{FF2B5EF4-FFF2-40B4-BE49-F238E27FC236}">
                <a16:creationId xmlns:a16="http://schemas.microsoft.com/office/drawing/2014/main" id="{001579E8-DEA9-5971-EBB8-C9C4FFDA69D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89317" y="1846262"/>
            <a:ext cx="18669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46;p30">
            <a:extLst>
              <a:ext uri="{FF2B5EF4-FFF2-40B4-BE49-F238E27FC236}">
                <a16:creationId xmlns:a16="http://schemas.microsoft.com/office/drawing/2014/main" id="{B7665128-1CD7-9FDD-CE13-90C402BF769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9317" y="2648014"/>
            <a:ext cx="4450218" cy="17556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3447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9FCAA-19F9-FDE6-6F3F-8EAAA7E9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9C3B7-3BFC-45A4-4E94-8B81B7FF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7FE1A8F-CA08-AF2B-7A35-F13F14DE86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EC9DB-5E08-B389-9E8F-3CB5DDF4D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Acceder a un atributo del objeto: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Agregar un atributo adicional: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40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Utilizar la función “</a:t>
            </a:r>
            <a:r>
              <a:rPr lang="es-ES" dirty="0" err="1"/>
              <a:t>nombreCompleto</a:t>
            </a:r>
            <a:r>
              <a:rPr lang="es-ES" dirty="0"/>
              <a:t>”:</a:t>
            </a:r>
          </a:p>
          <a:p>
            <a:endParaRPr lang="es-PE" dirty="0"/>
          </a:p>
        </p:txBody>
      </p:sp>
      <p:pic>
        <p:nvPicPr>
          <p:cNvPr id="5" name="Google Shape;254;p31">
            <a:extLst>
              <a:ext uri="{FF2B5EF4-FFF2-40B4-BE49-F238E27FC236}">
                <a16:creationId xmlns:a16="http://schemas.microsoft.com/office/drawing/2014/main" id="{A6B2568A-17F2-41FD-7600-F9D57FD7AFB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343197" y="1939448"/>
            <a:ext cx="27717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55;p31">
            <a:extLst>
              <a:ext uri="{FF2B5EF4-FFF2-40B4-BE49-F238E27FC236}">
                <a16:creationId xmlns:a16="http://schemas.microsoft.com/office/drawing/2014/main" id="{D801AF26-A3FC-1A19-8C2C-DFBB7106A5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197" y="3057555"/>
            <a:ext cx="2974000" cy="57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56;p31">
            <a:extLst>
              <a:ext uri="{FF2B5EF4-FFF2-40B4-BE49-F238E27FC236}">
                <a16:creationId xmlns:a16="http://schemas.microsoft.com/office/drawing/2014/main" id="{B69DFE14-ABED-B541-B51F-6DC55CC385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3197" y="4361588"/>
            <a:ext cx="7467600" cy="247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83492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C0117-7FA7-73B4-F983-D5455F992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0DB8D-A774-36AA-5793-B1BABFCF1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Iteraciones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0DC7C95-FA0E-8BE1-1A6D-2601E93C00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793C523-CA73-3BBD-CA7E-42E28BCEB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Para realizar iteraciones, se tienen disponibles los bucles </a:t>
            </a:r>
            <a:r>
              <a:rPr lang="es-ES" dirty="0" err="1"/>
              <a:t>for</a:t>
            </a:r>
            <a:r>
              <a:rPr lang="es-ES" dirty="0"/>
              <a:t>, </a:t>
            </a:r>
            <a:r>
              <a:rPr lang="es-ES" dirty="0" err="1"/>
              <a:t>while</a:t>
            </a:r>
            <a:r>
              <a:rPr lang="es-ES" dirty="0"/>
              <a:t> y do </a:t>
            </a:r>
            <a:r>
              <a:rPr lang="es-ES" dirty="0" err="1"/>
              <a:t>while</a:t>
            </a:r>
            <a:r>
              <a:rPr lang="es-ES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Su funcionamiento es igual al de Java y funcionan de la mano con las sentencias break y continue (en caso sean necesarias). 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Para más información: </a:t>
            </a:r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800" dirty="0" err="1"/>
              <a:t>for</a:t>
            </a:r>
            <a:r>
              <a:rPr lang="es-ES" sz="1800" dirty="0"/>
              <a:t>: </a:t>
            </a:r>
            <a:r>
              <a:rPr lang="es-ES" sz="1800" i="1" u="sng" dirty="0">
                <a:solidFill>
                  <a:schemeClr val="hlink"/>
                </a:solidFill>
                <a:hlinkClick r:id="rId2"/>
              </a:rPr>
              <a:t>https://www.w3schools.com/js/js_loop_for.asp</a:t>
            </a:r>
            <a:endParaRPr lang="es-ES" sz="1800" i="1" dirty="0"/>
          </a:p>
          <a:p>
            <a:pPr lvl="0" indent="-317500">
              <a:spcBef>
                <a:spcPts val="0"/>
              </a:spcBef>
              <a:buSzPts val="1400"/>
              <a:buChar char="●"/>
            </a:pPr>
            <a:r>
              <a:rPr lang="es-ES" sz="1800" dirty="0" err="1"/>
              <a:t>while</a:t>
            </a:r>
            <a:r>
              <a:rPr lang="es-ES" sz="1800" dirty="0"/>
              <a:t>/do </a:t>
            </a:r>
            <a:r>
              <a:rPr lang="es-ES" sz="1800" dirty="0" err="1"/>
              <a:t>while</a:t>
            </a:r>
            <a:r>
              <a:rPr lang="es-ES" sz="1800" dirty="0"/>
              <a:t>: </a:t>
            </a:r>
            <a:r>
              <a:rPr lang="es-ES" sz="1800" i="1" u="sng" dirty="0">
                <a:solidFill>
                  <a:schemeClr val="hlink"/>
                </a:solidFill>
                <a:hlinkClick r:id="rId3"/>
              </a:rPr>
              <a:t>https://www.w3schools.com/js/js_loop_while.asp</a:t>
            </a:r>
            <a:endParaRPr lang="es-ES" sz="1800" i="1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401902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6A5E7-A0A6-3F9A-74B5-8D6E522B9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322DD-8F42-DCC0-BB82-7E206DF8F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Formularios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79FB8D7-D401-9300-2DEE-DFE59082E4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1AB9A3-F46E-1E3F-4674-6B41E29C1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373792"/>
            <a:ext cx="5381718" cy="3843645"/>
          </a:xfrm>
        </p:spPr>
        <p:txBody>
          <a:bodyPr/>
          <a:lstStyle/>
          <a:p>
            <a:r>
              <a:rPr lang="es-ES" dirty="0" err="1"/>
              <a:t>Javascript</a:t>
            </a:r>
            <a:r>
              <a:rPr lang="es-ES" dirty="0"/>
              <a:t> permite adicionar un nivel más de validación a un formulario por medio del evento </a:t>
            </a:r>
            <a:r>
              <a:rPr lang="es-ES" dirty="0" err="1"/>
              <a:t>onsubmit</a:t>
            </a:r>
            <a:r>
              <a:rPr lang="es-ES" dirty="0"/>
              <a:t> y colocando “</a:t>
            </a:r>
            <a:r>
              <a:rPr lang="es-ES" dirty="0" err="1"/>
              <a:t>return</a:t>
            </a:r>
            <a:r>
              <a:rPr lang="es-ES" dirty="0"/>
              <a:t>” dentro del mismo evento, caso contrario, no funciona.</a:t>
            </a:r>
          </a:p>
          <a:p>
            <a:endParaRPr lang="es-PE" dirty="0"/>
          </a:p>
        </p:txBody>
      </p:sp>
      <p:pic>
        <p:nvPicPr>
          <p:cNvPr id="5" name="Google Shape;271;p33">
            <a:extLst>
              <a:ext uri="{FF2B5EF4-FFF2-40B4-BE49-F238E27FC236}">
                <a16:creationId xmlns:a16="http://schemas.microsoft.com/office/drawing/2014/main" id="{AAAC30A6-C3D1-417C-86FD-AB1B33D72ED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17279" y="796771"/>
            <a:ext cx="5031808" cy="46117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672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8A5B5C-A3DD-9D79-A232-8F2F95C74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Ejercicio práctico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E12B42E-104E-DBC8-C272-50B239725D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6AA894-267E-1B90-1C90-A22EB1515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PE" sz="2000" dirty="0"/>
              <a:t>Entrar: </a:t>
            </a:r>
            <a:r>
              <a:rPr lang="es-PE" sz="2000" dirty="0">
                <a:hlinkClick r:id="rId2"/>
              </a:rPr>
              <a:t>https://codepen.io/pen/</a:t>
            </a:r>
            <a:endParaRPr lang="es-PE" sz="2000" dirty="0"/>
          </a:p>
          <a:p>
            <a:r>
              <a:rPr lang="es-PE" sz="2000" dirty="0"/>
              <a:t>Copiar en HTML</a:t>
            </a:r>
          </a:p>
          <a:p>
            <a:pPr marL="533400" lvl="1" indent="0">
              <a:buNone/>
            </a:pPr>
            <a:r>
              <a:rPr lang="es-PE" sz="1400" dirty="0"/>
              <a:t>&lt;input id="nombre" </a:t>
            </a:r>
            <a:r>
              <a:rPr lang="es-PE" sz="1400" dirty="0" err="1"/>
              <a:t>type</a:t>
            </a:r>
            <a:r>
              <a:rPr lang="es-PE" sz="1400" dirty="0"/>
              <a:t>="</a:t>
            </a:r>
            <a:r>
              <a:rPr lang="es-PE" sz="1400" dirty="0" err="1"/>
              <a:t>text</a:t>
            </a:r>
            <a:r>
              <a:rPr lang="es-PE" sz="1400" dirty="0"/>
              <a:t>"&gt;</a:t>
            </a:r>
          </a:p>
          <a:p>
            <a:pPr marL="533400" lvl="1" indent="0">
              <a:buNone/>
            </a:pPr>
            <a:r>
              <a:rPr lang="es-PE" sz="1400" dirty="0"/>
              <a:t>&lt;</a:t>
            </a:r>
            <a:r>
              <a:rPr lang="es-PE" sz="1400" dirty="0" err="1"/>
              <a:t>button</a:t>
            </a:r>
            <a:r>
              <a:rPr lang="es-PE" sz="1400" dirty="0"/>
              <a:t> </a:t>
            </a:r>
            <a:r>
              <a:rPr lang="es-PE" sz="1400" dirty="0" err="1"/>
              <a:t>onclick</a:t>
            </a:r>
            <a:r>
              <a:rPr lang="es-PE" sz="1400" dirty="0"/>
              <a:t>="saludar()"&gt;Saludar&lt;/</a:t>
            </a:r>
            <a:r>
              <a:rPr lang="es-PE" sz="1400" dirty="0" err="1"/>
              <a:t>button</a:t>
            </a:r>
            <a:r>
              <a:rPr lang="es-PE" sz="1400" dirty="0"/>
              <a:t>&gt;</a:t>
            </a:r>
          </a:p>
          <a:p>
            <a:pPr marL="533400" lvl="1" indent="0">
              <a:buNone/>
            </a:pPr>
            <a:r>
              <a:rPr lang="es-PE" sz="1400" dirty="0"/>
              <a:t>&lt;p id="mensaje"&gt;&lt;/p&gt;&lt;input id="nombre" </a:t>
            </a:r>
            <a:r>
              <a:rPr lang="es-PE" sz="1400" dirty="0" err="1"/>
              <a:t>type</a:t>
            </a:r>
            <a:r>
              <a:rPr lang="es-PE" sz="1400" dirty="0"/>
              <a:t>="</a:t>
            </a:r>
            <a:r>
              <a:rPr lang="es-PE" sz="1400" dirty="0" err="1"/>
              <a:t>text</a:t>
            </a:r>
            <a:r>
              <a:rPr lang="es-PE" sz="1400" dirty="0"/>
              <a:t>"&gt;</a:t>
            </a:r>
          </a:p>
          <a:p>
            <a:pPr marL="533400" lvl="1" indent="0">
              <a:buNone/>
            </a:pPr>
            <a:r>
              <a:rPr lang="es-PE" sz="1400" dirty="0"/>
              <a:t>&lt;</a:t>
            </a:r>
            <a:r>
              <a:rPr lang="es-PE" sz="1400" dirty="0" err="1"/>
              <a:t>button</a:t>
            </a:r>
            <a:r>
              <a:rPr lang="es-PE" sz="1400" dirty="0"/>
              <a:t> </a:t>
            </a:r>
            <a:r>
              <a:rPr lang="es-PE" sz="1400" dirty="0" err="1"/>
              <a:t>onclick</a:t>
            </a:r>
            <a:r>
              <a:rPr lang="es-PE" sz="1400" dirty="0"/>
              <a:t>="saludar()"&gt;Saludar&lt;/</a:t>
            </a:r>
            <a:r>
              <a:rPr lang="es-PE" sz="1400" dirty="0" err="1"/>
              <a:t>button</a:t>
            </a:r>
            <a:r>
              <a:rPr lang="es-PE" sz="1400" dirty="0"/>
              <a:t>&gt;</a:t>
            </a:r>
          </a:p>
          <a:p>
            <a:pPr marL="533400" lvl="1" indent="0">
              <a:buNone/>
            </a:pPr>
            <a:r>
              <a:rPr lang="es-PE" sz="1400" dirty="0"/>
              <a:t>&lt;p id="mensaje"&gt;&lt;/p&gt;</a:t>
            </a:r>
          </a:p>
          <a:p>
            <a:r>
              <a:rPr lang="es-PE" sz="2000" dirty="0"/>
              <a:t>Copiar en JS</a:t>
            </a:r>
          </a:p>
          <a:p>
            <a:pPr marL="533400" lvl="1" indent="0">
              <a:buNone/>
            </a:pPr>
            <a:r>
              <a:rPr lang="es-PE" sz="1400" dirty="0" err="1"/>
              <a:t>function</a:t>
            </a:r>
            <a:r>
              <a:rPr lang="es-PE" sz="1400" dirty="0"/>
              <a:t> saludar() {</a:t>
            </a:r>
          </a:p>
          <a:p>
            <a:pPr marL="533400" lvl="1" indent="0">
              <a:buNone/>
            </a:pPr>
            <a:r>
              <a:rPr lang="es-PE" sz="1400" dirty="0"/>
              <a:t>    </a:t>
            </a:r>
            <a:r>
              <a:rPr lang="es-PE" sz="1400" dirty="0" err="1"/>
              <a:t>let</a:t>
            </a:r>
            <a:r>
              <a:rPr lang="es-PE" sz="1400" dirty="0"/>
              <a:t> nombre = </a:t>
            </a:r>
            <a:r>
              <a:rPr lang="es-PE" sz="1400" dirty="0" err="1"/>
              <a:t>document.getElementById</a:t>
            </a:r>
            <a:r>
              <a:rPr lang="es-PE" sz="1400" dirty="0"/>
              <a:t>("nombre").</a:t>
            </a:r>
            <a:r>
              <a:rPr lang="es-PE" sz="1400" dirty="0" err="1"/>
              <a:t>value</a:t>
            </a:r>
            <a:r>
              <a:rPr lang="es-PE" sz="1400" dirty="0"/>
              <a:t>;</a:t>
            </a:r>
          </a:p>
          <a:p>
            <a:pPr marL="533400" lvl="1" indent="0">
              <a:buNone/>
            </a:pPr>
            <a:r>
              <a:rPr lang="es-PE" sz="1400" dirty="0"/>
              <a:t>    </a:t>
            </a:r>
            <a:r>
              <a:rPr lang="es-PE" sz="1400" dirty="0" err="1"/>
              <a:t>document.getElementById</a:t>
            </a:r>
            <a:r>
              <a:rPr lang="es-PE" sz="1400" dirty="0"/>
              <a:t>("mensaje").</a:t>
            </a:r>
            <a:r>
              <a:rPr lang="es-PE" sz="1400" dirty="0" err="1"/>
              <a:t>innerText</a:t>
            </a:r>
            <a:r>
              <a:rPr lang="es-PE" sz="1400" dirty="0"/>
              <a:t> =</a:t>
            </a:r>
          </a:p>
          <a:p>
            <a:pPr marL="533400" lvl="1" indent="0">
              <a:buNone/>
            </a:pPr>
            <a:r>
              <a:rPr lang="es-PE" sz="1400" dirty="0"/>
              <a:t>        "Hola " + nombre;</a:t>
            </a:r>
          </a:p>
          <a:p>
            <a:pPr marL="533400" lvl="1" indent="0">
              <a:buNone/>
            </a:pPr>
            <a:r>
              <a:rPr lang="es-PE" sz="1400" dirty="0"/>
              <a:t>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AA1A5E6-B713-274F-5E60-F4394744AA82}"/>
              </a:ext>
            </a:extLst>
          </p:cNvPr>
          <p:cNvSpPr txBox="1"/>
          <p:nvPr/>
        </p:nvSpPr>
        <p:spPr>
          <a:xfrm>
            <a:off x="7395882" y="2372284"/>
            <a:ext cx="40341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PE" dirty="0"/>
              <a:t>Agregar apellido</a:t>
            </a:r>
          </a:p>
          <a:p>
            <a:pPr marL="342900" indent="-342900">
              <a:buAutoNum type="arabicPeriod"/>
            </a:pPr>
            <a:r>
              <a:rPr lang="es-PE" dirty="0"/>
              <a:t>Convertir el texto en mayúsculas</a:t>
            </a:r>
          </a:p>
          <a:p>
            <a:pPr marL="342900" indent="-342900">
              <a:buAutoNum type="arabicPeriod"/>
            </a:pPr>
            <a:r>
              <a:rPr lang="es-PE" dirty="0"/>
              <a:t>Validar que no esté vacío</a:t>
            </a:r>
          </a:p>
        </p:txBody>
      </p:sp>
    </p:spTree>
    <p:extLst>
      <p:ext uri="{BB962C8B-B14F-4D97-AF65-F5344CB8AC3E}">
        <p14:creationId xmlns:p14="http://schemas.microsoft.com/office/powerpoint/2010/main" val="1911857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3545-A916-778D-E1D0-AD579D63C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233414-D9F3-E206-393F-39BB30499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8D2223F-AC94-227B-62FC-2AC46EC0F8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050492-62F7-AAFC-7B77-907EFEEC7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419" sz="2000" dirty="0" err="1"/>
              <a:t>Javascript</a:t>
            </a:r>
            <a:r>
              <a:rPr lang="es-419" sz="2000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2000" u="sng" dirty="0">
                <a:solidFill>
                  <a:schemeClr val="hlink"/>
                </a:solidFill>
                <a:hlinkClick r:id="rId2"/>
              </a:rPr>
              <a:t>https://developer.mozilla.org/es/docs/Web/JavaScript</a:t>
            </a:r>
            <a:endParaRPr lang="es-419" sz="2000" dirty="0"/>
          </a:p>
          <a:p>
            <a:pPr lvl="0" indent="-342900">
              <a:buSzPts val="1800"/>
              <a:buChar char="●"/>
            </a:pPr>
            <a:r>
              <a:rPr lang="es-419" sz="2000" dirty="0"/>
              <a:t>Libro </a:t>
            </a:r>
            <a:r>
              <a:rPr lang="es-419" sz="2000" dirty="0" err="1"/>
              <a:t>Javascript</a:t>
            </a:r>
            <a:r>
              <a:rPr lang="es-419" sz="2000" dirty="0"/>
              <a:t> y </a:t>
            </a:r>
            <a:r>
              <a:rPr lang="es-419" sz="2000" dirty="0" err="1"/>
              <a:t>Jquery</a:t>
            </a:r>
            <a:r>
              <a:rPr lang="es-419" sz="2000" dirty="0"/>
              <a:t>:</a:t>
            </a:r>
          </a:p>
          <a:p>
            <a:pPr lvl="1" indent="-317500">
              <a:spcBef>
                <a:spcPts val="0"/>
              </a:spcBef>
              <a:buSzPts val="1400"/>
              <a:buChar char="○"/>
            </a:pPr>
            <a:r>
              <a:rPr lang="es-419" sz="2000" dirty="0"/>
              <a:t>Duckett, J. (2014).</a:t>
            </a:r>
            <a:r>
              <a:rPr lang="es-419" sz="2000" i="1" dirty="0"/>
              <a:t> JavaScript &amp; JQuery: Interactive Front-End Web </a:t>
            </a:r>
            <a:r>
              <a:rPr lang="es-419" sz="2000" i="1" dirty="0" err="1"/>
              <a:t>Development</a:t>
            </a:r>
            <a:r>
              <a:rPr lang="es-419" sz="2000" dirty="0"/>
              <a:t>. John Wiley &amp; Sons.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517813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783</TotalTime>
  <Words>1206</Words>
  <Application>Microsoft Office PowerPoint</Application>
  <PresentationFormat>Panorámica</PresentationFormat>
  <Paragraphs>174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Arial</vt:lpstr>
      <vt:lpstr>Courier New</vt:lpstr>
      <vt:lpstr>Montserrat</vt:lpstr>
      <vt:lpstr>Montserrat Medium</vt:lpstr>
      <vt:lpstr>Source Code Pro</vt:lpstr>
      <vt:lpstr>Tema de Office</vt:lpstr>
      <vt:lpstr>1_Tema de Office</vt:lpstr>
      <vt:lpstr>Diseño personalizado</vt:lpstr>
      <vt:lpstr>Telecom Pucp</vt:lpstr>
      <vt:lpstr>Presentación de PowerPoint</vt:lpstr>
      <vt:lpstr>Javascript</vt:lpstr>
      <vt:lpstr>Javascript</vt:lpstr>
      <vt:lpstr>Elemento base en javascript</vt:lpstr>
      <vt:lpstr>DOM</vt:lpstr>
      <vt:lpstr>DOM - ejemplo</vt:lpstr>
      <vt:lpstr>Obtener un elemento HTML</vt:lpstr>
      <vt:lpstr>Elemento por clase, name y tag</vt:lpstr>
      <vt:lpstr>Escritura de información</vt:lpstr>
      <vt:lpstr>Eventos</vt:lpstr>
      <vt:lpstr>Otras funcionalidades adicionales</vt:lpstr>
      <vt:lpstr>Funciones</vt:lpstr>
      <vt:lpstr>Depurar información</vt:lpstr>
      <vt:lpstr>Comentarios</vt:lpstr>
      <vt:lpstr>Variables</vt:lpstr>
      <vt:lpstr>Operadores</vt:lpstr>
      <vt:lpstr>Arreglos</vt:lpstr>
      <vt:lpstr>Objetos</vt:lpstr>
      <vt:lpstr>Objetos</vt:lpstr>
      <vt:lpstr>Iteraciones</vt:lpstr>
      <vt:lpstr>Formularios</vt:lpstr>
      <vt:lpstr>Ejercicio práctico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35</cp:revision>
  <dcterms:created xsi:type="dcterms:W3CDTF">2023-10-28T21:43:03Z</dcterms:created>
  <dcterms:modified xsi:type="dcterms:W3CDTF">2026-06-10T21:40:49Z</dcterms:modified>
</cp:coreProperties>
</file>