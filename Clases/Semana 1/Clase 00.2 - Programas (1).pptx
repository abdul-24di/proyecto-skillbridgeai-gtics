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73" r:id="rId2"/>
    <p:sldMasterId id="2147483684" r:id="rId3"/>
    <p:sldMasterId id="2147483695" r:id="rId4"/>
    <p:sldMasterId id="2147483746" r:id="rId5"/>
    <p:sldMasterId id="2147483761" r:id="rId6"/>
    <p:sldMasterId id="2147483772" r:id="rId7"/>
  </p:sldMasterIdLst>
  <p:notesMasterIdLst>
    <p:notesMasterId r:id="rId63"/>
  </p:notesMasterIdLst>
  <p:sldIdLst>
    <p:sldId id="339" r:id="rId8"/>
    <p:sldId id="257" r:id="rId9"/>
    <p:sldId id="258" r:id="rId10"/>
    <p:sldId id="259" r:id="rId11"/>
    <p:sldId id="260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271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2" r:id="rId38"/>
    <p:sldId id="383" r:id="rId39"/>
    <p:sldId id="295" r:id="rId40"/>
    <p:sldId id="381" r:id="rId41"/>
    <p:sldId id="384" r:id="rId42"/>
    <p:sldId id="387" r:id="rId43"/>
    <p:sldId id="388" r:id="rId44"/>
    <p:sldId id="386" r:id="rId45"/>
    <p:sldId id="302" r:id="rId46"/>
    <p:sldId id="392" r:id="rId47"/>
    <p:sldId id="393" r:id="rId48"/>
    <p:sldId id="394" r:id="rId49"/>
    <p:sldId id="395" r:id="rId50"/>
    <p:sldId id="396" r:id="rId51"/>
    <p:sldId id="397" r:id="rId52"/>
    <p:sldId id="398" r:id="rId53"/>
    <p:sldId id="399" r:id="rId54"/>
    <p:sldId id="400" r:id="rId55"/>
    <p:sldId id="401" r:id="rId56"/>
    <p:sldId id="402" r:id="rId57"/>
    <p:sldId id="391" r:id="rId58"/>
    <p:sldId id="323" r:id="rId59"/>
    <p:sldId id="389" r:id="rId60"/>
    <p:sldId id="390" r:id="rId61"/>
    <p:sldId id="322" r:id="rId62"/>
  </p:sldIdLst>
  <p:sldSz cx="12192000" cy="6858000"/>
  <p:notesSz cx="6858000" cy="9144000"/>
  <p:embeddedFontLst>
    <p:embeddedFont>
      <p:font typeface="Montserrat" panose="00000500000000000000" pitchFamily="2" charset="0"/>
      <p:regular r:id="rId64"/>
      <p:bold r:id="rId65"/>
      <p:italic r:id="rId66"/>
      <p:boldItalic r:id="rId67"/>
    </p:embeddedFont>
    <p:embeddedFont>
      <p:font typeface="Montserrat Medium" panose="00000600000000000000" pitchFamily="2" charset="0"/>
      <p:regular r:id="rId68"/>
      <p: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font" Target="fonts/font3.fntdata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font" Target="fonts/font4.fntdata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font" Target="fonts/font2.fntdata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" Type="http://schemas.openxmlformats.org/officeDocument/2006/relationships/slideMaster" Target="slideMasters/slideMaster7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e70e17fe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e70e17fe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87a37ef8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87a37ef8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eed2069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eeed2069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18baeabc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718baeabc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18baeabcd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18baeabcd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182eaa94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182eaa94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387a37ef8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387a37ef8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42ec663e8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42ec663e8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2628901" y="2314580"/>
            <a:ext cx="7181851" cy="222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9810751" y="4539355"/>
            <a:ext cx="2131452" cy="65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4000"/>
              <a:buFont typeface="Montserrat"/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ftr" idx="11"/>
          </p:nvPr>
        </p:nvSpPr>
        <p:spPr>
          <a:xfrm>
            <a:off x="2628900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2"/>
          </p:nvPr>
        </p:nvSpPr>
        <p:spPr>
          <a:xfrm>
            <a:off x="374061" y="6089072"/>
            <a:ext cx="4100513" cy="44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Montserrat Medium"/>
              <a:buNone/>
              <a:defRPr>
                <a:solidFill>
                  <a:schemeClr val="lt1"/>
                </a:solidFill>
              </a:defRPr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980"/>
              <a:buFont typeface="Montserrat Medium"/>
              <a:buChar char="•"/>
              <a:defRPr>
                <a:solidFill>
                  <a:schemeClr val="lt1"/>
                </a:solidFill>
              </a:defRPr>
            </a:lvl2pPr>
            <a:lvl3pPr marL="1028674" lvl="2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 Medium"/>
              <a:buChar char="•"/>
              <a:defRPr>
                <a:solidFill>
                  <a:schemeClr val="lt1"/>
                </a:solidFill>
              </a:defRPr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Montserrat Medium"/>
              <a:buChar char="•"/>
              <a:defRPr>
                <a:solidFill>
                  <a:schemeClr val="lt1"/>
                </a:solidFill>
              </a:defRPr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Montserrat Medium"/>
              <a:buChar char="•"/>
              <a:defRPr>
                <a:solidFill>
                  <a:schemeClr val="lt1"/>
                </a:solidFill>
              </a:defRPr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353566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93893" y="4999970"/>
            <a:ext cx="3339907" cy="71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4622993" y="1285875"/>
            <a:ext cx="6851456" cy="40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>
                <a:solidFill>
                  <a:schemeClr val="dk1"/>
                </a:solidFill>
              </a:defRPr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>
                <a:solidFill>
                  <a:schemeClr val="dk1"/>
                </a:solidFill>
              </a:defRPr>
            </a:lvl2pPr>
            <a:lvl3pPr marL="1028674" lvl="2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>
                <a:solidFill>
                  <a:schemeClr val="dk1"/>
                </a:solidFill>
              </a:defRPr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>
                <a:solidFill>
                  <a:schemeClr val="dk1"/>
                </a:solidFill>
              </a:defRPr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>
                <a:solidFill>
                  <a:schemeClr val="dk1"/>
                </a:solidFill>
              </a:defRPr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Google Shape;23;p18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915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y objetos">
  <p:cSld name="2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grpSp>
        <p:nvGrpSpPr>
          <p:cNvPr id="30" name="Google Shape;30;p19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31" name="Google Shape;31;p19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" name="Google Shape;32;p19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2266949" y="1167436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Char char="•"/>
              <a:defRPr sz="1800"/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980"/>
              <a:buFont typeface="Montserrat Medium"/>
              <a:buChar char="•"/>
              <a:defRPr sz="1651"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944107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ítulo y objetos">
  <p:cSld name="3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grpSp>
        <p:nvGrpSpPr>
          <p:cNvPr id="39" name="Google Shape;39;p22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40" name="Google Shape;40;p22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1" name="Google Shape;41;p22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2266949" y="1167436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Char char="•"/>
              <a:defRPr sz="1800"/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980"/>
              <a:buFont typeface="Montserrat Medium"/>
              <a:buChar char="•"/>
              <a:defRPr sz="1651"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137733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>
  <p:cSld name="1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sp>
        <p:nvSpPr>
          <p:cNvPr id="48" name="Google Shape;48;p25"/>
          <p:cNvSpPr/>
          <p:nvPr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190905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ítulo y objetos">
  <p:cSld name="4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/>
          <p:nvPr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27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grpSp>
        <p:nvGrpSpPr>
          <p:cNvPr id="55" name="Google Shape;55;p27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56" name="Google Shape;56;p27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57" name="Google Shape;57;p27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2266949" y="1167436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Montserrat Medium"/>
              <a:buChar char="•"/>
              <a:defRPr sz="1800">
                <a:solidFill>
                  <a:schemeClr val="lt1"/>
                </a:solidFill>
              </a:defRPr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980"/>
              <a:buFont typeface="Montserrat Medium"/>
              <a:buChar char="•"/>
              <a:defRPr sz="1651">
                <a:solidFill>
                  <a:schemeClr val="lt1"/>
                </a:solidFill>
              </a:defRPr>
            </a:lvl2pPr>
            <a:lvl3pPr marL="1028674" lvl="2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 Medium"/>
              <a:buChar char="•"/>
              <a:defRPr>
                <a:solidFill>
                  <a:schemeClr val="lt1"/>
                </a:solidFill>
              </a:defRPr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Montserrat Medium"/>
              <a:buChar char="•"/>
              <a:defRPr>
                <a:solidFill>
                  <a:schemeClr val="lt1"/>
                </a:solidFill>
              </a:defRPr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Montserrat Medium"/>
              <a:buChar char="•"/>
              <a:defRPr>
                <a:solidFill>
                  <a:schemeClr val="lt1"/>
                </a:solidFill>
              </a:defRPr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394166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ctrTitle"/>
          </p:nvPr>
        </p:nvSpPr>
        <p:spPr>
          <a:xfrm>
            <a:off x="2295529" y="2549525"/>
            <a:ext cx="5162551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62" name="Google Shape;62;p2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503037" y="2664715"/>
            <a:ext cx="1314091" cy="1314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16853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ctrTitle"/>
          </p:nvPr>
        </p:nvSpPr>
        <p:spPr>
          <a:xfrm>
            <a:off x="3514725" y="663575"/>
            <a:ext cx="7762875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977861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1086400"/>
            <a:ext cx="114284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0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386233"/>
            <a:ext cx="53936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635833"/>
            <a:ext cx="53936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60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1" y="2314578"/>
            <a:ext cx="7181851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1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60" y="6089070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84905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1918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28080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 preserve="1">
  <p:cSld name="Título y objeto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838200" y="1065218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Char char="•"/>
              <a:defRPr sz="1800"/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980"/>
              <a:buFont typeface="Montserrat Medium"/>
              <a:buChar char="•"/>
              <a:defRPr sz="1651"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2564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 preserve="1">
  <p:cSld name="1_Solo el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>
            <a:off x="838200" y="1065218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1447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 preserve="1">
  <p:cSld name="Encabezado de secció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None/>
              <a:defRPr sz="1800">
                <a:solidFill>
                  <a:srgbClr val="888A9C"/>
                </a:solidFill>
              </a:defRPr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>
                <a:solidFill>
                  <a:srgbClr val="888A9C"/>
                </a:solidFill>
              </a:defRPr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>
                <a:solidFill>
                  <a:srgbClr val="888A9C"/>
                </a:solidFill>
              </a:defRPr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>
                <a:solidFill>
                  <a:srgbClr val="888A9C"/>
                </a:solidFill>
              </a:defRPr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>
                <a:solidFill>
                  <a:srgbClr val="888A9C"/>
                </a:solidFill>
              </a:defRPr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5" name="Google Shape;85;p31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6944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>
  <p:cSld name="Solo el título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2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2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2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14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 preserve="1">
  <p:cSld name="Dos objeto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3"/>
          <p:cNvSpPr txBox="1">
            <a:spLocks noGrp="1"/>
          </p:cNvSpPr>
          <p:nvPr>
            <p:ph type="title"/>
          </p:nvPr>
        </p:nvSpPr>
        <p:spPr>
          <a:xfrm>
            <a:off x="838200" y="1065218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5" name="Google Shape;95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6" name="Google Shape;96;p33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3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3622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 preserve="1">
  <p:cSld name="Comparació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4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01" name="Google Shape;101;p34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None/>
              <a:defRPr sz="1800" b="1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 b="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 b="1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 b="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 b="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2" name="Google Shape;102;p34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3" name="Google Shape;103;p34"/>
          <p:cNvSpPr txBox="1">
            <a:spLocks noGrp="1"/>
          </p:cNvSpPr>
          <p:nvPr>
            <p:ph type="body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None/>
              <a:defRPr sz="1800" b="1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 b="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 b="1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 b="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 b="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5" name="Google Shape;105;p34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0683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 preserve="1">
  <p:cSld name="Contenido con título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5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0" name="Google Shape;110;p35"/>
          <p:cNvSpPr txBox="1">
            <a:spLocks noGrp="1"/>
          </p:cNvSpPr>
          <p:nvPr>
            <p:ph type="body" idx="1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323843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3200"/>
              <a:buFont typeface="Montserrat Medium"/>
              <a:buChar char="•"/>
              <a:defRPr sz="2400"/>
            </a:lvl1pPr>
            <a:lvl2pPr marL="685783" lvl="1" indent="-29145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520"/>
              <a:buFont typeface="Montserrat Medium"/>
              <a:buChar char="•"/>
              <a:defRPr sz="2100"/>
            </a:lvl2pPr>
            <a:lvl3pPr marL="1028674" lvl="2" indent="-25145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80"/>
              <a:buFont typeface="Montserrat Medium"/>
              <a:buChar char="•"/>
              <a:defRPr sz="1800"/>
            </a:lvl3pPr>
            <a:lvl4pPr marL="1371566" lvl="3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Montserrat Medium"/>
              <a:buChar char="•"/>
              <a:defRPr sz="1500"/>
            </a:lvl4pPr>
            <a:lvl5pPr marL="1714457" lvl="4" indent="-2190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Font typeface="Montserrat Medium"/>
              <a:buChar char="•"/>
              <a:defRPr sz="1500"/>
            </a:lvl5pPr>
            <a:lvl6pPr marL="2057349" lvl="5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240" lvl="6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131" lvl="7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023" lvl="8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1" name="Google Shape;111;p35"/>
          <p:cNvSpPr txBox="1">
            <a:spLocks noGrp="1"/>
          </p:cNvSpPr>
          <p:nvPr>
            <p:ph type="body" idx="2"/>
          </p:nvPr>
        </p:nvSpPr>
        <p:spPr>
          <a:xfrm>
            <a:off x="839788" y="2581281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600"/>
              <a:buFont typeface="Montserrat Medium"/>
              <a:buNone/>
              <a:defRPr sz="1200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05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40"/>
              <a:buFont typeface="Montserrat Medium"/>
              <a:buNone/>
              <a:defRPr sz="900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00"/>
              <a:buFont typeface="Montserrat Medium"/>
              <a:buNone/>
              <a:defRPr sz="75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500"/>
              <a:buFont typeface="Montserrat Medium"/>
              <a:buNone/>
              <a:defRPr sz="75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2" name="Google Shape;112;p35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859630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 preserve="1">
  <p:cSld name="Imagen con título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17" name="Google Shape;117;p36"/>
          <p:cNvSpPr>
            <a:spLocks noGrp="1"/>
          </p:cNvSpPr>
          <p:nvPr>
            <p:ph type="pic" idx="2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36"/>
          <p:cNvSpPr txBox="1">
            <a:spLocks noGrp="1"/>
          </p:cNvSpPr>
          <p:nvPr>
            <p:ph type="body" idx="1"/>
          </p:nvPr>
        </p:nvSpPr>
        <p:spPr>
          <a:xfrm>
            <a:off x="839788" y="2581281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600"/>
              <a:buFont typeface="Montserrat Medium"/>
              <a:buNone/>
              <a:defRPr sz="1200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05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40"/>
              <a:buFont typeface="Montserrat Medium"/>
              <a:buNone/>
              <a:defRPr sz="900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00"/>
              <a:buFont typeface="Montserrat Medium"/>
              <a:buNone/>
              <a:defRPr sz="75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500"/>
              <a:buFont typeface="Montserrat Medium"/>
              <a:buNone/>
              <a:defRPr sz="75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9" name="Google Shape;119;p36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6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6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4445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 preserve="1">
  <p:cSld name="Título y texto vertical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7"/>
          <p:cNvSpPr txBox="1">
            <a:spLocks noGrp="1"/>
          </p:cNvSpPr>
          <p:nvPr>
            <p:ph type="title"/>
          </p:nvPr>
        </p:nvSpPr>
        <p:spPr>
          <a:xfrm>
            <a:off x="838200" y="1065218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4" name="Google Shape;124;p37"/>
          <p:cNvSpPr txBox="1">
            <a:spLocks noGrp="1"/>
          </p:cNvSpPr>
          <p:nvPr>
            <p:ph type="body" idx="1"/>
          </p:nvPr>
        </p:nvSpPr>
        <p:spPr>
          <a:xfrm rot="5400000">
            <a:off x="3774676" y="-911729"/>
            <a:ext cx="3843645" cy="9716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5" name="Google Shape;125;p37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7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7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3247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 preserve="1">
  <p:cSld name="Título vertical y text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7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3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1" name="Google Shape;131;p38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8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9325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338867" y="2335685"/>
            <a:ext cx="95156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849633" y="3800052"/>
            <a:ext cx="64940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2467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9773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1086400"/>
            <a:ext cx="114284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044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386233"/>
            <a:ext cx="53936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635833"/>
            <a:ext cx="53936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2807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>
  <p:cSld name="Solo el título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62450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 preserve="1">
  <p:cSld name="1_Solo el título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title"/>
          </p:nvPr>
        </p:nvSpPr>
        <p:spPr>
          <a:xfrm>
            <a:off x="838202" y="1182075"/>
            <a:ext cx="10343607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80826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>
            <a:spLocks noGrp="1"/>
          </p:cNvSpPr>
          <p:nvPr>
            <p:ph type="body"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Char char="•"/>
              <a:defRPr sz="1800"/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980"/>
              <a:buFont typeface="Montserrat Medium"/>
              <a:buChar char="•"/>
              <a:defRPr sz="1651"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1" name="Google Shape;151;p39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title"/>
          </p:nvPr>
        </p:nvSpPr>
        <p:spPr>
          <a:xfrm>
            <a:off x="838200" y="1118830"/>
            <a:ext cx="10515600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4" name="Google Shape;154;p39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8042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 preserve="1">
  <p:cSld name="Encabezado de secció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0"/>
          <p:cNvSpPr txBox="1"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None/>
              <a:defRPr sz="1800">
                <a:solidFill>
                  <a:srgbClr val="888A9C"/>
                </a:solidFill>
              </a:defRPr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>
                <a:solidFill>
                  <a:srgbClr val="888A9C"/>
                </a:solidFill>
              </a:defRPr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>
                <a:solidFill>
                  <a:srgbClr val="888A9C"/>
                </a:solidFill>
              </a:defRPr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>
                <a:solidFill>
                  <a:srgbClr val="888A9C"/>
                </a:solidFill>
              </a:defRPr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>
                <a:solidFill>
                  <a:srgbClr val="888A9C"/>
                </a:solidFill>
              </a:defRPr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A9C"/>
              </a:buClr>
              <a:buSzPts val="1600"/>
              <a:buNone/>
              <a:defRPr sz="1200">
                <a:solidFill>
                  <a:srgbClr val="888A9C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8" name="Google Shape;158;p40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0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0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51238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 preserve="1">
  <p:cSld name="Dos objeto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1"/>
          <p:cNvSpPr txBox="1">
            <a:spLocks noGrp="1"/>
          </p:cNvSpPr>
          <p:nvPr>
            <p:ph type="title"/>
          </p:nvPr>
        </p:nvSpPr>
        <p:spPr>
          <a:xfrm>
            <a:off x="838200" y="860430"/>
            <a:ext cx="10515600" cy="7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3" name="Google Shape;163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4" name="Google Shape;164;p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5" name="Google Shape;165;p41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1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1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55515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 preserve="1">
  <p:cSld name="Comparació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None/>
              <a:defRPr sz="1800" b="1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 b="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 b="1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 b="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 b="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1" name="Google Shape;171;p42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2" name="Google Shape;172;p42"/>
          <p:cNvSpPr txBox="1">
            <a:spLocks noGrp="1"/>
          </p:cNvSpPr>
          <p:nvPr>
            <p:ph type="body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None/>
              <a:defRPr sz="1800" b="1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 b="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 b="1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 b="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 b="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3" name="Google Shape;173;p42"/>
          <p:cNvSpPr txBox="1">
            <a:spLocks noGrp="1"/>
          </p:cNvSpPr>
          <p:nvPr>
            <p:ph type="body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4" name="Google Shape;174;p42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2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2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0741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 preserve="1">
  <p:cSld name="Contenido con título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9" name="Google Shape;179;p43"/>
          <p:cNvSpPr txBox="1">
            <a:spLocks noGrp="1"/>
          </p:cNvSpPr>
          <p:nvPr>
            <p:ph type="body" idx="1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323843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3200"/>
              <a:buFont typeface="Montserrat Medium"/>
              <a:buChar char="•"/>
              <a:defRPr sz="2400"/>
            </a:lvl1pPr>
            <a:lvl2pPr marL="685783" lvl="1" indent="-29145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520"/>
              <a:buFont typeface="Montserrat Medium"/>
              <a:buChar char="•"/>
              <a:defRPr sz="2100"/>
            </a:lvl2pPr>
            <a:lvl3pPr marL="1028674" lvl="2" indent="-25145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80"/>
              <a:buFont typeface="Montserrat Medium"/>
              <a:buChar char="•"/>
              <a:defRPr sz="1800"/>
            </a:lvl3pPr>
            <a:lvl4pPr marL="1371566" lvl="3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Font typeface="Montserrat Medium"/>
              <a:buChar char="•"/>
              <a:defRPr sz="1500"/>
            </a:lvl4pPr>
            <a:lvl5pPr marL="1714457" lvl="4" indent="-2190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Font typeface="Montserrat Medium"/>
              <a:buChar char="•"/>
              <a:defRPr sz="1500"/>
            </a:lvl5pPr>
            <a:lvl6pPr marL="2057349" lvl="5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240" lvl="6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131" lvl="7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023" lvl="8" indent="-26669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0" name="Google Shape;180;p43"/>
          <p:cNvSpPr txBox="1">
            <a:spLocks noGrp="1"/>
          </p:cNvSpPr>
          <p:nvPr>
            <p:ph type="body" idx="2"/>
          </p:nvPr>
        </p:nvSpPr>
        <p:spPr>
          <a:xfrm>
            <a:off x="839788" y="2581281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600"/>
              <a:buFont typeface="Montserrat Medium"/>
              <a:buNone/>
              <a:defRPr sz="1200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05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40"/>
              <a:buFont typeface="Montserrat Medium"/>
              <a:buNone/>
              <a:defRPr sz="900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00"/>
              <a:buFont typeface="Montserrat Medium"/>
              <a:buNone/>
              <a:defRPr sz="75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500"/>
              <a:buFont typeface="Montserrat Medium"/>
              <a:buNone/>
              <a:defRPr sz="75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1" name="Google Shape;181;p43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3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3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774581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 preserve="1">
  <p:cSld name="Imagen con título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"/>
          <p:cNvSpPr txBox="1"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6" name="Google Shape;186;p44"/>
          <p:cNvSpPr>
            <a:spLocks noGrp="1"/>
          </p:cNvSpPr>
          <p:nvPr>
            <p:ph type="pic" idx="2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44"/>
          <p:cNvSpPr txBox="1">
            <a:spLocks noGrp="1"/>
          </p:cNvSpPr>
          <p:nvPr>
            <p:ph type="body" idx="1"/>
          </p:nvPr>
        </p:nvSpPr>
        <p:spPr>
          <a:xfrm>
            <a:off x="839788" y="2581281"/>
            <a:ext cx="3932237" cy="328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600"/>
              <a:buFont typeface="Montserrat Medium"/>
              <a:buNone/>
              <a:defRPr sz="1200"/>
            </a:lvl1pPr>
            <a:lvl2pPr marL="685783" lvl="1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051"/>
            </a:lvl2pPr>
            <a:lvl3pPr marL="1028674" lvl="2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40"/>
              <a:buFont typeface="Montserrat Medium"/>
              <a:buNone/>
              <a:defRPr sz="900"/>
            </a:lvl3pPr>
            <a:lvl4pPr marL="1371566" lvl="3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00"/>
              <a:buFont typeface="Montserrat Medium"/>
              <a:buNone/>
              <a:defRPr sz="751"/>
            </a:lvl4pPr>
            <a:lvl5pPr marL="1714457" lvl="4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500"/>
              <a:buFont typeface="Montserrat Medium"/>
              <a:buNone/>
              <a:defRPr sz="751"/>
            </a:lvl5pPr>
            <a:lvl6pPr marL="2057349" lvl="5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6pPr>
            <a:lvl7pPr marL="2400240" lvl="6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7pPr>
            <a:lvl8pPr marL="2743131" lvl="7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8pPr>
            <a:lvl9pPr marL="3086023" lvl="8" indent="-17144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8" name="Google Shape;188;p44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4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4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71724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 preserve="1">
  <p:cSld name="Título y texto vertical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5"/>
          <p:cNvSpPr txBox="1">
            <a:spLocks noGrp="1"/>
          </p:cNvSpPr>
          <p:nvPr>
            <p:ph type="title"/>
          </p:nvPr>
        </p:nvSpPr>
        <p:spPr>
          <a:xfrm>
            <a:off x="838200" y="1001717"/>
            <a:ext cx="10515600" cy="77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3" name="Google Shape;193;p45"/>
          <p:cNvSpPr txBox="1">
            <a:spLocks noGrp="1"/>
          </p:cNvSpPr>
          <p:nvPr>
            <p:ph type="body" idx="1"/>
          </p:nvPr>
        </p:nvSpPr>
        <p:spPr>
          <a:xfrm rot="5400000">
            <a:off x="4061622" y="-1115221"/>
            <a:ext cx="406876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4" name="Google Shape;194;p45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5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5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4584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 preserve="1">
  <p:cSld name="Título vertical y texto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6"/>
          <p:cNvSpPr txBox="1">
            <a:spLocks noGrp="1"/>
          </p:cNvSpPr>
          <p:nvPr>
            <p:ph type="title"/>
          </p:nvPr>
        </p:nvSpPr>
        <p:spPr>
          <a:xfrm rot="5400000">
            <a:off x="7133432" y="1956597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9" name="Google Shape;199;p46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3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57168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1800"/>
              <a:buChar char="•"/>
              <a:defRPr/>
            </a:lvl1pPr>
            <a:lvl2pPr marL="685783" lvl="1" indent="-24859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Char char="•"/>
              <a:defRPr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0" name="Google Shape;200;p46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099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338867" y="2335685"/>
            <a:ext cx="95156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849633" y="3800052"/>
            <a:ext cx="64940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3421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1049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1086400"/>
            <a:ext cx="114284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943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386233"/>
            <a:ext cx="53936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635833"/>
            <a:ext cx="53936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341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2628901" y="2314580"/>
            <a:ext cx="7181851" cy="2224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Montserrat"/>
              <a:buNone/>
              <a:defRPr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9810751" y="4539355"/>
            <a:ext cx="2131452" cy="65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4000"/>
              <a:buFont typeface="Montserrat"/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Font typeface="Montserrat Medium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Font typeface="Montserrat Medium"/>
              <a:buNone/>
              <a:defRPr sz="1351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120"/>
              <a:buFont typeface="Montserrat Medium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800"/>
              <a:buFont typeface="Montserrat Medium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ftr" idx="11"/>
          </p:nvPr>
        </p:nvSpPr>
        <p:spPr>
          <a:xfrm>
            <a:off x="2628900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2"/>
          </p:nvPr>
        </p:nvSpPr>
        <p:spPr>
          <a:xfrm>
            <a:off x="374061" y="6089072"/>
            <a:ext cx="4100513" cy="44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171446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Montserrat Medium"/>
              <a:buNone/>
              <a:defRPr>
                <a:solidFill>
                  <a:schemeClr val="lt1"/>
                </a:solidFill>
              </a:defRPr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980"/>
              <a:buFont typeface="Montserrat Medium"/>
              <a:buChar char="•"/>
              <a:defRPr>
                <a:solidFill>
                  <a:schemeClr val="lt1"/>
                </a:solidFill>
              </a:defRPr>
            </a:lvl2pPr>
            <a:lvl3pPr marL="1028674" lvl="2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 Medium"/>
              <a:buChar char="•"/>
              <a:defRPr>
                <a:solidFill>
                  <a:schemeClr val="lt1"/>
                </a:solidFill>
              </a:defRPr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Montserrat Medium"/>
              <a:buChar char="•"/>
              <a:defRPr>
                <a:solidFill>
                  <a:schemeClr val="lt1"/>
                </a:solidFill>
              </a:defRPr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Montserrat Medium"/>
              <a:buChar char="•"/>
              <a:defRPr>
                <a:solidFill>
                  <a:schemeClr val="lt1"/>
                </a:solidFill>
              </a:defRPr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061284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93893" y="4999970"/>
            <a:ext cx="3339907" cy="71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4622993" y="1285875"/>
            <a:ext cx="6851456" cy="40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>
                <a:solidFill>
                  <a:schemeClr val="dk1"/>
                </a:solidFill>
              </a:defRPr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>
                <a:solidFill>
                  <a:schemeClr val="dk1"/>
                </a:solidFill>
              </a:defRPr>
            </a:lvl2pPr>
            <a:lvl3pPr marL="1028674" lvl="2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>
                <a:solidFill>
                  <a:schemeClr val="dk1"/>
                </a:solidFill>
              </a:defRPr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>
                <a:solidFill>
                  <a:schemeClr val="dk1"/>
                </a:solidFill>
              </a:defRPr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>
                <a:solidFill>
                  <a:schemeClr val="dk1"/>
                </a:solidFill>
              </a:defRPr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Google Shape;23;p18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24" name="Google Shape;24;p18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530662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y objetos">
  <p:cSld name="2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grpSp>
        <p:nvGrpSpPr>
          <p:cNvPr id="30" name="Google Shape;30;p19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31" name="Google Shape;31;p19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" name="Google Shape;32;p19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2266949" y="1167436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Char char="•"/>
              <a:defRPr sz="1800"/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980"/>
              <a:buFont typeface="Montserrat Medium"/>
              <a:buChar char="•"/>
              <a:defRPr sz="1651"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13971276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ítulo y objetos">
  <p:cSld name="3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37" name="Google Shape;37;p22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38" name="Google Shape;38;p22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grpSp>
        <p:nvGrpSpPr>
          <p:cNvPr id="39" name="Google Shape;39;p22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40" name="Google Shape;40;p22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1" name="Google Shape;41;p22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2266949" y="1167436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SzPts val="2400"/>
              <a:buFont typeface="Montserrat Medium"/>
              <a:buChar char="•"/>
              <a:defRPr sz="1800"/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980"/>
              <a:buFont typeface="Montserrat Medium"/>
              <a:buChar char="•"/>
              <a:defRPr sz="1651"/>
            </a:lvl2pPr>
            <a:lvl3pPr marL="1028674" lvl="2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60"/>
              <a:buChar char="•"/>
              <a:defRPr/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Char char="•"/>
              <a:defRPr/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3941094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>
  <p:cSld name="1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sp>
        <p:nvSpPr>
          <p:cNvPr id="48" name="Google Shape;48;p25"/>
          <p:cNvSpPr/>
          <p:nvPr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6392406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ítulo y objetos">
  <p:cSld name="4_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/>
          <p:nvPr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27"/>
          <p:cNvSpPr txBox="1">
            <a:spLocks noGrp="1"/>
          </p:cNvSpPr>
          <p:nvPr>
            <p:ph type="dt" idx="10"/>
          </p:nvPr>
        </p:nvSpPr>
        <p:spPr>
          <a:xfrm>
            <a:off x="9979028" y="326688"/>
            <a:ext cx="14954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53" name="Google Shape;53;p27"/>
          <p:cNvSpPr txBox="1">
            <a:spLocks noGrp="1"/>
          </p:cNvSpPr>
          <p:nvPr>
            <p:ph type="ftr" idx="11"/>
          </p:nvPr>
        </p:nvSpPr>
        <p:spPr>
          <a:xfrm>
            <a:off x="4622993" y="3266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PE"/>
          </a:p>
        </p:txBody>
      </p:sp>
      <p:sp>
        <p:nvSpPr>
          <p:cNvPr id="54" name="Google Shape;54;p27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lvl="1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lvl="2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lvl="3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lvl="4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lvl="5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lvl="6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lvl="7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lvl="8" indent="0" algn="ctr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grpSp>
        <p:nvGrpSpPr>
          <p:cNvPr id="55" name="Google Shape;55;p27"/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56" name="Google Shape;56;p27"/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57" name="Google Shape;57;p27"/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8225" tIns="0" rIns="27822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ontserrat Medium"/>
                <a:buNone/>
              </a:pPr>
              <a:endParaRPr sz="2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2266949" y="1167436"/>
            <a:ext cx="7962901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891" lvl="0" indent="-285744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Montserrat Medium"/>
              <a:buChar char="•"/>
              <a:defRPr sz="1800">
                <a:solidFill>
                  <a:schemeClr val="lt1"/>
                </a:solidFill>
              </a:defRPr>
            </a:lvl1pPr>
            <a:lvl2pPr marL="685783" lvl="1" indent="-26574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980"/>
              <a:buFont typeface="Montserrat Medium"/>
              <a:buChar char="•"/>
              <a:defRPr sz="1651">
                <a:solidFill>
                  <a:schemeClr val="lt1"/>
                </a:solidFill>
              </a:defRPr>
            </a:lvl2pPr>
            <a:lvl3pPr marL="1028674" lvl="2" indent="-23811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Montserrat Medium"/>
              <a:buChar char="•"/>
              <a:defRPr>
                <a:solidFill>
                  <a:schemeClr val="lt1"/>
                </a:solidFill>
              </a:defRPr>
            </a:lvl3pPr>
            <a:lvl4pPr marL="1371566" lvl="3" indent="-23145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260"/>
              <a:buFont typeface="Montserrat Medium"/>
              <a:buChar char="•"/>
              <a:defRPr>
                <a:solidFill>
                  <a:schemeClr val="lt1"/>
                </a:solidFill>
              </a:defRPr>
            </a:lvl4pPr>
            <a:lvl5pPr marL="1714457" lvl="4" indent="-21430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Montserrat Medium"/>
              <a:buChar char="•"/>
              <a:defRPr>
                <a:solidFill>
                  <a:schemeClr val="lt1"/>
                </a:solidFill>
              </a:defRPr>
            </a:lvl5pPr>
            <a:lvl6pPr marL="2057349" lvl="5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240" lvl="6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131" lvl="7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023" lvl="8" indent="-25716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226505060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ctrTitle"/>
          </p:nvPr>
        </p:nvSpPr>
        <p:spPr>
          <a:xfrm>
            <a:off x="2295529" y="2549525"/>
            <a:ext cx="5162551" cy="155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pic>
        <p:nvPicPr>
          <p:cNvPr id="62" name="Google Shape;62;p2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503037" y="2664715"/>
            <a:ext cx="1314091" cy="1314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6305129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a de título">
  <p:cSld name="2_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>
            <a:spLocks noGrp="1"/>
          </p:cNvSpPr>
          <p:nvPr>
            <p:ph type="ctrTitle"/>
          </p:nvPr>
        </p:nvSpPr>
        <p:spPr>
          <a:xfrm>
            <a:off x="3514725" y="663575"/>
            <a:ext cx="7762875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2977531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338867" y="2335685"/>
            <a:ext cx="95156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849633" y="3800052"/>
            <a:ext cx="64940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5651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6353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1086400"/>
            <a:ext cx="114284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7578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386233"/>
            <a:ext cx="53936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635833"/>
            <a:ext cx="53936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9975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451671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771831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0564138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51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927656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942413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852227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81"/>
            <a:ext cx="3932237" cy="3287713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63054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81"/>
            <a:ext cx="3932237" cy="3287713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051771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159366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/>
          <a:lstStyle/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020559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338867" y="2335685"/>
            <a:ext cx="95156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849633" y="3800052"/>
            <a:ext cx="64940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6639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9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5600" y="1688433"/>
            <a:ext cx="11360800" cy="44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5013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1086400"/>
            <a:ext cx="11428400" cy="12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9450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54000" y="1386233"/>
            <a:ext cx="5393600" cy="22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354000" y="3635833"/>
            <a:ext cx="53936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59010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651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30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39114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304887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649444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2025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02220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30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15530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745053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81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276393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81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2630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7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203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169150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61392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1" y="2314580"/>
            <a:ext cx="7181851" cy="2224781"/>
          </a:xfrm>
        </p:spPr>
        <p:txBody>
          <a:bodyPr anchor="b"/>
          <a:lstStyle>
            <a:lvl1pPr algn="ctr">
              <a:defRPr sz="45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1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61" y="6089072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691186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171446" indent="-171446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514338" indent="-171446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857229" indent="-171446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200121" indent="-171446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1543012" indent="-171446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6238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05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45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145503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1051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93342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1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6"/>
            <a:ext cx="7962901" cy="600075"/>
          </a:xfrm>
        </p:spPr>
        <p:txBody>
          <a:bodyPr>
            <a:noAutofit/>
          </a:bodyPr>
          <a:lstStyle>
            <a:lvl1pPr>
              <a:defRPr sz="21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4"/>
            <a:ext cx="9716589" cy="3843645"/>
          </a:xfrm>
        </p:spPr>
        <p:txBody>
          <a:bodyPr/>
          <a:lstStyle>
            <a:lvl1pPr>
              <a:defRPr sz="1800"/>
            </a:lvl1pPr>
            <a:lvl2pPr>
              <a:defRPr sz="1651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4118095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1051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93342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1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6"/>
            <a:ext cx="7962901" cy="600075"/>
          </a:xfrm>
        </p:spPr>
        <p:txBody>
          <a:bodyPr>
            <a:noAutofit/>
          </a:bodyPr>
          <a:lstStyle>
            <a:lvl1pPr>
              <a:defRPr sz="21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4"/>
            <a:ext cx="9716589" cy="3843645"/>
          </a:xfrm>
        </p:spPr>
        <p:txBody>
          <a:bodyPr/>
          <a:lstStyle>
            <a:lvl1pPr>
              <a:defRPr sz="1800"/>
            </a:lvl1pPr>
            <a:lvl2pPr>
              <a:defRPr sz="1651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74453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15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1051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933427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1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6"/>
            <a:ext cx="7962901" cy="600075"/>
          </a:xfrm>
        </p:spPr>
        <p:txBody>
          <a:bodyPr>
            <a:noAutofit/>
          </a:bodyPr>
          <a:lstStyle>
            <a:lvl1pPr>
              <a:defRPr sz="21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4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18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1651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61250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9" y="2549525"/>
            <a:ext cx="5162551" cy="1555750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037" y="2635960"/>
            <a:ext cx="131409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6958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5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2598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10" Type="http://schemas.openxmlformats.org/officeDocument/2006/relationships/image" Target="../media/image9.png"/><Relationship Id="rId4" Type="http://schemas.openxmlformats.org/officeDocument/2006/relationships/slideLayout" Target="../slideLayouts/slideLayout8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1045035"/>
            <a:ext cx="10515600" cy="64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 sz="2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543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 sz="2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86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9982200" y="314068"/>
            <a:ext cx="1524000" cy="38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622993" y="32299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465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1" r:id="rId9"/>
    <p:sldLayoutId id="2147483672" r:id="rId10"/>
    <p:sldLayoutId id="2147483781" r:id="rId11"/>
    <p:sldLayoutId id="2147483782" r:id="rId12"/>
    <p:sldLayoutId id="214748378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8200" y="1065218"/>
            <a:ext cx="9716589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 sz="2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543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 sz="2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86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014944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742" r:id="rId11"/>
    <p:sldLayoutId id="2147483743" r:id="rId12"/>
    <p:sldLayoutId id="2147483744" r:id="rId13"/>
    <p:sldLayoutId id="214748374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ftr" idx="11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838202" y="1182075"/>
            <a:ext cx="10343607" cy="68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1"/>
          </p:nvPr>
        </p:nvSpPr>
        <p:spPr>
          <a:xfrm>
            <a:off x="838203" y="2024744"/>
            <a:ext cx="10343607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 sz="2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543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 sz="2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86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42607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8" r:id="rId11"/>
    <p:sldLayoutId id="2147483739" r:id="rId12"/>
    <p:sldLayoutId id="2147483740" r:id="rId13"/>
    <p:sldLayoutId id="214748374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1045035"/>
            <a:ext cx="10515600" cy="64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Char char="•"/>
              <a:defRPr sz="2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543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Montserrat Medium"/>
              <a:buChar char="•"/>
              <a:defRPr sz="2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•"/>
              <a:defRPr sz="20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0861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285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 Medium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9982200" y="314068"/>
            <a:ext cx="1524000" cy="38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 lang="es-PE"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622993" y="32299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1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 lang="es-PE"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3811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8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2" y="322264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/>
                </a:solidFill>
              </a:defRPr>
            </a:lvl1pPr>
          </a:lstStyle>
          <a:p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00000000-1234-1234-1234-123412341234}" type="slidenum">
              <a:rPr lang="en-GB" smtClean="0"/>
              <a:pPr algn="r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14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</p:sldLayoutIdLst>
  <p:hf sldNum="0"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Clr>
          <a:schemeClr val="accent1"/>
        </a:buClr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90000"/>
        <a:buFontTx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70000"/>
        <a:buFontTx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70000"/>
        <a:buFontTx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50000"/>
        <a:buFontTx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1" y="324233"/>
            <a:ext cx="16192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1182075"/>
            <a:ext cx="10343607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3" y="2024744"/>
            <a:ext cx="10343607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494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Clr>
          <a:schemeClr val="accent1"/>
        </a:buClr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90000"/>
        <a:buFontTx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70000"/>
        <a:buFontTx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70000"/>
        <a:buFontTx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50000"/>
        <a:buFontTx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35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8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2025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9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7" y="6139504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823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Clr>
          <a:schemeClr val="accent1"/>
        </a:buClr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90000"/>
        <a:buFontTx/>
        <a:buChar char="•"/>
        <a:defRPr sz="1651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70000"/>
        <a:buFontTx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70000"/>
        <a:buFontTx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50000"/>
        <a:buFontTx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Programad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jetbrains.com/shop/eform/students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jetbrains.com/es-es/idea/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dev.mysql.com/downloads/installer/" TargetMode="Externa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downloads.mysql.com/archives/notifier" TargetMode="Externa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6590932D-6381-395E-2534-A3F4BF4F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ES" sz="4400" dirty="0"/>
              <a:t>Programas para el curso</a:t>
            </a:r>
            <a:endParaRPr lang="es-PE" sz="4400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A5E24739-7E9E-C715-0D1E-42C5130A0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2025</a:t>
            </a:r>
            <a:endParaRPr lang="es-P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B25930-8C95-9F6A-D7D1-22B46CF8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sz="8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7A3DFA7-6EA6-0B32-F31B-79DE60FB24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Prof. Brenda Tumbalobos Cubas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5866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2266950" y="1167433"/>
            <a:ext cx="7962901" cy="600075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 dirty="0" err="1"/>
              <a:t>Objetivos</a:t>
            </a:r>
            <a:endParaRPr dirty="0"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buNone/>
            </a:pPr>
            <a:r>
              <a:rPr lang="en-GB"/>
              <a:t>Conocer los programas que se usarán para el desarrollo del curso:</a:t>
            </a:r>
            <a:endParaRPr/>
          </a:p>
          <a:p>
            <a:pPr>
              <a:spcBef>
                <a:spcPts val="1600"/>
              </a:spcBef>
            </a:pPr>
            <a:r>
              <a:rPr lang="en-GB"/>
              <a:t>IntelliJ (IDE)</a:t>
            </a:r>
            <a:endParaRPr lang="fr-FR"/>
          </a:p>
          <a:p>
            <a:r>
              <a:rPr lang="fr-FR"/>
              <a:t>Java Development Kit ( JDK)</a:t>
            </a:r>
          </a:p>
          <a:p>
            <a:pPr>
              <a:buClr>
                <a:srgbClr val="695D46"/>
              </a:buClr>
            </a:pPr>
            <a:r>
              <a:rPr lang="fr-FR"/>
              <a:t>Base de datos MySQL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4A1CDCB0-2259-DCB4-AD74-C3725E75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83DABD94-32D1-5E4D-EB8A-B6C26E2D1D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1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/>
              <a:t>IntelliJ IDEA</a:t>
            </a:r>
            <a:endParaRPr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F4B31C-8687-D08B-9637-4FAA03B0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62B5CFF-02DE-870A-3E2D-E254F3F8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2266950" y="1167433"/>
            <a:ext cx="7962901" cy="600075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/>
              <a:t>IntelliJ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838200" y="2024744"/>
            <a:ext cx="9716589" cy="3843645"/>
          </a:xfr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buClr>
                <a:srgbClr val="695D46"/>
              </a:buClr>
            </a:pPr>
            <a:r>
              <a:rPr lang="en-GB" dirty="0"/>
              <a:t>Un </a:t>
            </a:r>
            <a:r>
              <a:rPr lang="en-GB" b="1" dirty="0"/>
              <a:t>IDE</a:t>
            </a:r>
            <a:r>
              <a:rPr lang="en-GB" dirty="0"/>
              <a:t> (Integrated Development Environment)</a:t>
            </a:r>
            <a:r>
              <a:rPr lang="es-ES" dirty="0"/>
              <a:t> es un </a:t>
            </a:r>
            <a:r>
              <a:rPr lang="es-ES" b="1" dirty="0"/>
              <a:t>entorno de desarrollo integrado</a:t>
            </a:r>
            <a:r>
              <a:rPr lang="es-ES" dirty="0"/>
              <a:t>, el cual proporciona servicios integrales para facilitar al desarrollador o </a:t>
            </a:r>
            <a:r>
              <a:rPr lang="es-ES" dirty="0"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programador</a:t>
            </a:r>
            <a:r>
              <a:rPr lang="es-ES" dirty="0"/>
              <a:t> el desarrollo de software.</a:t>
            </a:r>
          </a:p>
          <a:p>
            <a:pPr>
              <a:spcBef>
                <a:spcPts val="1000"/>
              </a:spcBef>
              <a:buClr>
                <a:srgbClr val="695D46"/>
              </a:buClr>
            </a:pPr>
            <a:r>
              <a:rPr lang="es-ES" dirty="0"/>
              <a:t>El IDE IntelliJ IDEA permite desarrollar aplicaciones de escritorio, móviles y aplicaciones web en java de manera fácil y rápida; así como también aplicaciones HTML5 con HTML, JavaScript y CSS. Tiene una versión </a:t>
            </a:r>
            <a:r>
              <a:rPr lang="es-ES" dirty="0" err="1"/>
              <a:t>community</a:t>
            </a:r>
            <a:r>
              <a:rPr lang="es-ES" dirty="0"/>
              <a:t> (gratuita) y otra pro (pagada).</a:t>
            </a:r>
          </a:p>
          <a:p>
            <a:pPr lvl="1">
              <a:spcBef>
                <a:spcPts val="0"/>
              </a:spcBef>
              <a:spcAft>
                <a:spcPts val="1000"/>
              </a:spcAft>
              <a:buClr>
                <a:srgbClr val="695D46"/>
              </a:buClr>
            </a:pPr>
            <a:r>
              <a:rPr lang="es-ES" sz="1800" b="1" dirty="0"/>
              <a:t>En el curso se usará la versión ULTIMATE la cual es pagada; pero, si usa su correo @pucp.edu.pe puede obtener la licencia por 1 año de forma gratuita (renovable).</a:t>
            </a:r>
            <a:endParaRPr lang="es-ES" sz="1800" dirty="0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F87479C7-4B50-0FC0-914F-E1CDB456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702C1ED-256C-DEEE-9F67-2E4F67191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1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 dirty="0" err="1"/>
              <a:t>Solicitar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licencia</a:t>
            </a:r>
            <a:r>
              <a:rPr lang="en-GB" dirty="0"/>
              <a:t> ULTIMATE de IntelliJ</a:t>
            </a:r>
            <a:endParaRPr dirty="0"/>
          </a:p>
        </p:txBody>
      </p:sp>
      <p:sp>
        <p:nvSpPr>
          <p:cNvPr id="93" name="Google Shape;93;p17" hidden="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r">
              <a:spcAft>
                <a:spcPts val="600"/>
              </a:spcAft>
            </a:pPr>
            <a:fld id="{00000000-1234-1234-1234-123412341234}" type="slidenum">
              <a:rPr lang="en-GB"/>
              <a:pPr algn="r">
                <a:spcAft>
                  <a:spcPts val="600"/>
                </a:spcAft>
              </a:pPr>
              <a:t>5</a:t>
            </a:fld>
            <a:endParaRPr lang="es-PE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97696D7E-55C9-DD29-CFA4-0F60CE15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AAD5D92-9C2D-B41F-5DA3-5ED7657E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Licencia</a:t>
            </a:r>
            <a:r>
              <a:rPr lang="en-GB" dirty="0"/>
              <a:t> Ultimate IDE IntelliJ</a:t>
            </a:r>
            <a:endParaRPr lang="es-PE" dirty="0"/>
          </a:p>
        </p:txBody>
      </p:sp>
      <p:sp>
        <p:nvSpPr>
          <p:cNvPr id="9" name="Google Shape;100;p18">
            <a:extLst>
              <a:ext uri="{FF2B5EF4-FFF2-40B4-BE49-F238E27FC236}">
                <a16:creationId xmlns:a16="http://schemas.microsoft.com/office/drawing/2014/main" id="{82BFC3B6-BCEA-8C3D-CBA1-2B1A70581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62151" y="2091748"/>
            <a:ext cx="8520600" cy="76844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Para </a:t>
            </a:r>
            <a:r>
              <a:rPr lang="en-GB" dirty="0" err="1"/>
              <a:t>solicitar</a:t>
            </a:r>
            <a:r>
              <a:rPr lang="en-GB" dirty="0"/>
              <a:t> la </a:t>
            </a:r>
            <a:r>
              <a:rPr lang="en-GB" dirty="0" err="1"/>
              <a:t>licencia</a:t>
            </a:r>
            <a:r>
              <a:rPr lang="en-GB" dirty="0"/>
              <a:t> ULTIMATE del IDE IntelliJ, </a:t>
            </a:r>
            <a:r>
              <a:rPr lang="en-GB" dirty="0" err="1"/>
              <a:t>debe</a:t>
            </a:r>
            <a:r>
              <a:rPr lang="en-GB" dirty="0"/>
              <a:t> </a:t>
            </a:r>
            <a:r>
              <a:rPr lang="en-GB" dirty="0" err="1"/>
              <a:t>ingresar</a:t>
            </a:r>
            <a:r>
              <a:rPr lang="en-GB" dirty="0"/>
              <a:t> al </a:t>
            </a:r>
            <a:r>
              <a:rPr lang="en-GB" dirty="0" err="1"/>
              <a:t>siguiente</a:t>
            </a:r>
            <a:r>
              <a:rPr lang="en-GB" dirty="0"/>
              <a:t> enlace: </a:t>
            </a:r>
            <a:r>
              <a:rPr lang="en-GB" u="sng" dirty="0">
                <a:solidFill>
                  <a:schemeClr val="hlink"/>
                </a:solidFill>
                <a:hlinkClick r:id="rId2"/>
              </a:rPr>
              <a:t>https://www.jetbrains.com/shop/eform/students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13882"/>
          <a:stretch/>
        </p:blipFill>
        <p:spPr>
          <a:xfrm>
            <a:off x="2062200" y="3082641"/>
            <a:ext cx="8167651" cy="2923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638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Formulario</a:t>
            </a:r>
            <a:endParaRPr lang="es-PE" dirty="0"/>
          </a:p>
        </p:txBody>
      </p:sp>
      <p:sp>
        <p:nvSpPr>
          <p:cNvPr id="8" name="Google Shape;107;p19">
            <a:extLst>
              <a:ext uri="{FF2B5EF4-FFF2-40B4-BE49-F238E27FC236}">
                <a16:creationId xmlns:a16="http://schemas.microsoft.com/office/drawing/2014/main" id="{3E57AD6B-F141-0EA4-EB46-29F2E9D71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62150" y="2020944"/>
            <a:ext cx="8520600" cy="8703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/>
              <a:t>En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formulario</a:t>
            </a:r>
            <a:r>
              <a:rPr lang="en-GB" dirty="0"/>
              <a:t> que </a:t>
            </a:r>
            <a:r>
              <a:rPr lang="en-GB" dirty="0" err="1"/>
              <a:t>aparece</a:t>
            </a:r>
            <a:r>
              <a:rPr lang="en-GB" dirty="0"/>
              <a:t> </a:t>
            </a:r>
            <a:r>
              <a:rPr lang="en-GB" dirty="0" err="1"/>
              <a:t>debe</a:t>
            </a:r>
            <a:r>
              <a:rPr lang="en-GB" dirty="0"/>
              <a:t> </a:t>
            </a:r>
            <a:r>
              <a:rPr lang="en-GB" dirty="0" err="1"/>
              <a:t>llenar</a:t>
            </a:r>
            <a:r>
              <a:rPr lang="en-GB" dirty="0"/>
              <a:t> la </a:t>
            </a:r>
            <a:r>
              <a:rPr lang="en-GB" dirty="0" err="1"/>
              <a:t>información</a:t>
            </a:r>
            <a:r>
              <a:rPr lang="en-GB" dirty="0"/>
              <a:t> </a:t>
            </a:r>
            <a:r>
              <a:rPr lang="en-GB" dirty="0" err="1"/>
              <a:t>tal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se </a:t>
            </a:r>
            <a:r>
              <a:rPr lang="en-GB" dirty="0" err="1"/>
              <a:t>muestra</a:t>
            </a:r>
            <a:r>
              <a:rPr lang="en-GB" dirty="0"/>
              <a:t> a </a:t>
            </a:r>
            <a:r>
              <a:rPr lang="en-GB" dirty="0" err="1"/>
              <a:t>continuación</a:t>
            </a:r>
            <a:r>
              <a:rPr lang="en-GB" dirty="0"/>
              <a:t>.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FDD620E-E858-3B3D-5A28-9D4F19B9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38" y="2823821"/>
            <a:ext cx="7246721" cy="38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8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Formulario</a:t>
            </a:r>
            <a:endParaRPr lang="es-PE" dirty="0"/>
          </a:p>
        </p:txBody>
      </p:sp>
      <p:sp>
        <p:nvSpPr>
          <p:cNvPr id="6" name="Google Shape;119;p20">
            <a:extLst>
              <a:ext uri="{FF2B5EF4-FFF2-40B4-BE49-F238E27FC236}">
                <a16:creationId xmlns:a16="http://schemas.microsoft.com/office/drawing/2014/main" id="{C2889515-3DCB-B46F-5E21-F0E45311E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62150" y="1965784"/>
            <a:ext cx="8520600" cy="55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En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correo</a:t>
            </a:r>
            <a:r>
              <a:rPr lang="en-GB" dirty="0"/>
              <a:t> </a:t>
            </a:r>
            <a:r>
              <a:rPr lang="en-GB" dirty="0" err="1"/>
              <a:t>colocar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cuenta</a:t>
            </a:r>
            <a:r>
              <a:rPr lang="en-GB" dirty="0"/>
              <a:t> </a:t>
            </a:r>
            <a:r>
              <a:rPr lang="en-GB" b="1" dirty="0"/>
              <a:t>@pucp.edu.pe</a:t>
            </a:r>
            <a:r>
              <a:rPr lang="en-GB" dirty="0"/>
              <a:t> o </a:t>
            </a:r>
            <a:r>
              <a:rPr lang="en-GB" b="1" dirty="0"/>
              <a:t>@pucp.pe</a:t>
            </a:r>
            <a:endParaRPr b="1"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C24B4F-278D-241B-6BAA-68260B20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511" y="2743275"/>
            <a:ext cx="8730229" cy="31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5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Formulario</a:t>
            </a:r>
            <a:endParaRPr lang="es-PE" dirty="0"/>
          </a:p>
        </p:txBody>
      </p:sp>
      <p:sp>
        <p:nvSpPr>
          <p:cNvPr id="6" name="Google Shape;130;p21">
            <a:extLst>
              <a:ext uri="{FF2B5EF4-FFF2-40B4-BE49-F238E27FC236}">
                <a16:creationId xmlns:a16="http://schemas.microsoft.com/office/drawing/2014/main" id="{48837F73-5A8D-4751-3B13-5B9D4CCBC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62150" y="2011159"/>
            <a:ext cx="8520600" cy="55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b="1" dirty="0" err="1"/>
              <a:t>Acepte</a:t>
            </a:r>
            <a:r>
              <a:rPr lang="en-GB" b="1" dirty="0"/>
              <a:t> solo </a:t>
            </a:r>
            <a:r>
              <a:rPr lang="en-GB" b="1" dirty="0" err="1"/>
              <a:t>el</a:t>
            </a:r>
            <a:r>
              <a:rPr lang="en-GB" b="1" dirty="0"/>
              <a:t> </a:t>
            </a:r>
            <a:r>
              <a:rPr lang="en-GB" b="1" dirty="0" err="1"/>
              <a:t>segundo</a:t>
            </a:r>
            <a:r>
              <a:rPr lang="en-GB" b="1" dirty="0"/>
              <a:t> check</a:t>
            </a:r>
            <a:r>
              <a:rPr lang="en-GB" dirty="0"/>
              <a:t> y </a:t>
            </a:r>
            <a:r>
              <a:rPr lang="en-GB" dirty="0" err="1"/>
              <a:t>presione</a:t>
            </a:r>
            <a:r>
              <a:rPr lang="en-GB" dirty="0"/>
              <a:t> “</a:t>
            </a:r>
            <a:r>
              <a:rPr lang="en-GB" dirty="0" err="1"/>
              <a:t>Solicitar</a:t>
            </a:r>
            <a:r>
              <a:rPr lang="en-GB" dirty="0"/>
              <a:t>”.</a:t>
            </a:r>
            <a:endParaRPr dirty="0"/>
          </a:p>
        </p:txBody>
      </p:sp>
      <p:pic>
        <p:nvPicPr>
          <p:cNvPr id="7" name="Google Shape;128;p21">
            <a:extLst>
              <a:ext uri="{FF2B5EF4-FFF2-40B4-BE49-F238E27FC236}">
                <a16:creationId xmlns:a16="http://schemas.microsoft.com/office/drawing/2014/main" id="{C1D5D462-53E8-9CA2-479E-C85514A29F1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35980" y="2566322"/>
            <a:ext cx="8320049" cy="374188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32;p21">
            <a:extLst>
              <a:ext uri="{FF2B5EF4-FFF2-40B4-BE49-F238E27FC236}">
                <a16:creationId xmlns:a16="http://schemas.microsoft.com/office/drawing/2014/main" id="{2E6C987D-6797-E745-95DE-6F3B0A23E2E6}"/>
              </a:ext>
            </a:extLst>
          </p:cNvPr>
          <p:cNvSpPr/>
          <p:nvPr/>
        </p:nvSpPr>
        <p:spPr>
          <a:xfrm rot="-5400000">
            <a:off x="3192500" y="3208854"/>
            <a:ext cx="216000" cy="622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1869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Confirmación</a:t>
            </a:r>
            <a:endParaRPr lang="es-PE" dirty="0"/>
          </a:p>
        </p:txBody>
      </p:sp>
      <p:sp>
        <p:nvSpPr>
          <p:cNvPr id="6" name="Google Shape;138;p22">
            <a:extLst>
              <a:ext uri="{FF2B5EF4-FFF2-40B4-BE49-F238E27FC236}">
                <a16:creationId xmlns:a16="http://schemas.microsoft.com/office/drawing/2014/main" id="{229E5A8F-CAE9-F4CD-41E2-C11C0A0FE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40213" y="2045825"/>
            <a:ext cx="6295918" cy="6000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/>
              <a:t>Se le ha </a:t>
            </a:r>
            <a:r>
              <a:rPr lang="en-GB" dirty="0" err="1"/>
              <a:t>enviado</a:t>
            </a:r>
            <a:r>
              <a:rPr lang="en-GB" dirty="0"/>
              <a:t> un </a:t>
            </a:r>
            <a:r>
              <a:rPr lang="en-GB" dirty="0" err="1"/>
              <a:t>correo</a:t>
            </a:r>
            <a:r>
              <a:rPr lang="en-GB" dirty="0"/>
              <a:t> de </a:t>
            </a:r>
            <a:r>
              <a:rPr lang="en-GB" dirty="0" err="1"/>
              <a:t>confirmación</a:t>
            </a:r>
            <a:r>
              <a:rPr lang="en-GB" dirty="0"/>
              <a:t>.</a:t>
            </a:r>
            <a:endParaRPr dirty="0"/>
          </a:p>
        </p:txBody>
      </p:sp>
      <p:pic>
        <p:nvPicPr>
          <p:cNvPr id="7" name="Google Shape;139;p22">
            <a:extLst>
              <a:ext uri="{FF2B5EF4-FFF2-40B4-BE49-F238E27FC236}">
                <a16:creationId xmlns:a16="http://schemas.microsoft.com/office/drawing/2014/main" id="{4168DD76-6D12-3714-4910-BB634A586A7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90410" y="2924214"/>
            <a:ext cx="7743825" cy="3057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1964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Correo</a:t>
            </a:r>
            <a:endParaRPr lang="es-PE" dirty="0"/>
          </a:p>
        </p:txBody>
      </p:sp>
      <p:sp>
        <p:nvSpPr>
          <p:cNvPr id="6" name="Google Shape;146;p23">
            <a:extLst>
              <a:ext uri="{FF2B5EF4-FFF2-40B4-BE49-F238E27FC236}">
                <a16:creationId xmlns:a16="http://schemas.microsoft.com/office/drawing/2014/main" id="{4084AE0B-2378-C888-0074-7E10FBFCD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88099" y="1999154"/>
            <a:ext cx="8520600" cy="817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/>
              <a:t>Abra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correo</a:t>
            </a:r>
            <a:r>
              <a:rPr lang="en-GB" dirty="0"/>
              <a:t> </a:t>
            </a:r>
            <a:r>
              <a:rPr lang="en-GB" dirty="0" err="1"/>
              <a:t>electrónico</a:t>
            </a:r>
            <a:r>
              <a:rPr lang="en-GB" dirty="0"/>
              <a:t> y </a:t>
            </a:r>
            <a:r>
              <a:rPr lang="en-GB" dirty="0" err="1"/>
              <a:t>haga</a:t>
            </a:r>
            <a:r>
              <a:rPr lang="en-GB" dirty="0"/>
              <a:t> </a:t>
            </a:r>
            <a:r>
              <a:rPr lang="en-GB" dirty="0" err="1"/>
              <a:t>clic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enlace “</a:t>
            </a:r>
            <a:r>
              <a:rPr lang="en-GB" b="1" dirty="0"/>
              <a:t>Confirm Request</a:t>
            </a:r>
            <a:r>
              <a:rPr lang="en-GB" dirty="0"/>
              <a:t>”</a:t>
            </a:r>
            <a:endParaRPr dirty="0"/>
          </a:p>
        </p:txBody>
      </p:sp>
      <p:pic>
        <p:nvPicPr>
          <p:cNvPr id="7" name="Google Shape;147;p23">
            <a:extLst>
              <a:ext uri="{FF2B5EF4-FFF2-40B4-BE49-F238E27FC236}">
                <a16:creationId xmlns:a16="http://schemas.microsoft.com/office/drawing/2014/main" id="{7F381B0A-3596-FB98-607B-CEA7663C80F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21660" y="2895946"/>
            <a:ext cx="9143999" cy="30539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8;p23">
            <a:extLst>
              <a:ext uri="{FF2B5EF4-FFF2-40B4-BE49-F238E27FC236}">
                <a16:creationId xmlns:a16="http://schemas.microsoft.com/office/drawing/2014/main" id="{9296DEE8-E418-B04A-4B87-415FB4567BFF}"/>
              </a:ext>
            </a:extLst>
          </p:cNvPr>
          <p:cNvSpPr/>
          <p:nvPr/>
        </p:nvSpPr>
        <p:spPr>
          <a:xfrm rot="5400000">
            <a:off x="2641580" y="4690261"/>
            <a:ext cx="282000" cy="418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360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Términos y Condiciones</a:t>
            </a:r>
            <a:endParaRPr lang="es-PE" dirty="0"/>
          </a:p>
        </p:txBody>
      </p:sp>
      <p:sp>
        <p:nvSpPr>
          <p:cNvPr id="6" name="Google Shape;154;p24">
            <a:extLst>
              <a:ext uri="{FF2B5EF4-FFF2-40B4-BE49-F238E27FC236}">
                <a16:creationId xmlns:a16="http://schemas.microsoft.com/office/drawing/2014/main" id="{84682770-247A-A905-52EB-120867605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02358" y="1982080"/>
            <a:ext cx="7378994" cy="52210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 err="1"/>
              <a:t>Deslice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documento</a:t>
            </a:r>
            <a:r>
              <a:rPr lang="en-GB" dirty="0"/>
              <a:t> hasta </a:t>
            </a:r>
            <a:r>
              <a:rPr lang="en-GB" dirty="0" err="1"/>
              <a:t>el</a:t>
            </a:r>
            <a:r>
              <a:rPr lang="en-GB" dirty="0"/>
              <a:t> final y </a:t>
            </a:r>
            <a:r>
              <a:rPr lang="en-GB" dirty="0" err="1"/>
              <a:t>presione</a:t>
            </a:r>
            <a:r>
              <a:rPr lang="en-GB" dirty="0"/>
              <a:t> </a:t>
            </a:r>
            <a:r>
              <a:rPr lang="en-GB" b="1" dirty="0"/>
              <a:t>I Accept</a:t>
            </a:r>
            <a:r>
              <a:rPr lang="en-GB" dirty="0"/>
              <a:t>.</a:t>
            </a:r>
            <a:endParaRPr dirty="0"/>
          </a:p>
        </p:txBody>
      </p:sp>
      <p:pic>
        <p:nvPicPr>
          <p:cNvPr id="7" name="Google Shape;155;p24">
            <a:extLst>
              <a:ext uri="{FF2B5EF4-FFF2-40B4-BE49-F238E27FC236}">
                <a16:creationId xmlns:a16="http://schemas.microsoft.com/office/drawing/2014/main" id="{30174E3A-5D48-768A-A21E-04D4B92F67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0" y="2457912"/>
            <a:ext cx="9144000" cy="386242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6;p24">
            <a:extLst>
              <a:ext uri="{FF2B5EF4-FFF2-40B4-BE49-F238E27FC236}">
                <a16:creationId xmlns:a16="http://schemas.microsoft.com/office/drawing/2014/main" id="{B8CEAFFA-9EA3-1268-B205-42FFA33EB849}"/>
              </a:ext>
            </a:extLst>
          </p:cNvPr>
          <p:cNvSpPr/>
          <p:nvPr/>
        </p:nvSpPr>
        <p:spPr>
          <a:xfrm>
            <a:off x="10032875" y="5415400"/>
            <a:ext cx="282000" cy="418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2505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Ingrese a su cuenta</a:t>
            </a:r>
            <a:endParaRPr lang="es-PE" dirty="0"/>
          </a:p>
        </p:txBody>
      </p:sp>
      <p:sp>
        <p:nvSpPr>
          <p:cNvPr id="7" name="Google Shape;162;p25">
            <a:extLst>
              <a:ext uri="{FF2B5EF4-FFF2-40B4-BE49-F238E27FC236}">
                <a16:creationId xmlns:a16="http://schemas.microsoft.com/office/drawing/2014/main" id="{452F9990-6F59-865D-B42C-6AA1A7E7A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63179" y="2000856"/>
            <a:ext cx="9234427" cy="943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/>
              <a:t>Luego de </a:t>
            </a:r>
            <a:r>
              <a:rPr lang="en-GB" dirty="0" err="1"/>
              <a:t>aceptar</a:t>
            </a:r>
            <a:r>
              <a:rPr lang="en-GB" dirty="0"/>
              <a:t>, lo </a:t>
            </a:r>
            <a:r>
              <a:rPr lang="en-GB" dirty="0" err="1"/>
              <a:t>redireccionará</a:t>
            </a:r>
            <a:r>
              <a:rPr lang="en-GB" dirty="0"/>
              <a:t> a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página</a:t>
            </a:r>
            <a:r>
              <a:rPr lang="en-GB" dirty="0"/>
              <a:t>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debe</a:t>
            </a:r>
            <a:r>
              <a:rPr lang="en-GB" dirty="0"/>
              <a:t> </a:t>
            </a:r>
            <a:r>
              <a:rPr lang="en-GB" dirty="0" err="1"/>
              <a:t>crearse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cuenta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JetBrains.</a:t>
            </a:r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877BB07-AD09-5387-9BED-815D40CFD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49" y="2944056"/>
            <a:ext cx="8370558" cy="383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47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cuenta</a:t>
            </a:r>
            <a:endParaRPr lang="es-PE" dirty="0"/>
          </a:p>
        </p:txBody>
      </p:sp>
      <p:sp>
        <p:nvSpPr>
          <p:cNvPr id="6" name="Google Shape;173;p26">
            <a:extLst>
              <a:ext uri="{FF2B5EF4-FFF2-40B4-BE49-F238E27FC236}">
                <a16:creationId xmlns:a16="http://schemas.microsoft.com/office/drawing/2014/main" id="{F18B51EB-65A1-4310-0FB1-21504EFD0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41730" y="1934217"/>
            <a:ext cx="2603132" cy="4403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-GB" dirty="0" err="1"/>
              <a:t>Llene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datos</a:t>
            </a:r>
            <a:r>
              <a:rPr lang="en-GB" dirty="0"/>
              <a:t> </a:t>
            </a:r>
            <a:r>
              <a:rPr lang="en-GB" dirty="0" err="1"/>
              <a:t>solicitados</a:t>
            </a:r>
            <a:r>
              <a:rPr lang="en-GB" dirty="0"/>
              <a:t>, </a:t>
            </a:r>
            <a:r>
              <a:rPr lang="en-GB" dirty="0" err="1"/>
              <a:t>acepte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términos</a:t>
            </a:r>
            <a:r>
              <a:rPr lang="en-GB" dirty="0"/>
              <a:t> de JetBrains y </a:t>
            </a:r>
            <a:r>
              <a:rPr lang="en-GB" dirty="0" err="1"/>
              <a:t>presione</a:t>
            </a:r>
            <a:r>
              <a:rPr lang="en-GB" dirty="0"/>
              <a:t> </a:t>
            </a:r>
            <a:r>
              <a:rPr lang="en-GB" b="1" dirty="0"/>
              <a:t>Submit</a:t>
            </a:r>
            <a:r>
              <a:rPr lang="en-GB" dirty="0"/>
              <a:t>.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 err="1"/>
              <a:t>Recuerde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b="1" dirty="0"/>
              <a:t>username </a:t>
            </a:r>
            <a:r>
              <a:rPr lang="en-GB" dirty="0"/>
              <a:t>y </a:t>
            </a:r>
            <a:r>
              <a:rPr lang="en-GB" b="1" dirty="0"/>
              <a:t>password </a:t>
            </a:r>
            <a:r>
              <a:rPr lang="en-GB" dirty="0" err="1"/>
              <a:t>pues</a:t>
            </a:r>
            <a:r>
              <a:rPr lang="en-GB" dirty="0"/>
              <a:t> </a:t>
            </a:r>
            <a:r>
              <a:rPr lang="en-GB" dirty="0" err="1"/>
              <a:t>estos</a:t>
            </a:r>
            <a:r>
              <a:rPr lang="en-GB" dirty="0"/>
              <a:t> </a:t>
            </a:r>
            <a:r>
              <a:rPr lang="en-GB" dirty="0" err="1"/>
              <a:t>estarán</a:t>
            </a:r>
            <a:r>
              <a:rPr lang="en-GB" dirty="0"/>
              <a:t> </a:t>
            </a:r>
            <a:r>
              <a:rPr lang="en-GB" dirty="0" err="1"/>
              <a:t>vinculados</a:t>
            </a:r>
            <a:r>
              <a:rPr lang="en-GB" dirty="0"/>
              <a:t> a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licencia</a:t>
            </a:r>
            <a:r>
              <a:rPr lang="en-GB" dirty="0"/>
              <a:t> </a:t>
            </a:r>
            <a:r>
              <a:rPr lang="en-GB" b="1" dirty="0"/>
              <a:t>Ultimate</a:t>
            </a:r>
            <a:r>
              <a:rPr lang="en-GB" dirty="0"/>
              <a:t> y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usará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IDE.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E57F30A-5CBF-AB4E-7189-B7CFCF5C4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900" y="1067051"/>
            <a:ext cx="4878280" cy="543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15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Verificación de su licencia</a:t>
            </a:r>
            <a:endParaRPr lang="es-PE" dirty="0"/>
          </a:p>
        </p:txBody>
      </p:sp>
      <p:sp>
        <p:nvSpPr>
          <p:cNvPr id="6" name="Google Shape;184;p27">
            <a:extLst>
              <a:ext uri="{FF2B5EF4-FFF2-40B4-BE49-F238E27FC236}">
                <a16:creationId xmlns:a16="http://schemas.microsoft.com/office/drawing/2014/main" id="{1646F6E4-991A-918B-86F8-84301F6ED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2012734"/>
            <a:ext cx="8520600" cy="460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/>
              <a:t>Si </a:t>
            </a:r>
            <a:r>
              <a:rPr lang="en-GB" dirty="0" err="1"/>
              <a:t>creó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cuenta</a:t>
            </a:r>
            <a:r>
              <a:rPr lang="en-GB" dirty="0"/>
              <a:t> de forma </a:t>
            </a:r>
            <a:r>
              <a:rPr lang="en-GB" dirty="0" err="1"/>
              <a:t>exitosa</a:t>
            </a:r>
            <a:r>
              <a:rPr lang="en-GB" dirty="0"/>
              <a:t>, </a:t>
            </a:r>
            <a:r>
              <a:rPr lang="en-GB" dirty="0" err="1"/>
              <a:t>observará</a:t>
            </a:r>
            <a:r>
              <a:rPr lang="en-GB" dirty="0"/>
              <a:t> la </a:t>
            </a:r>
            <a:r>
              <a:rPr lang="en-GB" dirty="0" err="1"/>
              <a:t>licencia</a:t>
            </a:r>
            <a:r>
              <a:rPr lang="en-GB" dirty="0"/>
              <a:t> de forma </a:t>
            </a:r>
            <a:r>
              <a:rPr lang="en-GB" dirty="0" err="1"/>
              <a:t>automática</a:t>
            </a:r>
            <a:r>
              <a:rPr lang="en-GB" dirty="0"/>
              <a:t>.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776E6A-DA58-4B83-E7FD-329F1468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148" y="2817896"/>
            <a:ext cx="6798502" cy="379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15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0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/>
              <a:t>Instalación del IDE y vinculación de su licencia</a:t>
            </a:r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C2B5AD4-8D3C-71B2-4646-B46EE285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62BAC0A-0987-2851-7E66-05A0EE63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Descargar</a:t>
            </a:r>
            <a:r>
              <a:rPr lang="en-GB" dirty="0"/>
              <a:t> IDE</a:t>
            </a:r>
            <a:endParaRPr lang="es-PE" dirty="0"/>
          </a:p>
        </p:txBody>
      </p:sp>
      <p:sp>
        <p:nvSpPr>
          <p:cNvPr id="8" name="Google Shape;199;p29">
            <a:extLst>
              <a:ext uri="{FF2B5EF4-FFF2-40B4-BE49-F238E27FC236}">
                <a16:creationId xmlns:a16="http://schemas.microsoft.com/office/drawing/2014/main" id="{9E301A1E-2CA3-4313-6B33-A5FF435D9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1952434"/>
            <a:ext cx="8520600" cy="581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-GB" dirty="0" err="1"/>
              <a:t>Ingrese</a:t>
            </a:r>
            <a:r>
              <a:rPr lang="en-GB" dirty="0"/>
              <a:t> a: </a:t>
            </a:r>
            <a:r>
              <a:rPr lang="en-GB" u="sng" dirty="0">
                <a:solidFill>
                  <a:schemeClr val="hlink"/>
                </a:solidFill>
                <a:hlinkClick r:id="rId2"/>
              </a:rPr>
              <a:t>https://www.jetbrains.com/es-es/idea/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9" name="Google Shape;200;p29">
            <a:extLst>
              <a:ext uri="{FF2B5EF4-FFF2-40B4-BE49-F238E27FC236}">
                <a16:creationId xmlns:a16="http://schemas.microsoft.com/office/drawing/2014/main" id="{3E9EE4E4-A76C-6FB0-62DC-77AD675BAA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324" y="2533834"/>
            <a:ext cx="7885351" cy="4127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1178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Descargar IDE</a:t>
            </a:r>
            <a:endParaRPr lang="es-PE" dirty="0"/>
          </a:p>
        </p:txBody>
      </p:sp>
      <p:sp>
        <p:nvSpPr>
          <p:cNvPr id="6" name="Google Shape;208;p30">
            <a:extLst>
              <a:ext uri="{FF2B5EF4-FFF2-40B4-BE49-F238E27FC236}">
                <a16:creationId xmlns:a16="http://schemas.microsoft.com/office/drawing/2014/main" id="{4F2C0873-EACF-4FF7-C5C7-07E5F7068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2075106"/>
            <a:ext cx="8520600" cy="893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 err="1"/>
              <a:t>Seleccione</a:t>
            </a:r>
            <a:r>
              <a:rPr lang="en-GB" dirty="0"/>
              <a:t> la </a:t>
            </a:r>
            <a:r>
              <a:rPr lang="en-GB" dirty="0" err="1"/>
              <a:t>versión</a:t>
            </a:r>
            <a:r>
              <a:rPr lang="en-GB" dirty="0"/>
              <a:t> </a:t>
            </a:r>
            <a:r>
              <a:rPr lang="en-GB" b="1" dirty="0"/>
              <a:t>Ultimate</a:t>
            </a:r>
            <a:endParaRPr b="1" dirty="0"/>
          </a:p>
        </p:txBody>
      </p:sp>
      <p:pic>
        <p:nvPicPr>
          <p:cNvPr id="7" name="Google Shape;206;p30">
            <a:extLst>
              <a:ext uri="{FF2B5EF4-FFF2-40B4-BE49-F238E27FC236}">
                <a16:creationId xmlns:a16="http://schemas.microsoft.com/office/drawing/2014/main" id="{6ACA4C2E-C6AA-1177-1D80-36ADCCA7DA9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0" y="2762472"/>
            <a:ext cx="9144000" cy="34517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9;p30">
            <a:extLst>
              <a:ext uri="{FF2B5EF4-FFF2-40B4-BE49-F238E27FC236}">
                <a16:creationId xmlns:a16="http://schemas.microsoft.com/office/drawing/2014/main" id="{36C26172-64C4-9E6B-077C-8A1CF4C588C9}"/>
              </a:ext>
            </a:extLst>
          </p:cNvPr>
          <p:cNvSpPr/>
          <p:nvPr/>
        </p:nvSpPr>
        <p:spPr>
          <a:xfrm>
            <a:off x="4557125" y="4315529"/>
            <a:ext cx="2821200" cy="1898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2148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Descargar IDE</a:t>
            </a:r>
            <a:endParaRPr lang="es-PE" dirty="0"/>
          </a:p>
        </p:txBody>
      </p:sp>
      <p:sp>
        <p:nvSpPr>
          <p:cNvPr id="6" name="Google Shape;215;p31">
            <a:extLst>
              <a:ext uri="{FF2B5EF4-FFF2-40B4-BE49-F238E27FC236}">
                <a16:creationId xmlns:a16="http://schemas.microsoft.com/office/drawing/2014/main" id="{2F8738CE-9B4E-654C-E697-40ECD2C59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1977636"/>
            <a:ext cx="8520600" cy="53099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 err="1"/>
              <a:t>Espere</a:t>
            </a:r>
            <a:r>
              <a:rPr lang="en-GB" dirty="0"/>
              <a:t> que </a:t>
            </a:r>
            <a:r>
              <a:rPr lang="en-GB" dirty="0" err="1"/>
              <a:t>termine</a:t>
            </a:r>
            <a:r>
              <a:rPr lang="en-GB" dirty="0"/>
              <a:t> de </a:t>
            </a:r>
            <a:r>
              <a:rPr lang="en-GB" dirty="0" err="1"/>
              <a:t>descargar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instalador</a:t>
            </a:r>
            <a:r>
              <a:rPr lang="en-GB" dirty="0"/>
              <a:t>.</a:t>
            </a:r>
            <a:endParaRPr dirty="0"/>
          </a:p>
        </p:txBody>
      </p:sp>
      <p:pic>
        <p:nvPicPr>
          <p:cNvPr id="7" name="Google Shape;216;p31">
            <a:extLst>
              <a:ext uri="{FF2B5EF4-FFF2-40B4-BE49-F238E27FC236}">
                <a16:creationId xmlns:a16="http://schemas.microsoft.com/office/drawing/2014/main" id="{E464130F-E743-71D4-6067-D29E8F5EA06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22400" y="2718756"/>
            <a:ext cx="5947200" cy="180865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217;p31">
            <a:extLst>
              <a:ext uri="{FF2B5EF4-FFF2-40B4-BE49-F238E27FC236}">
                <a16:creationId xmlns:a16="http://schemas.microsoft.com/office/drawing/2014/main" id="{01D58733-24B0-2F05-3529-B24A9754FB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966" y="4657507"/>
            <a:ext cx="6278080" cy="1710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631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Abra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instalador</a:t>
            </a:r>
            <a:endParaRPr lang="es-PE" dirty="0"/>
          </a:p>
        </p:txBody>
      </p:sp>
      <p:sp>
        <p:nvSpPr>
          <p:cNvPr id="6" name="Google Shape;224;p32">
            <a:extLst>
              <a:ext uri="{FF2B5EF4-FFF2-40B4-BE49-F238E27FC236}">
                <a16:creationId xmlns:a16="http://schemas.microsoft.com/office/drawing/2014/main" id="{90780A74-6EC4-C508-435B-5D39A5D28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2000856"/>
            <a:ext cx="8520600" cy="943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/>
              <a:t>La </a:t>
            </a:r>
            <a:r>
              <a:rPr lang="en-GB" dirty="0" err="1"/>
              <a:t>versión</a:t>
            </a:r>
            <a:r>
              <a:rPr lang="en-GB" dirty="0"/>
              <a:t> que </a:t>
            </a:r>
            <a:r>
              <a:rPr lang="en-GB" dirty="0" err="1"/>
              <a:t>usted</a:t>
            </a:r>
            <a:r>
              <a:rPr lang="en-GB" dirty="0"/>
              <a:t> se </a:t>
            </a:r>
            <a:r>
              <a:rPr lang="en-GB" dirty="0" err="1"/>
              <a:t>descargue</a:t>
            </a:r>
            <a:r>
              <a:rPr lang="en-GB" dirty="0"/>
              <a:t> </a:t>
            </a:r>
            <a:r>
              <a:rPr lang="en-GB" dirty="0" err="1"/>
              <a:t>podría</a:t>
            </a:r>
            <a:r>
              <a:rPr lang="en-GB" dirty="0"/>
              <a:t> ser un poco mayor a la </a:t>
            </a:r>
            <a:r>
              <a:rPr lang="en-GB" dirty="0" err="1"/>
              <a:t>mostrada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la </a:t>
            </a:r>
            <a:r>
              <a:rPr lang="en-GB" dirty="0" err="1"/>
              <a:t>diapositiva</a:t>
            </a:r>
            <a:r>
              <a:rPr lang="en-GB" dirty="0"/>
              <a:t>.</a:t>
            </a:r>
            <a:endParaRPr dirty="0"/>
          </a:p>
        </p:txBody>
      </p:sp>
      <p:pic>
        <p:nvPicPr>
          <p:cNvPr id="7" name="Google Shape;223;p32">
            <a:extLst>
              <a:ext uri="{FF2B5EF4-FFF2-40B4-BE49-F238E27FC236}">
                <a16:creationId xmlns:a16="http://schemas.microsoft.com/office/drawing/2014/main" id="{63919074-B53C-736A-6402-89ED52A1966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4300" y="2944056"/>
            <a:ext cx="4343400" cy="3171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3974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ym typeface="Wingdings" panose="05000000000000000000" pitchFamily="2" charset="2"/>
              </a:rPr>
              <a:t> Next  Next</a:t>
            </a:r>
            <a:endParaRPr lang="es-PE" dirty="0"/>
          </a:p>
        </p:txBody>
      </p:sp>
      <p:pic>
        <p:nvPicPr>
          <p:cNvPr id="6" name="Google Shape;230;p33">
            <a:extLst>
              <a:ext uri="{FF2B5EF4-FFF2-40B4-BE49-F238E27FC236}">
                <a16:creationId xmlns:a16="http://schemas.microsoft.com/office/drawing/2014/main" id="{340E0893-83F5-5820-5EA5-EE0CC44BB02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31929" y="2243134"/>
            <a:ext cx="47529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6;p34">
            <a:extLst>
              <a:ext uri="{FF2B5EF4-FFF2-40B4-BE49-F238E27FC236}">
                <a16:creationId xmlns:a16="http://schemas.microsoft.com/office/drawing/2014/main" id="{E055F791-2192-148C-1E82-D0FF949672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2243134"/>
            <a:ext cx="4752975" cy="3695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9649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Active</a:t>
            </a:r>
            <a:r>
              <a:rPr lang="en-GB" b="1" dirty="0"/>
              <a:t> IntelliJ IDEA &gt; Install</a:t>
            </a:r>
            <a:endParaRPr lang="es-PE" dirty="0"/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766" y="2325408"/>
            <a:ext cx="47529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915" y="2325408"/>
            <a:ext cx="4752975" cy="3695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5837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Seleccione “</a:t>
            </a:r>
            <a:r>
              <a:rPr lang="es-ES" b="1" dirty="0"/>
              <a:t>Run IntelliJ IDEA</a:t>
            </a:r>
            <a:r>
              <a:rPr lang="es-ES" dirty="0"/>
              <a:t>” y </a:t>
            </a:r>
            <a:r>
              <a:rPr lang="es-ES" b="1" dirty="0" err="1"/>
              <a:t>Finish</a:t>
            </a:r>
            <a:endParaRPr lang="es-PE" dirty="0"/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8953" y="2243134"/>
            <a:ext cx="47529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1305" y="2512380"/>
            <a:ext cx="4874821" cy="29723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901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Acepte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términos</a:t>
            </a:r>
            <a:endParaRPr lang="es-PE" dirty="0"/>
          </a:p>
        </p:txBody>
      </p:sp>
      <p:pic>
        <p:nvPicPr>
          <p:cNvPr id="6" name="Google Shape;270;p40">
            <a:extLst>
              <a:ext uri="{FF2B5EF4-FFF2-40B4-BE49-F238E27FC236}">
                <a16:creationId xmlns:a16="http://schemas.microsoft.com/office/drawing/2014/main" id="{C1B16F84-236E-5EDA-7E5D-8BFD53697EF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5174" y="2165440"/>
            <a:ext cx="5581651" cy="4314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270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Coloque si desea compartir los datos de uso, cualquiera de las dos opciones son válidas.</a:t>
            </a:r>
            <a:endParaRPr lang="es-PE" dirty="0"/>
          </a:p>
        </p:txBody>
      </p:sp>
      <p:pic>
        <p:nvPicPr>
          <p:cNvPr id="276" name="Google Shape;27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5174" y="2189799"/>
            <a:ext cx="5581651" cy="4314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468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not import settings → OK</a:t>
            </a:r>
            <a:endParaRPr lang="es-PE" dirty="0"/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16551" y="2965889"/>
            <a:ext cx="3505200" cy="143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608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Seleccione el tema: </a:t>
            </a:r>
            <a:r>
              <a:rPr lang="es-ES" b="1" dirty="0" err="1"/>
              <a:t>Darcula</a:t>
            </a:r>
            <a:r>
              <a:rPr lang="es-ES" b="1" dirty="0"/>
              <a:t> </a:t>
            </a:r>
            <a:r>
              <a:rPr lang="es-ES" dirty="0"/>
              <a:t>o </a:t>
            </a:r>
            <a:r>
              <a:rPr lang="es-ES" b="1" dirty="0"/>
              <a:t>Light </a:t>
            </a:r>
            <a:r>
              <a:rPr lang="es-ES" dirty="0"/>
              <a:t>y luego </a:t>
            </a:r>
            <a:r>
              <a:rPr lang="es-ES" b="1" dirty="0"/>
              <a:t>Next: Default </a:t>
            </a:r>
            <a:r>
              <a:rPr lang="es-ES" b="1" dirty="0" err="1"/>
              <a:t>plugins</a:t>
            </a:r>
            <a:endParaRPr lang="es-PE" dirty="0"/>
          </a:p>
        </p:txBody>
      </p:sp>
      <p:pic>
        <p:nvPicPr>
          <p:cNvPr id="288" name="Google Shape;28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98667" y="2024108"/>
            <a:ext cx="5394666" cy="46379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691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28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Deje todo por defecto y presione </a:t>
            </a:r>
            <a:r>
              <a:rPr lang="es-ES" b="1" dirty="0"/>
              <a:t>Next: </a:t>
            </a:r>
            <a:r>
              <a:rPr lang="es-ES" b="1" dirty="0" err="1"/>
              <a:t>Featured</a:t>
            </a:r>
            <a:r>
              <a:rPr lang="es-ES" b="1" dirty="0"/>
              <a:t> </a:t>
            </a:r>
            <a:r>
              <a:rPr lang="es-ES" b="1" dirty="0" err="1"/>
              <a:t>plugins</a:t>
            </a:r>
            <a:endParaRPr lang="es-PE" dirty="0"/>
          </a:p>
        </p:txBody>
      </p:sp>
      <p:pic>
        <p:nvPicPr>
          <p:cNvPr id="293" name="Google Shape;293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66102" y="2148396"/>
            <a:ext cx="5164594" cy="4265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6724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29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Deje todo por defecto y presione </a:t>
            </a:r>
            <a:r>
              <a:rPr lang="es-ES" b="1" dirty="0" err="1"/>
              <a:t>Start</a:t>
            </a:r>
            <a:r>
              <a:rPr lang="es-ES" b="1" dirty="0"/>
              <a:t> </a:t>
            </a:r>
            <a:r>
              <a:rPr lang="es-ES" b="1" dirty="0" err="1"/>
              <a:t>using</a:t>
            </a:r>
            <a:r>
              <a:rPr lang="es-ES" b="1" dirty="0"/>
              <a:t> IntelliJ IDEA</a:t>
            </a:r>
            <a:endParaRPr lang="es-PE" dirty="0"/>
          </a:p>
        </p:txBody>
      </p:sp>
      <p:pic>
        <p:nvPicPr>
          <p:cNvPr id="299" name="Google Shape;29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63408" y="2017630"/>
            <a:ext cx="5865184" cy="45136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0292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30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Activación</a:t>
            </a:r>
            <a:r>
              <a:rPr lang="en-GB" dirty="0"/>
              <a:t> de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licencia</a:t>
            </a:r>
            <a:endParaRPr lang="es-PE" dirty="0"/>
          </a:p>
        </p:txBody>
      </p:sp>
      <p:sp>
        <p:nvSpPr>
          <p:cNvPr id="6" name="Google Shape;305;p46">
            <a:extLst>
              <a:ext uri="{FF2B5EF4-FFF2-40B4-BE49-F238E27FC236}">
                <a16:creationId xmlns:a16="http://schemas.microsoft.com/office/drawing/2014/main" id="{3CC39A77-0EA1-8C81-F109-0324CD584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2000993"/>
            <a:ext cx="8520600" cy="48428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 err="1"/>
              <a:t>Haga</a:t>
            </a:r>
            <a:r>
              <a:rPr lang="en-GB" dirty="0"/>
              <a:t> </a:t>
            </a:r>
            <a:r>
              <a:rPr lang="en-GB" dirty="0" err="1"/>
              <a:t>clic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Log in to JetBrains Account.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9A0B3F7-5108-07E9-C6D6-53842D7D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26" y="2601990"/>
            <a:ext cx="6791945" cy="40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26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E8B801-90CB-B3A0-3A95-89529A53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5A8867-A47D-AC89-1B38-2BDA14E0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AB29AB-4A00-D474-E168-5FAA9FCB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31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7A8EC21-C770-16E5-E2F2-8B75AD24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En la página que se abre, coloque su usuario y contraseña que definió cuando creó su cuenta.</a:t>
            </a:r>
            <a:endParaRPr lang="es-PE" dirty="0"/>
          </a:p>
        </p:txBody>
      </p:sp>
      <p:pic>
        <p:nvPicPr>
          <p:cNvPr id="316" name="Google Shape;31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91991" y="1906145"/>
            <a:ext cx="5645802" cy="4598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0967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E8B801-90CB-B3A0-3A95-89529A53E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5A8867-A47D-AC89-1B38-2BDA14E0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AB29AB-4A00-D474-E168-5FAA9FCB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32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7A8EC21-C770-16E5-E2F2-8B75AD24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s-ES" dirty="0"/>
              <a:t>Si observa la siguiente ventana, ya puede cerrarla y regresar al IDE.</a:t>
            </a:r>
          </a:p>
        </p:txBody>
      </p:sp>
      <p:pic>
        <p:nvPicPr>
          <p:cNvPr id="322" name="Google Shape;32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2327" y="2894902"/>
            <a:ext cx="5267325" cy="1990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10032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0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/>
              <a:t>JDK</a:t>
            </a:r>
            <a:endParaRPr/>
          </a:p>
          <a:p>
            <a:r>
              <a:rPr lang="en-GB"/>
              <a:t>(Java Development Kit )</a:t>
            </a:r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92B59D-E5EF-F296-BFEA-F134FE70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2025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3742C8-A6A5-9321-E387-989FB869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34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JDK</a:t>
            </a:r>
            <a:endParaRPr lang="es-PE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8" name="Google Shape;353;p53">
            <a:extLst>
              <a:ext uri="{FF2B5EF4-FFF2-40B4-BE49-F238E27FC236}">
                <a16:creationId xmlns:a16="http://schemas.microsoft.com/office/drawing/2014/main" id="{A7FA6F11-BD83-4E52-F0E8-6365B8503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3369" y="2109269"/>
            <a:ext cx="9325261" cy="29812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 algn="just">
              <a:buNone/>
            </a:pP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El JDK es un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entorno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de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desarrollo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para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crear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aplicaciones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, applets y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componentes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utilizando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el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lenguaje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de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programación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Java.</a:t>
            </a:r>
            <a:endParaRPr kern="12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endParaRPr kern="12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 marL="0" indent="0" algn="just">
              <a:buNone/>
            </a:pP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El JDK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incluye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herramientas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útiles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para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desarrollar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y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probar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programas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escritos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en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el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lenguaje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de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programación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Java y se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ejecuta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en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la </a:t>
            </a:r>
            <a:r>
              <a:rPr lang="en-GB" kern="1200" dirty="0" err="1">
                <a:solidFill>
                  <a:srgbClr val="002060"/>
                </a:solidFill>
                <a:latin typeface="Montserrat" panose="00000500000000000000" pitchFamily="2" charset="0"/>
              </a:rPr>
              <a:t>plataforma</a:t>
            </a:r>
            <a:r>
              <a:rPr lang="en-GB" kern="1200" dirty="0">
                <a:solidFill>
                  <a:srgbClr val="002060"/>
                </a:solidFill>
                <a:latin typeface="Montserrat" panose="00000500000000000000" pitchFamily="2" charset="0"/>
              </a:rPr>
              <a:t> Java.</a:t>
            </a:r>
            <a:endParaRPr kern="12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6513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35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Descargar de JDK</a:t>
            </a:r>
            <a:endParaRPr lang="es-PE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6" name="Google Shape;359;p54">
            <a:extLst>
              <a:ext uri="{FF2B5EF4-FFF2-40B4-BE49-F238E27FC236}">
                <a16:creationId xmlns:a16="http://schemas.microsoft.com/office/drawing/2014/main" id="{C9C7F910-A367-6557-58BD-02252643A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35700" y="1963713"/>
            <a:ext cx="8520600" cy="13419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Para </a:t>
            </a:r>
            <a:r>
              <a:rPr lang="en-GB" dirty="0" err="1"/>
              <a:t>instalar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JDK, lo 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descargar</a:t>
            </a:r>
            <a:r>
              <a:rPr lang="en-GB" dirty="0"/>
              <a:t> </a:t>
            </a:r>
            <a:r>
              <a:rPr lang="en-GB" dirty="0" err="1"/>
              <a:t>desde</a:t>
            </a:r>
            <a:r>
              <a:rPr lang="en-GB" dirty="0"/>
              <a:t> oracle.com o 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dejar</a:t>
            </a:r>
            <a:r>
              <a:rPr lang="en-GB" dirty="0"/>
              <a:t> al IDE </a:t>
            </a:r>
            <a:r>
              <a:rPr lang="en-GB" dirty="0" err="1"/>
              <a:t>descargarlo</a:t>
            </a:r>
            <a:r>
              <a:rPr lang="en-GB" dirty="0"/>
              <a:t> </a:t>
            </a:r>
            <a:r>
              <a:rPr lang="en-GB" dirty="0" err="1"/>
              <a:t>automáticamente</a:t>
            </a:r>
            <a:r>
              <a:rPr lang="en-GB" dirty="0"/>
              <a:t>. Este </a:t>
            </a:r>
            <a:r>
              <a:rPr lang="en-GB" dirty="0" err="1"/>
              <a:t>proceso</a:t>
            </a:r>
            <a:r>
              <a:rPr lang="en-GB" dirty="0"/>
              <a:t> solo se </a:t>
            </a:r>
            <a:r>
              <a:rPr lang="en-GB" dirty="0" err="1"/>
              <a:t>hace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.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 err="1"/>
              <a:t>Seleccione</a:t>
            </a:r>
            <a:r>
              <a:rPr lang="en-GB" dirty="0"/>
              <a:t> “</a:t>
            </a:r>
            <a:r>
              <a:rPr lang="en-GB" b="1" dirty="0"/>
              <a:t>New Project</a:t>
            </a:r>
            <a:r>
              <a:rPr lang="en-GB" dirty="0"/>
              <a:t>”.</a:t>
            </a:r>
            <a:endParaRPr dirty="0"/>
          </a:p>
        </p:txBody>
      </p:sp>
      <p:pic>
        <p:nvPicPr>
          <p:cNvPr id="362" name="Google Shape;36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7935" y="3793524"/>
            <a:ext cx="5214075" cy="234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4"/>
          <p:cNvSpPr/>
          <p:nvPr/>
        </p:nvSpPr>
        <p:spPr>
          <a:xfrm>
            <a:off x="5621259" y="5259069"/>
            <a:ext cx="738000" cy="831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560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0B7B95-D30C-2DD0-3B55-781DD28D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473C18-8581-76C9-2C3A-B69852BF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C399DA-78BA-9AAD-A413-7A39ECD0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36</a:t>
            </a:fld>
            <a:endParaRPr lang="es-PE"/>
          </a:p>
        </p:txBody>
      </p:sp>
      <p:sp>
        <p:nvSpPr>
          <p:cNvPr id="5" name="Google Shape;368;p55">
            <a:extLst>
              <a:ext uri="{FF2B5EF4-FFF2-40B4-BE49-F238E27FC236}">
                <a16:creationId xmlns:a16="http://schemas.microsoft.com/office/drawing/2014/main" id="{253D939B-4D73-B2C4-01A8-D5BE61CD2723}"/>
              </a:ext>
            </a:extLst>
          </p:cNvPr>
          <p:cNvSpPr txBox="1">
            <a:spLocks/>
          </p:cNvSpPr>
          <p:nvPr/>
        </p:nvSpPr>
        <p:spPr>
          <a:xfrm>
            <a:off x="1169875" y="878496"/>
            <a:ext cx="8520600" cy="3786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800" dirty="0">
                <a:solidFill>
                  <a:schemeClr val="dk1"/>
                </a:solidFill>
                <a:latin typeface="Montserrat Medium"/>
                <a:sym typeface="Montserrat Medium"/>
              </a:rPr>
              <a:t>Observará que en SDK le indica que no se ha detectado SDK.</a:t>
            </a:r>
          </a:p>
          <a:p>
            <a:pPr>
              <a:spcBef>
                <a:spcPts val="1600"/>
              </a:spcBef>
            </a:pPr>
            <a:endParaRPr lang="es-ES" sz="1800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>
              <a:spcBef>
                <a:spcPts val="1600"/>
              </a:spcBef>
            </a:pPr>
            <a:endParaRPr lang="es-ES" sz="1800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>
              <a:spcBef>
                <a:spcPts val="1600"/>
              </a:spcBef>
            </a:pPr>
            <a:endParaRPr lang="es-ES" sz="1800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>
              <a:spcBef>
                <a:spcPts val="1600"/>
              </a:spcBef>
            </a:pPr>
            <a:endParaRPr lang="es-ES" sz="1800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>
              <a:spcBef>
                <a:spcPts val="1600"/>
              </a:spcBef>
            </a:pPr>
            <a:endParaRPr lang="es-ES" sz="1800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>
              <a:spcBef>
                <a:spcPts val="1600"/>
              </a:spcBef>
            </a:pPr>
            <a:endParaRPr lang="es-ES" sz="1800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>
              <a:spcBef>
                <a:spcPts val="1600"/>
              </a:spcBef>
            </a:pPr>
            <a:endParaRPr lang="es-ES" sz="1800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s-ES" sz="1800" dirty="0">
                <a:solidFill>
                  <a:schemeClr val="dk1"/>
                </a:solidFill>
                <a:latin typeface="Montserrat Medium"/>
                <a:sym typeface="Montserrat Medium"/>
              </a:rPr>
              <a:t>Haga clic en &lt;No SDK&gt; y seleccione </a:t>
            </a:r>
            <a:r>
              <a:rPr lang="es-ES" sz="1800" dirty="0" err="1">
                <a:solidFill>
                  <a:schemeClr val="dk1"/>
                </a:solidFill>
                <a:latin typeface="Montserrat Medium"/>
                <a:sym typeface="Montserrat Medium"/>
              </a:rPr>
              <a:t>Download</a:t>
            </a:r>
            <a:r>
              <a:rPr lang="es-ES" sz="1800" dirty="0">
                <a:solidFill>
                  <a:schemeClr val="dk1"/>
                </a:solidFill>
                <a:latin typeface="Montserrat Medium"/>
                <a:sym typeface="Montserrat Medium"/>
              </a:rPr>
              <a:t> JDK.</a:t>
            </a:r>
          </a:p>
        </p:txBody>
      </p:sp>
      <p:grpSp>
        <p:nvGrpSpPr>
          <p:cNvPr id="6" name="Google Shape;370;p55">
            <a:extLst>
              <a:ext uri="{FF2B5EF4-FFF2-40B4-BE49-F238E27FC236}">
                <a16:creationId xmlns:a16="http://schemas.microsoft.com/office/drawing/2014/main" id="{4AC91112-E703-FAD1-A0CE-0219928E77DB}"/>
              </a:ext>
            </a:extLst>
          </p:cNvPr>
          <p:cNvGrpSpPr/>
          <p:nvPr/>
        </p:nvGrpSpPr>
        <p:grpSpPr>
          <a:xfrm>
            <a:off x="2203824" y="1285821"/>
            <a:ext cx="7486651" cy="3379275"/>
            <a:chOff x="981075" y="590550"/>
            <a:chExt cx="7486650" cy="3379274"/>
          </a:xfrm>
        </p:grpSpPr>
        <p:pic>
          <p:nvPicPr>
            <p:cNvPr id="7" name="Google Shape;371;p55">
              <a:extLst>
                <a:ext uri="{FF2B5EF4-FFF2-40B4-BE49-F238E27FC236}">
                  <a16:creationId xmlns:a16="http://schemas.microsoft.com/office/drawing/2014/main" id="{1F60AD17-0DF7-E021-227A-74E1CF5057B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b="43506"/>
            <a:stretch/>
          </p:blipFill>
          <p:spPr>
            <a:xfrm>
              <a:off x="981075" y="590550"/>
              <a:ext cx="7486650" cy="3379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372;p55">
              <a:extLst>
                <a:ext uri="{FF2B5EF4-FFF2-40B4-BE49-F238E27FC236}">
                  <a16:creationId xmlns:a16="http://schemas.microsoft.com/office/drawing/2014/main" id="{61FA1D16-C988-0D40-B8E8-10B391CA5FD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33843" t="19511" r="50603" b="57447"/>
            <a:stretch/>
          </p:blipFill>
          <p:spPr>
            <a:xfrm>
              <a:off x="3897900" y="3183675"/>
              <a:ext cx="1170326" cy="41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373;p55">
              <a:extLst>
                <a:ext uri="{FF2B5EF4-FFF2-40B4-BE49-F238E27FC236}">
                  <a16:creationId xmlns:a16="http://schemas.microsoft.com/office/drawing/2014/main" id="{2BC3EDB9-0F32-FC30-CC64-6B399C7EB2C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75823" t="19511" r="1100" b="57447"/>
            <a:stretch/>
          </p:blipFill>
          <p:spPr>
            <a:xfrm>
              <a:off x="4867525" y="3183675"/>
              <a:ext cx="1736400" cy="412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" name="Google Shape;369;p55">
            <a:extLst>
              <a:ext uri="{FF2B5EF4-FFF2-40B4-BE49-F238E27FC236}">
                <a16:creationId xmlns:a16="http://schemas.microsoft.com/office/drawing/2014/main" id="{F5E34B78-32C0-45B9-A37C-4473CBDF8B6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6967" y="5256848"/>
            <a:ext cx="5514975" cy="1247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4055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0B7B95-D30C-2DD0-3B55-781DD28D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473C18-8581-76C9-2C3A-B69852BF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C399DA-78BA-9AAD-A413-7A39ECD0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37</a:t>
            </a:fld>
            <a:endParaRPr lang="es-PE"/>
          </a:p>
        </p:txBody>
      </p:sp>
      <p:sp>
        <p:nvSpPr>
          <p:cNvPr id="11" name="Google Shape;378;p56">
            <a:extLst>
              <a:ext uri="{FF2B5EF4-FFF2-40B4-BE49-F238E27FC236}">
                <a16:creationId xmlns:a16="http://schemas.microsoft.com/office/drawing/2014/main" id="{4FA33537-B29F-E55A-C6BA-B61E50A630D7}"/>
              </a:ext>
            </a:extLst>
          </p:cNvPr>
          <p:cNvSpPr txBox="1">
            <a:spLocks/>
          </p:cNvSpPr>
          <p:nvPr/>
        </p:nvSpPr>
        <p:spPr>
          <a:xfrm>
            <a:off x="415600" y="1227150"/>
            <a:ext cx="11360800" cy="4403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800" dirty="0">
                <a:solidFill>
                  <a:schemeClr val="dk1"/>
                </a:solidFill>
                <a:latin typeface="Montserrat Medium"/>
              </a:rPr>
              <a:t>Existen diferentes versiones de JDK y dentro de cada versión, diferentes proveedores. Para el curso usaremos la versión 22, del proveedor (</a:t>
            </a:r>
            <a:r>
              <a:rPr lang="es-ES" sz="1800" dirty="0" err="1">
                <a:solidFill>
                  <a:schemeClr val="dk1"/>
                </a:solidFill>
                <a:latin typeface="Montserrat Medium"/>
              </a:rPr>
              <a:t>Vendor</a:t>
            </a:r>
            <a:r>
              <a:rPr lang="es-ES" sz="1800" dirty="0">
                <a:solidFill>
                  <a:schemeClr val="dk1"/>
                </a:solidFill>
                <a:latin typeface="Montserrat Medium"/>
              </a:rPr>
              <a:t>) Oracle.</a:t>
            </a:r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s-ES" sz="1800" dirty="0">
                <a:solidFill>
                  <a:schemeClr val="dk1"/>
                </a:solidFill>
                <a:latin typeface="Montserrat Medium"/>
              </a:rPr>
              <a:t>Seleccione y presione </a:t>
            </a:r>
            <a:r>
              <a:rPr lang="es-ES" sz="1800" dirty="0" err="1">
                <a:solidFill>
                  <a:schemeClr val="dk1"/>
                </a:solidFill>
                <a:latin typeface="Montserrat Medium"/>
              </a:rPr>
              <a:t>Download</a:t>
            </a:r>
            <a:r>
              <a:rPr lang="es-ES" sz="1800" dirty="0">
                <a:solidFill>
                  <a:schemeClr val="dk1"/>
                </a:solidFill>
                <a:latin typeface="Montserrat Medium"/>
              </a:rPr>
              <a:t>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8C17DE4-2CAE-6F4A-7B71-CAA709315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2785369"/>
            <a:ext cx="68008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41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E76E3A-0DFE-A805-710A-35F58C1AFA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1F57AD-4909-A456-D3DF-AD5441C9C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5" y="6139499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3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38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DE25ED4-F1DF-7545-F0CB-E286CCB1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¡Listo!</a:t>
            </a:r>
            <a:endParaRPr lang="es-PE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7F4E9-E4E2-00D7-BC5E-7F9C4A0348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6" name="Google Shape;393;p58">
            <a:extLst>
              <a:ext uri="{FF2B5EF4-FFF2-40B4-BE49-F238E27FC236}">
                <a16:creationId xmlns:a16="http://schemas.microsoft.com/office/drawing/2014/main" id="{97703DAE-1C8F-4BB0-CED3-608DE8E2A4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95826" y="1919252"/>
            <a:ext cx="6420206" cy="11524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Si se </a:t>
            </a:r>
            <a:r>
              <a:rPr lang="en-GB" dirty="0" err="1"/>
              <a:t>descargó</a:t>
            </a:r>
            <a:r>
              <a:rPr lang="en-GB" dirty="0"/>
              <a:t> </a:t>
            </a:r>
            <a:r>
              <a:rPr lang="en-GB" dirty="0" err="1"/>
              <a:t>correctamente</a:t>
            </a:r>
            <a:r>
              <a:rPr lang="en-GB" dirty="0"/>
              <a:t>, </a:t>
            </a:r>
            <a:r>
              <a:rPr lang="en-GB" dirty="0" err="1"/>
              <a:t>observará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JDK.</a:t>
            </a:r>
            <a:endParaRPr dirty="0"/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dirty="0"/>
              <a:t>Ya </a:t>
            </a:r>
            <a:r>
              <a:rPr lang="en-GB" dirty="0" err="1"/>
              <a:t>puede</a:t>
            </a:r>
            <a:r>
              <a:rPr lang="en-GB" dirty="0"/>
              <a:t> </a:t>
            </a:r>
            <a:r>
              <a:rPr lang="en-GB" dirty="0" err="1"/>
              <a:t>cerrar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programa</a:t>
            </a:r>
            <a:r>
              <a:rPr lang="en-GB" dirty="0"/>
              <a:t> y </a:t>
            </a:r>
            <a:r>
              <a:rPr lang="en-GB" dirty="0" err="1"/>
              <a:t>esperar</a:t>
            </a:r>
            <a:r>
              <a:rPr lang="en-GB" dirty="0"/>
              <a:t> la </a:t>
            </a:r>
            <a:r>
              <a:rPr lang="en-GB" dirty="0" err="1"/>
              <a:t>clase</a:t>
            </a:r>
            <a:r>
              <a:rPr lang="en-GB" dirty="0"/>
              <a:t>.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3B85121-8F7F-E3D4-A2E5-C0FCB7A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31" y="2897479"/>
            <a:ext cx="7787950" cy="3424582"/>
          </a:xfrm>
          <a:prstGeom prst="rect">
            <a:avLst/>
          </a:prstGeom>
        </p:spPr>
      </p:pic>
      <p:sp>
        <p:nvSpPr>
          <p:cNvPr id="8" name="Google Shape;395;p58">
            <a:extLst>
              <a:ext uri="{FF2B5EF4-FFF2-40B4-BE49-F238E27FC236}">
                <a16:creationId xmlns:a16="http://schemas.microsoft.com/office/drawing/2014/main" id="{0D722C7D-2EDF-F7E5-DA2C-8054EFDBD2F5}"/>
              </a:ext>
            </a:extLst>
          </p:cNvPr>
          <p:cNvSpPr/>
          <p:nvPr/>
        </p:nvSpPr>
        <p:spPr>
          <a:xfrm>
            <a:off x="7914522" y="5564686"/>
            <a:ext cx="747000" cy="401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9300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0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/>
              <a:t>Base de datos</a:t>
            </a:r>
            <a:endParaRPr/>
          </a:p>
          <a:p>
            <a:r>
              <a:rPr lang="en-GB"/>
              <a:t>MySQL</a:t>
            </a:r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D4B24-38A1-FAF1-DAD5-0C40F23D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C5C739-7853-A440-2152-BBD8CF00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40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Instalación de la base de datos</a:t>
            </a:r>
            <a:br>
              <a:rPr lang="es-ES" dirty="0"/>
            </a:br>
            <a:r>
              <a:rPr lang="es-ES" dirty="0"/>
              <a:t>Conceptos Generales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B0031C-62DA-69F5-44FB-CDE8598CA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/>
              <a:t>Se trabajará con la versión 8.0.28 del MySQL Server.</a:t>
            </a:r>
          </a:p>
          <a:p>
            <a:pPr algn="just"/>
            <a:r>
              <a:rPr lang="es-ES"/>
              <a:t>Descargar de:</a:t>
            </a:r>
          </a:p>
          <a:p>
            <a:pPr indent="457189" algn="just">
              <a:buNone/>
            </a:pPr>
            <a:r>
              <a:rPr lang="es-ES" u="sng">
                <a:solidFill>
                  <a:schemeClr val="hlink"/>
                </a:solidFill>
                <a:hlinkClick r:id="rId2"/>
              </a:rPr>
              <a:t>https://dev.mysql.com/downloads/installer/</a:t>
            </a:r>
            <a:endParaRPr lang="es-ES"/>
          </a:p>
          <a:p>
            <a:pPr lvl="1" algn="just"/>
            <a:r>
              <a:rPr lang="es-ES"/>
              <a:t>El instalador MySQL Community Server para el S.O. que más se adecue a su computador.</a:t>
            </a:r>
          </a:p>
          <a:p>
            <a:pPr lvl="1" algn="just">
              <a:spcBef>
                <a:spcPts val="0"/>
              </a:spcBef>
            </a:pPr>
            <a:r>
              <a:rPr lang="es-ES"/>
              <a:t>Sugerencia, </a:t>
            </a:r>
            <a:r>
              <a:rPr lang="es-ES" b="1"/>
              <a:t>descargar el más pesado</a:t>
            </a:r>
            <a:r>
              <a:rPr lang="es-ES"/>
              <a:t>:</a:t>
            </a:r>
            <a:endParaRPr lang="es-PE"/>
          </a:p>
        </p:txBody>
      </p:sp>
      <p:pic>
        <p:nvPicPr>
          <p:cNvPr id="7" name="Google Shape;405;p60">
            <a:extLst>
              <a:ext uri="{FF2B5EF4-FFF2-40B4-BE49-F238E27FC236}">
                <a16:creationId xmlns:a16="http://schemas.microsoft.com/office/drawing/2014/main" id="{1000F59D-1067-5E1C-DE55-BC86CA3B1E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729" y="3910435"/>
            <a:ext cx="751522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09;p60">
            <a:extLst>
              <a:ext uri="{FF2B5EF4-FFF2-40B4-BE49-F238E27FC236}">
                <a16:creationId xmlns:a16="http://schemas.microsoft.com/office/drawing/2014/main" id="{DA0E2400-E94B-B938-5599-B2D258E8A309}"/>
              </a:ext>
            </a:extLst>
          </p:cNvPr>
          <p:cNvSpPr/>
          <p:nvPr/>
        </p:nvSpPr>
        <p:spPr>
          <a:xfrm>
            <a:off x="2463728" y="6000135"/>
            <a:ext cx="7515300" cy="6915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4170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0B7B95-D30C-2DD0-3B55-781DD28D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473C18-8581-76C9-2C3A-B69852BF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C399DA-78BA-9AAD-A413-7A39ECD0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t>41</a:t>
            </a:fld>
            <a:endParaRPr lang="es-PE"/>
          </a:p>
        </p:txBody>
      </p:sp>
      <p:pic>
        <p:nvPicPr>
          <p:cNvPr id="5" name="Google Shape;414;p61">
            <a:extLst>
              <a:ext uri="{FF2B5EF4-FFF2-40B4-BE49-F238E27FC236}">
                <a16:creationId xmlns:a16="http://schemas.microsoft.com/office/drawing/2014/main" id="{F61888BE-5172-CFB1-A460-6902A713146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8607" y="852487"/>
            <a:ext cx="7858125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15;p61">
            <a:extLst>
              <a:ext uri="{FF2B5EF4-FFF2-40B4-BE49-F238E27FC236}">
                <a16:creationId xmlns:a16="http://schemas.microsoft.com/office/drawing/2014/main" id="{4EAA62CA-D616-0B69-E57D-80E15EC39EFC}"/>
              </a:ext>
            </a:extLst>
          </p:cNvPr>
          <p:cNvSpPr/>
          <p:nvPr/>
        </p:nvSpPr>
        <p:spPr>
          <a:xfrm>
            <a:off x="2476503" y="5451978"/>
            <a:ext cx="3133500" cy="459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16;p61">
            <a:extLst>
              <a:ext uri="{FF2B5EF4-FFF2-40B4-BE49-F238E27FC236}">
                <a16:creationId xmlns:a16="http://schemas.microsoft.com/office/drawing/2014/main" id="{0544AA14-DA2A-C320-948C-C8FAA9D7ED78}"/>
              </a:ext>
            </a:extLst>
          </p:cNvPr>
          <p:cNvSpPr/>
          <p:nvPr/>
        </p:nvSpPr>
        <p:spPr>
          <a:xfrm>
            <a:off x="1786803" y="5310329"/>
            <a:ext cx="689700" cy="571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84021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42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Instalación</a:t>
            </a:r>
            <a:r>
              <a:rPr lang="en-GB" dirty="0"/>
              <a:t> MySQL Server</a:t>
            </a:r>
            <a:endParaRPr lang="es-PE" dirty="0"/>
          </a:p>
        </p:txBody>
      </p:sp>
      <p:pic>
        <p:nvPicPr>
          <p:cNvPr id="423" name="Google Shape;423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0969" y="2162584"/>
            <a:ext cx="5141930" cy="3742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30;p63">
            <a:extLst>
              <a:ext uri="{FF2B5EF4-FFF2-40B4-BE49-F238E27FC236}">
                <a16:creationId xmlns:a16="http://schemas.microsoft.com/office/drawing/2014/main" id="{6D0C8DC3-124F-E8C3-4CD1-646232BBAF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399" y="2162584"/>
            <a:ext cx="4931654" cy="374243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31;p63">
            <a:extLst>
              <a:ext uri="{FF2B5EF4-FFF2-40B4-BE49-F238E27FC236}">
                <a16:creationId xmlns:a16="http://schemas.microsoft.com/office/drawing/2014/main" id="{A64DA84C-8FAA-51B1-F6F7-6B90FD7E514E}"/>
              </a:ext>
            </a:extLst>
          </p:cNvPr>
          <p:cNvSpPr/>
          <p:nvPr/>
        </p:nvSpPr>
        <p:spPr>
          <a:xfrm>
            <a:off x="7716996" y="4884122"/>
            <a:ext cx="1539713" cy="470431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1776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43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Instalación</a:t>
            </a:r>
            <a:r>
              <a:rPr lang="en-GB" dirty="0"/>
              <a:t> MySQL Server</a:t>
            </a:r>
            <a:endParaRPr lang="es-PE" dirty="0"/>
          </a:p>
        </p:txBody>
      </p:sp>
      <p:sp>
        <p:nvSpPr>
          <p:cNvPr id="6" name="Google Shape;440;p64">
            <a:extLst>
              <a:ext uri="{FF2B5EF4-FFF2-40B4-BE49-F238E27FC236}">
                <a16:creationId xmlns:a16="http://schemas.microsoft.com/office/drawing/2014/main" id="{A4E39C13-4148-F21D-9064-E98171E49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62150" y="2053559"/>
            <a:ext cx="8520600" cy="80966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GB" dirty="0"/>
              <a:t>Las </a:t>
            </a:r>
            <a:r>
              <a:rPr lang="en-GB" dirty="0" err="1"/>
              <a:t>capturas</a:t>
            </a:r>
            <a:r>
              <a:rPr lang="en-GB" dirty="0"/>
              <a:t> de </a:t>
            </a:r>
            <a:r>
              <a:rPr lang="en-GB" dirty="0" err="1"/>
              <a:t>pantalla</a:t>
            </a:r>
            <a:r>
              <a:rPr lang="en-GB" dirty="0"/>
              <a:t> indican la </a:t>
            </a:r>
            <a:r>
              <a:rPr lang="en-GB" dirty="0" err="1"/>
              <a:t>versión</a:t>
            </a:r>
            <a:r>
              <a:rPr lang="en-GB" dirty="0"/>
              <a:t> 8.0.21 </a:t>
            </a:r>
            <a:r>
              <a:rPr lang="en-GB" dirty="0" err="1"/>
              <a:t>pero</a:t>
            </a:r>
            <a:r>
              <a:rPr lang="en-GB" dirty="0"/>
              <a:t> para </a:t>
            </a:r>
            <a:r>
              <a:rPr lang="en-GB" dirty="0" err="1"/>
              <a:t>el</a:t>
            </a:r>
            <a:r>
              <a:rPr lang="en-GB" dirty="0"/>
              <a:t> 8.0.30 es lo </a:t>
            </a:r>
            <a:r>
              <a:rPr lang="en-GB" dirty="0" err="1"/>
              <a:t>mismo</a:t>
            </a:r>
            <a:r>
              <a:rPr lang="en-GB" dirty="0"/>
              <a:t>.</a:t>
            </a:r>
            <a:endParaRPr dirty="0"/>
          </a:p>
        </p:txBody>
      </p:sp>
      <p:sp>
        <p:nvSpPr>
          <p:cNvPr id="7" name="Google Shape;439;p64">
            <a:extLst>
              <a:ext uri="{FF2B5EF4-FFF2-40B4-BE49-F238E27FC236}">
                <a16:creationId xmlns:a16="http://schemas.microsoft.com/office/drawing/2014/main" id="{27610596-4175-BB45-516E-AC140AE4C39F}"/>
              </a:ext>
            </a:extLst>
          </p:cNvPr>
          <p:cNvSpPr txBox="1"/>
          <p:nvPr/>
        </p:nvSpPr>
        <p:spPr>
          <a:xfrm>
            <a:off x="8112351" y="4203651"/>
            <a:ext cx="23112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/>
              <a:t>Quedarse solo con estos</a:t>
            </a:r>
            <a:endParaRPr/>
          </a:p>
        </p:txBody>
      </p:sp>
      <p:grpSp>
        <p:nvGrpSpPr>
          <p:cNvPr id="8" name="Google Shape;442;p64">
            <a:extLst>
              <a:ext uri="{FF2B5EF4-FFF2-40B4-BE49-F238E27FC236}">
                <a16:creationId xmlns:a16="http://schemas.microsoft.com/office/drawing/2014/main" id="{42D189EF-575B-62CD-A8E4-F19B513769AD}"/>
              </a:ext>
            </a:extLst>
          </p:cNvPr>
          <p:cNvGrpSpPr/>
          <p:nvPr/>
        </p:nvGrpSpPr>
        <p:grpSpPr>
          <a:xfrm>
            <a:off x="3006374" y="2775474"/>
            <a:ext cx="5027917" cy="3546586"/>
            <a:chOff x="985225" y="2419202"/>
            <a:chExt cx="5487736" cy="4140225"/>
          </a:xfrm>
        </p:grpSpPr>
        <p:pic>
          <p:nvPicPr>
            <p:cNvPr id="9" name="Google Shape;443;p64">
              <a:extLst>
                <a:ext uri="{FF2B5EF4-FFF2-40B4-BE49-F238E27FC236}">
                  <a16:creationId xmlns:a16="http://schemas.microsoft.com/office/drawing/2014/main" id="{671D28F0-522A-3683-2909-F979892CEAB5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85225" y="2419202"/>
              <a:ext cx="5487736" cy="414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444;p64">
              <a:extLst>
                <a:ext uri="{FF2B5EF4-FFF2-40B4-BE49-F238E27FC236}">
                  <a16:creationId xmlns:a16="http://schemas.microsoft.com/office/drawing/2014/main" id="{C748BA85-DC68-2B74-448C-75E239CEDCC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64674" t="44941" r="5261" b="26298"/>
            <a:stretch/>
          </p:blipFill>
          <p:spPr>
            <a:xfrm>
              <a:off x="4534500" y="4176125"/>
              <a:ext cx="1649849" cy="1190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445;p64">
            <a:extLst>
              <a:ext uri="{FF2B5EF4-FFF2-40B4-BE49-F238E27FC236}">
                <a16:creationId xmlns:a16="http://schemas.microsoft.com/office/drawing/2014/main" id="{AEF97141-DFA8-8EE2-47DC-02CFD033B8C7}"/>
              </a:ext>
            </a:extLst>
          </p:cNvPr>
          <p:cNvSpPr/>
          <p:nvPr/>
        </p:nvSpPr>
        <p:spPr>
          <a:xfrm>
            <a:off x="6092991" y="3843482"/>
            <a:ext cx="1941300" cy="1529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5175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44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Instalación</a:t>
            </a:r>
            <a:r>
              <a:rPr lang="en-GB" dirty="0"/>
              <a:t> MySQL Server</a:t>
            </a:r>
            <a:endParaRPr lang="es-PE" dirty="0"/>
          </a:p>
        </p:txBody>
      </p:sp>
      <p:grpSp>
        <p:nvGrpSpPr>
          <p:cNvPr id="452" name="Google Shape;452;p65"/>
          <p:cNvGrpSpPr/>
          <p:nvPr/>
        </p:nvGrpSpPr>
        <p:grpSpPr>
          <a:xfrm>
            <a:off x="293371" y="2340642"/>
            <a:ext cx="5123848" cy="3896364"/>
            <a:chOff x="1247313" y="1447867"/>
            <a:chExt cx="6649365" cy="5016633"/>
          </a:xfrm>
        </p:grpSpPr>
        <p:pic>
          <p:nvPicPr>
            <p:cNvPr id="453" name="Google Shape;453;p6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247313" y="1447867"/>
              <a:ext cx="6649365" cy="5016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65"/>
            <p:cNvPicPr preferRelativeResize="0"/>
            <p:nvPr/>
          </p:nvPicPr>
          <p:blipFill rotWithShape="1">
            <a:blip r:embed="rId2">
              <a:alphaModFix/>
            </a:blip>
            <a:srcRect l="34122" t="39620" r="14726" b="25479"/>
            <a:stretch/>
          </p:blipFill>
          <p:spPr>
            <a:xfrm>
              <a:off x="3512625" y="3222675"/>
              <a:ext cx="3401124" cy="1750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66"/>
          <p:cNvGrpSpPr/>
          <p:nvPr/>
        </p:nvGrpSpPr>
        <p:grpSpPr>
          <a:xfrm>
            <a:off x="5983549" y="2340642"/>
            <a:ext cx="5194909" cy="3938891"/>
            <a:chOff x="1247313" y="1461267"/>
            <a:chExt cx="6649365" cy="5016633"/>
          </a:xfrm>
        </p:grpSpPr>
        <p:pic>
          <p:nvPicPr>
            <p:cNvPr id="462" name="Google Shape;462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47313" y="1461267"/>
              <a:ext cx="6649365" cy="5016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3" name="Google Shape;463;p66"/>
            <p:cNvPicPr preferRelativeResize="0"/>
            <p:nvPr/>
          </p:nvPicPr>
          <p:blipFill rotWithShape="1">
            <a:blip r:embed="rId3">
              <a:alphaModFix/>
            </a:blip>
            <a:srcRect l="32234" t="39409" r="18251" b="30136"/>
            <a:stretch/>
          </p:blipFill>
          <p:spPr>
            <a:xfrm>
              <a:off x="3391375" y="3232450"/>
              <a:ext cx="3292401" cy="15277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593271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45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Instalación</a:t>
            </a:r>
            <a:r>
              <a:rPr lang="en-GB" dirty="0"/>
              <a:t> MySQL Server</a:t>
            </a:r>
            <a:endParaRPr lang="es-PE" dirty="0"/>
          </a:p>
        </p:txBody>
      </p:sp>
      <p:pic>
        <p:nvPicPr>
          <p:cNvPr id="470" name="Google Shape;470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7152" y="2359841"/>
            <a:ext cx="4908419" cy="3849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75;p68">
            <a:extLst>
              <a:ext uri="{FF2B5EF4-FFF2-40B4-BE49-F238E27FC236}">
                <a16:creationId xmlns:a16="http://schemas.microsoft.com/office/drawing/2014/main" id="{1F87C0BE-8D1B-2372-D5C6-3427303614E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338" y="2359841"/>
            <a:ext cx="5238538" cy="384919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78;p68">
            <a:extLst>
              <a:ext uri="{FF2B5EF4-FFF2-40B4-BE49-F238E27FC236}">
                <a16:creationId xmlns:a16="http://schemas.microsoft.com/office/drawing/2014/main" id="{96BF1D8D-23EC-16DB-6870-B09CB47DF0CC}"/>
              </a:ext>
            </a:extLst>
          </p:cNvPr>
          <p:cNvSpPr/>
          <p:nvPr/>
        </p:nvSpPr>
        <p:spPr>
          <a:xfrm>
            <a:off x="7439947" y="2898362"/>
            <a:ext cx="3516764" cy="517293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527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46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Instalación</a:t>
            </a:r>
            <a:r>
              <a:rPr lang="en-GB" dirty="0"/>
              <a:t> MySQL Server</a:t>
            </a:r>
            <a:endParaRPr lang="es-PE" dirty="0"/>
          </a:p>
        </p:txBody>
      </p:sp>
      <p:pic>
        <p:nvPicPr>
          <p:cNvPr id="486" name="Google Shape;486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8577" y="2243134"/>
            <a:ext cx="4797687" cy="3602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112" y="2243134"/>
            <a:ext cx="4618661" cy="3602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05622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47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Configuración</a:t>
            </a:r>
            <a:r>
              <a:rPr lang="en-GB" dirty="0"/>
              <a:t> MySQL Server</a:t>
            </a:r>
            <a:endParaRPr lang="es-PE" dirty="0"/>
          </a:p>
        </p:txBody>
      </p:sp>
      <p:pic>
        <p:nvPicPr>
          <p:cNvPr id="6" name="Google Shape;498;p71">
            <a:extLst>
              <a:ext uri="{FF2B5EF4-FFF2-40B4-BE49-F238E27FC236}">
                <a16:creationId xmlns:a16="http://schemas.microsoft.com/office/drawing/2014/main" id="{8DD70546-49AD-B6E7-1436-0E5F626D093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874" y="2387202"/>
            <a:ext cx="4845714" cy="372788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01;p71">
            <a:extLst>
              <a:ext uri="{FF2B5EF4-FFF2-40B4-BE49-F238E27FC236}">
                <a16:creationId xmlns:a16="http://schemas.microsoft.com/office/drawing/2014/main" id="{FE410A56-133E-CDB7-DD20-70AFB18205A5}"/>
              </a:ext>
            </a:extLst>
          </p:cNvPr>
          <p:cNvSpPr txBox="1"/>
          <p:nvPr/>
        </p:nvSpPr>
        <p:spPr>
          <a:xfrm>
            <a:off x="4380473" y="3889733"/>
            <a:ext cx="1867926" cy="2690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000" dirty="0">
                <a:solidFill>
                  <a:srgbClr val="FFFFFF"/>
                </a:solidFill>
              </a:rPr>
              <a:t>El password </a:t>
            </a:r>
            <a:r>
              <a:rPr lang="en-GB" sz="1000" dirty="0" err="1">
                <a:solidFill>
                  <a:srgbClr val="FFFFFF"/>
                </a:solidFill>
              </a:rPr>
              <a:t>usado</a:t>
            </a:r>
            <a:r>
              <a:rPr lang="en-GB" sz="1000" dirty="0">
                <a:solidFill>
                  <a:srgbClr val="FFFFFF"/>
                </a:solidFill>
              </a:rPr>
              <a:t> es </a:t>
            </a:r>
            <a:r>
              <a:rPr lang="en-GB" sz="1000" b="1" i="1" dirty="0">
                <a:solidFill>
                  <a:srgbClr val="FFFFFF"/>
                </a:solidFill>
              </a:rPr>
              <a:t>root</a:t>
            </a:r>
            <a:endParaRPr sz="1000" b="1" i="1" dirty="0">
              <a:solidFill>
                <a:srgbClr val="FFFFFF"/>
              </a:solidFill>
            </a:endParaRPr>
          </a:p>
        </p:txBody>
      </p:sp>
      <p:pic>
        <p:nvPicPr>
          <p:cNvPr id="508" name="Google Shape;50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311" y="2537010"/>
            <a:ext cx="4449185" cy="34282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6119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48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Configuración</a:t>
            </a:r>
            <a:r>
              <a:rPr lang="en-GB" dirty="0"/>
              <a:t> MySQL Server</a:t>
            </a:r>
            <a:endParaRPr lang="es-PE" dirty="0"/>
          </a:p>
        </p:txBody>
      </p:sp>
      <p:pic>
        <p:nvPicPr>
          <p:cNvPr id="515" name="Google Shape;515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3744" y="2243134"/>
            <a:ext cx="5291740" cy="369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2243134"/>
            <a:ext cx="4797687" cy="3623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29118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49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Configuración</a:t>
            </a:r>
            <a:r>
              <a:rPr lang="en-GB" dirty="0"/>
              <a:t> MySQL Server</a:t>
            </a:r>
            <a:endParaRPr lang="es-PE" dirty="0"/>
          </a:p>
        </p:txBody>
      </p:sp>
      <p:pic>
        <p:nvPicPr>
          <p:cNvPr id="529" name="Google Shape;529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3943" y="2264953"/>
            <a:ext cx="5122057" cy="392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0368" y="2374783"/>
            <a:ext cx="4797689" cy="37034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235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50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Configuración</a:t>
            </a:r>
            <a:r>
              <a:rPr lang="en-GB" dirty="0"/>
              <a:t> MySQL Server</a:t>
            </a:r>
            <a:endParaRPr lang="es-PE" dirty="0"/>
          </a:p>
        </p:txBody>
      </p:sp>
      <p:pic>
        <p:nvPicPr>
          <p:cNvPr id="543" name="Google Shape;543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985" y="2243134"/>
            <a:ext cx="5090474" cy="4025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2414727"/>
            <a:ext cx="5090474" cy="3508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4588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51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MySQL Workbench</a:t>
            </a:r>
            <a:endParaRPr lang="es-PE"/>
          </a:p>
        </p:txBody>
      </p:sp>
      <p:pic>
        <p:nvPicPr>
          <p:cNvPr id="557" name="Google Shape;557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0254" y="2068443"/>
            <a:ext cx="8211491" cy="4376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31249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0"/>
          <p:cNvSpPr txBox="1">
            <a:spLocks noGrp="1"/>
          </p:cNvSpPr>
          <p:nvPr>
            <p:ph type="title"/>
          </p:nvPr>
        </p:nvSpPr>
        <p:spPr>
          <a:xfrm>
            <a:off x="323849" y="2162175"/>
            <a:ext cx="8067675" cy="1695450"/>
          </a:xfr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r>
              <a:rPr lang="en-GB"/>
              <a:t>MySQL</a:t>
            </a:r>
            <a:endParaRPr/>
          </a:p>
          <a:p>
            <a:r>
              <a:rPr lang="en-GB"/>
              <a:t>Notifier</a:t>
            </a:r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97EE91D-21C8-55DC-5488-95405FC6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8" y="326688"/>
            <a:ext cx="1495425" cy="365125"/>
          </a:xfrm>
        </p:spPr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3985D3-98EF-B62D-5C9D-88FD40E5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s-ES" dirty="0"/>
              <a:t>Gestión de Servicios TICS</a:t>
            </a:r>
            <a:endParaRPr lang="es-PE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53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MySQL notifier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B0031C-62DA-69F5-44FB-CDE8598CA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Para prender, apagar o reiniciar su servidor de base de datos, puede hacerlo directamente desde las herramientas administrativas de </a:t>
            </a:r>
            <a:r>
              <a:rPr lang="es-ES" dirty="0" err="1"/>
              <a:t>windows</a:t>
            </a:r>
            <a:r>
              <a:rPr lang="es-ES" dirty="0"/>
              <a:t> o puede usar un software que le permite reconocer los servicios de MySQL en </a:t>
            </a:r>
            <a:r>
              <a:rPr lang="es-ES" dirty="0" err="1"/>
              <a:t>windows</a:t>
            </a:r>
            <a:r>
              <a:rPr lang="es-ES" dirty="0"/>
              <a:t>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s-ES" dirty="0"/>
              <a:t>Para este fin, puede utilizar MySQL </a:t>
            </a:r>
            <a:r>
              <a:rPr lang="es-ES" dirty="0" err="1"/>
              <a:t>notifier</a:t>
            </a:r>
            <a:r>
              <a:rPr lang="es-ES" dirty="0"/>
              <a:t> 1.1.8: </a:t>
            </a:r>
            <a:r>
              <a:rPr lang="es-ES" u="sng" dirty="0">
                <a:solidFill>
                  <a:schemeClr val="hlink"/>
                </a:solidFill>
                <a:hlinkClick r:id="rId2"/>
              </a:rPr>
              <a:t>https://downloads.mysql.com/archives/notifier</a:t>
            </a:r>
            <a:endParaRPr lang="es-ES" dirty="0"/>
          </a:p>
          <a:p>
            <a:endParaRPr lang="es-PE" dirty="0"/>
          </a:p>
        </p:txBody>
      </p:sp>
      <p:pic>
        <p:nvPicPr>
          <p:cNvPr id="569" name="Google Shape;56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508" y="3729937"/>
            <a:ext cx="5520775" cy="2801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38956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316A99-40A4-DF25-B885-66DCC0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PE" dirty="0"/>
              <a:t>2024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672B10-842A-FD03-F59B-E9843721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Servicios</a:t>
            </a:r>
            <a:r>
              <a:rPr lang="en-US" dirty="0"/>
              <a:t> TICS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B1F44B-B35F-67A2-8B56-9037FC0E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2A29C8B-5F70-8945-A2A6-FBD7A17156DB}" type="slidenum">
              <a:rPr lang="es-PE" smtClean="0"/>
              <a:pPr/>
              <a:t>54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0705D1C-782C-A18B-5B45-6CFB8269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MySQL notifier</a:t>
            </a:r>
            <a:endParaRPr lang="es-PE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B0031C-62DA-69F5-44FB-CDE8598CA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vez instalado, lo encontrará en la barra de tareas (muchas veces oculto).</a:t>
            </a:r>
          </a:p>
          <a:p>
            <a:endParaRPr lang="es-PE" dirty="0"/>
          </a:p>
        </p:txBody>
      </p:sp>
      <p:pic>
        <p:nvPicPr>
          <p:cNvPr id="576" name="Google Shape;576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1450" y="2851493"/>
            <a:ext cx="4229100" cy="15811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68320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03520-39D6-0A4B-AC44-6EE6AF811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PE" sz="6600" b="1" dirty="0">
                <a:solidFill>
                  <a:schemeClr val="bg1"/>
                </a:solidFill>
                <a:latin typeface="Montserrat" pitchFamily="2" charset="77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953815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_Tele">
  <a:themeElements>
    <a:clrScheme name="Telecomunicaciones_PPT">
      <a:dk1>
        <a:srgbClr val="002060"/>
      </a:dk1>
      <a:lt1>
        <a:srgbClr val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_Tele" id="{DB2C6AA8-523B-4CC4-A0AB-6EFF8B9A41B7}" vid="{CDFF7B9C-E3DD-4712-AF04-42302E74A208}"/>
    </a:ext>
  </a:extLst>
</a:theme>
</file>

<file path=ppt/theme/theme2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rgbClr val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.pptx" id="{A1964E05-1CB7-4FF7-A9C3-04C0E898B868}" vid="{040B6566-89C8-4409-B42B-EA585A562B83}"/>
    </a:ext>
  </a:extLst>
</a:theme>
</file>

<file path=ppt/theme/theme3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rgbClr val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.pptx" id="{A1964E05-1CB7-4FF7-A9C3-04C0E898B868}" vid="{BAEE93D0-BAD8-47D9-A687-82A9C89830DE}"/>
    </a:ext>
  </a:extLst>
</a:theme>
</file>

<file path=ppt/theme/theme4.xml><?xml version="1.0" encoding="utf-8"?>
<a:theme xmlns:a="http://schemas.openxmlformats.org/drawingml/2006/main" name="1_Tema_Tele">
  <a:themeElements>
    <a:clrScheme name="Telecomunicaciones_PPT">
      <a:dk1>
        <a:srgbClr val="002060"/>
      </a:dk1>
      <a:lt1>
        <a:srgbClr val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_Tele" id="{DB2C6AA8-523B-4CC4-A0AB-6EFF8B9A41B7}" vid="{CDFF7B9C-E3DD-4712-AF04-42302E74A208}"/>
    </a:ext>
  </a:extLst>
</a:theme>
</file>

<file path=ppt/theme/theme5.xml><?xml version="1.0" encoding="utf-8"?>
<a:theme xmlns:a="http://schemas.openxmlformats.org/drawingml/2006/main" name="Tema1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983D11EE-D814-4953-95F8-A6A1CD69CBD1}" vid="{A36DDF43-44DC-45D4-AF47-479B11CF20B3}"/>
    </a:ext>
  </a:extLst>
</a:theme>
</file>

<file path=ppt/theme/theme6.xml><?xml version="1.0" encoding="utf-8"?>
<a:theme xmlns:a="http://schemas.openxmlformats.org/drawingml/2006/main" name="4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7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Tema_Tele</Template>
  <TotalTime>8</TotalTime>
  <Words>1226</Words>
  <Application>Microsoft Office PowerPoint</Application>
  <PresentationFormat>Panorámica</PresentationFormat>
  <Paragraphs>263</Paragraphs>
  <Slides>55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diapositiva</vt:lpstr>
      </vt:variant>
      <vt:variant>
        <vt:i4>55</vt:i4>
      </vt:variant>
    </vt:vector>
  </HeadingPairs>
  <TitlesOfParts>
    <vt:vector size="66" baseType="lpstr">
      <vt:lpstr>Wingdings</vt:lpstr>
      <vt:lpstr>Arial</vt:lpstr>
      <vt:lpstr>Montserrat</vt:lpstr>
      <vt:lpstr>Montserrat Medium</vt:lpstr>
      <vt:lpstr>Tema_Tele</vt:lpstr>
      <vt:lpstr>Tema de Office</vt:lpstr>
      <vt:lpstr>1_Tema de Office</vt:lpstr>
      <vt:lpstr>1_Tema_Tele</vt:lpstr>
      <vt:lpstr>Tema1</vt:lpstr>
      <vt:lpstr>4_Tema de Office</vt:lpstr>
      <vt:lpstr>Diseño personalizado</vt:lpstr>
      <vt:lpstr>Programas para el curso</vt:lpstr>
      <vt:lpstr>Objetivos</vt:lpstr>
      <vt:lpstr>IntelliJ IDEA</vt:lpstr>
      <vt:lpstr>IntelliJ</vt:lpstr>
      <vt:lpstr>Solicitar una licencia ULTIMATE de IntelliJ</vt:lpstr>
      <vt:lpstr>Licencia Ultimate IDE IntelliJ</vt:lpstr>
      <vt:lpstr>Formulario</vt:lpstr>
      <vt:lpstr>Formulario</vt:lpstr>
      <vt:lpstr>Formulario</vt:lpstr>
      <vt:lpstr>Confirmación</vt:lpstr>
      <vt:lpstr>Correo</vt:lpstr>
      <vt:lpstr>Términos y Condiciones</vt:lpstr>
      <vt:lpstr>Ingrese a su cuenta</vt:lpstr>
      <vt:lpstr>Creación cuenta</vt:lpstr>
      <vt:lpstr>Verificación de su licencia</vt:lpstr>
      <vt:lpstr>Instalación del IDE y vinculación de su licencia</vt:lpstr>
      <vt:lpstr>Descargar IDE</vt:lpstr>
      <vt:lpstr>Descargar IDE</vt:lpstr>
      <vt:lpstr>Descargar IDE</vt:lpstr>
      <vt:lpstr>Abra el instalador</vt:lpstr>
      <vt:lpstr> Next  Next</vt:lpstr>
      <vt:lpstr>Active IntelliJ IDEA &gt; Install</vt:lpstr>
      <vt:lpstr>Seleccione “Run IntelliJ IDEA” y Finish</vt:lpstr>
      <vt:lpstr>Acepte los términos</vt:lpstr>
      <vt:lpstr>Coloque si desea compartir los datos de uso, cualquiera de las dos opciones son válidas.</vt:lpstr>
      <vt:lpstr>Do not import settings → OK</vt:lpstr>
      <vt:lpstr>Seleccione el tema: Darcula o Light y luego Next: Default plugins</vt:lpstr>
      <vt:lpstr>Deje todo por defecto y presione Next: Featured plugins</vt:lpstr>
      <vt:lpstr>Deje todo por defecto y presione Start using IntelliJ IDEA</vt:lpstr>
      <vt:lpstr>Activación de su licencia</vt:lpstr>
      <vt:lpstr>En la página que se abre, coloque su usuario y contraseña que definió cuando creó su cuenta.</vt:lpstr>
      <vt:lpstr>Si observa la siguiente ventana, ya puede cerrarla y regresar al IDE.</vt:lpstr>
      <vt:lpstr>JDK (Java Development Kit )</vt:lpstr>
      <vt:lpstr>JDK</vt:lpstr>
      <vt:lpstr>Descargar de JDK</vt:lpstr>
      <vt:lpstr>Presentación de PowerPoint</vt:lpstr>
      <vt:lpstr>Presentación de PowerPoint</vt:lpstr>
      <vt:lpstr>¡Listo!</vt:lpstr>
      <vt:lpstr>Base de datos MySQL</vt:lpstr>
      <vt:lpstr>Instalación de la base de datos Conceptos Generales</vt:lpstr>
      <vt:lpstr>Presentación de PowerPoint</vt:lpstr>
      <vt:lpstr>Instalación MySQL Server</vt:lpstr>
      <vt:lpstr>Instalación MySQL Server</vt:lpstr>
      <vt:lpstr>Instalación MySQL Server</vt:lpstr>
      <vt:lpstr>Instalación MySQL Server</vt:lpstr>
      <vt:lpstr>Instalación MySQL Server</vt:lpstr>
      <vt:lpstr>Configuración MySQL Server</vt:lpstr>
      <vt:lpstr>Configuración MySQL Server</vt:lpstr>
      <vt:lpstr>Configuración MySQL Server</vt:lpstr>
      <vt:lpstr>Configuración MySQL Server</vt:lpstr>
      <vt:lpstr>MySQL Workbench</vt:lpstr>
      <vt:lpstr>MySQL Notifier</vt:lpstr>
      <vt:lpstr>MySQL notifier</vt:lpstr>
      <vt:lpstr>MySQL notifier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Programas para el curso</dc:title>
  <dc:creator>Brenda Tumbalobos Cubas</dc:creator>
  <cp:lastModifiedBy>Brenda Tumbalobos</cp:lastModifiedBy>
  <cp:revision>3</cp:revision>
  <dcterms:modified xsi:type="dcterms:W3CDTF">2025-03-26T18:22:14Z</dcterms:modified>
</cp:coreProperties>
</file>