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47"/>
  </p:notesMasterIdLst>
  <p:handoutMasterIdLst>
    <p:handoutMasterId r:id="rId48"/>
  </p:handoutMasterIdLst>
  <p:sldIdLst>
    <p:sldId id="390" r:id="rId5"/>
    <p:sldId id="391" r:id="rId6"/>
    <p:sldId id="345" r:id="rId7"/>
    <p:sldId id="392" r:id="rId8"/>
    <p:sldId id="393" r:id="rId9"/>
    <p:sldId id="394" r:id="rId10"/>
    <p:sldId id="395" r:id="rId11"/>
    <p:sldId id="396" r:id="rId12"/>
    <p:sldId id="397" r:id="rId13"/>
    <p:sldId id="398" r:id="rId14"/>
    <p:sldId id="399" r:id="rId15"/>
    <p:sldId id="400" r:id="rId16"/>
    <p:sldId id="401" r:id="rId17"/>
    <p:sldId id="402" r:id="rId18"/>
    <p:sldId id="360" r:id="rId19"/>
    <p:sldId id="403" r:id="rId20"/>
    <p:sldId id="404" r:id="rId21"/>
    <p:sldId id="405" r:id="rId22"/>
    <p:sldId id="406" r:id="rId23"/>
    <p:sldId id="407" r:id="rId24"/>
    <p:sldId id="408" r:id="rId25"/>
    <p:sldId id="409" r:id="rId26"/>
    <p:sldId id="410" r:id="rId27"/>
    <p:sldId id="411" r:id="rId28"/>
    <p:sldId id="412" r:id="rId29"/>
    <p:sldId id="413" r:id="rId30"/>
    <p:sldId id="414" r:id="rId31"/>
    <p:sldId id="415" r:id="rId32"/>
    <p:sldId id="416" r:id="rId33"/>
    <p:sldId id="378" r:id="rId34"/>
    <p:sldId id="417" r:id="rId35"/>
    <p:sldId id="418" r:id="rId36"/>
    <p:sldId id="419" r:id="rId37"/>
    <p:sldId id="420" r:id="rId38"/>
    <p:sldId id="383" r:id="rId39"/>
    <p:sldId id="421" r:id="rId40"/>
    <p:sldId id="422" r:id="rId41"/>
    <p:sldId id="423" r:id="rId42"/>
    <p:sldId id="424" r:id="rId43"/>
    <p:sldId id="425" r:id="rId44"/>
    <p:sldId id="426" r:id="rId45"/>
    <p:sldId id="427" r:id="rId4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1" autoAdjust="0"/>
    <p:restoredTop sz="94643"/>
  </p:normalViewPr>
  <p:slideViewPr>
    <p:cSldViewPr snapToGrid="0" snapToObjects="1">
      <p:cViewPr varScale="1">
        <p:scale>
          <a:sx n="93" d="100"/>
          <a:sy n="93" d="100"/>
        </p:scale>
        <p:origin x="119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24/03/2026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24/03/2026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Marzo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171900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0453306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9715762" cy="1069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 dirty="0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0" y="59187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98000" y="59187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64811" y="59186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74233" y="61561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239295" y="62057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81959" y="62147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8019651" y="6156150"/>
            <a:ext cx="626177" cy="464401"/>
          </a:xfrm>
          <a:prstGeom prst="rect">
            <a:avLst/>
          </a:prstGeom>
        </p:spPr>
      </p:pic>
      <p:sp>
        <p:nvSpPr>
          <p:cNvPr id="4" name="Google Shape;81;p10">
            <a:extLst>
              <a:ext uri="{FF2B5EF4-FFF2-40B4-BE49-F238E27FC236}">
                <a16:creationId xmlns:a16="http://schemas.microsoft.com/office/drawing/2014/main" id="{E10818E9-81C7-9F70-A5D5-5F43487F7A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8" y="1734529"/>
            <a:ext cx="10515600" cy="360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018239276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  <p:sp>
        <p:nvSpPr>
          <p:cNvPr id="3" name="Google Shape;26;p4">
            <a:extLst>
              <a:ext uri="{FF2B5EF4-FFF2-40B4-BE49-F238E27FC236}">
                <a16:creationId xmlns:a16="http://schemas.microsoft.com/office/drawing/2014/main" id="{F44246A5-A2E9-49A2-705B-D5DA5D461A92}"/>
              </a:ext>
            </a:extLst>
          </p:cNvPr>
          <p:cNvSpPr/>
          <p:nvPr userDrawn="1"/>
        </p:nvSpPr>
        <p:spPr>
          <a:xfrm>
            <a:off x="0" y="5890543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27;p4">
            <a:extLst>
              <a:ext uri="{FF2B5EF4-FFF2-40B4-BE49-F238E27FC236}">
                <a16:creationId xmlns:a16="http://schemas.microsoft.com/office/drawing/2014/main" id="{142BC304-17E6-87D0-A607-A6AD0CADA762}"/>
              </a:ext>
            </a:extLst>
          </p:cNvPr>
          <p:cNvSpPr/>
          <p:nvPr userDrawn="1"/>
        </p:nvSpPr>
        <p:spPr>
          <a:xfrm>
            <a:off x="8798000" y="5890543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28;p4">
            <a:extLst>
              <a:ext uri="{FF2B5EF4-FFF2-40B4-BE49-F238E27FC236}">
                <a16:creationId xmlns:a16="http://schemas.microsoft.com/office/drawing/2014/main" id="{9FC193E6-0C85-4DFD-3CF7-CD931196D09C}"/>
              </a:ext>
            </a:extLst>
          </p:cNvPr>
          <p:cNvSpPr/>
          <p:nvPr userDrawn="1"/>
        </p:nvSpPr>
        <p:spPr>
          <a:xfrm>
            <a:off x="11064811" y="5890498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ACCB1BB-755A-CDEB-8165-7FB52D6319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5217"/>
          <a:stretch/>
        </p:blipFill>
        <p:spPr>
          <a:xfrm>
            <a:off x="8974233" y="6127993"/>
            <a:ext cx="1856985" cy="464401"/>
          </a:xfrm>
          <a:prstGeom prst="rect">
            <a:avLst/>
          </a:prstGeom>
        </p:spPr>
      </p:pic>
      <p:sp>
        <p:nvSpPr>
          <p:cNvPr id="11" name="Google Shape;30;p4">
            <a:extLst>
              <a:ext uri="{FF2B5EF4-FFF2-40B4-BE49-F238E27FC236}">
                <a16:creationId xmlns:a16="http://schemas.microsoft.com/office/drawing/2014/main" id="{4F66F649-71DE-F439-5CEF-E33E4DE885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39295" y="6177630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12" name="Google Shape;31;p4">
            <a:extLst>
              <a:ext uri="{FF2B5EF4-FFF2-40B4-BE49-F238E27FC236}">
                <a16:creationId xmlns:a16="http://schemas.microsoft.com/office/drawing/2014/main" id="{EE0E3915-E4A1-1A32-7210-7D55A448CE9A}"/>
              </a:ext>
            </a:extLst>
          </p:cNvPr>
          <p:cNvSpPr/>
          <p:nvPr userDrawn="1"/>
        </p:nvSpPr>
        <p:spPr>
          <a:xfrm>
            <a:off x="281959" y="6186636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8E7CF87-93B2-0E22-7423-69DE10E85D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4783"/>
          <a:stretch/>
        </p:blipFill>
        <p:spPr>
          <a:xfrm>
            <a:off x="8019651" y="6127993"/>
            <a:ext cx="626177" cy="46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9619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5863655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25841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7784142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4469344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10770880"/>
      </p:ext>
    </p:extLst>
  </p:cSld>
  <p:clrMapOvr>
    <a:masterClrMapping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73414372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8000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92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pring.io/spring/docs/current/spring-framework-reference/web.html#mvc-controller" TargetMode="External"/><Relationship Id="rId2" Type="http://schemas.openxmlformats.org/officeDocument/2006/relationships/hyperlink" Target="https://spring.io/" TargetMode="External"/><Relationship Id="rId1" Type="http://schemas.openxmlformats.org/officeDocument/2006/relationships/slideLayout" Target="../slideLayouts/slideLayout31.xml"/><Relationship Id="rId5" Type="http://schemas.openxmlformats.org/officeDocument/2006/relationships/hyperlink" Target="https://docs.spring.io/spring-boot/docs/2.3.0.BUILD-SNAPSHOT/reference/html/getting-started.html#getting-started" TargetMode="External"/><Relationship Id="rId4" Type="http://schemas.openxmlformats.org/officeDocument/2006/relationships/hyperlink" Target="https://docs.spring.io/spring/docs/3.2.x/spring-framework-reference/html/mvc.html#mvc-controll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976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A23BC-21CE-34CF-31E2-297A3C6081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Spring Framework 5 &amp; </a:t>
            </a:r>
            <a:br>
              <a:rPr lang="es-ES" dirty="0"/>
            </a:br>
            <a:r>
              <a:rPr lang="es-ES" dirty="0"/>
              <a:t>Sprint Boot 2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0658DB-BC9E-B356-3BA1-CE9DF44448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36767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EFAC49F-CC65-0C81-5D38-B7D113C6B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70216"/>
          </a:xfrm>
        </p:spPr>
        <p:txBody>
          <a:bodyPr/>
          <a:lstStyle/>
          <a:p>
            <a:r>
              <a:rPr lang="es-PE" dirty="0"/>
              <a:t>Definición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AE6ED1E0-F4B7-4473-905A-3A45F43A29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9B699AEE-2EB2-409B-9D9B-789F2BBB78D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077200" y="327025"/>
            <a:ext cx="4114800" cy="365125"/>
          </a:xfrm>
        </p:spPr>
        <p:txBody>
          <a:bodyPr/>
          <a:lstStyle/>
          <a:p>
            <a:r>
              <a:rPr lang="es-PE" dirty="0"/>
              <a:t>Gestión de Servicios TICS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11D1330-D4BD-2324-C6DC-6679A9DA7F14}"/>
              </a:ext>
            </a:extLst>
          </p:cNvPr>
          <p:cNvSpPr txBox="1"/>
          <p:nvPr/>
        </p:nvSpPr>
        <p:spPr>
          <a:xfrm>
            <a:off x="1407559" y="1664413"/>
            <a:ext cx="89590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Spring Framework es una plataforma para desarrollar aplicaciones empresariales en Java.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Este framework gestiona toda la infraestructura de una aplicación, permitiendo al programador centrarse en las funcionalidades y la lógica de la misma.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Es el “pegamento” que une todos los componentes, gestiona su ciclo de vida y la interacción entre ellos.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27351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10EA7-F932-7E2A-77EE-6847246DD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22601AF-1266-9BD8-5C82-81E84B77B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70216"/>
          </a:xfrm>
        </p:spPr>
        <p:txBody>
          <a:bodyPr/>
          <a:lstStyle/>
          <a:p>
            <a:r>
              <a:rPr lang="es-PE" dirty="0"/>
              <a:t>Modelo de </a:t>
            </a:r>
            <a:r>
              <a:rPr lang="es-PE" dirty="0" err="1"/>
              <a:t>spring</a:t>
            </a:r>
            <a:endParaRPr lang="es-PE" dirty="0"/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2AD1D3F4-BF16-8CF4-03F1-BFEAEB9C81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FCB98869-C4D5-7D59-96E0-A900887DBEF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077200" y="327025"/>
            <a:ext cx="4114800" cy="365125"/>
          </a:xfrm>
        </p:spPr>
        <p:txBody>
          <a:bodyPr/>
          <a:lstStyle/>
          <a:p>
            <a:r>
              <a:rPr lang="es-PE" dirty="0"/>
              <a:t>Gestión de Servicios TICS</a:t>
            </a:r>
          </a:p>
        </p:txBody>
      </p:sp>
      <p:sp>
        <p:nvSpPr>
          <p:cNvPr id="2" name="Marcador de contenido 3">
            <a:extLst>
              <a:ext uri="{FF2B5EF4-FFF2-40B4-BE49-F238E27FC236}">
                <a16:creationId xmlns:a16="http://schemas.microsoft.com/office/drawing/2014/main" id="{B19CDAB9-40BC-2FE1-C974-3C1D3A093893}"/>
              </a:ext>
            </a:extLst>
          </p:cNvPr>
          <p:cNvSpPr txBox="1">
            <a:spLocks/>
          </p:cNvSpPr>
          <p:nvPr/>
        </p:nvSpPr>
        <p:spPr>
          <a:xfrm>
            <a:off x="766281" y="1249439"/>
            <a:ext cx="9716589" cy="140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 ea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285750">
              <a:buFont typeface="Arial" panose="020B0604020202020204" pitchFamily="34" charset="0"/>
              <a:buChar char="•"/>
            </a:pPr>
            <a:r>
              <a:rPr lang="es-ES" kern="0" dirty="0"/>
              <a:t>Spring contiene un gran número de módulos, mayor información en: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s-419" u="sng" kern="0" dirty="0">
                <a:solidFill>
                  <a:schemeClr val="hlink"/>
                </a:solidFill>
              </a:rPr>
              <a:t>https://docs.spring.io/spring-framework/reference/overview.html</a:t>
            </a:r>
            <a:endParaRPr lang="es-419" kern="0" dirty="0"/>
          </a:p>
        </p:txBody>
      </p:sp>
      <p:pic>
        <p:nvPicPr>
          <p:cNvPr id="4" name="Google Shape;98;p17">
            <a:extLst>
              <a:ext uri="{FF2B5EF4-FFF2-40B4-BE49-F238E27FC236}">
                <a16:creationId xmlns:a16="http://schemas.microsoft.com/office/drawing/2014/main" id="{0BD3CB40-4E4E-9737-B0F3-43CC5DE3E81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56612" y="2213867"/>
            <a:ext cx="4278775" cy="32783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9590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8B7B4-EAB3-5559-9242-D143CC1E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C0F912A-3E42-5332-A54F-498A6EBD8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70216"/>
          </a:xfrm>
        </p:spPr>
        <p:txBody>
          <a:bodyPr/>
          <a:lstStyle/>
          <a:p>
            <a:r>
              <a:rPr lang="es-PE" dirty="0"/>
              <a:t>Spring MVC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354E53CB-90C9-C279-A059-C0EC9C1016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F2EAEDAB-3C6D-7045-E23C-34150CB8430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077200" y="327025"/>
            <a:ext cx="4114800" cy="365125"/>
          </a:xfrm>
        </p:spPr>
        <p:txBody>
          <a:bodyPr/>
          <a:lstStyle/>
          <a:p>
            <a:r>
              <a:rPr lang="es-PE" dirty="0"/>
              <a:t>Gestión de Servicios TICS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1B37E8B-F9DE-4552-6230-2DA4E0FC9478}"/>
              </a:ext>
            </a:extLst>
          </p:cNvPr>
          <p:cNvSpPr txBox="1"/>
          <p:nvPr/>
        </p:nvSpPr>
        <p:spPr>
          <a:xfrm>
            <a:off x="1006867" y="1376737"/>
            <a:ext cx="9914562" cy="2698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Spring MVC también conocido como </a:t>
            </a:r>
            <a:r>
              <a:rPr lang="es-ES" b="1" dirty="0"/>
              <a:t>Spring Web MVC</a:t>
            </a:r>
            <a:r>
              <a:rPr lang="es-ES" dirty="0"/>
              <a:t> es un framework web basado en </a:t>
            </a:r>
            <a:r>
              <a:rPr lang="es-ES" dirty="0" err="1"/>
              <a:t>Servlets</a:t>
            </a:r>
            <a:r>
              <a:rPr lang="es-ES" dirty="0"/>
              <a:t> que viene incluido en Spring Framework (</a:t>
            </a:r>
            <a:r>
              <a:rPr lang="es-ES" dirty="0" err="1"/>
              <a:t>spring-webmvc</a:t>
            </a:r>
            <a:r>
              <a:rPr lang="es-ES" dirty="0"/>
              <a:t>).</a:t>
            </a:r>
          </a:p>
          <a:p>
            <a:r>
              <a:rPr lang="es-ES" dirty="0"/>
              <a:t>Será el módulo principal del framework Spring que se utilizará para desarrollar aplicaciones web.</a:t>
            </a:r>
          </a:p>
          <a:p>
            <a:endParaRPr lang="es-ES" dirty="0"/>
          </a:p>
          <a:p>
            <a:r>
              <a:rPr lang="es-ES" dirty="0"/>
              <a:t>Permite la separación en tres capas:</a:t>
            </a:r>
          </a:p>
          <a:p>
            <a:pPr marL="457200" lvl="0" indent="-342900">
              <a:spcBef>
                <a:spcPts val="1600"/>
              </a:spcBef>
              <a:buSzPts val="1800"/>
              <a:buChar char="●"/>
            </a:pPr>
            <a:r>
              <a:rPr lang="es-419" sz="1600" b="1" dirty="0"/>
              <a:t>Modelo</a:t>
            </a:r>
            <a:r>
              <a:rPr lang="es-419" sz="1600" dirty="0"/>
              <a:t>: </a:t>
            </a:r>
            <a:r>
              <a:rPr lang="es-419" sz="1600" b="1" dirty="0"/>
              <a:t>Repositorios, Entidades, JPA </a:t>
            </a:r>
            <a:r>
              <a:rPr lang="es-419" sz="1600" dirty="0"/>
              <a:t>(SW1 → Daos, </a:t>
            </a:r>
            <a:r>
              <a:rPr lang="es-419" sz="1600" dirty="0" err="1"/>
              <a:t>Beans</a:t>
            </a:r>
            <a:r>
              <a:rPr lang="es-419" sz="1600" dirty="0"/>
              <a:t>, JDBC)</a:t>
            </a:r>
            <a:endParaRPr lang="es-419" sz="1600" b="1" dirty="0"/>
          </a:p>
          <a:p>
            <a:pPr marL="457200" lvl="0" indent="-342900">
              <a:buSzPts val="1800"/>
              <a:buChar char="●"/>
            </a:pPr>
            <a:r>
              <a:rPr lang="es-419" sz="1600" b="1" dirty="0"/>
              <a:t>Vista</a:t>
            </a:r>
            <a:r>
              <a:rPr lang="es-419" sz="1600" dirty="0"/>
              <a:t>: </a:t>
            </a:r>
            <a:r>
              <a:rPr lang="es-419" sz="1600" b="1" dirty="0" err="1"/>
              <a:t>thymeleaf</a:t>
            </a:r>
            <a:r>
              <a:rPr lang="es-419" sz="1600" dirty="0"/>
              <a:t> (SW1 → </a:t>
            </a:r>
            <a:r>
              <a:rPr lang="es-419" sz="1600" dirty="0" err="1"/>
              <a:t>jsp</a:t>
            </a:r>
            <a:r>
              <a:rPr lang="es-419" sz="1600" dirty="0"/>
              <a:t>)</a:t>
            </a:r>
          </a:p>
          <a:p>
            <a:pPr marL="457200" lvl="0" indent="-342900">
              <a:buSzPts val="1800"/>
              <a:buChar char="●"/>
            </a:pPr>
            <a:r>
              <a:rPr lang="es-419" sz="1600" b="1" dirty="0"/>
              <a:t>Controlador</a:t>
            </a:r>
            <a:r>
              <a:rPr lang="es-419" sz="1600" dirty="0"/>
              <a:t>: (</a:t>
            </a:r>
            <a:r>
              <a:rPr lang="es-419" sz="1600" b="1" dirty="0"/>
              <a:t>@Controllers</a:t>
            </a:r>
            <a:r>
              <a:rPr lang="es-419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6992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AB4A3-8FDD-F690-E2FC-C8F3E0BC5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CA4F421-50E2-1C3F-A507-D1839A371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256212" cy="570216"/>
          </a:xfrm>
        </p:spPr>
        <p:txBody>
          <a:bodyPr>
            <a:normAutofit/>
          </a:bodyPr>
          <a:lstStyle/>
          <a:p>
            <a:r>
              <a:rPr lang="es-PE" dirty="0"/>
              <a:t>Arquitectura Spring MVC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CCF30555-0FA6-FBFB-F4CD-7D6E0AC361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86888BD6-8467-C120-07AC-54E84873540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077200" y="327025"/>
            <a:ext cx="4114800" cy="365125"/>
          </a:xfrm>
        </p:spPr>
        <p:txBody>
          <a:bodyPr/>
          <a:lstStyle/>
          <a:p>
            <a:r>
              <a:rPr lang="es-PE" dirty="0"/>
              <a:t>Gestión de Servicios TICS</a:t>
            </a:r>
          </a:p>
        </p:txBody>
      </p:sp>
      <p:pic>
        <p:nvPicPr>
          <p:cNvPr id="24" name="Google Shape;112;p19">
            <a:extLst>
              <a:ext uri="{FF2B5EF4-FFF2-40B4-BE49-F238E27FC236}">
                <a16:creationId xmlns:a16="http://schemas.microsoft.com/office/drawing/2014/main" id="{6621BC88-C6AE-EC4B-A592-1963FCDBF4A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5581" y="1235601"/>
            <a:ext cx="7003238" cy="36203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594A9B0-E3DF-F697-5F60-4F7A3A550D4F}"/>
              </a:ext>
            </a:extLst>
          </p:cNvPr>
          <p:cNvSpPr txBox="1"/>
          <p:nvPr/>
        </p:nvSpPr>
        <p:spPr>
          <a:xfrm>
            <a:off x="408764" y="2025756"/>
            <a:ext cx="387540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Spring MVC está diseñado siguiendo el patrón de diseño de </a:t>
            </a:r>
            <a:r>
              <a:rPr lang="es-ES" b="1" dirty="0"/>
              <a:t>Front </a:t>
            </a:r>
            <a:r>
              <a:rPr lang="es-ES" b="1" dirty="0" err="1"/>
              <a:t>Controller</a:t>
            </a:r>
            <a:r>
              <a:rPr lang="es-ES" b="1" dirty="0"/>
              <a:t>.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En Spring MVC, el </a:t>
            </a:r>
            <a:r>
              <a:rPr lang="es-ES" b="1" dirty="0"/>
              <a:t>Front </a:t>
            </a:r>
            <a:r>
              <a:rPr lang="es-ES" b="1" dirty="0" err="1"/>
              <a:t>Controller</a:t>
            </a:r>
            <a:r>
              <a:rPr lang="es-ES" dirty="0"/>
              <a:t> es mejor conocido como </a:t>
            </a:r>
            <a:r>
              <a:rPr lang="es-ES" b="1" dirty="0" err="1"/>
              <a:t>DispatcherServlet</a:t>
            </a:r>
            <a:r>
              <a:rPr lang="es-ES" b="1" dirty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64148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CE034-CC7E-DDEA-77B3-E307938DE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E84879B-1611-2C2E-3E79-23B38093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70216"/>
          </a:xfrm>
        </p:spPr>
        <p:txBody>
          <a:bodyPr/>
          <a:lstStyle/>
          <a:p>
            <a:r>
              <a:rPr lang="es-PE" dirty="0"/>
              <a:t>Spring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D4449E6D-CEAC-2C6D-C4F3-036C3D7FD2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651BC0D5-18BC-46DD-8297-832364E7DF0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077200" y="327025"/>
            <a:ext cx="4114800" cy="365125"/>
          </a:xfrm>
        </p:spPr>
        <p:txBody>
          <a:bodyPr/>
          <a:lstStyle/>
          <a:p>
            <a:r>
              <a:rPr lang="es-PE" dirty="0"/>
              <a:t>Gestión de Servicios TICS</a:t>
            </a:r>
          </a:p>
        </p:txBody>
      </p:sp>
      <p:sp>
        <p:nvSpPr>
          <p:cNvPr id="5" name="Google Shape;90;p16">
            <a:extLst>
              <a:ext uri="{FF2B5EF4-FFF2-40B4-BE49-F238E27FC236}">
                <a16:creationId xmlns:a16="http://schemas.microsoft.com/office/drawing/2014/main" id="{93646F76-D6C0-9780-552D-977D36CFFC7A}"/>
              </a:ext>
            </a:extLst>
          </p:cNvPr>
          <p:cNvSpPr txBox="1">
            <a:spLocks/>
          </p:cNvSpPr>
          <p:nvPr/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0000000-1234-1234-1234-123412341234}" type="slidenum">
              <a:rPr lang="en-GB" smtClean="0">
                <a:solidFill>
                  <a:schemeClr val="dk2"/>
                </a:solidFill>
              </a:rPr>
              <a:pPr algn="r"/>
              <a:t>7</a:t>
            </a:fld>
            <a:endParaRPr lang="en-GB" dirty="0">
              <a:solidFill>
                <a:schemeClr val="dk2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FD1320-379C-73AE-F4F5-905C47DA15FC}"/>
              </a:ext>
            </a:extLst>
          </p:cNvPr>
          <p:cNvSpPr txBox="1"/>
          <p:nvPr/>
        </p:nvSpPr>
        <p:spPr>
          <a:xfrm>
            <a:off x="1350195" y="1469204"/>
            <a:ext cx="8784405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Spring Boot es una extensión del framework. Spring elimina las configuraciones (muy extensas en </a:t>
            </a:r>
            <a:r>
              <a:rPr lang="es-ES" sz="2000" dirty="0" err="1"/>
              <a:t>xml</a:t>
            </a:r>
            <a:r>
              <a:rPr lang="es-ES" sz="2000" dirty="0"/>
              <a:t>) requeridas para configurar una aplicación en Spring.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Spring Boot incorpora la característica RAD (Rapid </a:t>
            </a:r>
            <a:r>
              <a:rPr lang="es-ES" sz="2000" dirty="0" err="1"/>
              <a:t>Application</a:t>
            </a:r>
            <a:r>
              <a:rPr lang="es-ES" sz="2000" dirty="0"/>
              <a:t> </a:t>
            </a:r>
            <a:r>
              <a:rPr lang="es-ES" sz="2000" dirty="0" err="1"/>
              <a:t>Development</a:t>
            </a:r>
            <a:r>
              <a:rPr lang="es-ES" sz="2000" dirty="0"/>
              <a:t>) al framework Spring.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Algunas de las características de Spring Boot: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dirty="0"/>
              <a:t>Dependencias “starter” para simplificar la configuración de la aplicación.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dirty="0"/>
              <a:t>Servidor incorporado.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dirty="0"/>
              <a:t>Autoconfiguración en la mayoría de los módulos.</a:t>
            </a:r>
            <a:endParaRPr lang="es-PE" sz="2000" dirty="0"/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2544910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24885-8537-A1C2-F034-C1B1B0EB5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796424C-B4CA-24AD-9D27-E96B9456C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8304212" cy="570216"/>
          </a:xfrm>
        </p:spPr>
        <p:txBody>
          <a:bodyPr>
            <a:normAutofit/>
          </a:bodyPr>
          <a:lstStyle/>
          <a:p>
            <a:r>
              <a:rPr lang="es-PE" dirty="0"/>
              <a:t>Creación de un proyecto con Spring Boot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84DEF5E-9713-6105-E212-04B6E8571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FCEBB7E9-7563-E2EE-A4D9-CA888908EC9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077200" y="327025"/>
            <a:ext cx="4114800" cy="365125"/>
          </a:xfrm>
        </p:spPr>
        <p:txBody>
          <a:bodyPr/>
          <a:lstStyle/>
          <a:p>
            <a:r>
              <a:rPr lang="es-PE" dirty="0"/>
              <a:t>Gestión de Servicios TICS</a:t>
            </a:r>
          </a:p>
        </p:txBody>
      </p:sp>
      <p:sp>
        <p:nvSpPr>
          <p:cNvPr id="5" name="Google Shape;90;p16">
            <a:extLst>
              <a:ext uri="{FF2B5EF4-FFF2-40B4-BE49-F238E27FC236}">
                <a16:creationId xmlns:a16="http://schemas.microsoft.com/office/drawing/2014/main" id="{E87CEC34-41E5-F0BD-C400-B66E00ABF6BE}"/>
              </a:ext>
            </a:extLst>
          </p:cNvPr>
          <p:cNvSpPr txBox="1">
            <a:spLocks/>
          </p:cNvSpPr>
          <p:nvPr/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0000000-1234-1234-1234-123412341234}" type="slidenum">
              <a:rPr lang="en-GB" smtClean="0">
                <a:solidFill>
                  <a:schemeClr val="dk2"/>
                </a:solidFill>
              </a:rPr>
              <a:pPr algn="r"/>
              <a:t>8</a:t>
            </a:fld>
            <a:endParaRPr lang="en-GB" dirty="0">
              <a:solidFill>
                <a:schemeClr val="dk2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55D6C00-7E51-70A9-9DE9-585917AC6859}"/>
              </a:ext>
            </a:extLst>
          </p:cNvPr>
          <p:cNvSpPr txBox="1"/>
          <p:nvPr/>
        </p:nvSpPr>
        <p:spPr>
          <a:xfrm>
            <a:off x="839788" y="1409307"/>
            <a:ext cx="61182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Existen varias formas para crear un proyecto con Spring Boot.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En el curso se utilizará el </a:t>
            </a:r>
            <a:r>
              <a:rPr lang="es-ES" dirty="0" err="1"/>
              <a:t>wizard</a:t>
            </a:r>
            <a:r>
              <a:rPr lang="es-ES" dirty="0"/>
              <a:t> de IntelliJ.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Se usará la versión </a:t>
            </a:r>
            <a:r>
              <a:rPr lang="es-ES" b="1" dirty="0"/>
              <a:t>4.x</a:t>
            </a:r>
            <a:r>
              <a:rPr lang="es-ES" dirty="0"/>
              <a:t> de Spring Boot.</a:t>
            </a:r>
          </a:p>
        </p:txBody>
      </p:sp>
    </p:spTree>
    <p:extLst>
      <p:ext uri="{BB962C8B-B14F-4D97-AF65-F5344CB8AC3E}">
        <p14:creationId xmlns:p14="http://schemas.microsoft.com/office/powerpoint/2010/main" val="4180809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AA022-E3A0-3975-A798-E7DFC4023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A10F5A6-13D0-6B5A-9919-0153364F1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174109" cy="570216"/>
          </a:xfrm>
        </p:spPr>
        <p:txBody>
          <a:bodyPr>
            <a:normAutofit fontScale="90000"/>
          </a:bodyPr>
          <a:lstStyle/>
          <a:p>
            <a:r>
              <a:rPr lang="es-PE" dirty="0"/>
              <a:t>Creación de un proyecto Spring Boot usando IntelliJ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A40D4290-6568-64B8-C958-941ED99EE9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9232DA92-6F7D-7961-4211-4A889722FC6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077200" y="327025"/>
            <a:ext cx="4114800" cy="365125"/>
          </a:xfrm>
        </p:spPr>
        <p:txBody>
          <a:bodyPr/>
          <a:lstStyle/>
          <a:p>
            <a:r>
              <a:rPr lang="es-PE" dirty="0"/>
              <a:t>Gestión de Servicios TICS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F22A6820-1CD2-E167-E520-CC605732726E}"/>
              </a:ext>
            </a:extLst>
          </p:cNvPr>
          <p:cNvGrpSpPr/>
          <p:nvPr/>
        </p:nvGrpSpPr>
        <p:grpSpPr>
          <a:xfrm>
            <a:off x="1005155" y="1301170"/>
            <a:ext cx="6721012" cy="4503729"/>
            <a:chOff x="1005154" y="1153685"/>
            <a:chExt cx="7145655" cy="4768208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EE25E3CD-C254-45F6-E78D-1D91CD2E5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6550" y="1153685"/>
              <a:ext cx="7054259" cy="4768208"/>
            </a:xfrm>
            <a:prstGeom prst="rect">
              <a:avLst/>
            </a:prstGeom>
          </p:spPr>
        </p:pic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1AFAB1C4-627F-0281-4A5A-F245ABF46E99}"/>
                </a:ext>
              </a:extLst>
            </p:cNvPr>
            <p:cNvSpPr/>
            <p:nvPr/>
          </p:nvSpPr>
          <p:spPr>
            <a:xfrm>
              <a:off x="3606229" y="2691829"/>
              <a:ext cx="595901" cy="277402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F0166850-2AE2-51E7-4587-FB15F9072125}"/>
                </a:ext>
              </a:extLst>
            </p:cNvPr>
            <p:cNvSpPr/>
            <p:nvPr/>
          </p:nvSpPr>
          <p:spPr>
            <a:xfrm>
              <a:off x="5469276" y="2982930"/>
              <a:ext cx="595901" cy="277402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088936C5-07AB-F04B-3127-9B6B368A445B}"/>
                </a:ext>
              </a:extLst>
            </p:cNvPr>
            <p:cNvSpPr/>
            <p:nvPr/>
          </p:nvSpPr>
          <p:spPr>
            <a:xfrm>
              <a:off x="3606228" y="4509087"/>
              <a:ext cx="595901" cy="277402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A45DD93C-1183-4CE4-AFB0-3C0D9D3C9ED5}"/>
                </a:ext>
              </a:extLst>
            </p:cNvPr>
            <p:cNvSpPr/>
            <p:nvPr/>
          </p:nvSpPr>
          <p:spPr>
            <a:xfrm>
              <a:off x="3595954" y="4852915"/>
              <a:ext cx="595901" cy="277402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EDA96602-C9F8-D3F2-271B-841119B6F177}"/>
                </a:ext>
              </a:extLst>
            </p:cNvPr>
            <p:cNvSpPr/>
            <p:nvPr/>
          </p:nvSpPr>
          <p:spPr>
            <a:xfrm>
              <a:off x="1005154" y="2966251"/>
              <a:ext cx="1696949" cy="277402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8F776B7-4979-7968-339C-005A8AB26858}"/>
              </a:ext>
            </a:extLst>
          </p:cNvPr>
          <p:cNvSpPr txBox="1"/>
          <p:nvPr/>
        </p:nvSpPr>
        <p:spPr>
          <a:xfrm>
            <a:off x="8157680" y="2040014"/>
            <a:ext cx="2254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dirty="0"/>
              <a:t>Nombre del proyecto para el IDE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1D90BA0-3ED6-913C-70E5-103DE7E6CBBA}"/>
              </a:ext>
            </a:extLst>
          </p:cNvPr>
          <p:cNvSpPr txBox="1"/>
          <p:nvPr/>
        </p:nvSpPr>
        <p:spPr>
          <a:xfrm>
            <a:off x="8157680" y="2998721"/>
            <a:ext cx="2254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dirty="0"/>
              <a:t>Nombre escrito al inverso del dominio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AAB59DA-E0A2-6895-AA6F-A02BD66B9ADC}"/>
              </a:ext>
            </a:extLst>
          </p:cNvPr>
          <p:cNvSpPr txBox="1"/>
          <p:nvPr/>
        </p:nvSpPr>
        <p:spPr>
          <a:xfrm>
            <a:off x="8157680" y="3947237"/>
            <a:ext cx="2254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dirty="0"/>
              <a:t>Nombre del proyecto para </a:t>
            </a:r>
            <a:r>
              <a:rPr lang="es-PE" sz="1400" dirty="0" err="1"/>
              <a:t>maven</a:t>
            </a:r>
            <a:endParaRPr lang="es-PE" sz="1400" dirty="0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0EF23D20-12AD-7A56-BF93-8170A813277A}"/>
              </a:ext>
            </a:extLst>
          </p:cNvPr>
          <p:cNvCxnSpPr>
            <a:stCxn id="16" idx="1"/>
          </p:cNvCxnSpPr>
          <p:nvPr/>
        </p:nvCxnSpPr>
        <p:spPr>
          <a:xfrm flipH="1" flipV="1">
            <a:off x="7407667" y="2280863"/>
            <a:ext cx="750013" cy="207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84A4FFB4-9296-7935-F2E3-C8D20145913E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4202130" y="3260331"/>
            <a:ext cx="3955550" cy="1772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458AAE83-D487-18CA-65AA-E900E44A2286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3848572" y="3783551"/>
            <a:ext cx="4309108" cy="4252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355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56E62-C3E1-1086-E302-248AC453C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79E2673-EAC2-E56E-7783-5EAEC6C8C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680949" cy="570216"/>
          </a:xfrm>
        </p:spPr>
        <p:txBody>
          <a:bodyPr>
            <a:normAutofit fontScale="90000"/>
          </a:bodyPr>
          <a:lstStyle/>
          <a:p>
            <a:r>
              <a:rPr lang="es-PE" dirty="0"/>
              <a:t>Creación de un proyecto Spring Boot usando IntelliJ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E7D91D4-CBF9-329B-8E5E-3860E67FEB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4C42A931-A885-FC5B-7DC3-E073538776E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077200" y="327025"/>
            <a:ext cx="4114800" cy="365125"/>
          </a:xfrm>
        </p:spPr>
        <p:txBody>
          <a:bodyPr/>
          <a:lstStyle/>
          <a:p>
            <a:r>
              <a:rPr lang="es-PE" dirty="0"/>
              <a:t>Gestión de Servicios TICS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229CBAD-3256-DEF2-EE96-F2188043967F}"/>
              </a:ext>
            </a:extLst>
          </p:cNvPr>
          <p:cNvSpPr txBox="1"/>
          <p:nvPr/>
        </p:nvSpPr>
        <p:spPr>
          <a:xfrm>
            <a:off x="7096874" y="2425238"/>
            <a:ext cx="3423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Activar la dependencia de Spring Web.</a:t>
            </a:r>
            <a:endParaRPr lang="es-PE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F675F22-9918-B8BE-1798-6A054BFDE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79" y="1157591"/>
            <a:ext cx="6512613" cy="4428162"/>
          </a:xfrm>
          <a:prstGeom prst="rect">
            <a:avLst/>
          </a:prstGeom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6B3CF5D3-9504-8832-D298-4B3016361995}"/>
              </a:ext>
            </a:extLst>
          </p:cNvPr>
          <p:cNvSpPr/>
          <p:nvPr/>
        </p:nvSpPr>
        <p:spPr>
          <a:xfrm>
            <a:off x="1027416" y="1366463"/>
            <a:ext cx="1397285" cy="4623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6314B326-88CF-90D0-9B74-A3781872CF37}"/>
              </a:ext>
            </a:extLst>
          </p:cNvPr>
          <p:cNvSpPr/>
          <p:nvPr/>
        </p:nvSpPr>
        <p:spPr>
          <a:xfrm>
            <a:off x="583915" y="2144749"/>
            <a:ext cx="1397285" cy="4623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91647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9B411-283E-12EB-FC59-DE5C4F15C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B855583-9AFC-8065-CDE9-970D147D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70216"/>
          </a:xfrm>
        </p:spPr>
        <p:txBody>
          <a:bodyPr/>
          <a:lstStyle/>
          <a:p>
            <a:r>
              <a:rPr lang="es-PE" dirty="0"/>
              <a:t>Maven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9A3ED1AF-F0C7-F0C1-0C86-AA6A4B72A8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11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48F20E6C-B804-F874-D37A-2020C9A2D65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077200" y="327025"/>
            <a:ext cx="4114800" cy="365125"/>
          </a:xfrm>
        </p:spPr>
        <p:txBody>
          <a:bodyPr/>
          <a:lstStyle/>
          <a:p>
            <a:r>
              <a:rPr lang="es-PE" dirty="0"/>
              <a:t>Gestión de Servicios TICS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BB8953A-5399-3144-D60E-91FC772E3F07}"/>
              </a:ext>
            </a:extLst>
          </p:cNvPr>
          <p:cNvSpPr txBox="1"/>
          <p:nvPr/>
        </p:nvSpPr>
        <p:spPr>
          <a:xfrm>
            <a:off x="839788" y="1326994"/>
            <a:ext cx="10246028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/>
              <a:t>Para los proyectos desarrollados por Spring, se utilizará el gestor de proyectos Maven, el cual permite administrar las librerías (</a:t>
            </a:r>
            <a:r>
              <a:rPr lang="es-ES" sz="2000" b="1" dirty="0"/>
              <a:t>artefactos</a:t>
            </a:r>
            <a:r>
              <a:rPr lang="es-ES" sz="2000" dirty="0"/>
              <a:t>) utilizadas en un proyecto Java, sus dependencias, compilación, empaquetamiento y ejecución.</a:t>
            </a:r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La descripción del proyecto en Maven se especifica en el archivo </a:t>
            </a:r>
            <a:r>
              <a:rPr lang="es-ES" sz="2000" b="1" dirty="0"/>
              <a:t>POM.xml</a:t>
            </a:r>
          </a:p>
        </p:txBody>
      </p:sp>
    </p:spTree>
    <p:extLst>
      <p:ext uri="{BB962C8B-B14F-4D97-AF65-F5344CB8AC3E}">
        <p14:creationId xmlns:p14="http://schemas.microsoft.com/office/powerpoint/2010/main" val="25653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722AE8-86A1-692D-4726-297CF24DC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047" y="351225"/>
            <a:ext cx="9715762" cy="640276"/>
          </a:xfrm>
        </p:spPr>
        <p:txBody>
          <a:bodyPr/>
          <a:lstStyle/>
          <a:p>
            <a:r>
              <a:rPr lang="es-PE" dirty="0"/>
              <a:t>Estructura de archivos de proyecto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98182CA-B325-536F-24FA-F24F047623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12</a:t>
            </a:fld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24C7DEA-9E6A-AFFB-6123-EC8485684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706" y="1020871"/>
            <a:ext cx="8846063" cy="481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108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7DBD8-565C-656B-C9A3-2665F8928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Archivo pom.xml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B9DC6A3-5703-9307-E4D0-7964BDF305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13</a:t>
            </a:fld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201C750-9C4C-6614-C5C1-63D4B3A3B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529"/>
            <a:ext cx="4975385" cy="360426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s-ES" dirty="0"/>
              <a:t>El archivo </a:t>
            </a:r>
            <a:r>
              <a:rPr lang="es-ES" b="1" dirty="0"/>
              <a:t>pom.xml </a:t>
            </a:r>
            <a:r>
              <a:rPr lang="es-ES" dirty="0"/>
              <a:t>contiene la configuración de Maven para el proyecto.</a:t>
            </a:r>
          </a:p>
          <a:p>
            <a:pPr>
              <a:spcBef>
                <a:spcPts val="1600"/>
              </a:spcBef>
            </a:pPr>
            <a:r>
              <a:rPr lang="es-ES" dirty="0"/>
              <a:t>Dentro de las diversas opciones tiene el tag </a:t>
            </a:r>
            <a:r>
              <a:rPr lang="es-ES" b="1" dirty="0"/>
              <a:t>&lt;</a:t>
            </a:r>
            <a:r>
              <a:rPr lang="es-ES" b="1" dirty="0" err="1"/>
              <a:t>dependencies</a:t>
            </a:r>
            <a:r>
              <a:rPr lang="es-ES" b="1" dirty="0"/>
              <a:t>&gt;</a:t>
            </a:r>
            <a:r>
              <a:rPr lang="es-ES" dirty="0"/>
              <a:t> donde se gestionan las dependencias necesarias.</a:t>
            </a:r>
          </a:p>
          <a:p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75F2BD5-0C91-FC5B-029D-D6FA74F3A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742" y="457200"/>
            <a:ext cx="4057621" cy="504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850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96FD6-0A73-4236-51F6-D60401D85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Dependencias: </a:t>
            </a:r>
            <a:r>
              <a:rPr lang="es-ES" dirty="0" err="1"/>
              <a:t>spring</a:t>
            </a:r>
            <a:r>
              <a:rPr lang="es-ES" dirty="0"/>
              <a:t>-</a:t>
            </a:r>
            <a:r>
              <a:rPr lang="es-ES" dirty="0" err="1"/>
              <a:t>boot</a:t>
            </a:r>
            <a:r>
              <a:rPr lang="es-ES" dirty="0"/>
              <a:t>-starter-web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CF423A2-2B64-2C8E-F564-F55D3E616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14</a:t>
            </a:fld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43A9C3D-D8A6-5C2B-16A4-D40C6A685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444" y="1660524"/>
            <a:ext cx="6580450" cy="376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867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A75D5F-FF9B-F57A-BEFD-9C0FD5ABE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5430" y="6211417"/>
            <a:ext cx="459635" cy="365125"/>
          </a:xfrm>
        </p:spPr>
        <p:txBody>
          <a:bodyPr/>
          <a:lstStyle/>
          <a:p>
            <a:fld id="{52A29C8B-5F70-8945-A2A6-FBD7A17156DB}" type="slidenum">
              <a:rPr lang="es-PE" smtClean="0"/>
              <a:pPr/>
              <a:t>15</a:t>
            </a:fld>
            <a:endParaRPr lang="es-PE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CA95626-BF9E-809B-9CAC-4406D4AE1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Controladores y Vistas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9337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40C945-DB43-C96D-2A70-4425A5416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1"/>
            <a:ext cx="9715762" cy="579976"/>
          </a:xfrm>
        </p:spPr>
        <p:txBody>
          <a:bodyPr/>
          <a:lstStyle/>
          <a:p>
            <a:r>
              <a:rPr lang="es-ES" dirty="0"/>
              <a:t>Controladores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9246984-A59E-3375-E069-9C2BD5F3AE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16</a:t>
            </a:fld>
            <a:endParaRPr lang="es-PE"/>
          </a:p>
        </p:txBody>
      </p:sp>
      <p:pic>
        <p:nvPicPr>
          <p:cNvPr id="7" name="Google Shape;237;p29">
            <a:extLst>
              <a:ext uri="{FF2B5EF4-FFF2-40B4-BE49-F238E27FC236}">
                <a16:creationId xmlns:a16="http://schemas.microsoft.com/office/drawing/2014/main" id="{9D1EC85E-357D-00EF-DC87-51A0D572EE4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3453"/>
          <a:stretch/>
        </p:blipFill>
        <p:spPr>
          <a:xfrm>
            <a:off x="8811832" y="2708624"/>
            <a:ext cx="2427463" cy="9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35;p29">
            <a:extLst>
              <a:ext uri="{FF2B5EF4-FFF2-40B4-BE49-F238E27FC236}">
                <a16:creationId xmlns:a16="http://schemas.microsoft.com/office/drawing/2014/main" id="{179DC9B2-945F-8A6D-5967-40E53048E72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651" y="2528887"/>
            <a:ext cx="5391150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36;p29">
            <a:extLst>
              <a:ext uri="{FF2B5EF4-FFF2-40B4-BE49-F238E27FC236}">
                <a16:creationId xmlns:a16="http://schemas.microsoft.com/office/drawing/2014/main" id="{B3E69AF8-839F-F031-2673-BA0CB0F52296}"/>
              </a:ext>
            </a:extLst>
          </p:cNvPr>
          <p:cNvSpPr/>
          <p:nvPr/>
        </p:nvSpPr>
        <p:spPr>
          <a:xfrm>
            <a:off x="1372620" y="3392766"/>
            <a:ext cx="1563600" cy="225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Marcador de contenido 5">
            <a:extLst>
              <a:ext uri="{FF2B5EF4-FFF2-40B4-BE49-F238E27FC236}">
                <a16:creationId xmlns:a16="http://schemas.microsoft.com/office/drawing/2014/main" id="{DC454688-9F40-C88F-977B-0716CF278662}"/>
              </a:ext>
            </a:extLst>
          </p:cNvPr>
          <p:cNvSpPr txBox="1">
            <a:spLocks/>
          </p:cNvSpPr>
          <p:nvPr/>
        </p:nvSpPr>
        <p:spPr>
          <a:xfrm>
            <a:off x="952705" y="1526959"/>
            <a:ext cx="9716589" cy="4293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Font typeface="Arial"/>
              <a:buNone/>
            </a:pPr>
            <a:r>
              <a:rPr lang="es-ES" kern="0" dirty="0"/>
              <a:t>Para empezar a probar la aplicación, se creará un Controlador de nombre </a:t>
            </a:r>
            <a:r>
              <a:rPr lang="es-ES" b="1" kern="0" dirty="0" err="1"/>
              <a:t>HomeController</a:t>
            </a:r>
            <a:r>
              <a:rPr lang="es-ES" kern="0" dirty="0"/>
              <a:t> en un paquete </a:t>
            </a:r>
            <a:r>
              <a:rPr lang="es-ES" kern="0" dirty="0" err="1"/>
              <a:t>controller</a:t>
            </a:r>
            <a:r>
              <a:rPr lang="es-ES" kern="0" dirty="0"/>
              <a:t> (para gestionar todos los controladores.</a:t>
            </a:r>
          </a:p>
          <a:p>
            <a:pPr marL="0" indent="0">
              <a:spcBef>
                <a:spcPts val="1600"/>
              </a:spcBef>
              <a:buFont typeface="Arial"/>
              <a:buNone/>
            </a:pPr>
            <a:r>
              <a:rPr lang="es-ES" kern="0" dirty="0"/>
              <a:t>Se crea una clase en java (POJO)</a:t>
            </a:r>
          </a:p>
          <a:p>
            <a:pPr marL="0" indent="0">
              <a:spcBef>
                <a:spcPts val="1600"/>
              </a:spcBef>
              <a:buFont typeface="Arial"/>
              <a:buNone/>
            </a:pPr>
            <a:endParaRPr lang="es-ES" kern="0" dirty="0"/>
          </a:p>
          <a:p>
            <a:pPr marL="0" indent="0">
              <a:spcBef>
                <a:spcPts val="1600"/>
              </a:spcBef>
              <a:buFont typeface="Arial"/>
              <a:buNone/>
            </a:pPr>
            <a:endParaRPr lang="es-ES" kern="0" dirty="0"/>
          </a:p>
          <a:p>
            <a:pPr marL="0" indent="0">
              <a:spcBef>
                <a:spcPts val="1600"/>
              </a:spcBef>
              <a:buFont typeface="Arial"/>
              <a:buNone/>
            </a:pPr>
            <a:endParaRPr lang="es-ES" kern="0" dirty="0"/>
          </a:p>
          <a:p>
            <a:pPr marL="0" indent="0">
              <a:spcBef>
                <a:spcPts val="1600"/>
              </a:spcBef>
              <a:buFont typeface="Arial"/>
              <a:buNone/>
            </a:pPr>
            <a:endParaRPr lang="es-ES" kern="0" dirty="0"/>
          </a:p>
          <a:p>
            <a:pPr marL="0" indent="0">
              <a:spcBef>
                <a:spcPts val="1600"/>
              </a:spcBef>
              <a:buFont typeface="Arial"/>
              <a:buNone/>
            </a:pPr>
            <a:endParaRPr lang="es-ES" kern="0"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Font typeface="Arial"/>
              <a:buNone/>
            </a:pPr>
            <a:r>
              <a:rPr lang="es-ES" kern="0" dirty="0"/>
              <a:t>Se le debe colocar la anotación </a:t>
            </a:r>
            <a:r>
              <a:rPr lang="es-ES" b="1" kern="0" dirty="0"/>
              <a:t>@Controller</a:t>
            </a:r>
            <a:r>
              <a:rPr lang="es-ES" kern="0" dirty="0"/>
              <a:t>, para indicar que esta clase sea reconocida por Spring como un Controlador, para gestionar las solicitudes HTTP.</a:t>
            </a:r>
            <a:endParaRPr lang="es-ES" b="1" kern="0" dirty="0"/>
          </a:p>
        </p:txBody>
      </p:sp>
    </p:spTree>
    <p:extLst>
      <p:ext uri="{BB962C8B-B14F-4D97-AF65-F5344CB8AC3E}">
        <p14:creationId xmlns:p14="http://schemas.microsoft.com/office/powerpoint/2010/main" val="1992007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34407-CD30-5AA1-5F6D-2458B100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715762" cy="631861"/>
          </a:xfrm>
        </p:spPr>
        <p:txBody>
          <a:bodyPr/>
          <a:lstStyle/>
          <a:p>
            <a:r>
              <a:rPr lang="es-PE" dirty="0"/>
              <a:t>Rutas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AEE8EBC-80FA-F411-0CC5-EF93EBFA0B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17</a:t>
            </a:fld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A6DEDB-0AD1-9420-4271-8B942D88A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Para que un controlador pueda gestionar una solicitud HTTP, se debe indicar la ruta (URL web) que identificará al controlador.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Las rutas se pueden mapear a nivel de la clase o de los métodos y se utiliza la anotación </a:t>
            </a:r>
            <a:r>
              <a:rPr lang="es-ES" sz="1800" b="1" dirty="0"/>
              <a:t>@RequestMapping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Por ejemplo, para mapear la ruta raíz </a:t>
            </a:r>
            <a:r>
              <a:rPr lang="es-ES" sz="1800" b="1" dirty="0"/>
              <a:t>“/”:</a:t>
            </a:r>
            <a:endParaRPr lang="es-PE" sz="1800" dirty="0"/>
          </a:p>
          <a:p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7C9C04-73A5-D28A-EF14-D35F5FF14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45" y="3277198"/>
            <a:ext cx="8596105" cy="281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09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37339-C552-2382-E5B0-528861A90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715762" cy="631861"/>
          </a:xfrm>
        </p:spPr>
        <p:txBody>
          <a:bodyPr/>
          <a:lstStyle/>
          <a:p>
            <a:r>
              <a:rPr lang="es-ES" dirty="0"/>
              <a:t>@RequestMapping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253B7ED-55C1-33E5-EB5C-539CFE50EA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18</a:t>
            </a:fld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CB638DA-714B-CCF1-C279-119E8087C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85899"/>
            <a:ext cx="10515600" cy="2868293"/>
          </a:xfrm>
        </p:spPr>
        <p:txBody>
          <a:bodyPr>
            <a:normAutofit fontScale="70000" lnSpcReduction="20000"/>
          </a:bodyPr>
          <a:lstStyle/>
          <a:p>
            <a:pPr marL="0" lv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s-ES" dirty="0"/>
              <a:t>@RequestMapping (</a:t>
            </a:r>
            <a:r>
              <a:rPr lang="es-ES" dirty="0" err="1"/>
              <a:t>value</a:t>
            </a:r>
            <a:r>
              <a:rPr lang="es-ES" dirty="0"/>
              <a:t> = “</a:t>
            </a:r>
            <a:r>
              <a:rPr lang="es-ES" b="1" dirty="0">
                <a:solidFill>
                  <a:srgbClr val="FF0000"/>
                </a:solidFill>
              </a:rPr>
              <a:t>RUTA</a:t>
            </a:r>
            <a:r>
              <a:rPr lang="es-ES" dirty="0"/>
              <a:t>”, </a:t>
            </a:r>
            <a:r>
              <a:rPr lang="es-ES" dirty="0" err="1"/>
              <a:t>method</a:t>
            </a:r>
            <a:r>
              <a:rPr lang="es-ES" dirty="0"/>
              <a:t> = </a:t>
            </a:r>
            <a:r>
              <a:rPr lang="es-ES" dirty="0" err="1"/>
              <a:t>RequestMethod.</a:t>
            </a:r>
            <a:r>
              <a:rPr lang="es-ES" b="1" dirty="0" err="1">
                <a:solidFill>
                  <a:srgbClr val="FF0000"/>
                </a:solidFill>
              </a:rPr>
              <a:t>MÉTODO</a:t>
            </a:r>
            <a:r>
              <a:rPr lang="es-ES" dirty="0"/>
              <a:t>)</a:t>
            </a:r>
          </a:p>
          <a:p>
            <a:pPr marL="0" lvl="0" indent="457200">
              <a:lnSpc>
                <a:spcPct val="110000"/>
              </a:lnSpc>
              <a:spcBef>
                <a:spcPts val="0"/>
              </a:spcBef>
              <a:buNone/>
            </a:pPr>
            <a:r>
              <a:rPr lang="es-ES" dirty="0" err="1"/>
              <a:t>public</a:t>
            </a:r>
            <a:r>
              <a:rPr lang="es-ES" dirty="0"/>
              <a:t> String </a:t>
            </a:r>
            <a:r>
              <a:rPr lang="es-ES" dirty="0">
                <a:solidFill>
                  <a:srgbClr val="FF0000"/>
                </a:solidFill>
              </a:rPr>
              <a:t>NOMBREMÉTODO</a:t>
            </a:r>
            <a:r>
              <a:rPr lang="es-ES" dirty="0"/>
              <a:t>(){ </a:t>
            </a:r>
          </a:p>
          <a:p>
            <a:pPr marL="0" lvl="0" indent="457200">
              <a:lnSpc>
                <a:spcPct val="110000"/>
              </a:lnSpc>
              <a:spcBef>
                <a:spcPts val="1600"/>
              </a:spcBef>
              <a:buNone/>
            </a:pPr>
            <a:r>
              <a:rPr lang="es-ES" dirty="0"/>
              <a:t>}</a:t>
            </a:r>
          </a:p>
          <a:p>
            <a:pPr marL="0" lvl="0" indent="0">
              <a:lnSpc>
                <a:spcPct val="110000"/>
              </a:lnSpc>
              <a:spcBef>
                <a:spcPts val="1600"/>
              </a:spcBef>
              <a:buNone/>
            </a:pPr>
            <a:r>
              <a:rPr lang="es-ES" dirty="0"/>
              <a:t>Donde:</a:t>
            </a:r>
          </a:p>
          <a:p>
            <a:pPr lvl="0">
              <a:lnSpc>
                <a:spcPct val="110000"/>
              </a:lnSpc>
              <a:spcBef>
                <a:spcPts val="0"/>
              </a:spcBef>
              <a:buChar char="●"/>
            </a:pPr>
            <a:r>
              <a:rPr lang="es-ES" b="1" dirty="0">
                <a:solidFill>
                  <a:srgbClr val="FF0000"/>
                </a:solidFill>
              </a:rPr>
              <a:t>RUTA </a:t>
            </a:r>
            <a:r>
              <a:rPr lang="es-ES" dirty="0"/>
              <a:t>es la URL a la cual será mapeado el método o el controlador</a:t>
            </a:r>
          </a:p>
          <a:p>
            <a:pPr lvl="0">
              <a:lnSpc>
                <a:spcPct val="110000"/>
              </a:lnSpc>
              <a:spcBef>
                <a:spcPts val="0"/>
              </a:spcBef>
              <a:buChar char="●"/>
            </a:pPr>
            <a:r>
              <a:rPr lang="es-ES" b="1" dirty="0">
                <a:solidFill>
                  <a:srgbClr val="FF0000"/>
                </a:solidFill>
              </a:rPr>
              <a:t>MÉTODO </a:t>
            </a:r>
            <a:r>
              <a:rPr lang="es-ES" dirty="0"/>
              <a:t>es el método http que se desea utilizar (</a:t>
            </a:r>
            <a:r>
              <a:rPr lang="es-ES" b="1" dirty="0"/>
              <a:t>GET, POST, PUT, DELETE</a:t>
            </a:r>
            <a:r>
              <a:rPr lang="es-ES" dirty="0"/>
              <a:t>).</a:t>
            </a:r>
          </a:p>
          <a:p>
            <a:pPr marL="0" lvl="0" indent="0">
              <a:lnSpc>
                <a:spcPct val="11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Cada ruta se implementa mediante un método en java donde el nombre solo es referencial.</a:t>
            </a:r>
          </a:p>
        </p:txBody>
      </p:sp>
    </p:spTree>
    <p:extLst>
      <p:ext uri="{BB962C8B-B14F-4D97-AF65-F5344CB8AC3E}">
        <p14:creationId xmlns:p14="http://schemas.microsoft.com/office/powerpoint/2010/main" val="1331823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374CCD-20E9-1841-C5FB-519149AA6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1"/>
            <a:ext cx="9715762" cy="590764"/>
          </a:xfrm>
        </p:spPr>
        <p:txBody>
          <a:bodyPr/>
          <a:lstStyle/>
          <a:p>
            <a:r>
              <a:rPr lang="es-PE" dirty="0"/>
              <a:t>Vistas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9B2FAF2-0006-E395-8C0B-A8C2E3601D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19</a:t>
            </a:fld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8A4E5F-7AB3-F629-72C6-8A43D6C1D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4659"/>
            <a:ext cx="10515600" cy="2847745"/>
          </a:xfrm>
        </p:spPr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Las vistas serán plantillas </a:t>
            </a:r>
            <a:r>
              <a:rPr lang="es-ES" sz="2000" dirty="0" err="1"/>
              <a:t>html</a:t>
            </a:r>
            <a:r>
              <a:rPr lang="es-ES" sz="2000" dirty="0"/>
              <a:t> usando “</a:t>
            </a:r>
            <a:r>
              <a:rPr lang="es-ES" sz="2000" b="1" dirty="0" err="1"/>
              <a:t>Thymeleaf</a:t>
            </a:r>
            <a:r>
              <a:rPr lang="es-ES" sz="2000" dirty="0"/>
              <a:t>” (similar a JSP usado en software 1). 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Las vistas se ubican en la carpeta </a:t>
            </a:r>
            <a:r>
              <a:rPr lang="es-ES" sz="2000" dirty="0" err="1"/>
              <a:t>templates</a:t>
            </a:r>
            <a:r>
              <a:rPr lang="es-ES" sz="2000" dirty="0"/>
              <a:t> y dentro se puede armar el árbol de carpetas según la necesidad.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Para poder usar las vistas con </a:t>
            </a:r>
            <a:r>
              <a:rPr lang="es-ES" sz="2000" dirty="0" err="1"/>
              <a:t>Thymeleaf</a:t>
            </a:r>
            <a:r>
              <a:rPr lang="es-ES" sz="2000" dirty="0"/>
              <a:t>, es necesario incluir su dependencia en el </a:t>
            </a:r>
            <a:r>
              <a:rPr lang="es-ES" sz="2000" b="1" dirty="0"/>
              <a:t>POM.xml</a:t>
            </a:r>
          </a:p>
          <a:p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F2CF76C-AEEE-E01A-F279-4D04A63A8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78" y="3429000"/>
            <a:ext cx="7931583" cy="2121592"/>
          </a:xfrm>
          <a:prstGeom prst="rect">
            <a:avLst/>
          </a:prstGeom>
        </p:spPr>
      </p:pic>
      <p:pic>
        <p:nvPicPr>
          <p:cNvPr id="6" name="Google Shape;270;p32">
            <a:extLst>
              <a:ext uri="{FF2B5EF4-FFF2-40B4-BE49-F238E27FC236}">
                <a16:creationId xmlns:a16="http://schemas.microsoft.com/office/drawing/2014/main" id="{683FE2D1-DE3D-A639-3B83-6569B627C5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61510"/>
          <a:stretch/>
        </p:blipFill>
        <p:spPr>
          <a:xfrm>
            <a:off x="8916092" y="3632371"/>
            <a:ext cx="2818150" cy="943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8760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6D97E-38A3-2E6B-4B1B-61586FCE9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1"/>
            <a:ext cx="9715762" cy="601038"/>
          </a:xfrm>
        </p:spPr>
        <p:txBody>
          <a:bodyPr/>
          <a:lstStyle/>
          <a:p>
            <a:r>
              <a:rPr lang="es-PE" dirty="0"/>
              <a:t>Observación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936AFFA-966C-EC8A-8833-EA01EB810F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20</a:t>
            </a:fld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32D036-182A-99D5-F667-0B1943CAB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31095"/>
            <a:ext cx="10515600" cy="3604262"/>
          </a:xfrm>
        </p:spPr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419" sz="2000" dirty="0"/>
              <a:t>El repositorio de Spring almacena un conjunto de dependencias que ya vienen con autoconfiguración y listas para trabajar integradas con Spring Boot.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s-419" sz="2000" dirty="0"/>
              <a:t>Estas las puede encontrar dentro en:</a:t>
            </a:r>
          </a:p>
          <a:p>
            <a:pPr lvl="0">
              <a:spcBef>
                <a:spcPts val="1600"/>
              </a:spcBef>
              <a:buChar char="●"/>
            </a:pPr>
            <a:r>
              <a:rPr lang="es-419" sz="2000" dirty="0" err="1"/>
              <a:t>groupId</a:t>
            </a:r>
            <a:r>
              <a:rPr lang="es-419" sz="2000" dirty="0"/>
              <a:t>: </a:t>
            </a:r>
            <a:r>
              <a:rPr lang="es-419" sz="2000" b="1" dirty="0" err="1"/>
              <a:t>org.springframework.boot</a:t>
            </a:r>
            <a:endParaRPr lang="es-419" sz="2000" b="1" dirty="0"/>
          </a:p>
          <a:p>
            <a:pPr lvl="0">
              <a:spcBef>
                <a:spcPts val="0"/>
              </a:spcBef>
              <a:buChar char="●"/>
            </a:pPr>
            <a:r>
              <a:rPr lang="es-419" sz="2000" dirty="0" err="1"/>
              <a:t>artifactId</a:t>
            </a:r>
            <a:r>
              <a:rPr lang="es-419" sz="2000" dirty="0"/>
              <a:t>: </a:t>
            </a:r>
            <a:r>
              <a:rPr lang="es-419" sz="2000" b="1" dirty="0" err="1"/>
              <a:t>spring</a:t>
            </a:r>
            <a:r>
              <a:rPr lang="es-419" sz="2000" b="1" dirty="0"/>
              <a:t>-</a:t>
            </a:r>
            <a:r>
              <a:rPr lang="es-419" sz="2000" b="1" dirty="0" err="1"/>
              <a:t>boot</a:t>
            </a:r>
            <a:r>
              <a:rPr lang="es-419" sz="2000" b="1" dirty="0"/>
              <a:t>-starter-XXXXX</a:t>
            </a:r>
          </a:p>
          <a:p>
            <a:endParaRPr lang="es-PE" dirty="0"/>
          </a:p>
        </p:txBody>
      </p:sp>
      <p:grpSp>
        <p:nvGrpSpPr>
          <p:cNvPr id="8" name="Google Shape;281;p33">
            <a:extLst>
              <a:ext uri="{FF2B5EF4-FFF2-40B4-BE49-F238E27FC236}">
                <a16:creationId xmlns:a16="http://schemas.microsoft.com/office/drawing/2014/main" id="{C362FC93-E3AA-AEA0-59FB-DDAD4BBC500E}"/>
              </a:ext>
            </a:extLst>
          </p:cNvPr>
          <p:cNvGrpSpPr/>
          <p:nvPr/>
        </p:nvGrpSpPr>
        <p:grpSpPr>
          <a:xfrm>
            <a:off x="6248399" y="2295109"/>
            <a:ext cx="5045500" cy="3072000"/>
            <a:chOff x="3975650" y="3620475"/>
            <a:chExt cx="5045500" cy="3072000"/>
          </a:xfrm>
        </p:grpSpPr>
        <p:pic>
          <p:nvPicPr>
            <p:cNvPr id="9" name="Google Shape;282;p33">
              <a:extLst>
                <a:ext uri="{FF2B5EF4-FFF2-40B4-BE49-F238E27FC236}">
                  <a16:creationId xmlns:a16="http://schemas.microsoft.com/office/drawing/2014/main" id="{487A1BA7-4FEF-86EA-A504-7311A6CB60F2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980"/>
            <a:stretch/>
          </p:blipFill>
          <p:spPr>
            <a:xfrm>
              <a:off x="4094925" y="3620475"/>
              <a:ext cx="4926225" cy="301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Google Shape;283;p33">
              <a:extLst>
                <a:ext uri="{FF2B5EF4-FFF2-40B4-BE49-F238E27FC236}">
                  <a16:creationId xmlns:a16="http://schemas.microsoft.com/office/drawing/2014/main" id="{09B028D0-A535-87F5-6D1A-9CA0F43E8E88}"/>
                </a:ext>
              </a:extLst>
            </p:cNvPr>
            <p:cNvSpPr/>
            <p:nvPr/>
          </p:nvSpPr>
          <p:spPr>
            <a:xfrm>
              <a:off x="3975650" y="3829875"/>
              <a:ext cx="888000" cy="2862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36120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DFA908-D17B-1B3F-92A4-E7D73C25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715762" cy="662683"/>
          </a:xfrm>
        </p:spPr>
        <p:txBody>
          <a:bodyPr/>
          <a:lstStyle/>
          <a:p>
            <a:r>
              <a:rPr lang="es-PE" dirty="0"/>
              <a:t>Vistas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06F03DF-51AF-232E-99D4-2DAD460FD9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21</a:t>
            </a:fld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D78E88-2E7A-0A30-9B21-928AD5BF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16030"/>
            <a:ext cx="10515600" cy="3604262"/>
          </a:xfrm>
        </p:spPr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Ejemplo: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Mapear la ruta “</a:t>
            </a:r>
            <a:r>
              <a:rPr lang="es-ES" sz="2000" b="1" dirty="0"/>
              <a:t>/</a:t>
            </a:r>
            <a:r>
              <a:rPr lang="es-ES" sz="2000" b="1" dirty="0" err="1"/>
              <a:t>holaMundo</a:t>
            </a:r>
            <a:r>
              <a:rPr lang="es-ES" sz="2000" dirty="0"/>
              <a:t>” en el controlador y que aparezca el contenido de la vista </a:t>
            </a:r>
            <a:r>
              <a:rPr lang="es-ES" sz="2000" b="1" dirty="0"/>
              <a:t>hola.html</a:t>
            </a:r>
          </a:p>
          <a:p>
            <a:endParaRPr lang="es-PE" dirty="0"/>
          </a:p>
        </p:txBody>
      </p:sp>
      <p:pic>
        <p:nvPicPr>
          <p:cNvPr id="5" name="Google Shape;291;p34">
            <a:extLst>
              <a:ext uri="{FF2B5EF4-FFF2-40B4-BE49-F238E27FC236}">
                <a16:creationId xmlns:a16="http://schemas.microsoft.com/office/drawing/2014/main" id="{3DCBE111-1464-1B26-A729-1272787B98B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5753" y="2880158"/>
            <a:ext cx="2543975" cy="123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92;p34">
            <a:extLst>
              <a:ext uri="{FF2B5EF4-FFF2-40B4-BE49-F238E27FC236}">
                <a16:creationId xmlns:a16="http://schemas.microsoft.com/office/drawing/2014/main" id="{597E8C87-5A2E-8ED9-6139-89221178DAB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5875" y="2703370"/>
            <a:ext cx="3240250" cy="20135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94;p34">
            <a:extLst>
              <a:ext uri="{FF2B5EF4-FFF2-40B4-BE49-F238E27FC236}">
                <a16:creationId xmlns:a16="http://schemas.microsoft.com/office/drawing/2014/main" id="{5B2F27E7-5817-5128-E6A9-23501AC41032}"/>
              </a:ext>
            </a:extLst>
          </p:cNvPr>
          <p:cNvSpPr/>
          <p:nvPr/>
        </p:nvSpPr>
        <p:spPr>
          <a:xfrm>
            <a:off x="6989376" y="4696027"/>
            <a:ext cx="3115800" cy="9432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/>
              <a:t>No es necesario indicar la extensión del archivo (</a:t>
            </a:r>
            <a:r>
              <a:rPr lang="es-419" sz="1200" b="1" dirty="0" err="1"/>
              <a:t>html</a:t>
            </a:r>
            <a:r>
              <a:rPr lang="es-419" sz="1200" dirty="0"/>
              <a:t>), por defecto Spring vincula las vistas de </a:t>
            </a:r>
            <a:r>
              <a:rPr lang="es-419" sz="1200" b="1" dirty="0" err="1"/>
              <a:t>Thymeleaf</a:t>
            </a:r>
            <a:r>
              <a:rPr lang="es-419" sz="1200" b="1" dirty="0"/>
              <a:t> </a:t>
            </a:r>
            <a:r>
              <a:rPr lang="es-419" sz="1200" dirty="0"/>
              <a:t>con la extensión </a:t>
            </a:r>
            <a:r>
              <a:rPr lang="es-419" sz="1200" b="1" dirty="0" err="1"/>
              <a:t>html</a:t>
            </a:r>
            <a:r>
              <a:rPr lang="es-419" sz="1200" dirty="0"/>
              <a:t>.</a:t>
            </a:r>
            <a:endParaRPr sz="1200" dirty="0"/>
          </a:p>
        </p:txBody>
      </p:sp>
      <p:sp>
        <p:nvSpPr>
          <p:cNvPr id="8" name="Google Shape;295;p34">
            <a:extLst>
              <a:ext uri="{FF2B5EF4-FFF2-40B4-BE49-F238E27FC236}">
                <a16:creationId xmlns:a16="http://schemas.microsoft.com/office/drawing/2014/main" id="{F6EAED2B-DA04-3B7B-E048-DEF88CDAABBC}"/>
              </a:ext>
            </a:extLst>
          </p:cNvPr>
          <p:cNvSpPr/>
          <p:nvPr/>
        </p:nvSpPr>
        <p:spPr>
          <a:xfrm>
            <a:off x="4237375" y="2703380"/>
            <a:ext cx="238500" cy="20136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96;p34">
            <a:extLst>
              <a:ext uri="{FF2B5EF4-FFF2-40B4-BE49-F238E27FC236}">
                <a16:creationId xmlns:a16="http://schemas.microsoft.com/office/drawing/2014/main" id="{10EFBE0C-636B-F57A-56A5-691A16381B18}"/>
              </a:ext>
            </a:extLst>
          </p:cNvPr>
          <p:cNvSpPr/>
          <p:nvPr/>
        </p:nvSpPr>
        <p:spPr>
          <a:xfrm rot="10798681">
            <a:off x="2673784" y="3597537"/>
            <a:ext cx="1563600" cy="225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Google Shape;297;p34">
            <a:extLst>
              <a:ext uri="{FF2B5EF4-FFF2-40B4-BE49-F238E27FC236}">
                <a16:creationId xmlns:a16="http://schemas.microsoft.com/office/drawing/2014/main" id="{6C0BB19A-1198-BE23-B8F9-9110BC4B2BD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4572" y="2884697"/>
            <a:ext cx="3400425" cy="1314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42693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F3C869-0724-B1F7-50F8-034A078D9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1"/>
            <a:ext cx="9715762" cy="611312"/>
          </a:xfrm>
        </p:spPr>
        <p:txBody>
          <a:bodyPr/>
          <a:lstStyle/>
          <a:p>
            <a:r>
              <a:rPr lang="es-ES" dirty="0"/>
              <a:t>Múltiples rutas a un mismo método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D3DC58F-ABCF-CCFC-5A36-A6CA212A79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22</a:t>
            </a:fld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AE6632-8274-C155-F68B-77566CF79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1981" y="1214782"/>
            <a:ext cx="10515600" cy="1039493"/>
          </a:xfrm>
        </p:spPr>
        <p:txBody>
          <a:bodyPr>
            <a:normAutofit/>
          </a:bodyPr>
          <a:lstStyle/>
          <a:p>
            <a:r>
              <a:rPr lang="es-419" sz="2000" dirty="0"/>
              <a:t>Spring permite mapear varias rutas a un mismo método usando {  }</a:t>
            </a:r>
          </a:p>
          <a:p>
            <a:endParaRPr lang="es-PE" sz="2000" dirty="0"/>
          </a:p>
        </p:txBody>
      </p:sp>
      <p:pic>
        <p:nvPicPr>
          <p:cNvPr id="5" name="Google Shape;305;p35">
            <a:extLst>
              <a:ext uri="{FF2B5EF4-FFF2-40B4-BE49-F238E27FC236}">
                <a16:creationId xmlns:a16="http://schemas.microsoft.com/office/drawing/2014/main" id="{5F06E32D-8AB4-0167-F04D-09C64D759E4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76571" y="1799573"/>
            <a:ext cx="7485396" cy="9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06;p35">
            <a:extLst>
              <a:ext uri="{FF2B5EF4-FFF2-40B4-BE49-F238E27FC236}">
                <a16:creationId xmlns:a16="http://schemas.microsoft.com/office/drawing/2014/main" id="{191E5782-65DD-7D39-EFB0-556CED4BF5D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2997" y="2742773"/>
            <a:ext cx="3305175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07;p35">
            <a:extLst>
              <a:ext uri="{FF2B5EF4-FFF2-40B4-BE49-F238E27FC236}">
                <a16:creationId xmlns:a16="http://schemas.microsoft.com/office/drawing/2014/main" id="{F1BF9FD6-4B2A-63F8-F697-E7608D4BA83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1045" y="4347818"/>
            <a:ext cx="299085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08;p35">
            <a:extLst>
              <a:ext uri="{FF2B5EF4-FFF2-40B4-BE49-F238E27FC236}">
                <a16:creationId xmlns:a16="http://schemas.microsoft.com/office/drawing/2014/main" id="{2A494685-F37E-B490-53A7-3B0D54E3E494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7997" y="2759913"/>
            <a:ext cx="3067050" cy="1343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309;p35">
            <a:extLst>
              <a:ext uri="{FF2B5EF4-FFF2-40B4-BE49-F238E27FC236}">
                <a16:creationId xmlns:a16="http://schemas.microsoft.com/office/drawing/2014/main" id="{FFF8E4E8-9012-4938-03B8-B7315295E714}"/>
              </a:ext>
            </a:extLst>
          </p:cNvPr>
          <p:cNvCxnSpPr/>
          <p:nvPr/>
        </p:nvCxnSpPr>
        <p:spPr>
          <a:xfrm rot="10800000" flipH="1">
            <a:off x="3425509" y="3756548"/>
            <a:ext cx="726600" cy="60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Google Shape;310;p35">
            <a:extLst>
              <a:ext uri="{FF2B5EF4-FFF2-40B4-BE49-F238E27FC236}">
                <a16:creationId xmlns:a16="http://schemas.microsoft.com/office/drawing/2014/main" id="{C2B2F4D9-AE7E-F6D4-13F6-B292EBC79D40}"/>
              </a:ext>
            </a:extLst>
          </p:cNvPr>
          <p:cNvCxnSpPr>
            <a:endCxn id="7" idx="3"/>
          </p:cNvCxnSpPr>
          <p:nvPr/>
        </p:nvCxnSpPr>
        <p:spPr>
          <a:xfrm rot="10800000" flipH="1">
            <a:off x="7282195" y="4995518"/>
            <a:ext cx="479700" cy="30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311;p35">
            <a:extLst>
              <a:ext uri="{FF2B5EF4-FFF2-40B4-BE49-F238E27FC236}">
                <a16:creationId xmlns:a16="http://schemas.microsoft.com/office/drawing/2014/main" id="{42E54A30-F80F-57CF-7FCA-73339A0CDB7F}"/>
              </a:ext>
            </a:extLst>
          </p:cNvPr>
          <p:cNvCxnSpPr>
            <a:endCxn id="8" idx="3"/>
          </p:cNvCxnSpPr>
          <p:nvPr/>
        </p:nvCxnSpPr>
        <p:spPr>
          <a:xfrm rot="10800000" flipH="1">
            <a:off x="9507647" y="3431425"/>
            <a:ext cx="527400" cy="30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328135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E48586-CD23-8BE6-D5A6-80FFF28B0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62337"/>
            <a:ext cx="9715762" cy="478995"/>
          </a:xfrm>
        </p:spPr>
        <p:txBody>
          <a:bodyPr>
            <a:normAutofit fontScale="90000"/>
          </a:bodyPr>
          <a:lstStyle/>
          <a:p>
            <a:r>
              <a:rPr lang="es-ES" dirty="0"/>
              <a:t>Spring Boot </a:t>
            </a:r>
            <a:r>
              <a:rPr lang="es-ES" dirty="0" err="1"/>
              <a:t>DevTools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99CCC70-5A98-8817-CE71-E3B95DF932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23</a:t>
            </a:fld>
            <a:endParaRPr lang="es-PE"/>
          </a:p>
        </p:txBody>
      </p:sp>
      <p:pic>
        <p:nvPicPr>
          <p:cNvPr id="5" name="Google Shape;319;p36">
            <a:extLst>
              <a:ext uri="{FF2B5EF4-FFF2-40B4-BE49-F238E27FC236}">
                <a16:creationId xmlns:a16="http://schemas.microsoft.com/office/drawing/2014/main" id="{9FEEBC01-F7C4-9FDF-0496-6BE6B7FC7BD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04756" y="3660504"/>
            <a:ext cx="484822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F961BBD-78C7-FFA2-DA3E-1DB29D902891}"/>
              </a:ext>
            </a:extLst>
          </p:cNvPr>
          <p:cNvSpPr txBox="1"/>
          <p:nvPr/>
        </p:nvSpPr>
        <p:spPr>
          <a:xfrm>
            <a:off x="986319" y="1222624"/>
            <a:ext cx="1034607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ES" dirty="0"/>
              <a:t>Se debe haber dado cuenta que cada vez que realiza un cambio en el código, tiene que estar reiniciando el servidor o refrescando la página web para que se observen los cambios.</a:t>
            </a:r>
          </a:p>
          <a:p>
            <a:pPr lvl="0">
              <a:spcBef>
                <a:spcPts val="1600"/>
              </a:spcBef>
            </a:pPr>
            <a:r>
              <a:rPr lang="es-ES" dirty="0"/>
              <a:t>Spring posee una herramienta llamada Spring Boot </a:t>
            </a:r>
            <a:r>
              <a:rPr lang="es-ES" dirty="0" err="1"/>
              <a:t>Devtools</a:t>
            </a:r>
            <a:r>
              <a:rPr lang="es-ES" dirty="0"/>
              <a:t>, la cual permite:</a:t>
            </a:r>
          </a:p>
          <a:p>
            <a:pPr marL="285750" lvl="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Deshabilitar el cache en las páginas</a:t>
            </a:r>
          </a:p>
          <a:p>
            <a:pPr marL="285750" lvl="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 err="1"/>
              <a:t>LiveReload</a:t>
            </a:r>
            <a:r>
              <a:rPr lang="es-ES" dirty="0"/>
              <a:t> para actualizar los cambios en el navegador</a:t>
            </a:r>
          </a:p>
          <a:p>
            <a:pPr marL="285750" lvl="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Auto Compilación y despliegue en el servidor.</a:t>
            </a:r>
          </a:p>
          <a:p>
            <a:pPr lvl="0">
              <a:spcBef>
                <a:spcPts val="1600"/>
              </a:spcBef>
            </a:pPr>
            <a:r>
              <a:rPr lang="es-ES" dirty="0"/>
              <a:t>Para utilizarlo, debe incluirlo en el </a:t>
            </a:r>
            <a:r>
              <a:rPr lang="es-ES" dirty="0" err="1"/>
              <a:t>pom</a:t>
            </a:r>
            <a:r>
              <a:rPr lang="es-ES" dirty="0"/>
              <a:t>.</a:t>
            </a:r>
          </a:p>
          <a:p>
            <a:pPr lvl="0">
              <a:spcBef>
                <a:spcPts val="1600"/>
              </a:spcBef>
            </a:pPr>
            <a:endParaRPr lang="es-ES" dirty="0"/>
          </a:p>
          <a:p>
            <a:pPr lvl="0">
              <a:spcBef>
                <a:spcPts val="1600"/>
              </a:spcBef>
            </a:pPr>
            <a:endParaRPr lang="es-ES" sz="1000" dirty="0"/>
          </a:p>
          <a:p>
            <a:pPr lvl="0">
              <a:spcBef>
                <a:spcPts val="1600"/>
              </a:spcBef>
            </a:pPr>
            <a:endParaRPr lang="es-ES" dirty="0"/>
          </a:p>
          <a:p>
            <a:pPr lvl="0">
              <a:spcBef>
                <a:spcPts val="1600"/>
              </a:spcBef>
              <a:spcAft>
                <a:spcPts val="1600"/>
              </a:spcAft>
            </a:pPr>
            <a:r>
              <a:rPr lang="es-ES" dirty="0"/>
              <a:t>Para información sobre los </a:t>
            </a:r>
            <a:r>
              <a:rPr lang="es-ES" dirty="0" err="1"/>
              <a:t>scopes</a:t>
            </a:r>
            <a:r>
              <a:rPr lang="es-ES" dirty="0"/>
              <a:t> en </a:t>
            </a:r>
            <a:r>
              <a:rPr lang="es-ES" dirty="0" err="1"/>
              <a:t>maven</a:t>
            </a:r>
            <a:r>
              <a:rPr lang="es-ES" dirty="0"/>
              <a:t> entre.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89845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EE06C-4D63-376C-268C-7C4FF93DB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1"/>
            <a:ext cx="9715762" cy="611312"/>
          </a:xfrm>
        </p:spPr>
        <p:txBody>
          <a:bodyPr/>
          <a:lstStyle/>
          <a:p>
            <a:r>
              <a:rPr lang="es-ES" dirty="0"/>
              <a:t>Spring Boot </a:t>
            </a:r>
            <a:r>
              <a:rPr lang="es-ES" dirty="0" err="1"/>
              <a:t>Devtools</a:t>
            </a:r>
            <a:r>
              <a:rPr lang="es-ES" dirty="0"/>
              <a:t> – IntelliJ (ajustes)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725D352-BB9C-F139-96FB-5F8ED70BA1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24</a:t>
            </a:fld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31EE61D-7449-01D5-B860-41D1D4CE0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s-ES" sz="1600" dirty="0"/>
              <a:t>En otros </a:t>
            </a:r>
            <a:r>
              <a:rPr lang="es-ES" sz="1600" dirty="0" err="1"/>
              <a:t>IDEs</a:t>
            </a:r>
            <a:r>
              <a:rPr lang="es-ES" sz="1600" dirty="0"/>
              <a:t> como eclipse o STS, incluir </a:t>
            </a:r>
            <a:r>
              <a:rPr lang="es-ES" sz="1600" dirty="0" err="1"/>
              <a:t>devtools</a:t>
            </a:r>
            <a:r>
              <a:rPr lang="es-ES" sz="1600" dirty="0"/>
              <a:t> en el </a:t>
            </a:r>
            <a:r>
              <a:rPr lang="es-ES" sz="1600" dirty="0" err="1"/>
              <a:t>pom</a:t>
            </a:r>
            <a:r>
              <a:rPr lang="es-ES" sz="1600" dirty="0"/>
              <a:t> sería suficiente; sin embargo, en IntelliJ hay que realizar dos pasos más:</a:t>
            </a:r>
          </a:p>
          <a:p>
            <a:pPr marL="114300" indent="0">
              <a:buNone/>
            </a:pPr>
            <a:r>
              <a:rPr lang="es-ES" sz="1600" dirty="0"/>
              <a:t>Modificar el registro del IDE: </a:t>
            </a:r>
          </a:p>
          <a:p>
            <a:r>
              <a:rPr lang="es-ES" sz="1600" dirty="0"/>
              <a:t>Presionar SHIFT + CTRL + A</a:t>
            </a:r>
          </a:p>
          <a:p>
            <a:r>
              <a:rPr lang="es-ES" sz="1600" dirty="0"/>
              <a:t>En el Pop-up escribir </a:t>
            </a:r>
            <a:r>
              <a:rPr lang="es-ES" sz="1600" dirty="0" err="1"/>
              <a:t>registry</a:t>
            </a:r>
            <a:r>
              <a:rPr lang="es-ES" sz="1600" dirty="0"/>
              <a:t> y presionar </a:t>
            </a:r>
            <a:r>
              <a:rPr lang="es-ES" sz="1600" dirty="0" err="1"/>
              <a:t>Enter</a:t>
            </a:r>
            <a:r>
              <a:rPr lang="es-ES" sz="1600" dirty="0"/>
              <a:t>.</a:t>
            </a:r>
          </a:p>
          <a:p>
            <a:endParaRPr lang="es-ES" sz="1600" dirty="0"/>
          </a:p>
          <a:p>
            <a:endParaRPr lang="es-ES" sz="1600" dirty="0"/>
          </a:p>
          <a:p>
            <a:pPr marL="114300" indent="0">
              <a:buNone/>
            </a:pPr>
            <a:endParaRPr lang="es-ES" sz="1600" dirty="0"/>
          </a:p>
          <a:p>
            <a:r>
              <a:rPr lang="es-ES" sz="1600" dirty="0"/>
              <a:t>Buscar: </a:t>
            </a:r>
            <a:r>
              <a:rPr lang="es-ES" sz="1600" dirty="0" err="1"/>
              <a:t>compiler.automake.allow.when.app.running</a:t>
            </a:r>
            <a:r>
              <a:rPr lang="es-ES" sz="1600" dirty="0"/>
              <a:t> y habilitarlo</a:t>
            </a:r>
          </a:p>
          <a:p>
            <a:endParaRPr lang="es-PE" dirty="0"/>
          </a:p>
        </p:txBody>
      </p:sp>
      <p:pic>
        <p:nvPicPr>
          <p:cNvPr id="8" name="Google Shape;327;p37">
            <a:extLst>
              <a:ext uri="{FF2B5EF4-FFF2-40B4-BE49-F238E27FC236}">
                <a16:creationId xmlns:a16="http://schemas.microsoft.com/office/drawing/2014/main" id="{BFD4391F-1251-294C-BCF5-D65D9ADDF48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25240" y="3500034"/>
            <a:ext cx="3094544" cy="9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28;p37">
            <a:extLst>
              <a:ext uri="{FF2B5EF4-FFF2-40B4-BE49-F238E27FC236}">
                <a16:creationId xmlns:a16="http://schemas.microsoft.com/office/drawing/2014/main" id="{13A07B01-81A8-BB1F-F90A-55485C73BE2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5240" y="4834187"/>
            <a:ext cx="4524430" cy="10529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03614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E809F-8D66-65CD-84FA-0881AA19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715762" cy="631861"/>
          </a:xfrm>
        </p:spPr>
        <p:txBody>
          <a:bodyPr/>
          <a:lstStyle/>
          <a:p>
            <a:r>
              <a:rPr lang="es-ES" dirty="0"/>
              <a:t>Spring Boot </a:t>
            </a:r>
            <a:r>
              <a:rPr lang="es-ES" dirty="0" err="1"/>
              <a:t>Devtools</a:t>
            </a:r>
            <a:r>
              <a:rPr lang="es-ES" dirty="0"/>
              <a:t> – IntelliJ (ajustes)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78720F5-1A55-DF8B-29A2-BF92B41660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25</a:t>
            </a:fld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6F8A1B2-A968-C6B8-D8C1-562FA9995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44111"/>
            <a:ext cx="10515600" cy="3604262"/>
          </a:xfrm>
        </p:spPr>
        <p:txBody>
          <a:bodyPr/>
          <a:lstStyle/>
          <a:p>
            <a:pPr marL="114300" indent="0">
              <a:buNone/>
            </a:pPr>
            <a:r>
              <a:rPr lang="en-US" sz="2000" dirty="0"/>
              <a:t>2) file → Settings → Build → Compiler → </a:t>
            </a:r>
            <a:r>
              <a:rPr lang="en-US" sz="2000" dirty="0" err="1"/>
              <a:t>Habilitar</a:t>
            </a:r>
            <a:r>
              <a:rPr lang="en-US" sz="2000" dirty="0"/>
              <a:t>: </a:t>
            </a:r>
            <a:r>
              <a:rPr lang="en-US" sz="2000" b="1" dirty="0"/>
              <a:t>Build project automatically</a:t>
            </a:r>
          </a:p>
          <a:p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B2F9AD8-C1D8-2D31-025E-DB3BE818D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27" y="2099844"/>
            <a:ext cx="8855636" cy="3672912"/>
          </a:xfrm>
          <a:prstGeom prst="rect">
            <a:avLst/>
          </a:prstGeom>
        </p:spPr>
      </p:pic>
      <p:sp>
        <p:nvSpPr>
          <p:cNvPr id="9" name="Google Shape;337;p38">
            <a:extLst>
              <a:ext uri="{FF2B5EF4-FFF2-40B4-BE49-F238E27FC236}">
                <a16:creationId xmlns:a16="http://schemas.microsoft.com/office/drawing/2014/main" id="{38BBB2FE-1F84-8E78-72CC-DD2ADEB2EF47}"/>
              </a:ext>
            </a:extLst>
          </p:cNvPr>
          <p:cNvSpPr/>
          <p:nvPr/>
        </p:nvSpPr>
        <p:spPr>
          <a:xfrm>
            <a:off x="4009569" y="4718028"/>
            <a:ext cx="1815878" cy="2346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93141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C8B91-EB63-6E95-AA54-035CCA4FC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715762" cy="549667"/>
          </a:xfrm>
        </p:spPr>
        <p:txBody>
          <a:bodyPr/>
          <a:lstStyle/>
          <a:p>
            <a:r>
              <a:rPr lang="es-PE" dirty="0"/>
              <a:t>Otros Controladores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8E6457D-81A4-D07A-B6AE-E5A51C11C5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26</a:t>
            </a:fld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419DEC-1317-2C1B-5AC4-E54EEBEDD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41369"/>
            <a:ext cx="10515600" cy="3604262"/>
          </a:xfrm>
        </p:spPr>
        <p:txBody>
          <a:bodyPr/>
          <a:lstStyle/>
          <a:p>
            <a:r>
              <a:rPr lang="es-ES" sz="2000" dirty="0"/>
              <a:t>Puede crear cuantos controladores sean necesarios para ordenar su aplicación (no olvide anotarlos con </a:t>
            </a:r>
            <a:r>
              <a:rPr lang="es-ES" sz="2000" b="1" dirty="0"/>
              <a:t>@Controller</a:t>
            </a:r>
            <a:r>
              <a:rPr lang="es-ES" sz="2000" dirty="0"/>
              <a:t>).</a:t>
            </a:r>
          </a:p>
          <a:p>
            <a:endParaRPr lang="es-PE" dirty="0"/>
          </a:p>
        </p:txBody>
      </p:sp>
      <p:pic>
        <p:nvPicPr>
          <p:cNvPr id="8" name="Google Shape;344;p39">
            <a:extLst>
              <a:ext uri="{FF2B5EF4-FFF2-40B4-BE49-F238E27FC236}">
                <a16:creationId xmlns:a16="http://schemas.microsoft.com/office/drawing/2014/main" id="{7951E71A-BFA4-712C-2C5B-8C2F3D7E377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31925" y="2133400"/>
            <a:ext cx="7162972" cy="2946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45;p39">
            <a:extLst>
              <a:ext uri="{FF2B5EF4-FFF2-40B4-BE49-F238E27FC236}">
                <a16:creationId xmlns:a16="http://schemas.microsoft.com/office/drawing/2014/main" id="{AF2D80A4-4DCF-A8BF-B71B-ABA2C4E5181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4261" y="4253962"/>
            <a:ext cx="5114030" cy="1483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65544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BB438F-D615-BA75-039E-76F9560F8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1"/>
            <a:ext cx="9715762" cy="601038"/>
          </a:xfrm>
        </p:spPr>
        <p:txBody>
          <a:bodyPr/>
          <a:lstStyle/>
          <a:p>
            <a:r>
              <a:rPr lang="es-ES" dirty="0"/>
              <a:t>Ruteo a nivel de clase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01AB3C1-9C8D-CC42-B804-7690A1B18B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27</a:t>
            </a:fld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8D175DC-DC6D-EF46-8799-00A808090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2529" y="1133491"/>
            <a:ext cx="10515600" cy="2118280"/>
          </a:xfrm>
        </p:spPr>
        <p:txBody>
          <a:bodyPr>
            <a:normAutofit/>
          </a:bodyPr>
          <a:lstStyle/>
          <a:p>
            <a:r>
              <a:rPr lang="es-ES" sz="2000" dirty="0"/>
              <a:t>En Spring es posible agrupar un conjunto de rutas a nivel de la clase</a:t>
            </a:r>
          </a:p>
          <a:p>
            <a:endParaRPr lang="es-PE" sz="2000" dirty="0"/>
          </a:p>
        </p:txBody>
      </p:sp>
      <p:pic>
        <p:nvPicPr>
          <p:cNvPr id="8" name="Google Shape;354;p40">
            <a:extLst>
              <a:ext uri="{FF2B5EF4-FFF2-40B4-BE49-F238E27FC236}">
                <a16:creationId xmlns:a16="http://schemas.microsoft.com/office/drawing/2014/main" id="{1EA22764-4151-7EAD-13E8-C2D9E073685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358"/>
          <a:stretch/>
        </p:blipFill>
        <p:spPr>
          <a:xfrm>
            <a:off x="1638824" y="1842150"/>
            <a:ext cx="57040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355;p40">
            <a:extLst>
              <a:ext uri="{FF2B5EF4-FFF2-40B4-BE49-F238E27FC236}">
                <a16:creationId xmlns:a16="http://schemas.microsoft.com/office/drawing/2014/main" id="{C93D165C-529D-CCAB-EDF4-1FFD102A8F87}"/>
              </a:ext>
            </a:extLst>
          </p:cNvPr>
          <p:cNvSpPr/>
          <p:nvPr/>
        </p:nvSpPr>
        <p:spPr>
          <a:xfrm>
            <a:off x="4383137" y="2150800"/>
            <a:ext cx="302175" cy="262750"/>
          </a:xfrm>
          <a:prstGeom prst="flowChartDecision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" name="Google Shape;356;p40">
            <a:extLst>
              <a:ext uri="{FF2B5EF4-FFF2-40B4-BE49-F238E27FC236}">
                <a16:creationId xmlns:a16="http://schemas.microsoft.com/office/drawing/2014/main" id="{60FF3969-16BF-AFEE-279D-D6165D5EFC97}"/>
              </a:ext>
            </a:extLst>
          </p:cNvPr>
          <p:cNvCxnSpPr>
            <a:stCxn id="12" idx="0"/>
            <a:endCxn id="11" idx="3"/>
          </p:cNvCxnSpPr>
          <p:nvPr/>
        </p:nvCxnSpPr>
        <p:spPr>
          <a:xfrm rot="5400000" flipH="1">
            <a:off x="7370374" y="2175775"/>
            <a:ext cx="196800" cy="1382100"/>
          </a:xfrm>
          <a:prstGeom prst="curvedConnector2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358;p40">
            <a:extLst>
              <a:ext uri="{FF2B5EF4-FFF2-40B4-BE49-F238E27FC236}">
                <a16:creationId xmlns:a16="http://schemas.microsoft.com/office/drawing/2014/main" id="{6809AFE0-2733-D37C-2BB5-B646C98C3BD2}"/>
              </a:ext>
            </a:extLst>
          </p:cNvPr>
          <p:cNvSpPr/>
          <p:nvPr/>
        </p:nvSpPr>
        <p:spPr>
          <a:xfrm>
            <a:off x="6475512" y="2637150"/>
            <a:ext cx="302175" cy="262750"/>
          </a:xfrm>
          <a:prstGeom prst="flowChartDecision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57;p40">
            <a:extLst>
              <a:ext uri="{FF2B5EF4-FFF2-40B4-BE49-F238E27FC236}">
                <a16:creationId xmlns:a16="http://schemas.microsoft.com/office/drawing/2014/main" id="{2DF7B4DC-13BB-6F96-BF91-6AA01AE96C7E}"/>
              </a:ext>
            </a:extLst>
          </p:cNvPr>
          <p:cNvSpPr txBox="1"/>
          <p:nvPr/>
        </p:nvSpPr>
        <p:spPr>
          <a:xfrm>
            <a:off x="5932474" y="2965225"/>
            <a:ext cx="44547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latin typeface="Open Sans"/>
                <a:ea typeface="Open Sans"/>
                <a:cs typeface="Open Sans"/>
                <a:sym typeface="Open Sans"/>
              </a:rPr>
              <a:t>URL para listar empleados: /</a:t>
            </a:r>
            <a:r>
              <a:rPr lang="es-419" sz="1400" b="1" dirty="0">
                <a:latin typeface="Open Sans"/>
                <a:ea typeface="Open Sans"/>
                <a:cs typeface="Open Sans"/>
                <a:sym typeface="Open Sans"/>
              </a:rPr>
              <a:t>empleados</a:t>
            </a:r>
            <a:endParaRPr sz="14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Google Shape;359;p40">
            <a:extLst>
              <a:ext uri="{FF2B5EF4-FFF2-40B4-BE49-F238E27FC236}">
                <a16:creationId xmlns:a16="http://schemas.microsoft.com/office/drawing/2014/main" id="{31CC8FA8-5865-46F3-DF15-92814B4B62E8}"/>
              </a:ext>
            </a:extLst>
          </p:cNvPr>
          <p:cNvSpPr/>
          <p:nvPr/>
        </p:nvSpPr>
        <p:spPr>
          <a:xfrm rot="10798681">
            <a:off x="7069208" y="2049332"/>
            <a:ext cx="1563600" cy="225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" name="Google Shape;360;p40">
            <a:extLst>
              <a:ext uri="{FF2B5EF4-FFF2-40B4-BE49-F238E27FC236}">
                <a16:creationId xmlns:a16="http://schemas.microsoft.com/office/drawing/2014/main" id="{9CDBF6D9-698E-20B2-6B81-0139F7DC660E}"/>
              </a:ext>
            </a:extLst>
          </p:cNvPr>
          <p:cNvCxnSpPr>
            <a:stCxn id="16" idx="0"/>
            <a:endCxn id="15" idx="3"/>
          </p:cNvCxnSpPr>
          <p:nvPr/>
        </p:nvCxnSpPr>
        <p:spPr>
          <a:xfrm rot="5400000" flipH="1">
            <a:off x="7656424" y="3477825"/>
            <a:ext cx="189900" cy="816900"/>
          </a:xfrm>
          <a:prstGeom prst="curvedConnector2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Google Shape;362;p40">
            <a:extLst>
              <a:ext uri="{FF2B5EF4-FFF2-40B4-BE49-F238E27FC236}">
                <a16:creationId xmlns:a16="http://schemas.microsoft.com/office/drawing/2014/main" id="{8A9FD360-2BB1-060A-7767-C93406B84E5D}"/>
              </a:ext>
            </a:extLst>
          </p:cNvPr>
          <p:cNvSpPr/>
          <p:nvPr/>
        </p:nvSpPr>
        <p:spPr>
          <a:xfrm>
            <a:off x="7040662" y="3660000"/>
            <a:ext cx="302175" cy="262750"/>
          </a:xfrm>
          <a:prstGeom prst="flowChartDecision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61;p40">
            <a:extLst>
              <a:ext uri="{FF2B5EF4-FFF2-40B4-BE49-F238E27FC236}">
                <a16:creationId xmlns:a16="http://schemas.microsoft.com/office/drawing/2014/main" id="{F7BA73F2-8A21-C30C-5C84-28D51D360544}"/>
              </a:ext>
            </a:extLst>
          </p:cNvPr>
          <p:cNvSpPr txBox="1"/>
          <p:nvPr/>
        </p:nvSpPr>
        <p:spPr>
          <a:xfrm>
            <a:off x="5932474" y="3981225"/>
            <a:ext cx="44547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latin typeface="Open Sans"/>
                <a:ea typeface="Open Sans"/>
                <a:cs typeface="Open Sans"/>
                <a:sym typeface="Open Sans"/>
              </a:rPr>
              <a:t>URL para el formulario: /</a:t>
            </a:r>
            <a:r>
              <a:rPr lang="es-419" sz="1400" b="1">
                <a:latin typeface="Open Sans"/>
                <a:ea typeface="Open Sans"/>
                <a:cs typeface="Open Sans"/>
                <a:sym typeface="Open Sans"/>
              </a:rPr>
              <a:t>empleados/crearFrm</a:t>
            </a:r>
            <a:endParaRPr sz="1400" b="1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" name="Google Shape;363;p40">
            <a:extLst>
              <a:ext uri="{FF2B5EF4-FFF2-40B4-BE49-F238E27FC236}">
                <a16:creationId xmlns:a16="http://schemas.microsoft.com/office/drawing/2014/main" id="{CEB00D35-0161-718D-DDCE-3B2FA7C3C0D0}"/>
              </a:ext>
            </a:extLst>
          </p:cNvPr>
          <p:cNvCxnSpPr>
            <a:stCxn id="19" idx="0"/>
            <a:endCxn id="18" idx="3"/>
          </p:cNvCxnSpPr>
          <p:nvPr/>
        </p:nvCxnSpPr>
        <p:spPr>
          <a:xfrm rot="5400000" flipH="1">
            <a:off x="7661299" y="4458875"/>
            <a:ext cx="208500" cy="788400"/>
          </a:xfrm>
          <a:prstGeom prst="curvedConnector2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Google Shape;365;p40">
            <a:extLst>
              <a:ext uri="{FF2B5EF4-FFF2-40B4-BE49-F238E27FC236}">
                <a16:creationId xmlns:a16="http://schemas.microsoft.com/office/drawing/2014/main" id="{6DC9E087-DC24-9A0A-B6BF-07C887AA2DED}"/>
              </a:ext>
            </a:extLst>
          </p:cNvPr>
          <p:cNvSpPr/>
          <p:nvPr/>
        </p:nvSpPr>
        <p:spPr>
          <a:xfrm>
            <a:off x="7069187" y="4617538"/>
            <a:ext cx="302175" cy="262750"/>
          </a:xfrm>
          <a:prstGeom prst="flowChartDecision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64;p40">
            <a:extLst>
              <a:ext uri="{FF2B5EF4-FFF2-40B4-BE49-F238E27FC236}">
                <a16:creationId xmlns:a16="http://schemas.microsoft.com/office/drawing/2014/main" id="{E62DDDB7-3D33-49B0-36F7-29452D618099}"/>
              </a:ext>
            </a:extLst>
          </p:cNvPr>
          <p:cNvSpPr txBox="1"/>
          <p:nvPr/>
        </p:nvSpPr>
        <p:spPr>
          <a:xfrm>
            <a:off x="5932399" y="4957325"/>
            <a:ext cx="4454700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latin typeface="Open Sans"/>
                <a:ea typeface="Open Sans"/>
                <a:cs typeface="Open Sans"/>
                <a:sym typeface="Open Sans"/>
              </a:rPr>
              <a:t>URL para guardar empleado: /</a:t>
            </a:r>
            <a:r>
              <a:rPr lang="es-419" sz="1400" b="1">
                <a:latin typeface="Open Sans"/>
                <a:ea typeface="Open Sans"/>
                <a:cs typeface="Open Sans"/>
                <a:sym typeface="Open Sans"/>
              </a:rPr>
              <a:t>empleados/guardar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latin typeface="Open Sans"/>
                <a:ea typeface="Open Sans"/>
                <a:cs typeface="Open Sans"/>
                <a:sym typeface="Open Sans"/>
              </a:rPr>
              <a:t>con el método POST (viene de un formulario)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6732392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86431-0D59-DF0F-764B-430FD0E95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715762" cy="642135"/>
          </a:xfrm>
        </p:spPr>
        <p:txBody>
          <a:bodyPr/>
          <a:lstStyle/>
          <a:p>
            <a:r>
              <a:rPr lang="es-ES" dirty="0" err="1"/>
              <a:t>Request</a:t>
            </a:r>
            <a:r>
              <a:rPr lang="es-ES" dirty="0"/>
              <a:t> </a:t>
            </a:r>
            <a:r>
              <a:rPr lang="es-ES" dirty="0" err="1"/>
              <a:t>Mapping</a:t>
            </a:r>
            <a:r>
              <a:rPr lang="es-ES" dirty="0"/>
              <a:t> corto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EE56731-B41C-4464-D2B8-A72758209A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28</a:t>
            </a:fld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F1EC43-29DB-5BA0-5DCE-CBD79288D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54386"/>
            <a:ext cx="10515600" cy="3604262"/>
          </a:xfrm>
        </p:spPr>
        <p:txBody>
          <a:bodyPr/>
          <a:lstStyle/>
          <a:p>
            <a:r>
              <a:rPr lang="es-ES" sz="2000" dirty="0"/>
              <a:t>Se puede reducir la anotación </a:t>
            </a:r>
            <a:r>
              <a:rPr lang="es-ES" sz="2000" b="1" dirty="0"/>
              <a:t>@RequestMapping</a:t>
            </a:r>
            <a:r>
              <a:rPr lang="es-ES" sz="2000" dirty="0"/>
              <a:t>, según el método HTTP utilizado.</a:t>
            </a:r>
            <a:endParaRPr lang="es-ES" sz="2000" b="1" dirty="0"/>
          </a:p>
          <a:p>
            <a:endParaRPr lang="es-PE" dirty="0"/>
          </a:p>
        </p:txBody>
      </p:sp>
      <p:pic>
        <p:nvPicPr>
          <p:cNvPr id="5" name="Google Shape;373;p41">
            <a:extLst>
              <a:ext uri="{FF2B5EF4-FFF2-40B4-BE49-F238E27FC236}">
                <a16:creationId xmlns:a16="http://schemas.microsoft.com/office/drawing/2014/main" id="{50CF5D89-AE13-37A5-B91E-BBAE4C6837A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32427" y="1986148"/>
            <a:ext cx="7037070" cy="3799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oogle Shape;374;p41">
            <a:extLst>
              <a:ext uri="{FF2B5EF4-FFF2-40B4-BE49-F238E27FC236}">
                <a16:creationId xmlns:a16="http://schemas.microsoft.com/office/drawing/2014/main" id="{A2CD94C9-3E21-A632-B004-B08A67769FCF}"/>
              </a:ext>
            </a:extLst>
          </p:cNvPr>
          <p:cNvGrpSpPr/>
          <p:nvPr/>
        </p:nvGrpSpPr>
        <p:grpSpPr>
          <a:xfrm>
            <a:off x="1332415" y="2229273"/>
            <a:ext cx="6840900" cy="257100"/>
            <a:chOff x="1861263" y="3001125"/>
            <a:chExt cx="6840900" cy="257100"/>
          </a:xfrm>
        </p:grpSpPr>
        <p:sp>
          <p:nvSpPr>
            <p:cNvPr id="7" name="Google Shape;375;p41">
              <a:extLst>
                <a:ext uri="{FF2B5EF4-FFF2-40B4-BE49-F238E27FC236}">
                  <a16:creationId xmlns:a16="http://schemas.microsoft.com/office/drawing/2014/main" id="{B254F1C3-D4BD-8BD7-FD23-1F984578B908}"/>
                </a:ext>
              </a:extLst>
            </p:cNvPr>
            <p:cNvSpPr/>
            <p:nvPr/>
          </p:nvSpPr>
          <p:spPr>
            <a:xfrm>
              <a:off x="1861263" y="3001125"/>
              <a:ext cx="6840900" cy="2571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76;p41">
              <a:extLst>
                <a:ext uri="{FF2B5EF4-FFF2-40B4-BE49-F238E27FC236}">
                  <a16:creationId xmlns:a16="http://schemas.microsoft.com/office/drawing/2014/main" id="{CB8BA501-FA67-3514-0673-88174D8B1B8B}"/>
                </a:ext>
              </a:extLst>
            </p:cNvPr>
            <p:cNvSpPr/>
            <p:nvPr/>
          </p:nvSpPr>
          <p:spPr>
            <a:xfrm>
              <a:off x="2571738" y="3024525"/>
              <a:ext cx="223500" cy="2103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" name="Google Shape;377;p41">
            <a:extLst>
              <a:ext uri="{FF2B5EF4-FFF2-40B4-BE49-F238E27FC236}">
                <a16:creationId xmlns:a16="http://schemas.microsoft.com/office/drawing/2014/main" id="{64F7EEB9-5784-CCFB-986B-375157263B16}"/>
              </a:ext>
            </a:extLst>
          </p:cNvPr>
          <p:cNvGrpSpPr/>
          <p:nvPr/>
        </p:nvGrpSpPr>
        <p:grpSpPr>
          <a:xfrm>
            <a:off x="1332427" y="3143673"/>
            <a:ext cx="6964800" cy="257100"/>
            <a:chOff x="1861263" y="3001125"/>
            <a:chExt cx="6964800" cy="257100"/>
          </a:xfrm>
        </p:grpSpPr>
        <p:sp>
          <p:nvSpPr>
            <p:cNvPr id="10" name="Google Shape;378;p41">
              <a:extLst>
                <a:ext uri="{FF2B5EF4-FFF2-40B4-BE49-F238E27FC236}">
                  <a16:creationId xmlns:a16="http://schemas.microsoft.com/office/drawing/2014/main" id="{07DA1A88-B040-BF10-1B11-69D5D16811FB}"/>
                </a:ext>
              </a:extLst>
            </p:cNvPr>
            <p:cNvSpPr/>
            <p:nvPr/>
          </p:nvSpPr>
          <p:spPr>
            <a:xfrm>
              <a:off x="1861263" y="3001125"/>
              <a:ext cx="6964800" cy="2571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79;p41">
              <a:extLst>
                <a:ext uri="{FF2B5EF4-FFF2-40B4-BE49-F238E27FC236}">
                  <a16:creationId xmlns:a16="http://schemas.microsoft.com/office/drawing/2014/main" id="{0B593129-DB03-6ADF-7BAB-EADD058B040B}"/>
                </a:ext>
              </a:extLst>
            </p:cNvPr>
            <p:cNvSpPr/>
            <p:nvPr/>
          </p:nvSpPr>
          <p:spPr>
            <a:xfrm>
              <a:off x="2571738" y="3024525"/>
              <a:ext cx="223500" cy="2103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380;p41">
            <a:extLst>
              <a:ext uri="{FF2B5EF4-FFF2-40B4-BE49-F238E27FC236}">
                <a16:creationId xmlns:a16="http://schemas.microsoft.com/office/drawing/2014/main" id="{01B00999-FD64-7EBD-85AE-BD8B7BFB3FAF}"/>
              </a:ext>
            </a:extLst>
          </p:cNvPr>
          <p:cNvGrpSpPr/>
          <p:nvPr/>
        </p:nvGrpSpPr>
        <p:grpSpPr>
          <a:xfrm>
            <a:off x="1332427" y="4058073"/>
            <a:ext cx="6964800" cy="257100"/>
            <a:chOff x="1861263" y="3001125"/>
            <a:chExt cx="6964800" cy="257100"/>
          </a:xfrm>
        </p:grpSpPr>
        <p:sp>
          <p:nvSpPr>
            <p:cNvPr id="13" name="Google Shape;381;p41">
              <a:extLst>
                <a:ext uri="{FF2B5EF4-FFF2-40B4-BE49-F238E27FC236}">
                  <a16:creationId xmlns:a16="http://schemas.microsoft.com/office/drawing/2014/main" id="{057CDBAF-561B-13C8-A3F9-B00BBA22A233}"/>
                </a:ext>
              </a:extLst>
            </p:cNvPr>
            <p:cNvSpPr/>
            <p:nvPr/>
          </p:nvSpPr>
          <p:spPr>
            <a:xfrm>
              <a:off x="1861263" y="3001125"/>
              <a:ext cx="6964800" cy="2571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82;p41">
              <a:extLst>
                <a:ext uri="{FF2B5EF4-FFF2-40B4-BE49-F238E27FC236}">
                  <a16:creationId xmlns:a16="http://schemas.microsoft.com/office/drawing/2014/main" id="{69225A52-71CA-36B0-9D61-E8554507343E}"/>
                </a:ext>
              </a:extLst>
            </p:cNvPr>
            <p:cNvSpPr/>
            <p:nvPr/>
          </p:nvSpPr>
          <p:spPr>
            <a:xfrm>
              <a:off x="2571738" y="3024525"/>
              <a:ext cx="223500" cy="2103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383;p41">
            <a:extLst>
              <a:ext uri="{FF2B5EF4-FFF2-40B4-BE49-F238E27FC236}">
                <a16:creationId xmlns:a16="http://schemas.microsoft.com/office/drawing/2014/main" id="{9CBBFD6E-500B-AD44-348B-E073070D0485}"/>
              </a:ext>
            </a:extLst>
          </p:cNvPr>
          <p:cNvGrpSpPr/>
          <p:nvPr/>
        </p:nvGrpSpPr>
        <p:grpSpPr>
          <a:xfrm>
            <a:off x="1332427" y="5003773"/>
            <a:ext cx="6964800" cy="257100"/>
            <a:chOff x="1861263" y="3001125"/>
            <a:chExt cx="6964800" cy="257100"/>
          </a:xfrm>
        </p:grpSpPr>
        <p:sp>
          <p:nvSpPr>
            <p:cNvPr id="16" name="Google Shape;384;p41">
              <a:extLst>
                <a:ext uri="{FF2B5EF4-FFF2-40B4-BE49-F238E27FC236}">
                  <a16:creationId xmlns:a16="http://schemas.microsoft.com/office/drawing/2014/main" id="{122EA677-3AEF-EF85-0DF7-A2B6210348B9}"/>
                </a:ext>
              </a:extLst>
            </p:cNvPr>
            <p:cNvSpPr/>
            <p:nvPr/>
          </p:nvSpPr>
          <p:spPr>
            <a:xfrm>
              <a:off x="1861263" y="3001125"/>
              <a:ext cx="6964800" cy="2571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85;p41">
              <a:extLst>
                <a:ext uri="{FF2B5EF4-FFF2-40B4-BE49-F238E27FC236}">
                  <a16:creationId xmlns:a16="http://schemas.microsoft.com/office/drawing/2014/main" id="{14C98E14-871F-69EE-20E0-9D0B78499DBA}"/>
                </a:ext>
              </a:extLst>
            </p:cNvPr>
            <p:cNvSpPr/>
            <p:nvPr/>
          </p:nvSpPr>
          <p:spPr>
            <a:xfrm>
              <a:off x="2571738" y="3024525"/>
              <a:ext cx="223500" cy="2103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386;p41">
            <a:extLst>
              <a:ext uri="{FF2B5EF4-FFF2-40B4-BE49-F238E27FC236}">
                <a16:creationId xmlns:a16="http://schemas.microsoft.com/office/drawing/2014/main" id="{8A32A32A-F8F9-CB43-882D-9868ACEF6C2F}"/>
              </a:ext>
            </a:extLst>
          </p:cNvPr>
          <p:cNvGrpSpPr/>
          <p:nvPr/>
        </p:nvGrpSpPr>
        <p:grpSpPr>
          <a:xfrm>
            <a:off x="1368565" y="2686473"/>
            <a:ext cx="6964800" cy="257100"/>
            <a:chOff x="433463" y="3317650"/>
            <a:chExt cx="6964800" cy="257100"/>
          </a:xfrm>
        </p:grpSpPr>
        <p:sp>
          <p:nvSpPr>
            <p:cNvPr id="19" name="Google Shape;387;p41">
              <a:extLst>
                <a:ext uri="{FF2B5EF4-FFF2-40B4-BE49-F238E27FC236}">
                  <a16:creationId xmlns:a16="http://schemas.microsoft.com/office/drawing/2014/main" id="{402C4CB7-461F-4F66-EA4C-FD2E9C64C206}"/>
                </a:ext>
              </a:extLst>
            </p:cNvPr>
            <p:cNvSpPr/>
            <p:nvPr/>
          </p:nvSpPr>
          <p:spPr>
            <a:xfrm>
              <a:off x="433463" y="3317650"/>
              <a:ext cx="6964800" cy="2571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" name="Google Shape;388;p41">
              <a:extLst>
                <a:ext uri="{FF2B5EF4-FFF2-40B4-BE49-F238E27FC236}">
                  <a16:creationId xmlns:a16="http://schemas.microsoft.com/office/drawing/2014/main" id="{4206257A-F360-A596-5BE5-819B9D582E7F}"/>
                </a:ext>
              </a:extLst>
            </p:cNvPr>
            <p:cNvCxnSpPr>
              <a:stCxn id="19" idx="1"/>
              <a:endCxn id="19" idx="3"/>
            </p:cNvCxnSpPr>
            <p:nvPr/>
          </p:nvCxnSpPr>
          <p:spPr>
            <a:xfrm>
              <a:off x="433463" y="3446200"/>
              <a:ext cx="6964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" name="Google Shape;389;p41">
            <a:extLst>
              <a:ext uri="{FF2B5EF4-FFF2-40B4-BE49-F238E27FC236}">
                <a16:creationId xmlns:a16="http://schemas.microsoft.com/office/drawing/2014/main" id="{8CE47819-78F1-37BE-05BD-CA94A5F91A48}"/>
              </a:ext>
            </a:extLst>
          </p:cNvPr>
          <p:cNvGrpSpPr/>
          <p:nvPr/>
        </p:nvGrpSpPr>
        <p:grpSpPr>
          <a:xfrm>
            <a:off x="1332415" y="3600873"/>
            <a:ext cx="6964800" cy="257100"/>
            <a:chOff x="433463" y="3317650"/>
            <a:chExt cx="6964800" cy="257100"/>
          </a:xfrm>
        </p:grpSpPr>
        <p:sp>
          <p:nvSpPr>
            <p:cNvPr id="22" name="Google Shape;390;p41">
              <a:extLst>
                <a:ext uri="{FF2B5EF4-FFF2-40B4-BE49-F238E27FC236}">
                  <a16:creationId xmlns:a16="http://schemas.microsoft.com/office/drawing/2014/main" id="{F2E499C9-7972-8CEC-65D1-9537C9AC5AB5}"/>
                </a:ext>
              </a:extLst>
            </p:cNvPr>
            <p:cNvSpPr/>
            <p:nvPr/>
          </p:nvSpPr>
          <p:spPr>
            <a:xfrm>
              <a:off x="433463" y="3317650"/>
              <a:ext cx="6964800" cy="2571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" name="Google Shape;391;p41">
              <a:extLst>
                <a:ext uri="{FF2B5EF4-FFF2-40B4-BE49-F238E27FC236}">
                  <a16:creationId xmlns:a16="http://schemas.microsoft.com/office/drawing/2014/main" id="{C2AAD607-C47C-4C27-DF62-89F48622BB80}"/>
                </a:ext>
              </a:extLst>
            </p:cNvPr>
            <p:cNvCxnSpPr>
              <a:stCxn id="22" idx="1"/>
              <a:endCxn id="22" idx="3"/>
            </p:cNvCxnSpPr>
            <p:nvPr/>
          </p:nvCxnSpPr>
          <p:spPr>
            <a:xfrm>
              <a:off x="433463" y="3446200"/>
              <a:ext cx="6964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" name="Google Shape;392;p41">
            <a:extLst>
              <a:ext uri="{FF2B5EF4-FFF2-40B4-BE49-F238E27FC236}">
                <a16:creationId xmlns:a16="http://schemas.microsoft.com/office/drawing/2014/main" id="{CD65B0FD-E537-3C64-0DEC-02B767E58BDF}"/>
              </a:ext>
            </a:extLst>
          </p:cNvPr>
          <p:cNvGrpSpPr/>
          <p:nvPr/>
        </p:nvGrpSpPr>
        <p:grpSpPr>
          <a:xfrm>
            <a:off x="1332415" y="4530923"/>
            <a:ext cx="6964800" cy="257100"/>
            <a:chOff x="433463" y="4005375"/>
            <a:chExt cx="6964800" cy="257100"/>
          </a:xfrm>
        </p:grpSpPr>
        <p:sp>
          <p:nvSpPr>
            <p:cNvPr id="25" name="Google Shape;393;p41">
              <a:extLst>
                <a:ext uri="{FF2B5EF4-FFF2-40B4-BE49-F238E27FC236}">
                  <a16:creationId xmlns:a16="http://schemas.microsoft.com/office/drawing/2014/main" id="{0356EB12-EF79-E7EC-DC89-7CAABF274A3E}"/>
                </a:ext>
              </a:extLst>
            </p:cNvPr>
            <p:cNvSpPr/>
            <p:nvPr/>
          </p:nvSpPr>
          <p:spPr>
            <a:xfrm>
              <a:off x="433463" y="4005375"/>
              <a:ext cx="6964800" cy="2571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" name="Google Shape;394;p41">
              <a:extLst>
                <a:ext uri="{FF2B5EF4-FFF2-40B4-BE49-F238E27FC236}">
                  <a16:creationId xmlns:a16="http://schemas.microsoft.com/office/drawing/2014/main" id="{4B443612-0315-ECD4-0196-3695980EB15A}"/>
                </a:ext>
              </a:extLst>
            </p:cNvPr>
            <p:cNvCxnSpPr>
              <a:stCxn id="25" idx="1"/>
              <a:endCxn id="25" idx="3"/>
            </p:cNvCxnSpPr>
            <p:nvPr/>
          </p:nvCxnSpPr>
          <p:spPr>
            <a:xfrm>
              <a:off x="433463" y="4133925"/>
              <a:ext cx="6964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7" name="Google Shape;395;p41">
            <a:extLst>
              <a:ext uri="{FF2B5EF4-FFF2-40B4-BE49-F238E27FC236}">
                <a16:creationId xmlns:a16="http://schemas.microsoft.com/office/drawing/2014/main" id="{5F916343-559B-316F-FF8C-5972E9234779}"/>
              </a:ext>
            </a:extLst>
          </p:cNvPr>
          <p:cNvGrpSpPr/>
          <p:nvPr/>
        </p:nvGrpSpPr>
        <p:grpSpPr>
          <a:xfrm>
            <a:off x="1332415" y="5476623"/>
            <a:ext cx="6964800" cy="257100"/>
            <a:chOff x="433463" y="4005375"/>
            <a:chExt cx="6964800" cy="257100"/>
          </a:xfrm>
        </p:grpSpPr>
        <p:sp>
          <p:nvSpPr>
            <p:cNvPr id="28" name="Google Shape;396;p41">
              <a:extLst>
                <a:ext uri="{FF2B5EF4-FFF2-40B4-BE49-F238E27FC236}">
                  <a16:creationId xmlns:a16="http://schemas.microsoft.com/office/drawing/2014/main" id="{CC1DE98C-3527-6FCE-8614-67D43F29E860}"/>
                </a:ext>
              </a:extLst>
            </p:cNvPr>
            <p:cNvSpPr/>
            <p:nvPr/>
          </p:nvSpPr>
          <p:spPr>
            <a:xfrm>
              <a:off x="433463" y="4005375"/>
              <a:ext cx="6964800" cy="2571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" name="Google Shape;397;p41">
              <a:extLst>
                <a:ext uri="{FF2B5EF4-FFF2-40B4-BE49-F238E27FC236}">
                  <a16:creationId xmlns:a16="http://schemas.microsoft.com/office/drawing/2014/main" id="{2AF2E202-8F14-9FF3-20C8-64DE7326AE6F}"/>
                </a:ext>
              </a:extLst>
            </p:cNvPr>
            <p:cNvCxnSpPr>
              <a:stCxn id="28" idx="1"/>
              <a:endCxn id="28" idx="3"/>
            </p:cNvCxnSpPr>
            <p:nvPr/>
          </p:nvCxnSpPr>
          <p:spPr>
            <a:xfrm>
              <a:off x="433463" y="4133925"/>
              <a:ext cx="6964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30" name="Google Shape;398;p41">
            <a:extLst>
              <a:ext uri="{FF2B5EF4-FFF2-40B4-BE49-F238E27FC236}">
                <a16:creationId xmlns:a16="http://schemas.microsoft.com/office/drawing/2014/main" id="{8641F41A-CF0C-957F-E2EC-C22257C97ADD}"/>
              </a:ext>
            </a:extLst>
          </p:cNvPr>
          <p:cNvCxnSpPr/>
          <p:nvPr/>
        </p:nvCxnSpPr>
        <p:spPr>
          <a:xfrm>
            <a:off x="7136602" y="2252698"/>
            <a:ext cx="3399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Google Shape;399;p41">
            <a:extLst>
              <a:ext uri="{FF2B5EF4-FFF2-40B4-BE49-F238E27FC236}">
                <a16:creationId xmlns:a16="http://schemas.microsoft.com/office/drawing/2014/main" id="{44D4658C-A19D-5351-A875-BCD7C031CB41}"/>
              </a:ext>
            </a:extLst>
          </p:cNvPr>
          <p:cNvCxnSpPr/>
          <p:nvPr/>
        </p:nvCxnSpPr>
        <p:spPr>
          <a:xfrm>
            <a:off x="7136602" y="3155373"/>
            <a:ext cx="4806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400;p41">
            <a:extLst>
              <a:ext uri="{FF2B5EF4-FFF2-40B4-BE49-F238E27FC236}">
                <a16:creationId xmlns:a16="http://schemas.microsoft.com/office/drawing/2014/main" id="{462026E9-764D-9AB0-9C4B-DE64C493BB9D}"/>
              </a:ext>
            </a:extLst>
          </p:cNvPr>
          <p:cNvCxnSpPr/>
          <p:nvPr/>
        </p:nvCxnSpPr>
        <p:spPr>
          <a:xfrm>
            <a:off x="7136602" y="5003773"/>
            <a:ext cx="6681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" name="Google Shape;401;p41">
            <a:extLst>
              <a:ext uri="{FF2B5EF4-FFF2-40B4-BE49-F238E27FC236}">
                <a16:creationId xmlns:a16="http://schemas.microsoft.com/office/drawing/2014/main" id="{FE7508A3-2DB2-4AAC-60AD-A2E690222D79}"/>
              </a:ext>
            </a:extLst>
          </p:cNvPr>
          <p:cNvCxnSpPr/>
          <p:nvPr/>
        </p:nvCxnSpPr>
        <p:spPr>
          <a:xfrm>
            <a:off x="7136602" y="4081498"/>
            <a:ext cx="3399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Google Shape;402;p41">
            <a:extLst>
              <a:ext uri="{FF2B5EF4-FFF2-40B4-BE49-F238E27FC236}">
                <a16:creationId xmlns:a16="http://schemas.microsoft.com/office/drawing/2014/main" id="{94BB85AB-E7C2-E797-7D28-CB89C90826DE}"/>
              </a:ext>
            </a:extLst>
          </p:cNvPr>
          <p:cNvCxnSpPr/>
          <p:nvPr/>
        </p:nvCxnSpPr>
        <p:spPr>
          <a:xfrm>
            <a:off x="1509527" y="2686473"/>
            <a:ext cx="3399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" name="Google Shape;403;p41">
            <a:extLst>
              <a:ext uri="{FF2B5EF4-FFF2-40B4-BE49-F238E27FC236}">
                <a16:creationId xmlns:a16="http://schemas.microsoft.com/office/drawing/2014/main" id="{690775E4-75DA-4664-736E-5C90E7FB751C}"/>
              </a:ext>
            </a:extLst>
          </p:cNvPr>
          <p:cNvCxnSpPr/>
          <p:nvPr/>
        </p:nvCxnSpPr>
        <p:spPr>
          <a:xfrm>
            <a:off x="1509527" y="3600873"/>
            <a:ext cx="4806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404;p41">
            <a:extLst>
              <a:ext uri="{FF2B5EF4-FFF2-40B4-BE49-F238E27FC236}">
                <a16:creationId xmlns:a16="http://schemas.microsoft.com/office/drawing/2014/main" id="{4B22AD0D-67AA-2CFB-2203-A336371AC7EF}"/>
              </a:ext>
            </a:extLst>
          </p:cNvPr>
          <p:cNvCxnSpPr/>
          <p:nvPr/>
        </p:nvCxnSpPr>
        <p:spPr>
          <a:xfrm>
            <a:off x="1509527" y="4530923"/>
            <a:ext cx="3399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405;p41">
            <a:extLst>
              <a:ext uri="{FF2B5EF4-FFF2-40B4-BE49-F238E27FC236}">
                <a16:creationId xmlns:a16="http://schemas.microsoft.com/office/drawing/2014/main" id="{B2F6DD55-EC32-35D1-6E5E-3F3A6695CE47}"/>
              </a:ext>
            </a:extLst>
          </p:cNvPr>
          <p:cNvCxnSpPr/>
          <p:nvPr/>
        </p:nvCxnSpPr>
        <p:spPr>
          <a:xfrm>
            <a:off x="1509527" y="5476623"/>
            <a:ext cx="6681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220907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C8A0EF-5CD9-FB5F-9A8D-23816C68C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715762" cy="529119"/>
          </a:xfrm>
        </p:spPr>
        <p:txBody>
          <a:bodyPr>
            <a:normAutofit fontScale="90000"/>
          </a:bodyPr>
          <a:lstStyle/>
          <a:p>
            <a:r>
              <a:rPr lang="es-ES" dirty="0" err="1"/>
              <a:t>Application.properties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0223887-7822-D857-AEDA-5D491F1CAC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29</a:t>
            </a:fld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6D2618-2D1A-12C3-CCC2-CC5B1B67E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60980"/>
            <a:ext cx="10515600" cy="4177811"/>
          </a:xfrm>
        </p:spPr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600" dirty="0"/>
              <a:t>El archivo </a:t>
            </a:r>
            <a:r>
              <a:rPr lang="es-ES" sz="1600" dirty="0" err="1"/>
              <a:t>properties</a:t>
            </a:r>
            <a:r>
              <a:rPr lang="es-ES" sz="1600" dirty="0"/>
              <a:t> en Spring Boot permite de manera simple, colocar configuraciones al proyecto en formato </a:t>
            </a:r>
            <a:r>
              <a:rPr lang="es-ES" sz="1600" b="1" dirty="0" err="1"/>
              <a:t>yaml</a:t>
            </a:r>
            <a:r>
              <a:rPr lang="es-ES" sz="1600" dirty="0"/>
              <a:t>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600" dirty="0"/>
              <a:t>Por ejemplo: cambiar el contexto del proyecto a /</a:t>
            </a:r>
            <a:r>
              <a:rPr lang="es-ES" sz="1600" b="1" dirty="0"/>
              <a:t>CursoSw2</a:t>
            </a:r>
            <a:r>
              <a:rPr lang="es-ES" sz="1600" dirty="0"/>
              <a:t>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600" dirty="0"/>
          </a:p>
          <a:p>
            <a:pPr marL="0" lvl="0" indent="0">
              <a:spcBef>
                <a:spcPts val="1600"/>
              </a:spcBef>
              <a:buNone/>
            </a:pPr>
            <a:endParaRPr lang="es-ES" sz="16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600" dirty="0"/>
              <a:t>En los logs puede ver el resultado: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600" dirty="0"/>
          </a:p>
          <a:p>
            <a:pPr marL="0" lvl="0" indent="0">
              <a:spcBef>
                <a:spcPts val="1600"/>
              </a:spcBef>
              <a:buNone/>
            </a:pPr>
            <a:endParaRPr lang="es-ES" sz="16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600" dirty="0"/>
              <a:t>Y en su navegador web de igual forma:</a:t>
            </a:r>
          </a:p>
        </p:txBody>
      </p:sp>
      <p:pic>
        <p:nvPicPr>
          <p:cNvPr id="8" name="Google Shape;415;p42">
            <a:extLst>
              <a:ext uri="{FF2B5EF4-FFF2-40B4-BE49-F238E27FC236}">
                <a16:creationId xmlns:a16="http://schemas.microsoft.com/office/drawing/2014/main" id="{416E8239-4112-3356-43FF-423FFF68435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92644" y="2307978"/>
            <a:ext cx="42100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413;p42">
            <a:extLst>
              <a:ext uri="{FF2B5EF4-FFF2-40B4-BE49-F238E27FC236}">
                <a16:creationId xmlns:a16="http://schemas.microsoft.com/office/drawing/2014/main" id="{F021C081-8E31-7CAA-F941-26610BD13BB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5537" y="2968414"/>
            <a:ext cx="2360925" cy="102595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414;p42">
            <a:extLst>
              <a:ext uri="{FF2B5EF4-FFF2-40B4-BE49-F238E27FC236}">
                <a16:creationId xmlns:a16="http://schemas.microsoft.com/office/drawing/2014/main" id="{05BC725B-F618-1687-EFBB-432B22BD6442}"/>
              </a:ext>
            </a:extLst>
          </p:cNvPr>
          <p:cNvSpPr/>
          <p:nvPr/>
        </p:nvSpPr>
        <p:spPr>
          <a:xfrm rot="-1257">
            <a:off x="4505438" y="3768916"/>
            <a:ext cx="820200" cy="225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Google Shape;417;p42">
            <a:extLst>
              <a:ext uri="{FF2B5EF4-FFF2-40B4-BE49-F238E27FC236}">
                <a16:creationId xmlns:a16="http://schemas.microsoft.com/office/drawing/2014/main" id="{324AAEC6-7DA6-EBAF-2BE1-C12C411CB1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6416" y="4778428"/>
            <a:ext cx="2748542" cy="8873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8799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873294-7060-6A2E-8A40-DB7E7081D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</p:spPr>
        <p:txBody>
          <a:bodyPr/>
          <a:lstStyle/>
          <a:p>
            <a:fld id="{52A29C8B-5F70-8945-A2A6-FBD7A17156DB}" type="slidenum">
              <a:rPr lang="es-PE" smtClean="0"/>
              <a:pPr/>
              <a:t>30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816A03E-443D-4232-7033-C5364AD08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800" dirty="0"/>
              <a:t>Recepción de parámetros por GET y POST</a:t>
            </a:r>
            <a:endParaRPr lang="es-PE" sz="4800" dirty="0"/>
          </a:p>
        </p:txBody>
      </p:sp>
    </p:spTree>
    <p:extLst>
      <p:ext uri="{BB962C8B-B14F-4D97-AF65-F5344CB8AC3E}">
        <p14:creationId xmlns:p14="http://schemas.microsoft.com/office/powerpoint/2010/main" val="26799193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0223F-4ADF-2CC0-27D6-37FBD7223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1FCAD-6DAE-CAB4-2D39-FCAEB0C09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715762" cy="642135"/>
          </a:xfrm>
        </p:spPr>
        <p:txBody>
          <a:bodyPr/>
          <a:lstStyle/>
          <a:p>
            <a:r>
              <a:rPr lang="es-ES" dirty="0"/>
              <a:t>Recepción de parámetros por la URL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835C868-B313-EA0C-98A3-CD50544001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31</a:t>
            </a:fld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AD12835-CCC6-E1F6-03D0-AD5515798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En Spring existen dos formas de recibir parámetros en la URL:</a:t>
            </a:r>
          </a:p>
          <a:p>
            <a:pPr lvl="0">
              <a:spcBef>
                <a:spcPts val="1600"/>
              </a:spcBef>
              <a:buAutoNum type="arabicPeriod"/>
            </a:pPr>
            <a:r>
              <a:rPr lang="es-ES" dirty="0"/>
              <a:t>@RequestParam</a:t>
            </a:r>
          </a:p>
          <a:p>
            <a:pPr lvl="0">
              <a:spcBef>
                <a:spcPts val="0"/>
              </a:spcBef>
              <a:buAutoNum type="arabicPeriod"/>
            </a:pPr>
            <a:r>
              <a:rPr lang="es-ES" dirty="0"/>
              <a:t>@PathVariable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80013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F4719-2331-02C5-0FAB-22EBEB209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1"/>
            <a:ext cx="9715762" cy="590764"/>
          </a:xfrm>
        </p:spPr>
        <p:txBody>
          <a:bodyPr/>
          <a:lstStyle/>
          <a:p>
            <a:r>
              <a:rPr lang="es-ES" dirty="0"/>
              <a:t>@RequestParam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5723D9E-8680-1444-8095-2B720BABD4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32</a:t>
            </a:fld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87B4974-B01A-54CE-AABE-8629C3BDE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1707" y="2914435"/>
            <a:ext cx="10515600" cy="977849"/>
          </a:xfrm>
        </p:spPr>
        <p:txBody>
          <a:bodyPr>
            <a:normAutofit fontScale="850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600" dirty="0"/>
              <a:t>Las variables esperadas en el URL pueden ser opciones y se registran con </a:t>
            </a:r>
            <a:r>
              <a:rPr lang="es-ES" sz="1600" b="1" dirty="0"/>
              <a:t>@RequestParam</a:t>
            </a:r>
            <a:r>
              <a:rPr lang="es-ES" sz="1600" dirty="0"/>
              <a:t>. 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600" b="1" dirty="0">
                <a:solidFill>
                  <a:srgbClr val="FF0000"/>
                </a:solidFill>
              </a:rPr>
              <a:t>Sin embargo, el valor que le asigna Spring a los parámetros opcionales es “</a:t>
            </a:r>
            <a:r>
              <a:rPr lang="es-ES" sz="1600" b="1" dirty="0" err="1">
                <a:solidFill>
                  <a:srgbClr val="FF0000"/>
                </a:solidFill>
              </a:rPr>
              <a:t>null</a:t>
            </a:r>
            <a:r>
              <a:rPr lang="es-ES" sz="1600" b="1" dirty="0">
                <a:solidFill>
                  <a:srgbClr val="FF0000"/>
                </a:solidFill>
              </a:rPr>
              <a:t>”, por lo tanto, si desea declarar un </a:t>
            </a:r>
            <a:r>
              <a:rPr lang="es-ES" sz="1600" b="1" dirty="0" err="1">
                <a:solidFill>
                  <a:srgbClr val="FF0000"/>
                </a:solidFill>
              </a:rPr>
              <a:t>int</a:t>
            </a:r>
            <a:r>
              <a:rPr lang="es-ES" sz="1600" b="1" dirty="0">
                <a:solidFill>
                  <a:srgbClr val="FF0000"/>
                </a:solidFill>
              </a:rPr>
              <a:t> como opcional, debe usar su respectiva clase </a:t>
            </a:r>
            <a:r>
              <a:rPr lang="es-ES" sz="1600" b="1" dirty="0" err="1">
                <a:solidFill>
                  <a:srgbClr val="FF0000"/>
                </a:solidFill>
              </a:rPr>
              <a:t>Integer</a:t>
            </a:r>
            <a:r>
              <a:rPr lang="es-ES" sz="1600" b="1" dirty="0">
                <a:solidFill>
                  <a:srgbClr val="FF0000"/>
                </a:solidFill>
              </a:rPr>
              <a:t> (por ejemplo).</a:t>
            </a:r>
            <a:endParaRPr lang="es-ES" sz="1200" b="1" dirty="0">
              <a:solidFill>
                <a:srgbClr val="FF0000"/>
              </a:solidFill>
            </a:endParaRPr>
          </a:p>
          <a:p>
            <a:endParaRPr lang="es-PE" dirty="0"/>
          </a:p>
        </p:txBody>
      </p:sp>
      <p:pic>
        <p:nvPicPr>
          <p:cNvPr id="8" name="Google Shape;438;p45">
            <a:extLst>
              <a:ext uri="{FF2B5EF4-FFF2-40B4-BE49-F238E27FC236}">
                <a16:creationId xmlns:a16="http://schemas.microsoft.com/office/drawing/2014/main" id="{FBBD0333-7A98-E87C-75FE-818EFA7AD77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85355" y="1257300"/>
            <a:ext cx="702945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439;p45">
            <a:extLst>
              <a:ext uri="{FF2B5EF4-FFF2-40B4-BE49-F238E27FC236}">
                <a16:creationId xmlns:a16="http://schemas.microsoft.com/office/drawing/2014/main" id="{6DF3C18D-41CE-9FEB-98D3-D4A6ADE0D63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9711" y="3692044"/>
            <a:ext cx="2704891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440;p45">
            <a:extLst>
              <a:ext uri="{FF2B5EF4-FFF2-40B4-BE49-F238E27FC236}">
                <a16:creationId xmlns:a16="http://schemas.microsoft.com/office/drawing/2014/main" id="{96ECA3CB-9683-95F9-823B-D1A043F914D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2761" y="3777762"/>
            <a:ext cx="25717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441;p45">
            <a:extLst>
              <a:ext uri="{FF2B5EF4-FFF2-40B4-BE49-F238E27FC236}">
                <a16:creationId xmlns:a16="http://schemas.microsoft.com/office/drawing/2014/main" id="{1D3F265F-0D2E-E565-00AE-274E6796274A}"/>
              </a:ext>
            </a:extLst>
          </p:cNvPr>
          <p:cNvSpPr/>
          <p:nvPr/>
        </p:nvSpPr>
        <p:spPr>
          <a:xfrm rot="21598408">
            <a:off x="4829263" y="3755634"/>
            <a:ext cx="1295700" cy="225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442;p45">
            <a:extLst>
              <a:ext uri="{FF2B5EF4-FFF2-40B4-BE49-F238E27FC236}">
                <a16:creationId xmlns:a16="http://schemas.microsoft.com/office/drawing/2014/main" id="{73A98F7F-8994-43BA-2DC0-72F09EE2316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774" y="4338494"/>
            <a:ext cx="2762768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443;p45">
            <a:extLst>
              <a:ext uri="{FF2B5EF4-FFF2-40B4-BE49-F238E27FC236}">
                <a16:creationId xmlns:a16="http://schemas.microsoft.com/office/drawing/2014/main" id="{CF67FB91-9FFF-B8DE-7203-8375F716D5FD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72771" y="4424412"/>
            <a:ext cx="34099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444;p45">
            <a:extLst>
              <a:ext uri="{FF2B5EF4-FFF2-40B4-BE49-F238E27FC236}">
                <a16:creationId xmlns:a16="http://schemas.microsoft.com/office/drawing/2014/main" id="{76A29F53-5927-EDE5-C612-961097ED73A1}"/>
              </a:ext>
            </a:extLst>
          </p:cNvPr>
          <p:cNvSpPr/>
          <p:nvPr/>
        </p:nvSpPr>
        <p:spPr>
          <a:xfrm rot="21598120">
            <a:off x="5576336" y="4430626"/>
            <a:ext cx="548700" cy="225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" name="Google Shape;445;p45">
            <a:extLst>
              <a:ext uri="{FF2B5EF4-FFF2-40B4-BE49-F238E27FC236}">
                <a16:creationId xmlns:a16="http://schemas.microsoft.com/office/drawing/2014/main" id="{04F84F27-3B6E-E924-68F5-E50972FE1DFE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67999" y="4957095"/>
            <a:ext cx="25812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446;p45">
            <a:extLst>
              <a:ext uri="{FF2B5EF4-FFF2-40B4-BE49-F238E27FC236}">
                <a16:creationId xmlns:a16="http://schemas.microsoft.com/office/drawing/2014/main" id="{3C6FD161-7B63-8FFA-EA6C-354BF41E8C76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01286" y="5489112"/>
            <a:ext cx="9144000" cy="39881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447;p45">
            <a:extLst>
              <a:ext uri="{FF2B5EF4-FFF2-40B4-BE49-F238E27FC236}">
                <a16:creationId xmlns:a16="http://schemas.microsoft.com/office/drawing/2014/main" id="{5F528705-5456-13EA-0B28-8D549EA94DC7}"/>
              </a:ext>
            </a:extLst>
          </p:cNvPr>
          <p:cNvSpPr/>
          <p:nvPr/>
        </p:nvSpPr>
        <p:spPr>
          <a:xfrm rot="2138158">
            <a:off x="4683675" y="5214237"/>
            <a:ext cx="548887" cy="22528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44745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66B89-5FC2-7AC4-F261-A1AFEBD7F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715762" cy="652409"/>
          </a:xfrm>
        </p:spPr>
        <p:txBody>
          <a:bodyPr/>
          <a:lstStyle/>
          <a:p>
            <a:r>
              <a:rPr lang="es-PE" dirty="0"/>
              <a:t>@PathVariable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2F3C011-7CCF-73A8-97B8-DDB03F02B6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33</a:t>
            </a:fld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FC17A3-93A8-BDEE-DD3E-5AF971459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Las variables pueden ser recibidas como parte del URL y </a:t>
            </a:r>
            <a:r>
              <a:rPr lang="es-ES" b="1" dirty="0"/>
              <a:t>ninguna </a:t>
            </a:r>
            <a:r>
              <a:rPr lang="es-ES" dirty="0"/>
              <a:t>puede ser opcional.</a:t>
            </a:r>
            <a:endParaRPr lang="es-ES" b="1" u="sng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En el ejemplo se reciben dos parámetros en la ruta, el ID y el autor. </a:t>
            </a:r>
            <a:r>
              <a:rPr lang="es-ES" b="1" dirty="0"/>
              <a:t>Ninguno puede ser opcional</a:t>
            </a:r>
            <a:r>
              <a:rPr lang="es-ES" dirty="0"/>
              <a:t>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Spring realizará automáticamente la conversión, del valor ingresado al tipo de dato definido.</a:t>
            </a:r>
            <a:endParaRPr lang="es-PE" dirty="0"/>
          </a:p>
        </p:txBody>
      </p:sp>
      <p:pic>
        <p:nvPicPr>
          <p:cNvPr id="8" name="Google Shape;455;p46">
            <a:extLst>
              <a:ext uri="{FF2B5EF4-FFF2-40B4-BE49-F238E27FC236}">
                <a16:creationId xmlns:a16="http://schemas.microsoft.com/office/drawing/2014/main" id="{4C57775E-7CD2-FE87-5B1C-E174019AAAD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29277" y="2167157"/>
            <a:ext cx="7437551" cy="148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56;p46">
            <a:extLst>
              <a:ext uri="{FF2B5EF4-FFF2-40B4-BE49-F238E27FC236}">
                <a16:creationId xmlns:a16="http://schemas.microsoft.com/office/drawing/2014/main" id="{F15E31DE-05CA-9362-CE8C-47827F5A54A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4507"/>
          <a:stretch/>
        </p:blipFill>
        <p:spPr>
          <a:xfrm>
            <a:off x="2957879" y="5162591"/>
            <a:ext cx="280695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57;p46">
            <a:extLst>
              <a:ext uri="{FF2B5EF4-FFF2-40B4-BE49-F238E27FC236}">
                <a16:creationId xmlns:a16="http://schemas.microsoft.com/office/drawing/2014/main" id="{C127B096-8FCD-CBCB-75A0-A02B62270A5F}"/>
              </a:ext>
            </a:extLst>
          </p:cNvPr>
          <p:cNvSpPr/>
          <p:nvPr/>
        </p:nvSpPr>
        <p:spPr>
          <a:xfrm rot="21598120">
            <a:off x="5901403" y="5226143"/>
            <a:ext cx="548700" cy="225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Google Shape;458;p46">
            <a:extLst>
              <a:ext uri="{FF2B5EF4-FFF2-40B4-BE49-F238E27FC236}">
                <a16:creationId xmlns:a16="http://schemas.microsoft.com/office/drawing/2014/main" id="{0531DE48-3E8D-2463-0746-6107AB67769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9053" y="4976841"/>
            <a:ext cx="1733550" cy="723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20421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0300B7-5D38-1498-CF21-6943FDF7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715762" cy="549667"/>
          </a:xfrm>
        </p:spPr>
        <p:txBody>
          <a:bodyPr/>
          <a:lstStyle/>
          <a:p>
            <a:r>
              <a:rPr lang="es-ES" dirty="0"/>
              <a:t>Recepción de parámetros por POST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AF41C0B-DC63-5FD9-04EC-A2085AFD31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34</a:t>
            </a:fld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A2AE40-3479-7AF8-A723-E24186431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79724"/>
            <a:ext cx="10515600" cy="3604262"/>
          </a:xfrm>
        </p:spPr>
        <p:txBody>
          <a:bodyPr>
            <a:normAutofit/>
          </a:bodyPr>
          <a:lstStyle/>
          <a:p>
            <a:r>
              <a:rPr lang="es-ES" sz="2000" dirty="0"/>
              <a:t>Para recibir los parámetros enviados por POST, se hace uso de la notación </a:t>
            </a:r>
            <a:r>
              <a:rPr lang="es-ES" sz="2000" b="1" dirty="0"/>
              <a:t>@RequestParam</a:t>
            </a:r>
            <a:r>
              <a:rPr lang="es-ES" sz="2000" dirty="0"/>
              <a:t> (la misma usada para GET)</a:t>
            </a:r>
          </a:p>
          <a:p>
            <a:endParaRPr lang="es-PE" sz="20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5ECEE66-13A1-78E1-C977-02C9392B2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912" y="1971840"/>
            <a:ext cx="7109718" cy="353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465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3C65B1-3693-3BA6-1816-33ED9232C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</p:spPr>
        <p:txBody>
          <a:bodyPr/>
          <a:lstStyle/>
          <a:p>
            <a:fld id="{52A29C8B-5F70-8945-A2A6-FBD7A17156DB}" type="slidenum">
              <a:rPr lang="es-PE" smtClean="0"/>
              <a:pPr/>
              <a:t>35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93BCED3-3ED3-099C-2190-37CD72E8A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/>
              <a:t>Envío de información del controlador a la vista Objeto </a:t>
            </a:r>
            <a:r>
              <a:rPr lang="es-ES" sz="4000" dirty="0" err="1"/>
              <a:t>Model</a:t>
            </a:r>
            <a:endParaRPr lang="es-PE" sz="4000" dirty="0"/>
          </a:p>
        </p:txBody>
      </p:sp>
    </p:spTree>
    <p:extLst>
      <p:ext uri="{BB962C8B-B14F-4D97-AF65-F5344CB8AC3E}">
        <p14:creationId xmlns:p14="http://schemas.microsoft.com/office/powerpoint/2010/main" val="18346014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11469-BF60-C14F-7313-4A6559688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715762" cy="539393"/>
          </a:xfrm>
        </p:spPr>
        <p:txBody>
          <a:bodyPr/>
          <a:lstStyle/>
          <a:p>
            <a:r>
              <a:rPr lang="es-ES" dirty="0"/>
              <a:t>Objeto </a:t>
            </a:r>
            <a:r>
              <a:rPr lang="es-ES" dirty="0" err="1"/>
              <a:t>Model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7C1BD9F-6EC6-504B-03D7-1DD19016F4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36</a:t>
            </a:fld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ADD7B0F-8A22-956A-5D18-1BE81E2D3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Hasta ahora, hemos recibido información (ya sea por GET o POST) enviada desde la vista (</a:t>
            </a:r>
            <a:r>
              <a:rPr lang="es-ES" dirty="0" err="1"/>
              <a:t>html</a:t>
            </a:r>
            <a:r>
              <a:rPr lang="es-ES" dirty="0"/>
              <a:t>) a los controladores. 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Para enviar información desde los controladores a las vistas, en Spring se hace uso del </a:t>
            </a:r>
            <a:r>
              <a:rPr lang="es-ES" b="1" dirty="0"/>
              <a:t>Objeto </a:t>
            </a:r>
            <a:r>
              <a:rPr lang="es-ES" b="1" dirty="0" err="1"/>
              <a:t>Model</a:t>
            </a:r>
            <a:r>
              <a:rPr lang="es-ES" dirty="0"/>
              <a:t>, el cual permite enviar objetos y variables primitivas.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754372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6C2AF-62E5-D5E6-2406-01598D154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715762" cy="662683"/>
          </a:xfrm>
        </p:spPr>
        <p:txBody>
          <a:bodyPr/>
          <a:lstStyle/>
          <a:p>
            <a:r>
              <a:rPr lang="es-ES" dirty="0"/>
              <a:t>Objeto </a:t>
            </a:r>
            <a:r>
              <a:rPr lang="es-ES" dirty="0" err="1"/>
              <a:t>Model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109ED34-A88B-F790-9B1D-A571AB2094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37</a:t>
            </a:fld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4AACE5-7340-C93A-2DE4-8CB5D1E1A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0288" y="1191802"/>
            <a:ext cx="10595100" cy="4146989"/>
          </a:xfrm>
        </p:spPr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Primero se debe colocar  el objeto </a:t>
            </a:r>
            <a:r>
              <a:rPr lang="es-ES" sz="1800" dirty="0" err="1"/>
              <a:t>Model</a:t>
            </a:r>
            <a:r>
              <a:rPr lang="es-ES" sz="1800" dirty="0"/>
              <a:t> como atributo en el método de la ruta.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Y se debe importar de </a:t>
            </a:r>
            <a:r>
              <a:rPr lang="es-ES" sz="1800" dirty="0" err="1"/>
              <a:t>springframework</a:t>
            </a:r>
            <a:endParaRPr lang="es-ES" sz="1800" dirty="0"/>
          </a:p>
          <a:p>
            <a:pPr marL="0" lvl="0" indent="0">
              <a:spcBef>
                <a:spcPts val="0"/>
              </a:spcBef>
              <a:buNone/>
            </a:pPr>
            <a:endParaRPr lang="es-ES" sz="1800" dirty="0"/>
          </a:p>
          <a:p>
            <a:pPr marL="0" lvl="0" indent="0">
              <a:spcBef>
                <a:spcPts val="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Luego, para enviar un valor a la vista, se utiliza el método </a:t>
            </a:r>
            <a:r>
              <a:rPr lang="es-ES" sz="1800" b="1" dirty="0" err="1"/>
              <a:t>addAttribute</a:t>
            </a:r>
            <a:r>
              <a:rPr lang="es-ES" sz="1800" dirty="0"/>
              <a:t>, el cual recibe dos parámetros: el primero es el nombre con que se enviará la información y el segundo el valor en sí.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Por ejemplo, se enviará el dato “este es un mensaje” en la variable “</a:t>
            </a:r>
            <a:r>
              <a:rPr lang="es-ES" sz="1800" dirty="0" err="1"/>
              <a:t>msg</a:t>
            </a:r>
            <a:r>
              <a:rPr lang="es-ES" sz="1800" dirty="0"/>
              <a:t>”.</a:t>
            </a:r>
            <a:endParaRPr lang="es-ES" sz="1800" b="1" dirty="0">
              <a:solidFill>
                <a:srgbClr val="FF0000"/>
              </a:solidFill>
            </a:endParaRPr>
          </a:p>
        </p:txBody>
      </p:sp>
      <p:pic>
        <p:nvPicPr>
          <p:cNvPr id="9" name="Google Shape;493;p50">
            <a:extLst>
              <a:ext uri="{FF2B5EF4-FFF2-40B4-BE49-F238E27FC236}">
                <a16:creationId xmlns:a16="http://schemas.microsoft.com/office/drawing/2014/main" id="{84169723-8F56-6311-D80D-FEEB1632BC6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54094"/>
          <a:stretch/>
        </p:blipFill>
        <p:spPr>
          <a:xfrm>
            <a:off x="2524493" y="1687040"/>
            <a:ext cx="5562600" cy="52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492;p50">
            <a:extLst>
              <a:ext uri="{FF2B5EF4-FFF2-40B4-BE49-F238E27FC236}">
                <a16:creationId xmlns:a16="http://schemas.microsoft.com/office/drawing/2014/main" id="{FBB75116-58E0-5711-7DA4-57374277A11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4493" y="3027221"/>
            <a:ext cx="3993175" cy="23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494;p50">
            <a:extLst>
              <a:ext uri="{FF2B5EF4-FFF2-40B4-BE49-F238E27FC236}">
                <a16:creationId xmlns:a16="http://schemas.microsoft.com/office/drawing/2014/main" id="{F1C29A0F-BBA8-876E-B8E1-38FB99EB6C8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7095" y="4561298"/>
            <a:ext cx="5495925" cy="1104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64098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C6068-06CD-77A6-907C-4D02236DA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715762" cy="621587"/>
          </a:xfrm>
        </p:spPr>
        <p:txBody>
          <a:bodyPr/>
          <a:lstStyle/>
          <a:p>
            <a:r>
              <a:rPr lang="es-ES" dirty="0"/>
              <a:t>En la vista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B990B93-3133-BA57-7D76-CFE149A3C5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38</a:t>
            </a:fld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647510A-691A-BBEB-9CF0-2EE7A8074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400" dirty="0"/>
              <a:t>Para mostrar la variable enviada desde el controlador en la vista en </a:t>
            </a:r>
            <a:r>
              <a:rPr lang="es-ES" sz="2400" dirty="0" err="1"/>
              <a:t>Thymeleaf</a:t>
            </a:r>
            <a:r>
              <a:rPr lang="es-ES" sz="2400" dirty="0"/>
              <a:t>, se hace uso de EL (</a:t>
            </a:r>
            <a:r>
              <a:rPr lang="es-ES" sz="2400" dirty="0" err="1"/>
              <a:t>expression</a:t>
            </a:r>
            <a:r>
              <a:rPr lang="es-ES" sz="2400" dirty="0"/>
              <a:t> </a:t>
            </a:r>
            <a:r>
              <a:rPr lang="es-ES" sz="2400" dirty="0" err="1"/>
              <a:t>language</a:t>
            </a:r>
            <a:r>
              <a:rPr lang="es-ES" sz="2400" dirty="0"/>
              <a:t>).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400" dirty="0" err="1"/>
              <a:t>Expression</a:t>
            </a:r>
            <a:r>
              <a:rPr lang="es-ES" sz="2400" dirty="0"/>
              <a:t> </a:t>
            </a:r>
            <a:r>
              <a:rPr lang="es-ES" sz="2400" dirty="0" err="1"/>
              <a:t>Language</a:t>
            </a:r>
            <a:r>
              <a:rPr lang="es-ES" sz="2400" dirty="0"/>
              <a:t> es un lenguaje utilizado para interactuar con los datos enviados desde el controlador, mediante el objeto </a:t>
            </a:r>
            <a:r>
              <a:rPr lang="es-ES" sz="2400" b="1" dirty="0"/>
              <a:t>MODEL</a:t>
            </a:r>
            <a:r>
              <a:rPr lang="es-ES" sz="2400" dirty="0"/>
              <a:t>, sin importar el alcance de los atributos (</a:t>
            </a:r>
            <a:r>
              <a:rPr lang="es-ES" sz="2400" dirty="0" err="1"/>
              <a:t>request</a:t>
            </a:r>
            <a:r>
              <a:rPr lang="es-ES" sz="2400" dirty="0"/>
              <a:t>, </a:t>
            </a:r>
            <a:r>
              <a:rPr lang="es-ES" sz="2400" dirty="0" err="1"/>
              <a:t>session</a:t>
            </a:r>
            <a:r>
              <a:rPr lang="es-ES" sz="2400" dirty="0"/>
              <a:t>, </a:t>
            </a:r>
            <a:r>
              <a:rPr lang="es-ES" sz="2400" dirty="0" err="1"/>
              <a:t>application</a:t>
            </a:r>
            <a:r>
              <a:rPr lang="es-ES" sz="2400" dirty="0"/>
              <a:t>). 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400" b="1" dirty="0"/>
              <a:t>EL </a:t>
            </a:r>
            <a:r>
              <a:rPr lang="es-ES" sz="2400" dirty="0"/>
              <a:t>utiliza la expresión </a:t>
            </a:r>
            <a:r>
              <a:rPr lang="es-ES" sz="2400" b="1" dirty="0"/>
              <a:t>${   }</a:t>
            </a:r>
            <a:r>
              <a:rPr lang="es-ES" sz="2400" dirty="0"/>
              <a:t> para mostrar su información.</a:t>
            </a:r>
          </a:p>
          <a:p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2667315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24BF6-6857-EBCC-6C4F-673F5F92F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1"/>
            <a:ext cx="9715762" cy="580490"/>
          </a:xfrm>
        </p:spPr>
        <p:txBody>
          <a:bodyPr/>
          <a:lstStyle/>
          <a:p>
            <a:r>
              <a:rPr lang="es-ES" dirty="0"/>
              <a:t>En la vista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DB1C13D-571E-1920-DDE2-2A5B7D38FF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39</a:t>
            </a:fld>
            <a:endParaRPr lang="es-PE"/>
          </a:p>
        </p:txBody>
      </p:sp>
      <p:pic>
        <p:nvPicPr>
          <p:cNvPr id="5" name="Google Shape;509;p52">
            <a:extLst>
              <a:ext uri="{FF2B5EF4-FFF2-40B4-BE49-F238E27FC236}">
                <a16:creationId xmlns:a16="http://schemas.microsoft.com/office/drawing/2014/main" id="{33459447-1AFF-F8B9-7441-374F9BF62FB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06208" y="831924"/>
            <a:ext cx="5495925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510;p52">
            <a:extLst>
              <a:ext uri="{FF2B5EF4-FFF2-40B4-BE49-F238E27FC236}">
                <a16:creationId xmlns:a16="http://schemas.microsoft.com/office/drawing/2014/main" id="{801839D8-B64B-CBC6-B184-76A496B61DE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1116" y="4298422"/>
            <a:ext cx="6048375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511;p52">
            <a:extLst>
              <a:ext uri="{FF2B5EF4-FFF2-40B4-BE49-F238E27FC236}">
                <a16:creationId xmlns:a16="http://schemas.microsoft.com/office/drawing/2014/main" id="{A48B27E5-1877-7F6D-5F86-BECE462E0FC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4843" y="1751348"/>
            <a:ext cx="7780210" cy="228560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512;p52">
            <a:extLst>
              <a:ext uri="{FF2B5EF4-FFF2-40B4-BE49-F238E27FC236}">
                <a16:creationId xmlns:a16="http://schemas.microsoft.com/office/drawing/2014/main" id="{843B0585-A706-5419-5251-17D24404FB55}"/>
              </a:ext>
            </a:extLst>
          </p:cNvPr>
          <p:cNvSpPr/>
          <p:nvPr/>
        </p:nvSpPr>
        <p:spPr>
          <a:xfrm rot="9022767">
            <a:off x="5237675" y="1498718"/>
            <a:ext cx="548706" cy="22531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513;p52">
            <a:extLst>
              <a:ext uri="{FF2B5EF4-FFF2-40B4-BE49-F238E27FC236}">
                <a16:creationId xmlns:a16="http://schemas.microsoft.com/office/drawing/2014/main" id="{7400AC07-584F-F375-5068-95DF5EE1BA82}"/>
              </a:ext>
            </a:extLst>
          </p:cNvPr>
          <p:cNvSpPr/>
          <p:nvPr/>
        </p:nvSpPr>
        <p:spPr>
          <a:xfrm rot="5397594">
            <a:off x="4626723" y="3787227"/>
            <a:ext cx="428700" cy="33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514;p52">
            <a:extLst>
              <a:ext uri="{FF2B5EF4-FFF2-40B4-BE49-F238E27FC236}">
                <a16:creationId xmlns:a16="http://schemas.microsoft.com/office/drawing/2014/main" id="{87F9715C-75F7-7C1D-181E-D6AC39815EA8}"/>
              </a:ext>
            </a:extLst>
          </p:cNvPr>
          <p:cNvSpPr/>
          <p:nvPr/>
        </p:nvSpPr>
        <p:spPr>
          <a:xfrm>
            <a:off x="3123698" y="2136824"/>
            <a:ext cx="3622500" cy="348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515;p52">
            <a:extLst>
              <a:ext uri="{FF2B5EF4-FFF2-40B4-BE49-F238E27FC236}">
                <a16:creationId xmlns:a16="http://schemas.microsoft.com/office/drawing/2014/main" id="{A0587154-693E-90AD-FDAA-84D46B70BACC}"/>
              </a:ext>
            </a:extLst>
          </p:cNvPr>
          <p:cNvSpPr/>
          <p:nvPr/>
        </p:nvSpPr>
        <p:spPr>
          <a:xfrm>
            <a:off x="7230853" y="2332210"/>
            <a:ext cx="1594200" cy="4287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/>
              <a:t>No olvide incluir el </a:t>
            </a:r>
            <a:r>
              <a:rPr lang="es-419" sz="1200" dirty="0" err="1"/>
              <a:t>namespace</a:t>
            </a:r>
            <a:endParaRPr sz="1200" dirty="0"/>
          </a:p>
        </p:txBody>
      </p:sp>
      <p:cxnSp>
        <p:nvCxnSpPr>
          <p:cNvPr id="21" name="Google Shape;516;p52">
            <a:extLst>
              <a:ext uri="{FF2B5EF4-FFF2-40B4-BE49-F238E27FC236}">
                <a16:creationId xmlns:a16="http://schemas.microsoft.com/office/drawing/2014/main" id="{29AE00A7-18F0-48C7-9CA1-303179328A47}"/>
              </a:ext>
            </a:extLst>
          </p:cNvPr>
          <p:cNvCxnSpPr>
            <a:stCxn id="20" idx="1"/>
            <a:endCxn id="19" idx="3"/>
          </p:cNvCxnSpPr>
          <p:nvPr/>
        </p:nvCxnSpPr>
        <p:spPr>
          <a:xfrm flipH="1" flipV="1">
            <a:off x="6746198" y="2311274"/>
            <a:ext cx="484655" cy="23528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" name="Google Shape;517;p52">
            <a:extLst>
              <a:ext uri="{FF2B5EF4-FFF2-40B4-BE49-F238E27FC236}">
                <a16:creationId xmlns:a16="http://schemas.microsoft.com/office/drawing/2014/main" id="{D7E1C688-612E-AB36-C159-311F2182353E}"/>
              </a:ext>
            </a:extLst>
          </p:cNvPr>
          <p:cNvSpPr txBox="1"/>
          <p:nvPr/>
        </p:nvSpPr>
        <p:spPr>
          <a:xfrm>
            <a:off x="5608783" y="3659194"/>
            <a:ext cx="3000000" cy="57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 dirty="0">
                <a:solidFill>
                  <a:srgbClr val="A5C261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http://www.thymeleaf.org</a:t>
            </a:r>
            <a:endParaRPr sz="1350" dirty="0">
              <a:solidFill>
                <a:srgbClr val="A5C261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5034285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5163E-557C-E618-B3B7-2BBC0150F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715762" cy="621587"/>
          </a:xfrm>
        </p:spPr>
        <p:txBody>
          <a:bodyPr/>
          <a:lstStyle/>
          <a:p>
            <a:r>
              <a:rPr lang="es-ES" dirty="0"/>
              <a:t>Objeto </a:t>
            </a:r>
            <a:r>
              <a:rPr lang="es-ES" dirty="0" err="1"/>
              <a:t>Model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827371F-1E6F-C7A9-B2F2-5E40512ACD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40</a:t>
            </a:fld>
            <a:endParaRPr lang="es-PE"/>
          </a:p>
        </p:txBody>
      </p:sp>
      <p:sp>
        <p:nvSpPr>
          <p:cNvPr id="5" name="Marcador de contenido 5">
            <a:extLst>
              <a:ext uri="{FF2B5EF4-FFF2-40B4-BE49-F238E27FC236}">
                <a16:creationId xmlns:a16="http://schemas.microsoft.com/office/drawing/2014/main" id="{FD24F9A2-5620-B506-D633-CB0C8877F99E}"/>
              </a:ext>
            </a:extLst>
          </p:cNvPr>
          <p:cNvSpPr txBox="1">
            <a:spLocks/>
          </p:cNvSpPr>
          <p:nvPr/>
        </p:nvSpPr>
        <p:spPr>
          <a:xfrm>
            <a:off x="725185" y="1594406"/>
            <a:ext cx="2644738" cy="100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Font typeface="Arial"/>
              <a:buNone/>
            </a:pPr>
            <a:r>
              <a:rPr lang="es-ES" sz="1800" kern="0" dirty="0"/>
              <a:t>También se pueden enviar varios parámetros:</a:t>
            </a:r>
          </a:p>
          <a:p>
            <a:endParaRPr lang="es-PE" sz="1800" kern="0" dirty="0"/>
          </a:p>
        </p:txBody>
      </p:sp>
      <p:pic>
        <p:nvPicPr>
          <p:cNvPr id="8" name="Google Shape;525;p53">
            <a:extLst>
              <a:ext uri="{FF2B5EF4-FFF2-40B4-BE49-F238E27FC236}">
                <a16:creationId xmlns:a16="http://schemas.microsoft.com/office/drawing/2014/main" id="{E468C26C-253C-3D9E-1AB2-119D6406A0D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65868" y="1078787"/>
            <a:ext cx="5657850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526;p53">
            <a:extLst>
              <a:ext uri="{FF2B5EF4-FFF2-40B4-BE49-F238E27FC236}">
                <a16:creationId xmlns:a16="http://schemas.microsoft.com/office/drawing/2014/main" id="{97F4414D-8D31-7DB5-8736-220D920EC59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92" y="2643226"/>
            <a:ext cx="810577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527;p53">
            <a:extLst>
              <a:ext uri="{FF2B5EF4-FFF2-40B4-BE49-F238E27FC236}">
                <a16:creationId xmlns:a16="http://schemas.microsoft.com/office/drawing/2014/main" id="{5846E75D-1A90-429D-5E4D-B5CDBFD7268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3617" y="3637666"/>
            <a:ext cx="6200775" cy="2105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43832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F4036B-F8C4-42FD-DF1A-10A216FA8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1"/>
            <a:ext cx="9715762" cy="570216"/>
          </a:xfrm>
        </p:spPr>
        <p:txBody>
          <a:bodyPr/>
          <a:lstStyle/>
          <a:p>
            <a:r>
              <a:rPr lang="es-ES" dirty="0"/>
              <a:t>Objeto </a:t>
            </a:r>
            <a:r>
              <a:rPr lang="es-ES" dirty="0" err="1"/>
              <a:t>Model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B054AFC-4737-1C7F-93F0-93FAD4F178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41</a:t>
            </a:fld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56603E6-9CFE-375A-9ED8-A2D424D1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056436"/>
            <a:ext cx="10515600" cy="3604262"/>
          </a:xfrm>
        </p:spPr>
        <p:txBody>
          <a:bodyPr/>
          <a:lstStyle/>
          <a:p>
            <a:r>
              <a:rPr lang="es-ES" sz="2000" dirty="0"/>
              <a:t>Y como se comentó previamente, incluso objetos:</a:t>
            </a:r>
          </a:p>
          <a:p>
            <a:endParaRPr lang="es-PE" dirty="0"/>
          </a:p>
        </p:txBody>
      </p:sp>
      <p:pic>
        <p:nvPicPr>
          <p:cNvPr id="8" name="Google Shape;535;p54">
            <a:extLst>
              <a:ext uri="{FF2B5EF4-FFF2-40B4-BE49-F238E27FC236}">
                <a16:creationId xmlns:a16="http://schemas.microsoft.com/office/drawing/2014/main" id="{FCE06F6E-F67E-C390-6972-A04BA264568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4433" y="1633591"/>
            <a:ext cx="7397120" cy="4345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536;p54">
            <a:extLst>
              <a:ext uri="{FF2B5EF4-FFF2-40B4-BE49-F238E27FC236}">
                <a16:creationId xmlns:a16="http://schemas.microsoft.com/office/drawing/2014/main" id="{80A2CD84-1841-4F52-D6DE-520C81C4D67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7946" y="1944318"/>
            <a:ext cx="2857500" cy="1247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70909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48ED11-AA5F-6728-3B4C-5B36380F8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1"/>
            <a:ext cx="9715762" cy="714054"/>
          </a:xfrm>
        </p:spPr>
        <p:txBody>
          <a:bodyPr/>
          <a:lstStyle/>
          <a:p>
            <a:r>
              <a:rPr lang="es-PE" dirty="0"/>
              <a:t>Bibliografía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EB7C31D-AEC3-2634-094A-5C4FF2792A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42</a:t>
            </a:fld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C85125-54D2-589A-0266-7D9AD6EDF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lvl="0">
              <a:spcBef>
                <a:spcPts val="0"/>
              </a:spcBef>
              <a:buChar char="●"/>
            </a:pPr>
            <a:r>
              <a:rPr lang="en-US" sz="1800" dirty="0"/>
              <a:t>Spring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n-US" sz="1800" u="sng" dirty="0">
                <a:solidFill>
                  <a:schemeClr val="hlink"/>
                </a:solidFill>
                <a:hlinkClick r:id="rId2"/>
              </a:rPr>
              <a:t>https://spring.io/</a:t>
            </a:r>
            <a:endParaRPr lang="en-US" sz="1800" dirty="0"/>
          </a:p>
          <a:p>
            <a:pPr lvl="0">
              <a:buChar char="●"/>
            </a:pPr>
            <a:r>
              <a:rPr lang="en-US" sz="1800" dirty="0"/>
              <a:t>Spring Controllers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n-US" sz="1800" u="sng" dirty="0">
                <a:solidFill>
                  <a:schemeClr val="hlink"/>
                </a:solidFill>
                <a:hlinkClick r:id="rId3"/>
              </a:rPr>
              <a:t>https://docs.spring.io/spring/docs/current/spring-framework-reference/web.html#mvc-controller</a:t>
            </a:r>
            <a:endParaRPr lang="en-US" sz="1800" dirty="0"/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n-US" sz="1800" u="sng" dirty="0">
                <a:solidFill>
                  <a:schemeClr val="hlink"/>
                </a:solidFill>
                <a:hlinkClick r:id="rId4"/>
              </a:rPr>
              <a:t>https://docs.spring.io/spring/docs/3.2.x/spring-framework-reference/html/mvc.html#mvc-controller</a:t>
            </a:r>
            <a:endParaRPr lang="en-US" sz="1800" dirty="0"/>
          </a:p>
          <a:p>
            <a:pPr lvl="0">
              <a:buChar char="●"/>
            </a:pPr>
            <a:r>
              <a:rPr lang="en-US" sz="1800" dirty="0"/>
              <a:t>Spring Boot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n-US" sz="1800" u="sng" dirty="0">
                <a:solidFill>
                  <a:schemeClr val="hlink"/>
                </a:solidFill>
                <a:hlinkClick r:id="rId5"/>
              </a:rPr>
              <a:t>https://docs.spring.io/spring-boot/docs/2.3.0.BUILD-SNAPSHOT/reference/html/getting-started.html#getting-started</a:t>
            </a:r>
            <a:endParaRPr lang="en-US" sz="1800" dirty="0"/>
          </a:p>
          <a:p>
            <a:pPr lvl="0">
              <a:buChar char="●"/>
            </a:pPr>
            <a:r>
              <a:rPr lang="en-US" sz="1800" dirty="0"/>
              <a:t>Libro: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n-US" sz="1800" dirty="0"/>
              <a:t>Siva, P. R. K. (2018). Beginning Spring Boot 2: applications and microservices with the Spring framework. New York: </a:t>
            </a:r>
            <a:r>
              <a:rPr lang="en-US" sz="1800" dirty="0" err="1"/>
              <a:t>Apress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29493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965</TotalTime>
  <Words>1752</Words>
  <Application>Microsoft Office PowerPoint</Application>
  <PresentationFormat>Panorámica</PresentationFormat>
  <Paragraphs>225</Paragraphs>
  <Slides>42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42</vt:i4>
      </vt:variant>
    </vt:vector>
  </HeadingPairs>
  <TitlesOfParts>
    <vt:vector size="51" baseType="lpstr">
      <vt:lpstr>Arial</vt:lpstr>
      <vt:lpstr>Courier New</vt:lpstr>
      <vt:lpstr>Montserrat</vt:lpstr>
      <vt:lpstr>Montserrat Medium</vt:lpstr>
      <vt:lpstr>Open Sans</vt:lpstr>
      <vt:lpstr>Tema de Office</vt:lpstr>
      <vt:lpstr>1_Tema de Office</vt:lpstr>
      <vt:lpstr>Diseño personalizado</vt:lpstr>
      <vt:lpstr>Telecom Pucp</vt:lpstr>
      <vt:lpstr>Presentación de PowerPoint</vt:lpstr>
      <vt:lpstr>Spring Framework 5 &amp;  Sprint Boot 2</vt:lpstr>
      <vt:lpstr>Definición</vt:lpstr>
      <vt:lpstr>Modelo de spring</vt:lpstr>
      <vt:lpstr>Spring MVC</vt:lpstr>
      <vt:lpstr>Arquitectura Spring MVC</vt:lpstr>
      <vt:lpstr>Spring</vt:lpstr>
      <vt:lpstr>Creación de un proyecto con Spring Boot</vt:lpstr>
      <vt:lpstr>Creación de un proyecto Spring Boot usando IntelliJ</vt:lpstr>
      <vt:lpstr>Creación de un proyecto Spring Boot usando IntelliJ</vt:lpstr>
      <vt:lpstr>Maven</vt:lpstr>
      <vt:lpstr>Estructura de archivos de proyecto</vt:lpstr>
      <vt:lpstr>Archivo pom.xml</vt:lpstr>
      <vt:lpstr>Dependencias: spring-boot-starter-web</vt:lpstr>
      <vt:lpstr>Controladores y Vistas</vt:lpstr>
      <vt:lpstr>Controladores</vt:lpstr>
      <vt:lpstr>Rutas</vt:lpstr>
      <vt:lpstr>@RequestMapping</vt:lpstr>
      <vt:lpstr>Vistas</vt:lpstr>
      <vt:lpstr>Observación</vt:lpstr>
      <vt:lpstr>Vistas</vt:lpstr>
      <vt:lpstr>Múltiples rutas a un mismo método</vt:lpstr>
      <vt:lpstr>Spring Boot DevTools</vt:lpstr>
      <vt:lpstr>Spring Boot Devtools – IntelliJ (ajustes)</vt:lpstr>
      <vt:lpstr>Spring Boot Devtools – IntelliJ (ajustes)</vt:lpstr>
      <vt:lpstr>Otros Controladores</vt:lpstr>
      <vt:lpstr>Ruteo a nivel de clase</vt:lpstr>
      <vt:lpstr>Request Mapping corto</vt:lpstr>
      <vt:lpstr>Application.properties</vt:lpstr>
      <vt:lpstr>Recepción de parámetros por GET y POST</vt:lpstr>
      <vt:lpstr>Recepción de parámetros por la URL</vt:lpstr>
      <vt:lpstr>@RequestParam</vt:lpstr>
      <vt:lpstr>@PathVariable</vt:lpstr>
      <vt:lpstr>Recepción de parámetros por POST</vt:lpstr>
      <vt:lpstr>Envío de información del controlador a la vista Objeto Model</vt:lpstr>
      <vt:lpstr>Objeto Model</vt:lpstr>
      <vt:lpstr>Objeto Model</vt:lpstr>
      <vt:lpstr>En la vista</vt:lpstr>
      <vt:lpstr>En la vista</vt:lpstr>
      <vt:lpstr>Objeto Model</vt:lpstr>
      <vt:lpstr>Objeto Model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28</cp:revision>
  <dcterms:created xsi:type="dcterms:W3CDTF">2023-10-28T21:43:03Z</dcterms:created>
  <dcterms:modified xsi:type="dcterms:W3CDTF">2026-03-25T03:23:33Z</dcterms:modified>
</cp:coreProperties>
</file>