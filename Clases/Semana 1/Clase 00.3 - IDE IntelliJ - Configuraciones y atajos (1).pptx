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  <p:sldMasterId id="2147483671" r:id="rId2"/>
    <p:sldMasterId id="2147483682" r:id="rId3"/>
  </p:sldMasterIdLst>
  <p:notesMasterIdLst>
    <p:notesMasterId r:id="rId14"/>
  </p:notesMasterIdLst>
  <p:sldIdLst>
    <p:sldId id="339" r:id="rId4"/>
    <p:sldId id="257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22" r:id="rId13"/>
  </p:sldIdLst>
  <p:sldSz cx="12192000" cy="6858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Medium" panose="00000600000000000000" pitchFamily="2" charset="0"/>
      <p:regular r:id="rId19"/>
      <p:italic r:id="rId20"/>
    </p:embeddedFont>
    <p:embeddedFont>
      <p:font typeface="Source Code Pro" panose="020B050903040302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e926adb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e926adb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2628900" y="2314574"/>
            <a:ext cx="7181850" cy="222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6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9810750" y="4539355"/>
            <a:ext cx="2131452" cy="65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00"/>
              <a:buFont typeface="Montserrat"/>
              <a:buNone/>
              <a:defRPr sz="4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20"/>
              <a:buFont typeface="Montserrat Medium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Montserrat Medium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ftr" idx="11"/>
          </p:nvPr>
        </p:nvSpPr>
        <p:spPr>
          <a:xfrm>
            <a:off x="2628900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2"/>
          </p:nvPr>
        </p:nvSpPr>
        <p:spPr>
          <a:xfrm>
            <a:off x="374057" y="6089066"/>
            <a:ext cx="4100513" cy="44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Montserrat Medium"/>
              <a:buNone/>
              <a:defRPr>
                <a:solidFill>
                  <a:schemeClr val="lt1"/>
                </a:solidFill>
              </a:defRPr>
            </a:lvl1pPr>
            <a:lvl2pPr marL="914400" lvl="1" indent="-3543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980"/>
              <a:buFont typeface="Montserrat Medium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 Medium"/>
              <a:buChar char="•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Montserrat Medium"/>
              <a:buChar char="•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Montserrat Medium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2121330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393893" y="4999970"/>
            <a:ext cx="3339907" cy="71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4622993" y="1285875"/>
            <a:ext cx="6851456" cy="40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>
                <a:solidFill>
                  <a:schemeClr val="dk1"/>
                </a:solidFill>
              </a:defRPr>
            </a:lvl1pPr>
            <a:lvl2pPr marL="914400" lvl="1" indent="-3543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Google Shape;23;p18"/>
          <p:cNvSpPr txBox="1">
            <a:spLocks noGrp="1"/>
          </p:cNvSpPr>
          <p:nvPr>
            <p:ph type="dt" idx="10"/>
          </p:nvPr>
        </p:nvSpPr>
        <p:spPr>
          <a:xfrm>
            <a:off x="9979024" y="326687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5202426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ítulo y objetos">
  <p:cSld name="2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9979024" y="326687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  <p:grpSp>
        <p:nvGrpSpPr>
          <p:cNvPr id="30" name="Google Shape;30;p19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31" name="Google Shape;31;p19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" name="Google Shape;32;p19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2266949" y="1167430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Char char="•"/>
              <a:defRPr sz="2400"/>
            </a:lvl1pPr>
            <a:lvl2pPr marL="914400" lvl="1" indent="-3543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Font typeface="Montserrat Medium"/>
              <a:buChar char="•"/>
              <a:defRPr sz="2200"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7298776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ítulo y objetos">
  <p:cSld name="3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>
            <a:spLocks noGrp="1"/>
          </p:cNvSpPr>
          <p:nvPr>
            <p:ph type="dt" idx="10"/>
          </p:nvPr>
        </p:nvSpPr>
        <p:spPr>
          <a:xfrm>
            <a:off x="9979024" y="326687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  <p:grpSp>
        <p:nvGrpSpPr>
          <p:cNvPr id="39" name="Google Shape;39;p22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40" name="Google Shape;40;p22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1" name="Google Shape;41;p22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2266949" y="1167430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Char char="•"/>
              <a:defRPr sz="2400"/>
            </a:lvl1pPr>
            <a:lvl2pPr marL="914400" lvl="1" indent="-3543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Font typeface="Montserrat Medium"/>
              <a:buChar char="•"/>
              <a:defRPr sz="2200"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94883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>
  <p:cSld name="1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9979024" y="326687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  <p:sp>
        <p:nvSpPr>
          <p:cNvPr id="48" name="Google Shape;48;p25"/>
          <p:cNvSpPr/>
          <p:nvPr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335064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ítulo y objetos">
  <p:cSld name="4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/>
          <p:nvPr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27"/>
          <p:cNvSpPr txBox="1">
            <a:spLocks noGrp="1"/>
          </p:cNvSpPr>
          <p:nvPr>
            <p:ph type="dt" idx="10"/>
          </p:nvPr>
        </p:nvSpPr>
        <p:spPr>
          <a:xfrm>
            <a:off x="9979024" y="326687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  <p:grpSp>
        <p:nvGrpSpPr>
          <p:cNvPr id="55" name="Google Shape;55;p27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56" name="Google Shape;56;p27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57" name="Google Shape;57;p27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2266949" y="1167430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Montserrat Medium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543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980"/>
              <a:buFont typeface="Montserrat Medium"/>
              <a:buChar char="•"/>
              <a:defRPr sz="22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 Medium"/>
              <a:buChar char="•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Montserrat Medium"/>
              <a:buChar char="•"/>
              <a:defRPr>
                <a:solidFill>
                  <a:schemeClr val="lt1"/>
                </a:solidFill>
              </a:defRPr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Montserrat Medium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0362840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62" name="Google Shape;62;p2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503038" y="2664715"/>
            <a:ext cx="1314090" cy="1314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946295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ctrTitle"/>
          </p:nvPr>
        </p:nvSpPr>
        <p:spPr>
          <a:xfrm>
            <a:off x="3514724" y="663575"/>
            <a:ext cx="7762875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33562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0473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 preserve="1">
  <p:cSld name="Título y objeto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Char char="•"/>
              <a:defRPr sz="2400"/>
            </a:lvl1pPr>
            <a:lvl2pPr marL="914400" lvl="1" indent="-3543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Font typeface="Montserrat Medium"/>
              <a:buChar char="•"/>
              <a:defRPr sz="2200"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665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 preserve="1">
  <p:cSld name="1_Solo el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9180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 preserve="1">
  <p:cSld name="Encabezado de secció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None/>
              <a:defRPr sz="2400">
                <a:solidFill>
                  <a:srgbClr val="888A9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2000">
                <a:solidFill>
                  <a:srgbClr val="888A9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800">
                <a:solidFill>
                  <a:srgbClr val="888A9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20"/>
              <a:buFont typeface="Montserrat Medium"/>
              <a:buNone/>
              <a:defRPr sz="1600">
                <a:solidFill>
                  <a:srgbClr val="888A9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Montserrat Medium"/>
              <a:buNone/>
              <a:defRPr sz="1600">
                <a:solidFill>
                  <a:srgbClr val="888A9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5" name="Google Shape;85;p31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2287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>
  <p:cSld name="Solo el título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2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2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2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6923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 preserve="1">
  <p:cSld name="Dos objeto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3"/>
          <p:cNvSpPr txBox="1"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5" name="Google Shape;95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6" name="Google Shape;96;p33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3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3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526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 preserve="1">
  <p:cSld name="Comparació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1" name="Google Shape;101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20"/>
              <a:buFont typeface="Montserrat Medium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Montserrat Medium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2" name="Google Shape;102;p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3" name="Google Shape;103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20"/>
              <a:buFont typeface="Montserrat Medium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Montserrat Medium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" name="Google Shape;104;p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5" name="Google Shape;105;p34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808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 preserve="1">
  <p:cSld name="Contenido con título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5"/>
          <p:cNvSpPr txBox="1"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0" name="Google Shape;11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Montserrat Medium"/>
              <a:buChar char="•"/>
              <a:defRPr sz="3200"/>
            </a:lvl1pPr>
            <a:lvl2pPr marL="914400" lvl="1" indent="-38861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Font typeface="Montserrat Medium"/>
              <a:buChar char="•"/>
              <a:defRPr sz="2800"/>
            </a:lvl2pPr>
            <a:lvl3pPr marL="1371600" lvl="2" indent="-33528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Font typeface="Montserrat Medium"/>
              <a:buChar char="•"/>
              <a:defRPr sz="2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Montserrat Medium"/>
              <a:buChar char="•"/>
              <a:defRPr sz="2000"/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Montserrat Medium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1" name="Google Shape;111;p35"/>
          <p:cNvSpPr txBox="1">
            <a:spLocks noGrp="1"/>
          </p:cNvSpPr>
          <p:nvPr>
            <p:ph type="body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ontserrat Medium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40"/>
              <a:buFont typeface="Montserrat Medium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500"/>
              <a:buFont typeface="Montserrat Medium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2" name="Google Shape;112;p35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8495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 preserve="1">
  <p:cSld name="Imagen con título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7" name="Google Shape;11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36"/>
          <p:cNvSpPr txBox="1">
            <a:spLocks noGrp="1"/>
          </p:cNvSpPr>
          <p:nvPr>
            <p:ph type="body" idx="1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ontserrat Medium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40"/>
              <a:buFont typeface="Montserrat Medium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500"/>
              <a:buFont typeface="Montserrat Medium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9" name="Google Shape;119;p36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6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6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1661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 preserve="1">
  <p:cSld name="Título y texto vertical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7"/>
          <p:cNvSpPr txBox="1"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4" name="Google Shape;124;p37"/>
          <p:cNvSpPr txBox="1">
            <a:spLocks noGrp="1"/>
          </p:cNvSpPr>
          <p:nvPr>
            <p:ph type="body" idx="1"/>
          </p:nvPr>
        </p:nvSpPr>
        <p:spPr>
          <a:xfrm rot="5400000">
            <a:off x="3774672" y="-911729"/>
            <a:ext cx="3843645" cy="9716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5" name="Google Shape;125;p37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7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7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9667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 preserve="1">
  <p:cSld name="Título vertical y text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1" name="Google Shape;131;p38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8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766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>
  <p:cSld name="Solo el título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0482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 preserve="1">
  <p:cSld name="1_Solo el título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5519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>
            <a:spLocks noGrp="1"/>
          </p:cNvSpPr>
          <p:nvPr>
            <p:ph type="body"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Char char="•"/>
              <a:defRPr sz="2400"/>
            </a:lvl1pPr>
            <a:lvl2pPr marL="914400" lvl="1" indent="-3543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Font typeface="Montserrat Medium"/>
              <a:buChar char="•"/>
              <a:defRPr sz="2200"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1" name="Google Shape;151;p39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4" name="Google Shape;154;p39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577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 preserve="1">
  <p:cSld name="Encabezado de secció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None/>
              <a:defRPr sz="2400">
                <a:solidFill>
                  <a:srgbClr val="888A9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2000">
                <a:solidFill>
                  <a:srgbClr val="888A9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800">
                <a:solidFill>
                  <a:srgbClr val="888A9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20"/>
              <a:buFont typeface="Montserrat Medium"/>
              <a:buNone/>
              <a:defRPr sz="1600">
                <a:solidFill>
                  <a:srgbClr val="888A9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Montserrat Medium"/>
              <a:buNone/>
              <a:defRPr sz="1600">
                <a:solidFill>
                  <a:srgbClr val="888A9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8" name="Google Shape;158;p40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0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0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4377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 preserve="1">
  <p:cSld name="Dos objeto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1"/>
          <p:cNvSpPr txBox="1"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3" name="Google Shape;163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4" name="Google Shape;164;p4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5" name="Google Shape;165;p41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1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1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73701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 preserve="1">
  <p:cSld name="Comparació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20"/>
              <a:buFont typeface="Montserrat Medium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Montserrat Medium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1" name="Google Shape;171;p4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2" name="Google Shape;172;p4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Montserrat Medium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20"/>
              <a:buFont typeface="Montserrat Medium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Montserrat Medium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3" name="Google Shape;173;p4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4" name="Google Shape;174;p42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2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2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91615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 preserve="1">
  <p:cSld name="Contenido con título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9" name="Google Shape;179;p4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Montserrat Medium"/>
              <a:buChar char="•"/>
              <a:defRPr sz="3200"/>
            </a:lvl1pPr>
            <a:lvl2pPr marL="914400" lvl="1" indent="-38861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Font typeface="Montserrat Medium"/>
              <a:buChar char="•"/>
              <a:defRPr sz="2800"/>
            </a:lvl2pPr>
            <a:lvl3pPr marL="1371600" lvl="2" indent="-33528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80"/>
              <a:buFont typeface="Montserrat Medium"/>
              <a:buChar char="•"/>
              <a:defRPr sz="2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Montserrat Medium"/>
              <a:buChar char="•"/>
              <a:defRPr sz="2000"/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Montserrat Medium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0" name="Google Shape;180;p43"/>
          <p:cNvSpPr txBox="1">
            <a:spLocks noGrp="1"/>
          </p:cNvSpPr>
          <p:nvPr>
            <p:ph type="body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ontserrat Medium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40"/>
              <a:buFont typeface="Montserrat Medium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500"/>
              <a:buFont typeface="Montserrat Medium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1" name="Google Shape;181;p43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3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3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7527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 preserve="1">
  <p:cSld name="Imagen con título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"/>
          <p:cNvSpPr txBox="1"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6" name="Google Shape;186;p4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44"/>
          <p:cNvSpPr txBox="1">
            <a:spLocks noGrp="1"/>
          </p:cNvSpPr>
          <p:nvPr>
            <p:ph type="body" idx="1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Montserrat Medium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Font typeface="Montserrat Medium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40"/>
              <a:buFont typeface="Montserrat Medium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500"/>
              <a:buFont typeface="Montserrat Medium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8" name="Google Shape;188;p44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4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4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14921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 preserve="1">
  <p:cSld name="Título y texto vertical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5"/>
          <p:cNvSpPr txBox="1"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3" name="Google Shape;193;p45"/>
          <p:cNvSpPr txBox="1">
            <a:spLocks noGrp="1"/>
          </p:cNvSpPr>
          <p:nvPr>
            <p:ph type="body" idx="1"/>
          </p:nvPr>
        </p:nvSpPr>
        <p:spPr>
          <a:xfrm rot="5400000">
            <a:off x="4061618" y="-1115221"/>
            <a:ext cx="406876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4" name="Google Shape;194;p45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5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5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47449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 preserve="1">
  <p:cSld name="Título vertical y texto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9" name="Google Shape;199;p4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3pPr>
            <a:lvl4pPr marL="1828800" lvl="3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•"/>
              <a:defRPr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0" name="Google Shape;200;p46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84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 sz="2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543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 sz="2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86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128687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93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 sz="2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543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 sz="2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86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58697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ftr" idx="11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 sz="2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543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 sz="2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86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5477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6590932D-6381-395E-2534-A3F4BF4FE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ES" sz="4400" dirty="0"/>
              <a:t>Configuraciones y atajos IDE IntelliJ IDEA</a:t>
            </a:r>
            <a:endParaRPr lang="es-PE" sz="4400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A5E24739-7E9E-C715-0D1E-42C5130A0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2025</a:t>
            </a:r>
            <a:endParaRPr lang="es-P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B25930-8C95-9F6A-D7D1-22B46CF8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sz="8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7A3DFA7-6EA6-0B32-F31B-79DE60FB24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Prof. Brenda Tumbalobos Cubas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5866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11438994" y="6139498"/>
            <a:ext cx="459635" cy="365125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s-419" sz="70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s-419" sz="700"/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2266949" y="1167430"/>
            <a:ext cx="7962901" cy="600075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s-419" dirty="0"/>
              <a:t>Formatear un archivo (</a:t>
            </a:r>
            <a:r>
              <a:rPr lang="es-419" dirty="0" err="1"/>
              <a:t>beautify</a:t>
            </a:r>
            <a:r>
              <a:rPr lang="es-419" dirty="0"/>
              <a:t>)</a:t>
            </a:r>
            <a:endParaRPr dirty="0"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2044180" y="1978091"/>
            <a:ext cx="8408437" cy="793102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s-419" b="1" dirty="0" err="1"/>
              <a:t>Ctrl</a:t>
            </a:r>
            <a:r>
              <a:rPr lang="es-419" b="1" dirty="0"/>
              <a:t> + Alt + L</a:t>
            </a:r>
            <a:endParaRPr b="1" dirty="0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F0C99A52-FF50-79F0-4EED-8C8D11CB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125A39EC-A3EA-07FE-54AD-12790490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 err="1"/>
              <a:t>Gestiónde</a:t>
            </a:r>
            <a:r>
              <a:rPr lang="es-ES" dirty="0"/>
              <a:t> Servicios TICS</a:t>
            </a:r>
            <a:endParaRPr lang="es-P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0E31E5-C1BA-E766-4123-E571B46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AB6498-68A1-527C-0C69-E997ECD8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5DF08E-91EF-5698-BA3B-F127C910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09CF0A-15AF-D966-AE00-A264E175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Redimensionar fuente con </a:t>
            </a:r>
            <a:r>
              <a:rPr lang="es-419" dirty="0" err="1"/>
              <a:t>Scroll</a:t>
            </a:r>
            <a:r>
              <a:rPr lang="es-419" dirty="0"/>
              <a:t> Mouse</a:t>
            </a:r>
            <a:endParaRPr lang="es-PE" dirty="0"/>
          </a:p>
        </p:txBody>
      </p:sp>
      <p:pic>
        <p:nvPicPr>
          <p:cNvPr id="7" name="Google Shape;83;p15">
            <a:extLst>
              <a:ext uri="{FF2B5EF4-FFF2-40B4-BE49-F238E27FC236}">
                <a16:creationId xmlns:a16="http://schemas.microsoft.com/office/drawing/2014/main" id="{EE50A7EB-B3D6-E890-8023-637C655A55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3629"/>
          <a:stretch/>
        </p:blipFill>
        <p:spPr>
          <a:xfrm>
            <a:off x="1524000" y="2024743"/>
            <a:ext cx="9144000" cy="44036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4;p15">
            <a:extLst>
              <a:ext uri="{FF2B5EF4-FFF2-40B4-BE49-F238E27FC236}">
                <a16:creationId xmlns:a16="http://schemas.microsoft.com/office/drawing/2014/main" id="{2A2C9624-892C-FC3D-80D4-1C49685DAE79}"/>
              </a:ext>
            </a:extLst>
          </p:cNvPr>
          <p:cNvSpPr/>
          <p:nvPr/>
        </p:nvSpPr>
        <p:spPr>
          <a:xfrm>
            <a:off x="3876950" y="2807670"/>
            <a:ext cx="2640000" cy="34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8062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0E31E5-C1BA-E766-4123-E571B46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AB6498-68A1-527C-0C69-E997ECD8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5DF08E-91EF-5698-BA3B-F127C910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09CF0A-15AF-D966-AE00-A264E175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Ver información de un método</a:t>
            </a:r>
            <a:endParaRPr lang="es-PE" dirty="0"/>
          </a:p>
        </p:txBody>
      </p:sp>
      <p:sp>
        <p:nvSpPr>
          <p:cNvPr id="7" name="Google Shape;90;p16">
            <a:extLst>
              <a:ext uri="{FF2B5EF4-FFF2-40B4-BE49-F238E27FC236}">
                <a16:creationId xmlns:a16="http://schemas.microsoft.com/office/drawing/2014/main" id="{D8B57A1E-0CA0-F121-D4B9-F1C53CD14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5700" y="2079050"/>
            <a:ext cx="8520600" cy="5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s-419" b="1" dirty="0"/>
              <a:t>CTRL </a:t>
            </a:r>
            <a:r>
              <a:rPr lang="es-419" dirty="0"/>
              <a:t>+ </a:t>
            </a:r>
            <a:r>
              <a:rPr lang="es-419" b="1" dirty="0"/>
              <a:t>Q</a:t>
            </a:r>
            <a:endParaRPr b="1" dirty="0"/>
          </a:p>
        </p:txBody>
      </p:sp>
      <p:pic>
        <p:nvPicPr>
          <p:cNvPr id="8" name="Google Shape;92;p16">
            <a:extLst>
              <a:ext uri="{FF2B5EF4-FFF2-40B4-BE49-F238E27FC236}">
                <a16:creationId xmlns:a16="http://schemas.microsoft.com/office/drawing/2014/main" id="{F9A1F5AF-A2EE-A72E-EF63-38C6CADE9E5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0020" y="2252249"/>
            <a:ext cx="3004450" cy="38872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3;p16">
            <a:extLst>
              <a:ext uri="{FF2B5EF4-FFF2-40B4-BE49-F238E27FC236}">
                <a16:creationId xmlns:a16="http://schemas.microsoft.com/office/drawing/2014/main" id="{7349C45F-E471-C4E5-AAEC-EE2B00466C03}"/>
              </a:ext>
            </a:extLst>
          </p:cNvPr>
          <p:cNvSpPr/>
          <p:nvPr/>
        </p:nvSpPr>
        <p:spPr>
          <a:xfrm>
            <a:off x="4324145" y="2522523"/>
            <a:ext cx="650400" cy="34050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387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0E31E5-C1BA-E766-4123-E571B46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AB6498-68A1-527C-0C69-E997ECD8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5DF08E-91EF-5698-BA3B-F127C910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09CF0A-15AF-D966-AE00-A264E175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Atajo - </a:t>
            </a:r>
            <a:r>
              <a:rPr lang="es-419" dirty="0" err="1"/>
              <a:t>System.out.println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18BC1A-2AA3-7E83-4FE8-B3229EC9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dirty="0"/>
              <a:t>El comando para imprimir en consola es </a:t>
            </a:r>
            <a:r>
              <a:rPr lang="es-ES" b="1" dirty="0" err="1">
                <a:latin typeface="Source Code Pro"/>
                <a:ea typeface="Source Code Pro"/>
                <a:cs typeface="Source Code Pro"/>
                <a:sym typeface="Source Code Pro"/>
              </a:rPr>
              <a:t>System.out.println</a:t>
            </a:r>
            <a:r>
              <a:rPr lang="es-ES" b="1" dirty="0">
                <a:latin typeface="Source Code Pro"/>
                <a:ea typeface="Source Code Pro"/>
                <a:cs typeface="Source Code Pro"/>
                <a:sym typeface="Source Code Pro"/>
              </a:rPr>
              <a:t>()</a:t>
            </a:r>
            <a:r>
              <a:rPr lang="es-ES" dirty="0"/>
              <a:t>, lo cual escribir varias veces puede resultar pesado.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s-ES" dirty="0"/>
              <a:t>Se puede escribir </a:t>
            </a:r>
            <a:r>
              <a:rPr lang="es-ES" b="1" dirty="0" err="1">
                <a:latin typeface="Source Code Pro"/>
                <a:ea typeface="Source Code Pro"/>
                <a:cs typeface="Source Code Pro"/>
                <a:sym typeface="Source Code Pro"/>
              </a:rPr>
              <a:t>sout</a:t>
            </a:r>
            <a:r>
              <a:rPr lang="es-ES" b="1" dirty="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s-ES" dirty="0"/>
              <a:t>y presionar la tecla </a:t>
            </a:r>
            <a:r>
              <a:rPr lang="es-ES" b="1" dirty="0" err="1">
                <a:latin typeface="Source Code Pro"/>
                <a:ea typeface="Source Code Pro"/>
                <a:cs typeface="Source Code Pro"/>
                <a:sym typeface="Source Code Pro"/>
              </a:rPr>
              <a:t>Tab</a:t>
            </a:r>
            <a:r>
              <a:rPr lang="es-ES" dirty="0"/>
              <a:t> para reemplazarlo por </a:t>
            </a:r>
            <a:r>
              <a:rPr lang="es-ES" b="1" dirty="0" err="1">
                <a:latin typeface="Source Code Pro"/>
                <a:ea typeface="Source Code Pro"/>
                <a:cs typeface="Source Code Pro"/>
                <a:sym typeface="Source Code Pro"/>
              </a:rPr>
              <a:t>System.out.println</a:t>
            </a:r>
            <a:r>
              <a:rPr lang="es-ES" b="1" dirty="0">
                <a:latin typeface="Source Code Pro"/>
                <a:ea typeface="Source Code Pro"/>
                <a:cs typeface="Source Code Pro"/>
                <a:sym typeface="Source Code Pro"/>
              </a:rPr>
              <a:t>()</a:t>
            </a:r>
          </a:p>
          <a:p>
            <a:pPr marL="0" indent="0">
              <a:spcBef>
                <a:spcPts val="1600"/>
              </a:spcBef>
              <a:buNone/>
            </a:pPr>
            <a:endParaRPr lang="es-ES"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>
              <a:spcBef>
                <a:spcPts val="1600"/>
              </a:spcBef>
              <a:buNone/>
            </a:pPr>
            <a:endParaRPr lang="es-ES"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>
              <a:spcBef>
                <a:spcPts val="1600"/>
              </a:spcBef>
              <a:buNone/>
            </a:pPr>
            <a:endParaRPr lang="es-ES"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>
              <a:spcBef>
                <a:spcPts val="1600"/>
              </a:spcBef>
              <a:buNone/>
            </a:pPr>
            <a:endParaRPr lang="es-ES"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b="1" dirty="0">
                <a:latin typeface="Source Code Pro"/>
                <a:ea typeface="Source Code Pro"/>
                <a:cs typeface="Source Code Pro"/>
                <a:sym typeface="Source Code Pro"/>
              </a:rPr>
              <a:t>→ Para ver todos los atajos: </a:t>
            </a:r>
            <a:r>
              <a:rPr lang="es-ES" b="1" dirty="0" err="1">
                <a:latin typeface="Source Code Pro"/>
                <a:ea typeface="Source Code Pro"/>
                <a:cs typeface="Source Code Pro"/>
                <a:sym typeface="Source Code Pro"/>
              </a:rPr>
              <a:t>Ctrl</a:t>
            </a:r>
            <a:r>
              <a:rPr lang="es-ES" b="1" dirty="0">
                <a:latin typeface="Source Code Pro"/>
                <a:ea typeface="Source Code Pro"/>
                <a:cs typeface="Source Code Pro"/>
                <a:sym typeface="Source Code Pro"/>
              </a:rPr>
              <a:t> + J</a:t>
            </a:r>
          </a:p>
          <a:p>
            <a:endParaRPr lang="es-PE" dirty="0"/>
          </a:p>
        </p:txBody>
      </p:sp>
      <p:pic>
        <p:nvPicPr>
          <p:cNvPr id="7" name="Google Shape;101;p17">
            <a:extLst>
              <a:ext uri="{FF2B5EF4-FFF2-40B4-BE49-F238E27FC236}">
                <a16:creationId xmlns:a16="http://schemas.microsoft.com/office/drawing/2014/main" id="{5B5F986F-3FBA-FF33-2D6A-4CDFDE9443A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7211" y="3429000"/>
            <a:ext cx="524827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2;p17">
            <a:extLst>
              <a:ext uri="{FF2B5EF4-FFF2-40B4-BE49-F238E27FC236}">
                <a16:creationId xmlns:a16="http://schemas.microsoft.com/office/drawing/2014/main" id="{860FB552-0CFB-5FD6-79C7-9A95265A45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5292" y="3458474"/>
            <a:ext cx="2402530" cy="52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3;p17">
            <a:extLst>
              <a:ext uri="{FF2B5EF4-FFF2-40B4-BE49-F238E27FC236}">
                <a16:creationId xmlns:a16="http://schemas.microsoft.com/office/drawing/2014/main" id="{765EC3E7-B0B2-3BFB-A059-8FC6499BB8E5}"/>
              </a:ext>
            </a:extLst>
          </p:cNvPr>
          <p:cNvSpPr/>
          <p:nvPr/>
        </p:nvSpPr>
        <p:spPr>
          <a:xfrm>
            <a:off x="6978847" y="3539750"/>
            <a:ext cx="683100" cy="38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104;p17">
            <a:extLst>
              <a:ext uri="{FF2B5EF4-FFF2-40B4-BE49-F238E27FC236}">
                <a16:creationId xmlns:a16="http://schemas.microsoft.com/office/drawing/2014/main" id="{BEAA0E0C-A432-4806-430E-436C76C083AF}"/>
              </a:ext>
            </a:extLst>
          </p:cNvPr>
          <p:cNvSpPr txBox="1"/>
          <p:nvPr/>
        </p:nvSpPr>
        <p:spPr>
          <a:xfrm>
            <a:off x="7031597" y="3205750"/>
            <a:ext cx="54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419" b="1">
                <a:latin typeface="Source Code Pro"/>
                <a:ea typeface="Source Code Pro"/>
                <a:cs typeface="Source Code Pro"/>
                <a:sym typeface="Source Code Pro"/>
              </a:rPr>
              <a:t>Tab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10123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0E31E5-C1BA-E766-4123-E571B46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AB6498-68A1-527C-0C69-E997ECD8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5DF08E-91EF-5698-BA3B-F127C910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09CF0A-15AF-D966-AE00-A264E175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Deshabilitar los </a:t>
            </a:r>
            <a:r>
              <a:rPr lang="es-419" dirty="0" err="1"/>
              <a:t>hints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18BC1A-2AA3-7E83-4FE8-B3229EC9B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473" y="2015865"/>
            <a:ext cx="4701466" cy="3843645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Si desea ocultar las ayudas en los métodos, por ejemplo: “s:” o “o:”</a:t>
            </a:r>
          </a:p>
          <a:p>
            <a:pPr marL="0" indent="0">
              <a:spcBef>
                <a:spcPts val="1600"/>
              </a:spcBef>
              <a:buNone/>
            </a:pPr>
            <a:endParaRPr lang="es-ES" dirty="0"/>
          </a:p>
          <a:p>
            <a:pPr marL="0" indent="0">
              <a:spcBef>
                <a:spcPts val="1600"/>
              </a:spcBef>
              <a:buNone/>
            </a:pPr>
            <a:r>
              <a:rPr lang="es-ES" dirty="0"/>
              <a:t>Ir a: </a:t>
            </a:r>
            <a:r>
              <a:rPr lang="es-ES" dirty="0" err="1"/>
              <a:t>Settings</a:t>
            </a:r>
            <a:r>
              <a:rPr lang="es-ES" dirty="0"/>
              <a:t> → Editor → </a:t>
            </a:r>
            <a:r>
              <a:rPr lang="es-ES" dirty="0" err="1"/>
              <a:t>Inlay</a:t>
            </a:r>
            <a:r>
              <a:rPr lang="es-ES" dirty="0"/>
              <a:t> </a:t>
            </a:r>
            <a:r>
              <a:rPr lang="es-ES" dirty="0" err="1"/>
              <a:t>Hints</a:t>
            </a:r>
            <a:endParaRPr lang="es-ES"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→ deshabilitar Java</a:t>
            </a:r>
            <a:endParaRPr lang="es-PE" dirty="0"/>
          </a:p>
        </p:txBody>
      </p:sp>
      <p:pic>
        <p:nvPicPr>
          <p:cNvPr id="7" name="Google Shape;112;p18">
            <a:extLst>
              <a:ext uri="{FF2B5EF4-FFF2-40B4-BE49-F238E27FC236}">
                <a16:creationId xmlns:a16="http://schemas.microsoft.com/office/drawing/2014/main" id="{2E40DB94-8BCF-CF71-E50E-11B811FCFBC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48399" y="2015865"/>
            <a:ext cx="4108049" cy="11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3;p18">
            <a:extLst>
              <a:ext uri="{FF2B5EF4-FFF2-40B4-BE49-F238E27FC236}">
                <a16:creationId xmlns:a16="http://schemas.microsoft.com/office/drawing/2014/main" id="{70811BBE-53BA-103B-C095-BF0B2907DD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3118"/>
          <a:stretch/>
        </p:blipFill>
        <p:spPr>
          <a:xfrm>
            <a:off x="6340622" y="3195961"/>
            <a:ext cx="3657255" cy="3464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114;p18">
            <a:extLst>
              <a:ext uri="{FF2B5EF4-FFF2-40B4-BE49-F238E27FC236}">
                <a16:creationId xmlns:a16="http://schemas.microsoft.com/office/drawing/2014/main" id="{2222C97A-53FC-CAD8-146C-80D72A3B5872}"/>
              </a:ext>
            </a:extLst>
          </p:cNvPr>
          <p:cNvCxnSpPr/>
          <p:nvPr/>
        </p:nvCxnSpPr>
        <p:spPr>
          <a:xfrm rot="10800000" flipH="1">
            <a:off x="5726139" y="2190490"/>
            <a:ext cx="603600" cy="28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9100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0E31E5-C1BA-E766-4123-E571B46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AB6498-68A1-527C-0C69-E997ECD8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5DF08E-91EF-5698-BA3B-F127C910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09CF0A-15AF-D966-AE00-A264E175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Deshabilitar el </a:t>
            </a:r>
            <a:r>
              <a:rPr lang="es-419" dirty="0" err="1"/>
              <a:t>Typo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18BC1A-2AA3-7E83-4FE8-B3229EC9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encuentra algunas palabras subrayadas con verde, puede deshabilitar esta configuración con:</a:t>
            </a:r>
          </a:p>
          <a:p>
            <a:endParaRPr lang="es-PE" dirty="0"/>
          </a:p>
        </p:txBody>
      </p:sp>
      <p:pic>
        <p:nvPicPr>
          <p:cNvPr id="7" name="Google Shape;122;p19">
            <a:extLst>
              <a:ext uri="{FF2B5EF4-FFF2-40B4-BE49-F238E27FC236}">
                <a16:creationId xmlns:a16="http://schemas.microsoft.com/office/drawing/2014/main" id="{F054786D-8181-80DC-8971-75E9A7AA3F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47558"/>
          <a:stretch/>
        </p:blipFill>
        <p:spPr>
          <a:xfrm>
            <a:off x="1410789" y="2973523"/>
            <a:ext cx="9144000" cy="353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4877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0E31E5-C1BA-E766-4123-E571B46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AB6498-68A1-527C-0C69-E997ECD8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5DF08E-91EF-5698-BA3B-F127C910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09CF0A-15AF-D966-AE00-A264E175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Ajustar HTML (formato)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18BC1A-2AA3-7E83-4FE8-B3229EC9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Borrar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de “Do not indent children” of:</a:t>
            </a:r>
          </a:p>
          <a:p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A3F3A4-7B36-FF45-1435-EDF6900A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875" y="2664391"/>
            <a:ext cx="5737141" cy="398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47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B0E31E5-C1BA-E766-4123-E571B467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AB6498-68A1-527C-0C69-E997ECD8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5DF08E-91EF-5698-BA3B-F127C910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09CF0A-15AF-D966-AE00-A264E175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Insertar un archivo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18BC1A-2AA3-7E83-4FE8-B3229EC9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la carpeta presionar </a:t>
            </a:r>
            <a:r>
              <a:rPr lang="es-ES" b="1" dirty="0" err="1"/>
              <a:t>Ctrl</a:t>
            </a:r>
            <a:r>
              <a:rPr lang="es-ES" b="1" dirty="0"/>
              <a:t> </a:t>
            </a:r>
            <a:r>
              <a:rPr lang="es-ES" dirty="0"/>
              <a:t>+ </a:t>
            </a:r>
            <a:r>
              <a:rPr lang="es-ES" b="1" dirty="0"/>
              <a:t>Alt </a:t>
            </a:r>
            <a:r>
              <a:rPr lang="es-ES" dirty="0"/>
              <a:t>+ </a:t>
            </a:r>
            <a:r>
              <a:rPr lang="es-ES" b="1" dirty="0" err="1"/>
              <a:t>Insert</a:t>
            </a:r>
            <a:endParaRPr lang="es-ES" b="1" dirty="0"/>
          </a:p>
          <a:p>
            <a:endParaRPr lang="es-PE" dirty="0"/>
          </a:p>
        </p:txBody>
      </p:sp>
      <p:pic>
        <p:nvPicPr>
          <p:cNvPr id="7" name="Google Shape;143;p21">
            <a:extLst>
              <a:ext uri="{FF2B5EF4-FFF2-40B4-BE49-F238E27FC236}">
                <a16:creationId xmlns:a16="http://schemas.microsoft.com/office/drawing/2014/main" id="{58136249-3206-B122-58A0-1E6F55F1397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6636" y="2596075"/>
            <a:ext cx="3751875" cy="3935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7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03520-39D6-0A4B-AC44-6EE6AF811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PE" sz="6600" b="1" dirty="0">
                <a:solidFill>
                  <a:schemeClr val="bg1"/>
                </a:solidFill>
                <a:latin typeface="Montserrat" pitchFamily="2" charset="77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953815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_Tele">
  <a:themeElements>
    <a:clrScheme name="Telecomunicaciones_PPT">
      <a:dk1>
        <a:srgbClr val="002060"/>
      </a:dk1>
      <a:lt1>
        <a:srgbClr val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_Tele" id="{DB2C6AA8-523B-4CC4-A0AB-6EFF8B9A41B7}" vid="{CDFF7B9C-E3DD-4712-AF04-42302E74A208}"/>
    </a:ext>
  </a:extLst>
</a:theme>
</file>

<file path=ppt/theme/theme2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rgbClr val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.pptx" id="{A1964E05-1CB7-4FF7-A9C3-04C0E898B868}" vid="{040B6566-89C8-4409-B42B-EA585A562B83}"/>
    </a:ext>
  </a:extLst>
</a:theme>
</file>

<file path=ppt/theme/theme3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rgbClr val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.pptx" id="{A1964E05-1CB7-4FF7-A9C3-04C0E898B868}" vid="{BAEE93D0-BAD8-47D9-A687-82A9C89830DE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Tema_Tele</Template>
  <TotalTime>1</TotalTime>
  <Words>227</Words>
  <Application>Microsoft Office PowerPoint</Application>
  <PresentationFormat>Panorámica</PresentationFormat>
  <Paragraphs>54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Montserrat</vt:lpstr>
      <vt:lpstr>Arial</vt:lpstr>
      <vt:lpstr>Source Code Pro</vt:lpstr>
      <vt:lpstr>Montserrat Medium</vt:lpstr>
      <vt:lpstr>Tema_Tele</vt:lpstr>
      <vt:lpstr>Tema de Office</vt:lpstr>
      <vt:lpstr>1_Tema de Office</vt:lpstr>
      <vt:lpstr>Configuraciones y atajos IDE IntelliJ IDEA</vt:lpstr>
      <vt:lpstr>Formatear un archivo (beautify)</vt:lpstr>
      <vt:lpstr>Redimensionar fuente con Scroll Mouse</vt:lpstr>
      <vt:lpstr>Ver información de un método</vt:lpstr>
      <vt:lpstr>Atajo - System.out.println</vt:lpstr>
      <vt:lpstr>Deshabilitar los hints</vt:lpstr>
      <vt:lpstr>Deshabilitar el Typo</vt:lpstr>
      <vt:lpstr>Ajustar HTML (formato)</vt:lpstr>
      <vt:lpstr>Insertar un archivo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Configuraciones y atajos IDE IntelliJ IDEA</dc:title>
  <cp:lastModifiedBy>Brenda Tumbalobos</cp:lastModifiedBy>
  <cp:revision>3</cp:revision>
  <dcterms:modified xsi:type="dcterms:W3CDTF">2025-03-26T18:22:50Z</dcterms:modified>
</cp:coreProperties>
</file>