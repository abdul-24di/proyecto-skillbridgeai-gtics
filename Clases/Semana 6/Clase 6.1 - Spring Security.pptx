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59"/>
  </p:notesMasterIdLst>
  <p:handoutMasterIdLst>
    <p:handoutMasterId r:id="rId60"/>
  </p:handoutMasterIdLst>
  <p:sldIdLst>
    <p:sldId id="398" r:id="rId5"/>
    <p:sldId id="399" r:id="rId6"/>
    <p:sldId id="400" r:id="rId7"/>
    <p:sldId id="401" r:id="rId8"/>
    <p:sldId id="402" r:id="rId9"/>
    <p:sldId id="403" r:id="rId10"/>
    <p:sldId id="404" r:id="rId11"/>
    <p:sldId id="373" r:id="rId12"/>
    <p:sldId id="405" r:id="rId13"/>
    <p:sldId id="406" r:id="rId14"/>
    <p:sldId id="407" r:id="rId15"/>
    <p:sldId id="408" r:id="rId16"/>
    <p:sldId id="409" r:id="rId17"/>
    <p:sldId id="410" r:id="rId18"/>
    <p:sldId id="411" r:id="rId19"/>
    <p:sldId id="412" r:id="rId20"/>
    <p:sldId id="374" r:id="rId21"/>
    <p:sldId id="413" r:id="rId22"/>
    <p:sldId id="414" r:id="rId23"/>
    <p:sldId id="415" r:id="rId24"/>
    <p:sldId id="416" r:id="rId25"/>
    <p:sldId id="417" r:id="rId26"/>
    <p:sldId id="418" r:id="rId27"/>
    <p:sldId id="419" r:id="rId28"/>
    <p:sldId id="420" r:id="rId29"/>
    <p:sldId id="421" r:id="rId30"/>
    <p:sldId id="422" r:id="rId31"/>
    <p:sldId id="375" r:id="rId32"/>
    <p:sldId id="423" r:id="rId33"/>
    <p:sldId id="424" r:id="rId34"/>
    <p:sldId id="425" r:id="rId35"/>
    <p:sldId id="426" r:id="rId36"/>
    <p:sldId id="427" r:id="rId37"/>
    <p:sldId id="428" r:id="rId38"/>
    <p:sldId id="383" r:id="rId39"/>
    <p:sldId id="429" r:id="rId40"/>
    <p:sldId id="430" r:id="rId41"/>
    <p:sldId id="431" r:id="rId42"/>
    <p:sldId id="432" r:id="rId43"/>
    <p:sldId id="433" r:id="rId44"/>
    <p:sldId id="434" r:id="rId45"/>
    <p:sldId id="435" r:id="rId46"/>
    <p:sldId id="436" r:id="rId47"/>
    <p:sldId id="437" r:id="rId48"/>
    <p:sldId id="438" r:id="rId49"/>
    <p:sldId id="439" r:id="rId50"/>
    <p:sldId id="440" r:id="rId51"/>
    <p:sldId id="441" r:id="rId52"/>
    <p:sldId id="442" r:id="rId53"/>
    <p:sldId id="443" r:id="rId54"/>
    <p:sldId id="444" r:id="rId55"/>
    <p:sldId id="445" r:id="rId56"/>
    <p:sldId id="446" r:id="rId57"/>
    <p:sldId id="397" r:id="rId5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ADC"/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5359" autoAdjust="0"/>
  </p:normalViewPr>
  <p:slideViewPr>
    <p:cSldViewPr snapToGrid="0" snapToObjects="1">
      <p:cViewPr varScale="1">
        <p:scale>
          <a:sx n="67" d="100"/>
          <a:sy n="67" d="100"/>
        </p:scale>
        <p:origin x="115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6/05/2026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6/05/2026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*</a:t>
            </a:r>
            <a:r>
              <a:rPr lang="es-PE" dirty="0" err="1"/>
              <a:t>anyRequest</a:t>
            </a:r>
            <a:r>
              <a:rPr lang="es-PE" dirty="0"/>
              <a:t>().</a:t>
            </a:r>
            <a:r>
              <a:rPr lang="es-PE" dirty="0" err="1"/>
              <a:t>permitAll</a:t>
            </a:r>
            <a:r>
              <a:rPr lang="es-PE" dirty="0"/>
              <a:t>() </a:t>
            </a:r>
            <a:r>
              <a:rPr lang="es-PE" dirty="0">
                <a:sym typeface="Wingdings" panose="05000000000000000000" pitchFamily="2" charset="2"/>
              </a:rPr>
              <a:t> es el comando que permitirá a  todos los usuarios ingresar a cualquier otra ruta no mencionada previamente (&lt;&gt; </a:t>
            </a:r>
            <a:r>
              <a:rPr lang="es-PE" dirty="0" err="1">
                <a:sym typeface="Wingdings" panose="05000000000000000000" pitchFamily="2" charset="2"/>
              </a:rPr>
              <a:t>employee</a:t>
            </a:r>
            <a:r>
              <a:rPr lang="es-PE" dirty="0">
                <a:sym typeface="Wingdings" panose="05000000000000000000" pitchFamily="2" charset="2"/>
              </a:rPr>
              <a:t> y </a:t>
            </a:r>
            <a:r>
              <a:rPr lang="es-PE" dirty="0" err="1">
                <a:sym typeface="Wingdings" panose="05000000000000000000" pitchFamily="2" charset="2"/>
              </a:rPr>
              <a:t>shipper</a:t>
            </a:r>
            <a:r>
              <a:rPr lang="es-PE" dirty="0">
                <a:sym typeface="Wingdings" panose="05000000000000000000" pitchFamily="2" charset="2"/>
              </a:rPr>
              <a:t>)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75E41-3A85-45FC-A38E-3ABB827C81B6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6109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err="1"/>
              <a:t>formLogin</a:t>
            </a:r>
            <a:r>
              <a:rPr lang="es-PE" dirty="0"/>
              <a:t>() </a:t>
            </a:r>
            <a:r>
              <a:rPr lang="es-PE" dirty="0">
                <a:sym typeface="Wingdings" panose="05000000000000000000" pitchFamily="2" charset="2"/>
              </a:rPr>
              <a:t> es el formulario por defecto, si es que no lo personalizo.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75E41-3A85-45FC-A38E-3ABB827C81B6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6214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El segundo @Bean creado en el </a:t>
            </a:r>
            <a:r>
              <a:rPr lang="es-PE" dirty="0" err="1"/>
              <a:t>websecutiry</a:t>
            </a:r>
            <a:r>
              <a:rPr lang="es-PE" dirty="0"/>
              <a:t> </a:t>
            </a:r>
            <a:r>
              <a:rPr lang="es-PE" dirty="0" err="1"/>
              <a:t>config</a:t>
            </a:r>
            <a:r>
              <a:rPr lang="es-PE" dirty="0"/>
              <a:t> será para la codificación de la contraseña a través de </a:t>
            </a:r>
            <a:r>
              <a:rPr lang="es-PE" dirty="0" err="1"/>
              <a:t>ByCript</a:t>
            </a:r>
            <a:r>
              <a:rPr lang="es-PE" dirty="0"/>
              <a:t>.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75E41-3A85-45FC-A38E-3ABB827C81B6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3156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err="1"/>
              <a:t>Username</a:t>
            </a:r>
            <a:r>
              <a:rPr lang="es-PE" dirty="0"/>
              <a:t> es el default en </a:t>
            </a:r>
            <a:r>
              <a:rPr lang="es-PE" dirty="0" err="1"/>
              <a:t>spring</a:t>
            </a:r>
            <a:r>
              <a:rPr lang="es-PE" dirty="0"/>
              <a:t> </a:t>
            </a:r>
            <a:r>
              <a:rPr lang="es-PE" dirty="0" err="1"/>
              <a:t>security</a:t>
            </a:r>
            <a:r>
              <a:rPr lang="es-PE" dirty="0"/>
              <a:t>, si se llama distinto en tu proyecto, se debe especificar el método de autenticación en el </a:t>
            </a:r>
            <a:r>
              <a:rPr lang="es-PE" dirty="0" err="1"/>
              <a:t>Websecurity</a:t>
            </a:r>
            <a:r>
              <a:rPr lang="es-PE" dirty="0"/>
              <a:t> </a:t>
            </a:r>
            <a:r>
              <a:rPr lang="es-PE" dirty="0" err="1"/>
              <a:t>Config</a:t>
            </a:r>
            <a:r>
              <a:rPr lang="es-PE" dirty="0"/>
              <a:t>. De la misma manera para contraseña.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75E41-3A85-45FC-A38E-3ABB827C81B6}" type="slidenum">
              <a:rPr lang="es-PE" smtClean="0"/>
              <a:t>34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80380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Oscar.diaz@gmail.com </a:t>
            </a:r>
            <a:r>
              <a:rPr lang="es-PE" dirty="0">
                <a:sym typeface="Wingdings" panose="05000000000000000000" pitchFamily="2" charset="2"/>
              </a:rPr>
              <a:t> </a:t>
            </a:r>
            <a:r>
              <a:rPr lang="es-PE" dirty="0" err="1">
                <a:sym typeface="Wingdings" panose="05000000000000000000" pitchFamily="2" charset="2"/>
              </a:rPr>
              <a:t>oscar.diaz</a:t>
            </a:r>
            <a:endParaRPr lang="es-PE" dirty="0">
              <a:sym typeface="Wingdings" panose="05000000000000000000" pitchFamily="2" charset="2"/>
            </a:endParaRPr>
          </a:p>
          <a:p>
            <a:r>
              <a:rPr lang="es-PE" dirty="0">
                <a:sym typeface="Wingdings" panose="05000000000000000000" pitchFamily="2" charset="2"/>
              </a:rPr>
              <a:t>Victor.chang@gmail.com  </a:t>
            </a:r>
            <a:r>
              <a:rPr lang="es-PE" dirty="0" err="1">
                <a:sym typeface="Wingdings" panose="05000000000000000000" pitchFamily="2" charset="2"/>
              </a:rPr>
              <a:t>victor.chang</a:t>
            </a:r>
            <a:endParaRPr lang="es-PE" dirty="0">
              <a:sym typeface="Wingdings" panose="05000000000000000000" pitchFamily="2" charset="2"/>
            </a:endParaRP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75E41-3A85-45FC-A38E-3ABB827C81B6}" type="slidenum">
              <a:rPr lang="es-PE" smtClean="0"/>
              <a:t>40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4908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err="1"/>
              <a:t>Import</a:t>
            </a:r>
            <a:r>
              <a:rPr lang="es-PE" dirty="0"/>
              <a:t> </a:t>
            </a:r>
            <a:r>
              <a:rPr lang="es-PE" dirty="0" err="1"/>
              <a:t>org.springframework-security.web.DefaultRedirectStrategy</a:t>
            </a:r>
            <a:r>
              <a:rPr lang="es-PE" dirty="0"/>
              <a:t>;</a:t>
            </a:r>
          </a:p>
          <a:p>
            <a:endParaRPr lang="es-PE" dirty="0"/>
          </a:p>
          <a:p>
            <a:endParaRPr lang="es-PE" dirty="0"/>
          </a:p>
          <a:p>
            <a:r>
              <a:rPr lang="es-PE" dirty="0"/>
              <a:t>Private </a:t>
            </a:r>
            <a:r>
              <a:rPr lang="es-PE" dirty="0" err="1"/>
              <a:t>RedirectStrategy</a:t>
            </a:r>
            <a:r>
              <a:rPr lang="es-PE" dirty="0"/>
              <a:t> </a:t>
            </a:r>
            <a:r>
              <a:rPr lang="es-PE" dirty="0" err="1"/>
              <a:t>redirectStrategy</a:t>
            </a:r>
            <a:r>
              <a:rPr lang="es-PE" dirty="0"/>
              <a:t> = new </a:t>
            </a:r>
            <a:r>
              <a:rPr lang="es-PE" dirty="0" err="1"/>
              <a:t>DefaultRedirectStrategy</a:t>
            </a:r>
            <a:r>
              <a:rPr lang="es-PE" dirty="0"/>
              <a:t>();</a:t>
            </a:r>
          </a:p>
          <a:p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75E41-3A85-45FC-A38E-3ABB827C81B6}" type="slidenum">
              <a:rPr lang="es-PE" smtClean="0"/>
              <a:t>42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5237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Mayo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Mayo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Mayo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Mayo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Mayo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484906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4064177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GTIC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354982" cy="70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D11BB10-403F-3FC8-8DC7-3D2C8DF31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777" y="1400425"/>
            <a:ext cx="10354982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38737033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3366855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7005863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3326808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5658738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0171742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4435986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35848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Mayo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6346775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2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-security/site/docs/5.0.5.RELEASE/reference/htmlsingle/" TargetMode="External"/><Relationship Id="rId2" Type="http://schemas.openxmlformats.org/officeDocument/2006/relationships/hyperlink" Target="https://projects.spring.io/spring-security/" TargetMode="Externa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glan.com/online-tools/bcrypt-hash-generator" TargetMode="External"/><Relationship Id="rId2" Type="http://schemas.openxmlformats.org/officeDocument/2006/relationships/hyperlink" Target="https://bcrypt-generator.com/" TargetMode="Externa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9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1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hymeleaf/thymeleaf-extras-springsecurity" TargetMode="External"/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-security/site/docs/current/reference/html5/" TargetMode="External"/><Relationship Id="rId2" Type="http://schemas.openxmlformats.org/officeDocument/2006/relationships/hyperlink" Target="https://spring.io/projects/spring-security" TargetMode="Externa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616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DC0E3-5B59-A95C-4E62-0C23ADB13C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Spring Security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82D613-F727-80AC-857B-742B6E722A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</a:pPr>
            <a:r>
              <a:rPr lang="es-ES" dirty="0"/>
              <a:t>La clase de Spring Security está basada en el proyecto:</a:t>
            </a:r>
          </a:p>
          <a:p>
            <a:pPr marL="0" lvl="0" indent="0">
              <a:spcBef>
                <a:spcPts val="1600"/>
              </a:spcBef>
            </a:pPr>
            <a:r>
              <a:rPr lang="es-ES" sz="1800" u="sng" dirty="0">
                <a:solidFill>
                  <a:schemeClr val="hlink"/>
                </a:solidFill>
              </a:rPr>
              <a:t>https://github.com/brawni10/clase7gtics-master.git</a:t>
            </a:r>
            <a:endParaRPr lang="es-ES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6991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74BE8-A99B-AE85-F622-DBFAA220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Spring Security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201AD26-0645-C3A2-AA6E-15253E9F23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427A61-830D-1060-795A-A6773AFA0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Es un módulo de Spring que permite aplicar seguridad a nivel de toda la aplicación.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Spring </a:t>
            </a:r>
            <a:r>
              <a:rPr lang="es-ES" sz="1800" dirty="0" err="1"/>
              <a:t>security</a:t>
            </a:r>
            <a:r>
              <a:rPr lang="es-ES" sz="1800" dirty="0"/>
              <a:t> aplica dos tipos de seguridad: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800" b="1" dirty="0"/>
              <a:t>Autenticación</a:t>
            </a:r>
            <a:r>
              <a:rPr lang="es-ES" sz="1800" dirty="0"/>
              <a:t>: permite identificar si un usuario es válido para acceder a una aplicación.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800" b="1" dirty="0"/>
              <a:t>Autorización</a:t>
            </a:r>
            <a:r>
              <a:rPr lang="es-ES" sz="1800" dirty="0"/>
              <a:t>: permite identificar si el usuario tiene permisos (rol) para acceder al recurso solicitado.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Así mismo, permite definir la seguridad en dos niveles: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800" dirty="0"/>
              <a:t>Petición web (HTTP </a:t>
            </a:r>
            <a:r>
              <a:rPr lang="es-ES" sz="1800" dirty="0" err="1"/>
              <a:t>Request</a:t>
            </a:r>
            <a:r>
              <a:rPr lang="es-ES" sz="1800" dirty="0"/>
              <a:t>)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800" dirty="0"/>
              <a:t>Invocación de métodos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Para mayor información: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800" u="sng" dirty="0">
                <a:solidFill>
                  <a:schemeClr val="hlink"/>
                </a:solidFill>
                <a:hlinkClick r:id="rId2"/>
              </a:rPr>
              <a:t>https://projects.spring.io/spring-security/</a:t>
            </a: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Documentación: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800" u="sng" dirty="0">
                <a:solidFill>
                  <a:schemeClr val="hlink"/>
                </a:solidFill>
                <a:hlinkClick r:id="rId3"/>
              </a:rPr>
              <a:t>https://docs.spring.io/spring-security/site/docs/5.0.5.RELEASE/reference/htmlsingle/</a:t>
            </a:r>
            <a:endParaRPr lang="es-ES" sz="1800" dirty="0"/>
          </a:p>
          <a:p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3998329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A7C4-8EA5-F9BE-7643-F862332A7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33DB9-B7AE-91FD-1D21-F66CF91B0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Spring Security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E34990B-2D5C-61B2-18DD-DDB3505E8D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D1EA55-DFC9-CD89-462C-B9B71830A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Spring </a:t>
            </a:r>
            <a:r>
              <a:rPr lang="es-ES" sz="2000" dirty="0" err="1"/>
              <a:t>security</a:t>
            </a:r>
            <a:r>
              <a:rPr lang="es-ES" sz="2000" dirty="0"/>
              <a:t> utiliza filtros (Servlet </a:t>
            </a:r>
            <a:r>
              <a:rPr lang="es-ES" sz="2000" dirty="0" err="1"/>
              <a:t>Filters</a:t>
            </a:r>
            <a:r>
              <a:rPr lang="es-ES" sz="2000" dirty="0"/>
              <a:t>) para aplicar seguridad a las peticiones web y restringir el acceso a nivel de URL (Recordar </a:t>
            </a:r>
            <a:r>
              <a:rPr lang="es-ES" sz="2000" dirty="0" err="1"/>
              <a:t>Filters</a:t>
            </a:r>
            <a:r>
              <a:rPr lang="es-ES" sz="2000" dirty="0"/>
              <a:t> de IWEB).</a:t>
            </a:r>
          </a:p>
          <a:p>
            <a:endParaRPr lang="es-PE" dirty="0"/>
          </a:p>
        </p:txBody>
      </p:sp>
      <p:grpSp>
        <p:nvGrpSpPr>
          <p:cNvPr id="5" name="Google Shape;92;p16">
            <a:extLst>
              <a:ext uri="{FF2B5EF4-FFF2-40B4-BE49-F238E27FC236}">
                <a16:creationId xmlns:a16="http://schemas.microsoft.com/office/drawing/2014/main" id="{B94EF4E2-64B6-02D3-725C-1C1CAFC7D136}"/>
              </a:ext>
            </a:extLst>
          </p:cNvPr>
          <p:cNvGrpSpPr/>
          <p:nvPr/>
        </p:nvGrpSpPr>
        <p:grpSpPr>
          <a:xfrm>
            <a:off x="2825744" y="2393450"/>
            <a:ext cx="6383069" cy="3088070"/>
            <a:chOff x="486100" y="2772100"/>
            <a:chExt cx="8169733" cy="3770178"/>
          </a:xfrm>
        </p:grpSpPr>
        <p:pic>
          <p:nvPicPr>
            <p:cNvPr id="6" name="Google Shape;93;p16">
              <a:extLst>
                <a:ext uri="{FF2B5EF4-FFF2-40B4-BE49-F238E27FC236}">
                  <a16:creationId xmlns:a16="http://schemas.microsoft.com/office/drawing/2014/main" id="{DABFD30D-F942-AADF-6555-D48BDA39CF78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88175" y="2858932"/>
              <a:ext cx="8167658" cy="36833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94;p16">
              <a:extLst>
                <a:ext uri="{FF2B5EF4-FFF2-40B4-BE49-F238E27FC236}">
                  <a16:creationId xmlns:a16="http://schemas.microsoft.com/office/drawing/2014/main" id="{B1EE0C54-8FCC-D58D-1BB8-620EC9EB51FD}"/>
                </a:ext>
              </a:extLst>
            </p:cNvPr>
            <p:cNvSpPr/>
            <p:nvPr/>
          </p:nvSpPr>
          <p:spPr>
            <a:xfrm>
              <a:off x="486100" y="2772100"/>
              <a:ext cx="3061200" cy="420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06621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D4B02-D3B4-6640-BEFE-E52329B2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DFF3D-10E0-AABA-400D-074E2437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Dependencias Spring Security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7EAC00E-5FF4-38A9-A384-02E73A76FE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DF40F8-64F9-9746-12E4-9887124CF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Si va a crear un proyecto con Spring Security asegúrese de incluir la dependencia de Spring Security en el Spring </a:t>
            </a:r>
            <a:r>
              <a:rPr lang="es-ES" sz="1800" dirty="0" err="1"/>
              <a:t>Initializr</a:t>
            </a:r>
            <a:r>
              <a:rPr lang="es-ES" sz="18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O, si ya lo creó, adicionar la dependencia en el POM.xml:</a:t>
            </a:r>
            <a:endParaRPr lang="es-ES" sz="1800" dirty="0">
              <a:solidFill>
                <a:srgbClr val="000000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endParaRPr lang="es-PE" sz="1800" dirty="0"/>
          </a:p>
        </p:txBody>
      </p:sp>
      <p:pic>
        <p:nvPicPr>
          <p:cNvPr id="5" name="Google Shape;102;p17">
            <a:extLst>
              <a:ext uri="{FF2B5EF4-FFF2-40B4-BE49-F238E27FC236}">
                <a16:creationId xmlns:a16="http://schemas.microsoft.com/office/drawing/2014/main" id="{0B2FE760-D0F1-F912-4E73-F262844A846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37279" y="2139627"/>
            <a:ext cx="6834608" cy="200053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3;p17">
            <a:extLst>
              <a:ext uri="{FF2B5EF4-FFF2-40B4-BE49-F238E27FC236}">
                <a16:creationId xmlns:a16="http://schemas.microsoft.com/office/drawing/2014/main" id="{028DCCB1-1084-FB1B-87BB-E84A33085D85}"/>
              </a:ext>
            </a:extLst>
          </p:cNvPr>
          <p:cNvSpPr txBox="1"/>
          <p:nvPr/>
        </p:nvSpPr>
        <p:spPr>
          <a:xfrm>
            <a:off x="2437279" y="4718132"/>
            <a:ext cx="6251100" cy="9234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&lt;dependency&gt;</a:t>
            </a:r>
            <a:endParaRPr sz="120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&lt;groupId&gt;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org.springframework.boot</a:t>
            </a:r>
            <a:r>
              <a:rPr lang="es-419" sz="120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&lt;/groupId&gt;</a:t>
            </a:r>
            <a:endParaRPr sz="120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&lt;artifactId&gt;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spring-boot-starter-security</a:t>
            </a:r>
            <a:r>
              <a:rPr lang="es-419" sz="120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&lt;/artifactId&gt;</a:t>
            </a:r>
            <a:endParaRPr sz="120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&lt;/dependency&gt;</a:t>
            </a:r>
            <a:endParaRPr sz="120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25738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82CE3-D6CA-4871-9D62-D5FBB0BA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5FB56-C8DC-5A16-C06C-E5F4F8199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 por defecto – Spring Security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CF32DB7-3B5F-4AD3-14AF-76E3EB2977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5C8DF5-3BD4-ECE0-01A1-5B4162EF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600" dirty="0"/>
              <a:t>Al utilizar Spring Security, este protege </a:t>
            </a:r>
            <a:r>
              <a:rPr lang="es-ES" sz="1600" b="1" dirty="0"/>
              <a:t>todas </a:t>
            </a:r>
            <a:r>
              <a:rPr lang="es-ES" sz="1600" dirty="0"/>
              <a:t>las rutas HTTP definidas en la aplicación con “autenticación básica” (así le llama Spring - Basic Authentication).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600" dirty="0"/>
              <a:t>Esta autenticación básica solicita un usuario y </a:t>
            </a:r>
            <a:r>
              <a:rPr lang="es-ES" sz="1600" dirty="0" err="1"/>
              <a:t>password</a:t>
            </a:r>
            <a:r>
              <a:rPr lang="es-ES" sz="1600" dirty="0"/>
              <a:t> para poder ingresar a cualquiera ruta de la aplicación.</a:t>
            </a:r>
          </a:p>
          <a:p>
            <a:pPr marL="0" indent="0">
              <a:buNone/>
            </a:pPr>
            <a:endParaRPr lang="es-PE" sz="1600" dirty="0"/>
          </a:p>
          <a:p>
            <a:pPr marL="0" indent="0">
              <a:buNone/>
            </a:pPr>
            <a:r>
              <a:rPr lang="es-ES" sz="1600" dirty="0"/>
              <a:t>El usuario que crea Spring Security por defecto se llamada “</a:t>
            </a:r>
            <a:r>
              <a:rPr lang="es-ES" sz="1600" b="1" dirty="0" err="1"/>
              <a:t>user</a:t>
            </a:r>
            <a:r>
              <a:rPr lang="es-ES" sz="1600" dirty="0"/>
              <a:t>” y el </a:t>
            </a:r>
            <a:r>
              <a:rPr lang="es-ES" sz="1600" dirty="0" err="1"/>
              <a:t>password</a:t>
            </a:r>
            <a:r>
              <a:rPr lang="es-ES" sz="1600" dirty="0"/>
              <a:t> se genera de manera dinámica y se muestra en la consola.</a:t>
            </a:r>
          </a:p>
          <a:p>
            <a:endParaRPr lang="es-PE" sz="1600" dirty="0"/>
          </a:p>
        </p:txBody>
      </p:sp>
      <p:pic>
        <p:nvPicPr>
          <p:cNvPr id="5" name="Google Shape;111;p18">
            <a:extLst>
              <a:ext uri="{FF2B5EF4-FFF2-40B4-BE49-F238E27FC236}">
                <a16:creationId xmlns:a16="http://schemas.microsoft.com/office/drawing/2014/main" id="{11834F94-9EC3-60EA-6BC2-8428110DB33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7608" y="3197411"/>
            <a:ext cx="3106375" cy="230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3;p18">
            <a:extLst>
              <a:ext uri="{FF2B5EF4-FFF2-40B4-BE49-F238E27FC236}">
                <a16:creationId xmlns:a16="http://schemas.microsoft.com/office/drawing/2014/main" id="{8D376A92-F221-C19A-E490-5E52DB0661D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1580"/>
          <a:stretch/>
        </p:blipFill>
        <p:spPr>
          <a:xfrm>
            <a:off x="1779523" y="3472116"/>
            <a:ext cx="4911223" cy="1999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114;p18">
            <a:extLst>
              <a:ext uri="{FF2B5EF4-FFF2-40B4-BE49-F238E27FC236}">
                <a16:creationId xmlns:a16="http://schemas.microsoft.com/office/drawing/2014/main" id="{80A5628B-2B4B-EDD4-6C03-368328F57D3F}"/>
              </a:ext>
            </a:extLst>
          </p:cNvPr>
          <p:cNvCxnSpPr/>
          <p:nvPr/>
        </p:nvCxnSpPr>
        <p:spPr>
          <a:xfrm>
            <a:off x="2869960" y="3452133"/>
            <a:ext cx="943200" cy="1235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06415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D3C77-3333-E2A1-C6F5-28D541CE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F5EBC-1222-FE37-DD79-6D5C2AAAE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 personalizada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1C2513D-6C7E-785B-8A51-0945FB7DD1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48557F-9614-7F71-97EB-02ED0C454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La autenticación básica brindada por Spring es útil pero no tan flexible. 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Se realizarán cambios en la configuración para: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1800" dirty="0"/>
              <a:t>Proteger solo algunas rutas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800" dirty="0"/>
              <a:t>Y dar a acceso a ciertas rutas en función del rol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Que use la tabla usuario de </a:t>
            </a:r>
            <a:r>
              <a:rPr lang="es-ES" sz="1800" dirty="0" err="1"/>
              <a:t>northwind</a:t>
            </a:r>
            <a:r>
              <a:rPr lang="es-ES" sz="1800" dirty="0"/>
              <a:t> para autenticarse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Que use nuestra ventana propia de Login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Redirección en función del rol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Adicionalmente se pueden realizar muchas cosas más con ciertas configuraciones adicionales a Spring Security.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La </a:t>
            </a:r>
            <a:r>
              <a:rPr lang="es-ES" sz="1800" b="1" dirty="0"/>
              <a:t>configuración personalizada</a:t>
            </a:r>
            <a:r>
              <a:rPr lang="es-ES" sz="1800" dirty="0"/>
              <a:t> de Spring Security se puede realizar en una </a:t>
            </a:r>
            <a:r>
              <a:rPr lang="es-ES" sz="1800" b="1" dirty="0"/>
              <a:t>clase en Java</a:t>
            </a:r>
            <a:r>
              <a:rPr lang="es-ES" sz="1800" dirty="0"/>
              <a:t> o en un </a:t>
            </a:r>
            <a:r>
              <a:rPr lang="es-ES" sz="1800" b="1" dirty="0"/>
              <a:t>archivo XML</a:t>
            </a:r>
            <a:r>
              <a:rPr lang="es-ES" sz="1800" dirty="0"/>
              <a:t>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Este ciclo se demostrará usando una clase en Java.</a:t>
            </a:r>
            <a:endParaRPr lang="es-PE" sz="1800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2708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49A5EB-C82C-1463-5843-7850FD4351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8994" y="6139498"/>
            <a:ext cx="459635" cy="365125"/>
          </a:xfrm>
        </p:spPr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2F71E42-47EB-A7EC-F5EC-F371C642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dirty="0"/>
              <a:t>Configuración Personalizada</a:t>
            </a:r>
            <a:br>
              <a:rPr lang="es-ES" dirty="0"/>
            </a:br>
            <a:r>
              <a:rPr lang="es-ES" sz="3200" dirty="0"/>
              <a:t>@SecurityFilterChain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8570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566D5-A861-DCB2-DF9C-236975E3C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EF97B-2ADF-B57A-1DF1-786616B3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@EnableWebSecurity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C9D4BAA-34EB-B709-C9F3-3FD7F7242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CB605C-B0A1-1563-CFDF-62C6AC1E9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Para realizar la configuración personalizada, se debe crear una clase que: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1800" dirty="0"/>
              <a:t>Tenga la notación </a:t>
            </a:r>
            <a:r>
              <a:rPr lang="es-ES" sz="1800" b="1" dirty="0"/>
              <a:t>@Configuration</a:t>
            </a:r>
            <a:r>
              <a:rPr lang="es-ES" sz="1800" dirty="0"/>
              <a:t> → le indica a Spring que este es un archivo de configuración y debe cargarlo al inicio.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En este ejemplo se creará la clase </a:t>
            </a:r>
            <a:r>
              <a:rPr lang="es-ES" sz="1800" b="1" dirty="0" err="1"/>
              <a:t>WebSecurityConfig</a:t>
            </a:r>
            <a:r>
              <a:rPr lang="es-ES" sz="1800" b="1" dirty="0"/>
              <a:t> </a:t>
            </a:r>
            <a:r>
              <a:rPr lang="es-ES" sz="1800" dirty="0"/>
              <a:t>(el nombre puede ser cualquiera), en el paquete “</a:t>
            </a:r>
            <a:r>
              <a:rPr lang="es-ES" sz="1800" b="1" dirty="0" err="1"/>
              <a:t>config</a:t>
            </a:r>
            <a:r>
              <a:rPr lang="es-ES" sz="1800" dirty="0"/>
              <a:t>” (para mantener el orden).</a:t>
            </a:r>
          </a:p>
          <a:p>
            <a:endParaRPr lang="es-PE" sz="1800" dirty="0"/>
          </a:p>
        </p:txBody>
      </p:sp>
      <p:pic>
        <p:nvPicPr>
          <p:cNvPr id="5" name="Google Shape;136;p21">
            <a:extLst>
              <a:ext uri="{FF2B5EF4-FFF2-40B4-BE49-F238E27FC236}">
                <a16:creationId xmlns:a16="http://schemas.microsoft.com/office/drawing/2014/main" id="{3D73C723-16C2-7584-7C0F-3C9EAF2BC5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3984" y="3589602"/>
            <a:ext cx="2034400" cy="16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37;p21">
            <a:extLst>
              <a:ext uri="{FF2B5EF4-FFF2-40B4-BE49-F238E27FC236}">
                <a16:creationId xmlns:a16="http://schemas.microsoft.com/office/drawing/2014/main" id="{63175DB2-3FEC-A422-518D-6EA8087186E2}"/>
              </a:ext>
            </a:extLst>
          </p:cNvPr>
          <p:cNvSpPr/>
          <p:nvPr/>
        </p:nvSpPr>
        <p:spPr>
          <a:xfrm>
            <a:off x="4198585" y="3997252"/>
            <a:ext cx="169800" cy="377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38;p21">
            <a:extLst>
              <a:ext uri="{FF2B5EF4-FFF2-40B4-BE49-F238E27FC236}">
                <a16:creationId xmlns:a16="http://schemas.microsoft.com/office/drawing/2014/main" id="{D326B2B8-118C-D5D8-44DD-47D6FBB72B91}"/>
              </a:ext>
            </a:extLst>
          </p:cNvPr>
          <p:cNvSpPr txBox="1"/>
          <p:nvPr/>
        </p:nvSpPr>
        <p:spPr>
          <a:xfrm>
            <a:off x="4518810" y="3589602"/>
            <a:ext cx="4705200" cy="104641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@Configuration</a:t>
            </a:r>
            <a:endParaRPr sz="1400" dirty="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14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4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-419" sz="14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WebSecurityConfig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16764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590B-94E2-F032-54A6-81E5D40E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5786C-FB5E-ADBD-5FF1-D69916E1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Proteger ciertas rutas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6742FD6-6064-B1AD-6498-A6973A82B0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F2F004-2A7C-593E-39DB-2CA40F17A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Para proteger solo ciertas rutas en Spring Security se debe utilizar el método </a:t>
            </a:r>
            <a:r>
              <a:rPr lang="es-ES" sz="20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</a:t>
            </a:r>
            <a:r>
              <a:rPr lang="es-ES" sz="20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2000" dirty="0" err="1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filterChain</a:t>
            </a:r>
            <a:r>
              <a:rPr lang="es-ES" sz="20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20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HttpSecurity</a:t>
            </a:r>
            <a:r>
              <a:rPr lang="es-ES" sz="20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http)</a:t>
            </a:r>
            <a:r>
              <a:rPr lang="es-ES" sz="2000" dirty="0"/>
              <a:t> y anotado con</a:t>
            </a:r>
            <a:r>
              <a:rPr lang="es-ES" sz="2000" b="1" dirty="0"/>
              <a:t> @Bean</a:t>
            </a:r>
            <a:r>
              <a:rPr lang="es-ES" sz="2000" dirty="0"/>
              <a:t>, el cual crea un filtro que se aplica a todos los </a:t>
            </a:r>
            <a:r>
              <a:rPr lang="es-ES" sz="2000" dirty="0" err="1"/>
              <a:t>requests</a:t>
            </a:r>
            <a:r>
              <a:rPr lang="es-ES" sz="2000" dirty="0"/>
              <a:t> antes de llegar a los controladores.</a:t>
            </a:r>
          </a:p>
          <a:p>
            <a:endParaRPr lang="es-PE" dirty="0"/>
          </a:p>
        </p:txBody>
      </p:sp>
      <p:sp>
        <p:nvSpPr>
          <p:cNvPr id="5" name="Google Shape;146;p22">
            <a:extLst>
              <a:ext uri="{FF2B5EF4-FFF2-40B4-BE49-F238E27FC236}">
                <a16:creationId xmlns:a16="http://schemas.microsoft.com/office/drawing/2014/main" id="{29A00103-3224-D321-0E21-11ED27EA88FD}"/>
              </a:ext>
            </a:extLst>
          </p:cNvPr>
          <p:cNvSpPr txBox="1"/>
          <p:nvPr/>
        </p:nvSpPr>
        <p:spPr>
          <a:xfrm>
            <a:off x="1786200" y="3061447"/>
            <a:ext cx="8619600" cy="1846629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@Configuration</a:t>
            </a:r>
            <a:endParaRPr sz="1200" dirty="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WebSecurityConfig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200" dirty="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filterChain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HttpSecurity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http)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http.build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001572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EA12B-74F7-AB20-57E9-EB10558E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1013E-3499-5973-DF24-E99DDCB2F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Proteger ciertas rutas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01FDA74-0F20-34D8-2427-08FB2AC118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54B7B4-77A1-6B4E-F9C9-51324DB54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este ejemplo se realizará la siguiente configuración:</a:t>
            </a:r>
          </a:p>
          <a:p>
            <a:pPr lvl="0" indent="-342900">
              <a:spcBef>
                <a:spcPts val="300"/>
              </a:spcBef>
              <a:buSzPts val="1800"/>
              <a:buChar char="●"/>
            </a:pPr>
            <a:r>
              <a:rPr lang="es-ES" sz="1800" dirty="0"/>
              <a:t>Proteger la ruta </a:t>
            </a:r>
            <a:r>
              <a:rPr lang="es-ES" sz="1800" b="1" dirty="0"/>
              <a:t>/</a:t>
            </a:r>
            <a:r>
              <a:rPr lang="es-ES" sz="1800" b="1" dirty="0" err="1"/>
              <a:t>employee</a:t>
            </a:r>
            <a:r>
              <a:rPr lang="es-ES" sz="1800" dirty="0"/>
              <a:t> y sus </a:t>
            </a:r>
            <a:r>
              <a:rPr lang="es-ES" sz="1800" dirty="0" err="1"/>
              <a:t>sub-rutas</a:t>
            </a:r>
            <a:r>
              <a:rPr lang="es-ES" sz="1800" dirty="0"/>
              <a:t> (/</a:t>
            </a:r>
            <a:r>
              <a:rPr lang="es-ES" sz="1800" dirty="0" err="1"/>
              <a:t>employee</a:t>
            </a:r>
            <a:r>
              <a:rPr lang="es-ES" sz="1800" dirty="0"/>
              <a:t>/new, </a:t>
            </a:r>
            <a:r>
              <a:rPr lang="es-ES" sz="1800" dirty="0" err="1"/>
              <a:t>etc</a:t>
            </a:r>
            <a:r>
              <a:rPr lang="es-ES" sz="1800" dirty="0"/>
              <a:t>…).</a:t>
            </a:r>
          </a:p>
          <a:p>
            <a:pPr lvl="0" indent="-342900">
              <a:buSzPts val="1800"/>
              <a:buChar char="●"/>
            </a:pPr>
            <a:r>
              <a:rPr lang="es-ES" sz="1800" dirty="0"/>
              <a:t>Proteger la ruta </a:t>
            </a:r>
            <a:r>
              <a:rPr lang="es-ES" sz="1800" b="1" dirty="0"/>
              <a:t>/</a:t>
            </a:r>
            <a:r>
              <a:rPr lang="es-ES" sz="1800" b="1" dirty="0" err="1"/>
              <a:t>shipper</a:t>
            </a:r>
            <a:r>
              <a:rPr lang="es-ES" sz="1800" dirty="0"/>
              <a:t> y sus </a:t>
            </a:r>
            <a:r>
              <a:rPr lang="es-ES" sz="1800" dirty="0" err="1"/>
              <a:t>sub-rutas</a:t>
            </a:r>
            <a:r>
              <a:rPr lang="es-ES" sz="1800" dirty="0"/>
              <a:t>.</a:t>
            </a:r>
          </a:p>
          <a:p>
            <a:pPr lvl="0" indent="-342900">
              <a:buSzPts val="1800"/>
              <a:buChar char="●"/>
            </a:pPr>
            <a:r>
              <a:rPr lang="es-ES" sz="1800" dirty="0"/>
              <a:t>Dejar accesible a todos los usuarios cualquier otra ruta.</a:t>
            </a:r>
          </a:p>
          <a:p>
            <a:pPr lvl="0" indent="-342900">
              <a:buSzPts val="1800"/>
              <a:buChar char="●"/>
            </a:pPr>
            <a:endParaRPr lang="es-ES" sz="1800" dirty="0"/>
          </a:p>
          <a:p>
            <a:pPr lvl="0" indent="-342900">
              <a:buSzPts val="1800"/>
              <a:buChar char="●"/>
            </a:pPr>
            <a:endParaRPr lang="es-ES" sz="1800" dirty="0"/>
          </a:p>
          <a:p>
            <a:pPr lvl="0" indent="-342900">
              <a:buSzPts val="1800"/>
              <a:buChar char="●"/>
            </a:pPr>
            <a:endParaRPr lang="es-ES" sz="1800" dirty="0"/>
          </a:p>
          <a:p>
            <a:pPr lvl="0" indent="-342900">
              <a:buSzPts val="1800"/>
              <a:buChar char="●"/>
            </a:pPr>
            <a:endParaRPr lang="es-ES" sz="1800" dirty="0"/>
          </a:p>
          <a:p>
            <a:pPr lvl="0" indent="-342900">
              <a:buSzPts val="1800"/>
              <a:buChar char="●"/>
            </a:pPr>
            <a:endParaRPr lang="es-ES" sz="1800" dirty="0"/>
          </a:p>
          <a:p>
            <a:pPr marL="114300" lvl="0" indent="0" algn="r">
              <a:buSzPts val="1800"/>
              <a:buNone/>
            </a:pPr>
            <a:endParaRPr lang="es-ES" sz="1800" dirty="0"/>
          </a:p>
          <a:p>
            <a:pPr marL="114300" indent="0" algn="r">
              <a:buSzPts val="1800"/>
              <a:buNone/>
            </a:pPr>
            <a:r>
              <a:rPr lang="es-ES" sz="1800" i="1" dirty="0"/>
              <a:t>Explicación en la siguiente diapo...</a:t>
            </a:r>
          </a:p>
          <a:p>
            <a:pPr marL="114300" lvl="0" indent="0" algn="r">
              <a:buSzPts val="1800"/>
              <a:buNone/>
            </a:pPr>
            <a:endParaRPr lang="es-ES" sz="1800" dirty="0"/>
          </a:p>
          <a:p>
            <a:endParaRPr lang="es-PE" sz="1800" dirty="0"/>
          </a:p>
        </p:txBody>
      </p:sp>
      <p:sp>
        <p:nvSpPr>
          <p:cNvPr id="5" name="Google Shape;154;p23">
            <a:extLst>
              <a:ext uri="{FF2B5EF4-FFF2-40B4-BE49-F238E27FC236}">
                <a16:creationId xmlns:a16="http://schemas.microsoft.com/office/drawing/2014/main" id="{26FD1338-74FE-68D2-66DE-8A665B4C7DE3}"/>
              </a:ext>
            </a:extLst>
          </p:cNvPr>
          <p:cNvSpPr txBox="1"/>
          <p:nvPr/>
        </p:nvSpPr>
        <p:spPr>
          <a:xfrm>
            <a:off x="1835700" y="2769812"/>
            <a:ext cx="8520600" cy="1877407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10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 </a:t>
            </a:r>
            <a:r>
              <a:rPr lang="es-419" sz="110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filterChain</a:t>
            </a: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(HttpSecurity http) </a:t>
            </a:r>
            <a:r>
              <a:rPr lang="es-419" sz="11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throws </a:t>
            </a: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Exception {</a:t>
            </a:r>
            <a:endParaRPr sz="11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1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http.authorizeHttpRequests()</a:t>
            </a:r>
            <a:endParaRPr sz="11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.requestMatchers(</a:t>
            </a:r>
            <a:r>
              <a:rPr lang="es-419" sz="11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"/employee"</a:t>
            </a:r>
            <a:r>
              <a:rPr lang="es-419" sz="11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1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"/employee/**"</a:t>
            </a: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).authenticated()</a:t>
            </a:r>
            <a:endParaRPr sz="11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.requestMatchers(</a:t>
            </a:r>
            <a:r>
              <a:rPr lang="es-419" sz="11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"/shipper"</a:t>
            </a:r>
            <a:r>
              <a:rPr lang="es-419" sz="11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1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"/shipper/**"</a:t>
            </a: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).authenticated()</a:t>
            </a:r>
            <a:endParaRPr sz="11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.anyRequest().permitAll()</a:t>
            </a:r>
            <a:r>
              <a:rPr lang="es-419" sz="11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1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return </a:t>
            </a: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http.build()</a:t>
            </a:r>
            <a:r>
              <a:rPr lang="es-419" sz="11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25864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7E623-8E58-C9D3-29F7-7DB90E9EE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0F4D4-9A78-5B1D-4B37-F14E72D0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Explicación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A16E833-2CD2-E3A0-C5DA-962FFC0B7A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A74A3F-038B-A041-D65B-8B884FFA4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777" y="3182471"/>
            <a:ext cx="10354982" cy="2061599"/>
          </a:xfrm>
        </p:spPr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400" b="1" dirty="0" err="1">
                <a:latin typeface="Courier New"/>
                <a:ea typeface="Courier New"/>
                <a:cs typeface="Courier New"/>
                <a:sym typeface="Courier New"/>
              </a:rPr>
              <a:t>authorizeHttpRequests</a:t>
            </a:r>
            <a:r>
              <a:rPr lang="es-ES" sz="1400" b="1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ES" sz="1400" b="1" dirty="0"/>
              <a:t> → </a:t>
            </a:r>
            <a:r>
              <a:rPr lang="es-ES" sz="1400" dirty="0"/>
              <a:t> indica que los siguientes métodos serán sobre rutas a ser protegidas o excluidas.</a:t>
            </a:r>
          </a:p>
          <a:p>
            <a:pPr lvl="0" indent="-342900">
              <a:spcBef>
                <a:spcPts val="600"/>
              </a:spcBef>
              <a:buSzPts val="1800"/>
              <a:buChar char="●"/>
            </a:pPr>
            <a:r>
              <a:rPr lang="es-ES" sz="1400" b="1" dirty="0" err="1">
                <a:latin typeface="Courier New"/>
                <a:ea typeface="Courier New"/>
                <a:cs typeface="Courier New"/>
                <a:sym typeface="Courier New"/>
              </a:rPr>
              <a:t>requestMatchers</a:t>
            </a:r>
            <a:r>
              <a:rPr lang="es-ES" sz="1400" b="1" dirty="0">
                <a:latin typeface="Courier New"/>
                <a:ea typeface="Courier New"/>
                <a:cs typeface="Courier New"/>
                <a:sym typeface="Courier New"/>
              </a:rPr>
              <a:t>( ruta(s) )</a:t>
            </a:r>
            <a:r>
              <a:rPr lang="es-ES" sz="1400" dirty="0"/>
              <a:t> → indica la ruta(s) que se desea proteger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400" dirty="0"/>
              <a:t>* un asterisco, un nivel de profundidad: /</a:t>
            </a:r>
            <a:r>
              <a:rPr lang="es-ES" sz="1400" dirty="0" err="1"/>
              <a:t>shipper</a:t>
            </a:r>
            <a:r>
              <a:rPr lang="es-ES" sz="1400" dirty="0"/>
              <a:t>/new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400" dirty="0"/>
              <a:t>** dos asteriscos, n niveles de profundidad: /</a:t>
            </a:r>
            <a:r>
              <a:rPr lang="es-ES" sz="1400" dirty="0" err="1"/>
              <a:t>shipper</a:t>
            </a:r>
            <a:r>
              <a:rPr lang="es-ES" sz="1400" dirty="0"/>
              <a:t>/new/id/…</a:t>
            </a:r>
          </a:p>
          <a:p>
            <a:pPr lvl="0" indent="-342900">
              <a:spcBef>
                <a:spcPts val="600"/>
              </a:spcBef>
              <a:buSzPts val="1800"/>
              <a:buChar char="●"/>
            </a:pPr>
            <a:r>
              <a:rPr lang="es-ES" sz="1400" b="1" dirty="0" err="1">
                <a:latin typeface="Courier New"/>
                <a:ea typeface="Courier New"/>
                <a:cs typeface="Courier New"/>
                <a:sym typeface="Courier New"/>
              </a:rPr>
              <a:t>authenticated</a:t>
            </a:r>
            <a:r>
              <a:rPr lang="es-ES" sz="1400" b="1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ES" sz="1400" dirty="0"/>
              <a:t>→ ruta que debe ser autenticada</a:t>
            </a:r>
          </a:p>
          <a:p>
            <a:pPr lvl="0" indent="-342900">
              <a:lnSpc>
                <a:spcPct val="115000"/>
              </a:lnSpc>
              <a:spcBef>
                <a:spcPts val="600"/>
              </a:spcBef>
              <a:buSzPts val="1800"/>
              <a:buChar char="●"/>
            </a:pPr>
            <a:r>
              <a:rPr lang="es-ES" sz="1400" b="1" dirty="0" err="1">
                <a:latin typeface="Courier New"/>
                <a:ea typeface="Courier New"/>
                <a:cs typeface="Courier New"/>
                <a:sym typeface="Courier New"/>
              </a:rPr>
              <a:t>anyRequest</a:t>
            </a:r>
            <a:r>
              <a:rPr lang="es-ES" sz="1400" b="1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ES" sz="1400" b="1" dirty="0"/>
              <a:t> </a:t>
            </a:r>
            <a:r>
              <a:rPr lang="es-ES" sz="1400" dirty="0"/>
              <a:t>→ cualquier otra solicitud</a:t>
            </a:r>
          </a:p>
          <a:p>
            <a:pPr lvl="0" indent="-342900">
              <a:spcBef>
                <a:spcPts val="600"/>
              </a:spcBef>
              <a:buSzPts val="1800"/>
              <a:buChar char="●"/>
            </a:pPr>
            <a:r>
              <a:rPr lang="es-ES" sz="1400" b="1" dirty="0" err="1">
                <a:latin typeface="Courier New"/>
                <a:ea typeface="Courier New"/>
                <a:cs typeface="Courier New"/>
                <a:sym typeface="Courier New"/>
              </a:rPr>
              <a:t>permitAll</a:t>
            </a:r>
            <a:r>
              <a:rPr lang="es-ES" sz="1400" b="1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ES" sz="1400" b="1" dirty="0"/>
              <a:t> </a:t>
            </a:r>
            <a:r>
              <a:rPr lang="es-ES" sz="1400" dirty="0"/>
              <a:t>→ permitir (no aplicarle autenticación). Esta última se aplica a </a:t>
            </a:r>
            <a:r>
              <a:rPr lang="es-ES" sz="1400" dirty="0" err="1"/>
              <a:t>anyRequest</a:t>
            </a:r>
            <a:r>
              <a:rPr lang="es-ES" sz="1400" dirty="0"/>
              <a:t> pues aparecen seguidas.</a:t>
            </a:r>
          </a:p>
          <a:p>
            <a:endParaRPr lang="es-PE" dirty="0"/>
          </a:p>
        </p:txBody>
      </p:sp>
      <p:sp>
        <p:nvSpPr>
          <p:cNvPr id="5" name="Google Shape;162;p24">
            <a:extLst>
              <a:ext uri="{FF2B5EF4-FFF2-40B4-BE49-F238E27FC236}">
                <a16:creationId xmlns:a16="http://schemas.microsoft.com/office/drawing/2014/main" id="{F2BB1716-4039-C7BE-29B8-66B30CBBB0B9}"/>
              </a:ext>
            </a:extLst>
          </p:cNvPr>
          <p:cNvSpPr txBox="1"/>
          <p:nvPr/>
        </p:nvSpPr>
        <p:spPr>
          <a:xfrm>
            <a:off x="1835700" y="1413993"/>
            <a:ext cx="8520600" cy="1477297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200" dirty="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filterChain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HttpSecurity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http)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throws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http.authorizeHttpRequests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requestMatchers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/**"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authenticated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requestMatchers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shipper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shipper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/**"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authenticated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anyRequest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permitAll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0138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959EC-D33A-66E8-F39C-A93D2B5E9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FB537-5B9F-F1CF-9DA8-4F418BD6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6F14D9E-3AA8-018B-1B42-884D9064DA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E77DB2-35B2-D061-29D2-E2B27969C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/>
              <a:t>/product → todo bien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/>
          </a:p>
          <a:p>
            <a:pPr marL="0" lvl="0" indent="0">
              <a:spcBef>
                <a:spcPts val="1600"/>
              </a:spcBef>
              <a:buNone/>
            </a:pPr>
            <a:endParaRPr lang="es-ES"/>
          </a:p>
          <a:p>
            <a:pPr marL="0" lvl="0" indent="0">
              <a:spcBef>
                <a:spcPts val="1600"/>
              </a:spcBef>
              <a:buNone/>
            </a:pPr>
            <a:endParaRPr lang="es-ES"/>
          </a:p>
          <a:p>
            <a:pPr marL="0" lvl="0" indent="0">
              <a:spcBef>
                <a:spcPts val="1600"/>
              </a:spcBef>
              <a:buNone/>
            </a:pPr>
            <a:r>
              <a:rPr lang="es-ES"/>
              <a:t>/shipper → aparece un mensaje de error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/>
          </a:p>
          <a:p>
            <a:pPr marL="0" lvl="0" indent="0">
              <a:spcBef>
                <a:spcPts val="1600"/>
              </a:spcBef>
              <a:buNone/>
            </a:pPr>
            <a:endParaRPr lang="es-ES"/>
          </a:p>
          <a:p>
            <a:pPr marL="0" lvl="0" indent="0">
              <a:spcBef>
                <a:spcPts val="1600"/>
              </a:spcBef>
              <a:buNone/>
            </a:pPr>
            <a:endParaRPr lang="es-ES"/>
          </a:p>
          <a:p>
            <a:pPr marL="228600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b="1"/>
              <a:t>¿Qué ha pasado?</a:t>
            </a:r>
            <a:endParaRPr lang="es-PE"/>
          </a:p>
        </p:txBody>
      </p:sp>
      <p:pic>
        <p:nvPicPr>
          <p:cNvPr id="5" name="Google Shape;170;p25">
            <a:extLst>
              <a:ext uri="{FF2B5EF4-FFF2-40B4-BE49-F238E27FC236}">
                <a16:creationId xmlns:a16="http://schemas.microsoft.com/office/drawing/2014/main" id="{305D5444-A2EA-3C9A-AD1E-CF385D2550B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12840" y="2952968"/>
            <a:ext cx="2525550" cy="5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1;p25">
            <a:extLst>
              <a:ext uri="{FF2B5EF4-FFF2-40B4-BE49-F238E27FC236}">
                <a16:creationId xmlns:a16="http://schemas.microsoft.com/office/drawing/2014/main" id="{CE2A2CAE-94C0-AE82-BE7D-0402BF4938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35001"/>
          <a:stretch/>
        </p:blipFill>
        <p:spPr>
          <a:xfrm>
            <a:off x="6312840" y="3660324"/>
            <a:ext cx="4092475" cy="12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72;p25">
            <a:extLst>
              <a:ext uri="{FF2B5EF4-FFF2-40B4-BE49-F238E27FC236}">
                <a16:creationId xmlns:a16="http://schemas.microsoft.com/office/drawing/2014/main" id="{88F25F8C-157A-DEAB-19B1-041F6744F33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7804" y="1162975"/>
            <a:ext cx="2655410" cy="1579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8024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4B875-EC1A-F2E8-E87A-DCF036B1E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3F2E1-D54E-9C88-912B-BE453C27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Login Form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F4B5D65-E00A-9876-BC4E-DCA2421A8B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5C582E-AF8C-00C0-5824-FDDA22B92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Cuando se realiza una configuración personalizada de Spring, al cambiar la configuración de </a:t>
            </a:r>
            <a:r>
              <a:rPr lang="es-ES" sz="1800" b="1" dirty="0" err="1"/>
              <a:t>SecurityFilterChain</a:t>
            </a:r>
            <a:r>
              <a:rPr lang="es-ES" sz="1800" b="1" dirty="0"/>
              <a:t> (</a:t>
            </a:r>
            <a:r>
              <a:rPr lang="es-ES" sz="1800" b="1" dirty="0" err="1"/>
              <a:t>HttpSecurity</a:t>
            </a:r>
            <a:r>
              <a:rPr lang="es-ES" sz="1800" b="1" dirty="0"/>
              <a:t>)</a:t>
            </a:r>
            <a:r>
              <a:rPr lang="es-ES" sz="1800" dirty="0"/>
              <a:t>, Spring Security ya no incluye por defecto el formulario de </a:t>
            </a:r>
            <a:r>
              <a:rPr lang="es-ES" sz="1800" dirty="0" err="1"/>
              <a:t>login</a:t>
            </a:r>
            <a:r>
              <a:rPr lang="es-ES" sz="18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Para solucionar este problema se tienen dos opciones: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1800" dirty="0"/>
              <a:t>Colocar las configuraciones para que Spring Security vuelva a insertar su formulario por defecto.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Colocar nuestras configuraciones para que utilice nuestros propios formularios.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Se empezará por la primera para probar la funcionalidad de las rutas y luego se configurará para tener nuestra propia ventana de </a:t>
            </a:r>
            <a:r>
              <a:rPr lang="es-ES" sz="1800" dirty="0" err="1"/>
              <a:t>login</a:t>
            </a:r>
            <a:r>
              <a:rPr lang="es-ES" sz="1800" dirty="0"/>
              <a:t>.</a:t>
            </a:r>
          </a:p>
          <a:p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3990114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EB27-ACF3-345D-CFA4-9D99AFE10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CEF2A-3510-B22B-2198-2AE47008C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Default Login Form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3309695-7445-25BE-EC29-13C40F1E4E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066E0D-E5D6-520F-BDDE-7FFE0A00B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volver a tener el formulario de </a:t>
            </a:r>
            <a:r>
              <a:rPr lang="es-ES" dirty="0" err="1"/>
              <a:t>login</a:t>
            </a:r>
            <a:r>
              <a:rPr lang="es-ES" dirty="0"/>
              <a:t> por defecto de Spring Security se deben adicionar la siguiente configuración: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b="1" dirty="0" err="1"/>
              <a:t>formLogin</a:t>
            </a:r>
            <a:r>
              <a:rPr lang="es-ES" b="1" dirty="0"/>
              <a:t>()</a:t>
            </a:r>
            <a:r>
              <a:rPr lang="es-ES" dirty="0"/>
              <a:t> → para que vuelva a incluir su formulario de </a:t>
            </a:r>
            <a:r>
              <a:rPr lang="es-ES" dirty="0" err="1"/>
              <a:t>login</a:t>
            </a:r>
            <a:endParaRPr lang="es-ES" dirty="0"/>
          </a:p>
          <a:p>
            <a:endParaRPr lang="es-PE" dirty="0"/>
          </a:p>
        </p:txBody>
      </p:sp>
      <p:sp>
        <p:nvSpPr>
          <p:cNvPr id="7" name="Google Shape;187;p27">
            <a:extLst>
              <a:ext uri="{FF2B5EF4-FFF2-40B4-BE49-F238E27FC236}">
                <a16:creationId xmlns:a16="http://schemas.microsoft.com/office/drawing/2014/main" id="{22EBE0D1-1D81-E0A8-53C4-B62E7645DE21}"/>
              </a:ext>
            </a:extLst>
          </p:cNvPr>
          <p:cNvSpPr txBox="1"/>
          <p:nvPr/>
        </p:nvSpPr>
        <p:spPr>
          <a:xfrm>
            <a:off x="1835700" y="2409079"/>
            <a:ext cx="8520600" cy="1846629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20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 </a:t>
            </a:r>
            <a:r>
              <a:rPr lang="es-419" sz="120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filterChain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(HttpSecurity http) 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throws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Exception {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http.formLogin();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http.authorizeHttpRequests()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.requestMatchers(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"/employee"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"/employee/**"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).authenticated()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.requestMatchers(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"/shipper"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"/shipper/**"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).authenticated()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.anyRequest().permitAll()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" name="Google Shape;188;p27">
            <a:extLst>
              <a:ext uri="{FF2B5EF4-FFF2-40B4-BE49-F238E27FC236}">
                <a16:creationId xmlns:a16="http://schemas.microsoft.com/office/drawing/2014/main" id="{87F5F51F-B578-9517-FA6C-86306FF40DCA}"/>
              </a:ext>
            </a:extLst>
          </p:cNvPr>
          <p:cNvSpPr/>
          <p:nvPr/>
        </p:nvSpPr>
        <p:spPr>
          <a:xfrm>
            <a:off x="3790425" y="2959304"/>
            <a:ext cx="1411200" cy="3009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134704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4F4E-2A34-55EB-34EA-8C2E81E2F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B4F13-7735-640C-A1AE-C2B3768F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43B4E3-769B-6835-4D5D-6EAAE82C07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31B957-A427-DC78-264D-6E8EB2640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Al seleccionar en </a:t>
            </a:r>
            <a:r>
              <a:rPr lang="es-ES" sz="1800" b="1" dirty="0"/>
              <a:t>/</a:t>
            </a:r>
            <a:r>
              <a:rPr lang="es-ES" sz="1800" b="1" dirty="0" err="1"/>
              <a:t>shipper</a:t>
            </a:r>
            <a:r>
              <a:rPr lang="es-ES" sz="1800" dirty="0"/>
              <a:t> o </a:t>
            </a:r>
            <a:r>
              <a:rPr lang="es-ES" sz="1800" b="1" dirty="0"/>
              <a:t>/</a:t>
            </a:r>
            <a:r>
              <a:rPr lang="es-ES" sz="1800" b="1" dirty="0" err="1"/>
              <a:t>employee</a:t>
            </a:r>
            <a:r>
              <a:rPr lang="es-ES" sz="1800" dirty="0"/>
              <a:t>: 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Al colocar el usuario (</a:t>
            </a:r>
            <a:r>
              <a:rPr lang="es-ES" sz="1800" dirty="0" err="1"/>
              <a:t>user</a:t>
            </a:r>
            <a:r>
              <a:rPr lang="es-ES" sz="1800" dirty="0"/>
              <a:t>) y </a:t>
            </a:r>
            <a:r>
              <a:rPr lang="es-ES" sz="1800" dirty="0" err="1"/>
              <a:t>password</a:t>
            </a:r>
            <a:r>
              <a:rPr lang="es-ES" sz="1800" dirty="0"/>
              <a:t> (que aparece en consola).</a:t>
            </a:r>
          </a:p>
          <a:p>
            <a:endParaRPr lang="es-PE" sz="1800" dirty="0"/>
          </a:p>
        </p:txBody>
      </p:sp>
      <p:pic>
        <p:nvPicPr>
          <p:cNvPr id="5" name="Google Shape;196;p28">
            <a:extLst>
              <a:ext uri="{FF2B5EF4-FFF2-40B4-BE49-F238E27FC236}">
                <a16:creationId xmlns:a16="http://schemas.microsoft.com/office/drawing/2014/main" id="{B00E3F98-0FFF-2133-94C7-30188856132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57004" y="4373749"/>
            <a:ext cx="837750" cy="83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7;p28">
            <a:extLst>
              <a:ext uri="{FF2B5EF4-FFF2-40B4-BE49-F238E27FC236}">
                <a16:creationId xmlns:a16="http://schemas.microsoft.com/office/drawing/2014/main" id="{A0611E7C-144D-540C-848B-C17A1BDE67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8140" y="932024"/>
            <a:ext cx="2431375" cy="1638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8;p28">
            <a:extLst>
              <a:ext uri="{FF2B5EF4-FFF2-40B4-BE49-F238E27FC236}">
                <a16:creationId xmlns:a16="http://schemas.microsoft.com/office/drawing/2014/main" id="{2082CA81-71F3-6012-0B62-76A0A60FB14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9053" y="3429000"/>
            <a:ext cx="3273747" cy="21508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5960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2F71E42-47EB-A7EC-F5EC-F371C642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dirty="0"/>
              <a:t>Autorización:</a:t>
            </a:r>
            <a:br>
              <a:rPr lang="es-ES" sz="4800" dirty="0"/>
            </a:br>
            <a:r>
              <a:rPr lang="es-ES" sz="4800" dirty="0"/>
              <a:t>Acceso basado en roles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25205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AEAB1-C45B-51D4-F46E-4587138F7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C34E5-4837-1379-31CC-E1F86013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Autorización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90C8942-B37F-AFC3-DF43-1B2CAF3632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D45830-C87F-D40A-6A9A-AF10E0CBD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que Spring Security no utilice por defecto su usuario (</a:t>
            </a:r>
            <a:r>
              <a:rPr lang="es-ES" b="1" dirty="0" err="1"/>
              <a:t>user</a:t>
            </a:r>
            <a:r>
              <a:rPr lang="es-ES" dirty="0"/>
              <a:t>) y su </a:t>
            </a:r>
            <a:r>
              <a:rPr lang="es-ES" b="1" dirty="0" err="1"/>
              <a:t>password</a:t>
            </a:r>
            <a:r>
              <a:rPr lang="es-ES" b="1" dirty="0"/>
              <a:t> autogenerado </a:t>
            </a:r>
            <a:r>
              <a:rPr lang="es-ES" dirty="0"/>
              <a:t>para autenticarnos, se configurará para que utilice los usuarios y </a:t>
            </a:r>
            <a:r>
              <a:rPr lang="es-ES" dirty="0" err="1"/>
              <a:t>passwords</a:t>
            </a:r>
            <a:r>
              <a:rPr lang="es-ES" dirty="0"/>
              <a:t> definidos en la base de datos.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69896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BB274-1BAF-1D6F-D2F5-C2B77B84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30E2A-A184-EDCD-C161-56694D5A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Tablas sugeridas por Spring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5F4A4FD-1A2A-1D0F-572A-6F0C656121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811E06-EB2A-DC49-D573-211C32BD8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500" dirty="0"/>
              <a:t>Spring </a:t>
            </a:r>
            <a:r>
              <a:rPr lang="es-ES" sz="1500" dirty="0" err="1"/>
              <a:t>security</a:t>
            </a:r>
            <a:r>
              <a:rPr lang="es-ES" sz="1500" dirty="0"/>
              <a:t> exige tener dos tablas para manejar la autenticación y autorización; y al menos los siguientes campos: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500" dirty="0"/>
          </a:p>
          <a:p>
            <a:pPr marL="0" lvl="0" indent="0">
              <a:spcBef>
                <a:spcPts val="1600"/>
              </a:spcBef>
              <a:buNone/>
            </a:pPr>
            <a:endParaRPr lang="es-ES" sz="1500" dirty="0"/>
          </a:p>
          <a:p>
            <a:pPr marL="0" lvl="0" indent="0">
              <a:spcBef>
                <a:spcPts val="1600"/>
              </a:spcBef>
              <a:buNone/>
            </a:pPr>
            <a:endParaRPr lang="es-ES" sz="1500" dirty="0"/>
          </a:p>
          <a:p>
            <a:pPr marL="0" lvl="0" indent="0">
              <a:spcBef>
                <a:spcPts val="1600"/>
              </a:spcBef>
              <a:buNone/>
            </a:pPr>
            <a:endParaRPr lang="es-ES" sz="15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500" dirty="0"/>
              <a:t>Donde: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500" dirty="0"/>
              <a:t>Tabla </a:t>
            </a:r>
            <a:r>
              <a:rPr lang="es-ES" sz="1500" dirty="0" err="1"/>
              <a:t>users</a:t>
            </a:r>
            <a:r>
              <a:rPr lang="es-ES" sz="1500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500" dirty="0" err="1"/>
              <a:t>username</a:t>
            </a:r>
            <a:r>
              <a:rPr lang="es-ES" sz="1500" dirty="0"/>
              <a:t>: nombre del usuario para </a:t>
            </a:r>
            <a:r>
              <a:rPr lang="es-ES" sz="1500" dirty="0" err="1"/>
              <a:t>loguearse</a:t>
            </a:r>
            <a:endParaRPr lang="es-ES" sz="15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500" dirty="0" err="1"/>
              <a:t>password</a:t>
            </a:r>
            <a:r>
              <a:rPr lang="es-ES" sz="1500" dirty="0"/>
              <a:t>: </a:t>
            </a:r>
            <a:r>
              <a:rPr lang="es-ES" sz="1500" dirty="0" err="1"/>
              <a:t>password</a:t>
            </a:r>
            <a:r>
              <a:rPr lang="es-ES" sz="1500" dirty="0"/>
              <a:t> del usuario. Spring recomienda cifrar con </a:t>
            </a:r>
            <a:r>
              <a:rPr lang="es-ES" sz="1500" dirty="0" err="1"/>
              <a:t>Bcrypt</a:t>
            </a:r>
            <a:endParaRPr lang="es-ES" sz="15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500" dirty="0" err="1"/>
              <a:t>enabled</a:t>
            </a:r>
            <a:r>
              <a:rPr lang="es-ES" sz="1500" dirty="0"/>
              <a:t>: si el usuario se encuentra habilitado en el sistema o no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500" dirty="0"/>
              <a:t>Tabla </a:t>
            </a:r>
            <a:r>
              <a:rPr lang="es-ES" sz="1500" dirty="0" err="1"/>
              <a:t>authorities</a:t>
            </a:r>
            <a:r>
              <a:rPr lang="es-ES" sz="1500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500" dirty="0" err="1"/>
              <a:t>username</a:t>
            </a:r>
            <a:r>
              <a:rPr lang="es-ES" sz="1500" dirty="0"/>
              <a:t>: FK que hace referencia a la tabla </a:t>
            </a:r>
            <a:r>
              <a:rPr lang="es-ES" sz="1500" dirty="0" err="1"/>
              <a:t>users</a:t>
            </a:r>
            <a:endParaRPr lang="es-ES" sz="15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500" dirty="0" err="1"/>
              <a:t>authority</a:t>
            </a:r>
            <a:r>
              <a:rPr lang="es-ES" sz="1500" dirty="0"/>
              <a:t>: el rol que tendrá el usuario en el sistema.</a:t>
            </a:r>
            <a:endParaRPr lang="es-PE" dirty="0"/>
          </a:p>
        </p:txBody>
      </p:sp>
      <p:pic>
        <p:nvPicPr>
          <p:cNvPr id="5" name="Google Shape;219;p31">
            <a:extLst>
              <a:ext uri="{FF2B5EF4-FFF2-40B4-BE49-F238E27FC236}">
                <a16:creationId xmlns:a16="http://schemas.microsoft.com/office/drawing/2014/main" id="{23E8A11A-11B8-F2C4-34D0-B1FF8F53FB6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74764" y="1775529"/>
            <a:ext cx="5850800" cy="1898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2076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F6248-0EB4-9388-A2A7-C41223BFA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28AA3-529B-1A4D-8061-12D4ADF9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Tablas utilizadas en el ejemplo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B02A036-F0C3-7C27-27F2-F3779EB208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50FBE4-1CF6-E4F7-2D6A-B1D290954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Tablas utilizadas en el ejemplo</a:t>
            </a:r>
            <a:endParaRPr lang="es-PE" dirty="0"/>
          </a:p>
        </p:txBody>
      </p:sp>
      <p:pic>
        <p:nvPicPr>
          <p:cNvPr id="5" name="Google Shape;227;p32">
            <a:extLst>
              <a:ext uri="{FF2B5EF4-FFF2-40B4-BE49-F238E27FC236}">
                <a16:creationId xmlns:a16="http://schemas.microsoft.com/office/drawing/2014/main" id="{44FCF827-7A2F-88C8-2C65-0AFB3CE4CB0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99132" y="2055185"/>
            <a:ext cx="4433100" cy="3504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1001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5AAB-209B-09BC-2BA7-93539A30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C455B-39F6-8F34-9BD0-3C636184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Información sobre las tablas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CD24EBE-6D2C-93BB-1C09-E6AA54E310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E65CEA-0302-A4B6-6937-6F72847C0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Las tablas tienen almacenados dos registros cada una: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Para los usuarios se usará el email como </a:t>
            </a:r>
            <a:r>
              <a:rPr lang="es-ES" sz="2000" dirty="0" err="1"/>
              <a:t>username</a:t>
            </a:r>
            <a:r>
              <a:rPr lang="es-ES" sz="2000" dirty="0"/>
              <a:t> y la columna </a:t>
            </a:r>
            <a:r>
              <a:rPr lang="es-ES" sz="2000" dirty="0" err="1"/>
              <a:t>pwd</a:t>
            </a:r>
            <a:r>
              <a:rPr lang="es-ES" sz="2000" dirty="0"/>
              <a:t> como </a:t>
            </a:r>
            <a:r>
              <a:rPr lang="es-ES" sz="2000" b="1" dirty="0" err="1"/>
              <a:t>password</a:t>
            </a:r>
            <a:r>
              <a:rPr lang="es-ES" sz="2000" b="1" dirty="0"/>
              <a:t> (el mismo email sin @gmail.com)</a:t>
            </a:r>
            <a:r>
              <a:rPr lang="es-ES" sz="2000" dirty="0"/>
              <a:t>. 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El </a:t>
            </a:r>
            <a:r>
              <a:rPr lang="es-ES" sz="2000" dirty="0" err="1"/>
              <a:t>password</a:t>
            </a:r>
            <a:r>
              <a:rPr lang="es-ES" sz="2000" dirty="0"/>
              <a:t> está encriptado usando </a:t>
            </a:r>
            <a:r>
              <a:rPr lang="es-ES" sz="2000" dirty="0" err="1"/>
              <a:t>bcrypt</a:t>
            </a:r>
            <a:r>
              <a:rPr lang="es-ES" sz="2000" dirty="0"/>
              <a:t>: 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2"/>
              </a:rPr>
              <a:t>https://bcrypt-generator.com/</a:t>
            </a:r>
            <a:endParaRPr lang="es-ES" sz="20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3"/>
              </a:rPr>
              <a:t>https://www.devglan.com/online-tools/bcrypt-hash-generator</a:t>
            </a:r>
            <a:endParaRPr lang="es-ES" sz="20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Para  los roles se tienen dos, </a:t>
            </a:r>
            <a:r>
              <a:rPr lang="es-ES" sz="2000" dirty="0" err="1"/>
              <a:t>admin</a:t>
            </a:r>
            <a:r>
              <a:rPr lang="es-ES" sz="2000" dirty="0"/>
              <a:t> y logística:</a:t>
            </a:r>
          </a:p>
          <a:p>
            <a:endParaRPr lang="es-PE" sz="2000" dirty="0"/>
          </a:p>
        </p:txBody>
      </p:sp>
      <p:pic>
        <p:nvPicPr>
          <p:cNvPr id="5" name="Google Shape;235;p33">
            <a:extLst>
              <a:ext uri="{FF2B5EF4-FFF2-40B4-BE49-F238E27FC236}">
                <a16:creationId xmlns:a16="http://schemas.microsoft.com/office/drawing/2014/main" id="{4BA5588E-8490-E6A1-F5A8-2F5F8DC7D99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4576" y="4538320"/>
            <a:ext cx="1540543" cy="9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37;p33">
            <a:extLst>
              <a:ext uri="{FF2B5EF4-FFF2-40B4-BE49-F238E27FC236}">
                <a16:creationId xmlns:a16="http://schemas.microsoft.com/office/drawing/2014/main" id="{6D53F5E6-07A6-1372-3692-D405CAF681E7}"/>
              </a:ext>
            </a:extLst>
          </p:cNvPr>
          <p:cNvSpPr/>
          <p:nvPr/>
        </p:nvSpPr>
        <p:spPr>
          <a:xfrm>
            <a:off x="1317976" y="5003420"/>
            <a:ext cx="5477700" cy="8895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/>
              <a:t>si usted crea usuarios y contraseñas en su aplicación, utilice 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/>
              <a:t>new BCryptPasswordEncoder().encode(plainTextPassword);</a:t>
            </a:r>
            <a:r>
              <a:rPr lang="es-419" sz="1100"/>
              <a:t> para generar un password con hash BCRYPT.</a:t>
            </a:r>
            <a:endParaRPr sz="1100"/>
          </a:p>
        </p:txBody>
      </p:sp>
      <p:pic>
        <p:nvPicPr>
          <p:cNvPr id="7" name="Google Shape;236;p33">
            <a:extLst>
              <a:ext uri="{FF2B5EF4-FFF2-40B4-BE49-F238E27FC236}">
                <a16:creationId xmlns:a16="http://schemas.microsoft.com/office/drawing/2014/main" id="{34C62855-3255-03C8-F53E-380D4A0958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b="10618"/>
          <a:stretch/>
        </p:blipFill>
        <p:spPr>
          <a:xfrm>
            <a:off x="1561449" y="1854580"/>
            <a:ext cx="8413525" cy="744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3213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913A6-8A11-B7D4-3ECC-749D5039F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C04B9-58E1-7A03-6D20-66705DCA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Proteger ciertas rutas por roles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C96CC74-9EF0-B5AA-E872-4A7353FB13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94EE05-C9BD-2CA6-E8BB-7D5C919ED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este ejemplo se realizará la siguiente configuración:</a:t>
            </a:r>
          </a:p>
          <a:p>
            <a:pPr lvl="0" indent="-342900">
              <a:spcBef>
                <a:spcPts val="300"/>
              </a:spcBef>
              <a:buSzPts val="1800"/>
              <a:buChar char="●"/>
            </a:pPr>
            <a:r>
              <a:rPr lang="es-ES" sz="1800" dirty="0"/>
              <a:t>Proteger la ruta </a:t>
            </a:r>
            <a:r>
              <a:rPr lang="es-ES" sz="1800" b="1" dirty="0"/>
              <a:t>/</a:t>
            </a:r>
            <a:r>
              <a:rPr lang="es-ES" sz="1800" b="1" dirty="0" err="1"/>
              <a:t>employee</a:t>
            </a:r>
            <a:r>
              <a:rPr lang="es-ES" sz="1800" dirty="0"/>
              <a:t> y sus </a:t>
            </a:r>
            <a:r>
              <a:rPr lang="es-ES" sz="1800" dirty="0" err="1"/>
              <a:t>sub-rutas</a:t>
            </a:r>
            <a:r>
              <a:rPr lang="es-ES" sz="1800" dirty="0"/>
              <a:t> (/</a:t>
            </a:r>
            <a:r>
              <a:rPr lang="es-ES" sz="1800" dirty="0" err="1"/>
              <a:t>employee</a:t>
            </a:r>
            <a:r>
              <a:rPr lang="es-ES" sz="1800" dirty="0"/>
              <a:t>/new, </a:t>
            </a:r>
            <a:r>
              <a:rPr lang="es-ES" sz="1800" dirty="0" err="1"/>
              <a:t>etc</a:t>
            </a:r>
            <a:r>
              <a:rPr lang="es-ES" sz="1800" dirty="0"/>
              <a:t>…)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800" dirty="0"/>
              <a:t>Solo podrá acceder a la ruta</a:t>
            </a:r>
            <a:r>
              <a:rPr lang="es-ES" sz="1800" b="1" dirty="0"/>
              <a:t> /</a:t>
            </a:r>
            <a:r>
              <a:rPr lang="es-ES" sz="1800" b="1" dirty="0" err="1"/>
              <a:t>employee</a:t>
            </a:r>
            <a:r>
              <a:rPr lang="es-ES" sz="1800" b="1" dirty="0"/>
              <a:t> → </a:t>
            </a:r>
            <a:r>
              <a:rPr lang="es-ES" sz="1800" dirty="0"/>
              <a:t>los roles </a:t>
            </a:r>
            <a:r>
              <a:rPr lang="es-ES" sz="1800" b="1" dirty="0" err="1"/>
              <a:t>admin</a:t>
            </a:r>
            <a:r>
              <a:rPr lang="es-ES" sz="1800" b="1" dirty="0"/>
              <a:t> y logística</a:t>
            </a:r>
          </a:p>
          <a:p>
            <a:pPr lvl="0" indent="-342900">
              <a:buSzPts val="1800"/>
              <a:buChar char="●"/>
            </a:pPr>
            <a:r>
              <a:rPr lang="es-ES" sz="1800" dirty="0"/>
              <a:t>Proteger la ruta </a:t>
            </a:r>
            <a:r>
              <a:rPr lang="es-ES" sz="1800" b="1" dirty="0"/>
              <a:t>/</a:t>
            </a:r>
            <a:r>
              <a:rPr lang="es-ES" sz="1800" b="1" dirty="0" err="1"/>
              <a:t>shipper</a:t>
            </a:r>
            <a:r>
              <a:rPr lang="es-ES" sz="1800" dirty="0"/>
              <a:t> y sus </a:t>
            </a:r>
            <a:r>
              <a:rPr lang="es-ES" sz="1800" dirty="0" err="1"/>
              <a:t>sub-rutas</a:t>
            </a:r>
            <a:endParaRPr lang="es-ES" sz="1800" dirty="0"/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800" dirty="0"/>
              <a:t>Solo podrá acceder a la ruta</a:t>
            </a:r>
            <a:r>
              <a:rPr lang="es-ES" sz="1800" b="1" dirty="0"/>
              <a:t> /</a:t>
            </a:r>
            <a:r>
              <a:rPr lang="es-ES" sz="1800" b="1" dirty="0" err="1"/>
              <a:t>shipper</a:t>
            </a:r>
            <a:r>
              <a:rPr lang="es-ES" sz="1800" b="1" dirty="0"/>
              <a:t> → </a:t>
            </a:r>
            <a:r>
              <a:rPr lang="es-ES" sz="1800" dirty="0"/>
              <a:t>el rol</a:t>
            </a:r>
            <a:r>
              <a:rPr lang="es-ES" sz="1800" b="1" dirty="0"/>
              <a:t> </a:t>
            </a:r>
            <a:r>
              <a:rPr lang="es-ES" sz="1800" b="1" dirty="0" err="1"/>
              <a:t>admin</a:t>
            </a:r>
            <a:endParaRPr lang="es-ES" sz="1800" b="1" dirty="0"/>
          </a:p>
          <a:p>
            <a:pPr marL="0" lvl="0" indent="0">
              <a:spcAft>
                <a:spcPts val="1000"/>
              </a:spcAft>
              <a:buNone/>
            </a:pPr>
            <a:r>
              <a:rPr lang="es-ES" sz="1800" dirty="0"/>
              <a:t>Para lograr esto, se cambia el método </a:t>
            </a:r>
            <a:r>
              <a:rPr lang="es-ES" sz="1800" b="1" dirty="0" err="1"/>
              <a:t>authenticated</a:t>
            </a:r>
            <a:r>
              <a:rPr lang="es-ES" sz="1800" dirty="0"/>
              <a:t>() por </a:t>
            </a:r>
            <a:r>
              <a:rPr lang="es-ES" sz="1800" b="1" dirty="0" err="1"/>
              <a:t>hasAuthority</a:t>
            </a:r>
            <a:r>
              <a:rPr lang="es-ES" sz="1800" dirty="0"/>
              <a:t>() o </a:t>
            </a:r>
            <a:r>
              <a:rPr lang="es-ES" sz="1800" b="1" dirty="0" err="1"/>
              <a:t>hasAnyAuthority</a:t>
            </a:r>
            <a:r>
              <a:rPr lang="es-ES" sz="1800" dirty="0"/>
              <a:t>().</a:t>
            </a:r>
          </a:p>
          <a:p>
            <a:endParaRPr lang="es-PE" dirty="0"/>
          </a:p>
        </p:txBody>
      </p:sp>
      <p:sp>
        <p:nvSpPr>
          <p:cNvPr id="5" name="Google Shape;245;p34">
            <a:extLst>
              <a:ext uri="{FF2B5EF4-FFF2-40B4-BE49-F238E27FC236}">
                <a16:creationId xmlns:a16="http://schemas.microsoft.com/office/drawing/2014/main" id="{7F7765F8-1FF2-2588-3294-FB609DFA4331}"/>
              </a:ext>
            </a:extLst>
          </p:cNvPr>
          <p:cNvSpPr txBox="1"/>
          <p:nvPr/>
        </p:nvSpPr>
        <p:spPr>
          <a:xfrm>
            <a:off x="1672950" y="3634420"/>
            <a:ext cx="8846100" cy="18471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20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 </a:t>
            </a:r>
            <a:r>
              <a:rPr lang="es-419" sz="120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filterChain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(HttpSecurity http) 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throws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Exception {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http.formLogin()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http.authorizeHttpRequests()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.requestMatchers(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"/employee"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"/employee/**"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).hasAnyAuthority(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"admin"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"logistica"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.requestMatchers(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"/shipper"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"/shipper/**"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).hasAuthority(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"admin"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.anyRequest().permitAll()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6611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3C30-DD1C-1005-FABB-AE3990689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9C152-6FA8-F23A-57B8-FE40C598F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Autenticar por roles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BF54B77-7024-44E7-D0DF-D10C113814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30C807-3EA6-421F-BDF6-9C612060C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Para indicarle a Spring </a:t>
            </a:r>
            <a:r>
              <a:rPr lang="es-ES" sz="2000" dirty="0" err="1"/>
              <a:t>security</a:t>
            </a:r>
            <a:r>
              <a:rPr lang="es-ES" sz="2000" dirty="0"/>
              <a:t> que utilice la base de datos para autenticar a los usuarios, se deben realizar 3 pasos:</a:t>
            </a:r>
          </a:p>
          <a:p>
            <a:pPr lvl="0" indent="-342900">
              <a:spcBef>
                <a:spcPts val="1600"/>
              </a:spcBef>
              <a:buSzPts val="1800"/>
              <a:buAutoNum type="arabicPeriod"/>
            </a:pPr>
            <a:r>
              <a:rPr lang="es-ES" sz="2000" dirty="0"/>
              <a:t>Se debe obtener una instancia de la conexión de Spring a DB. </a:t>
            </a:r>
          </a:p>
          <a:p>
            <a:pPr marL="914400"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Esto se logra con la inyección del </a:t>
            </a:r>
            <a:r>
              <a:rPr lang="es-ES" sz="2000" dirty="0" err="1"/>
              <a:t>DataSource</a:t>
            </a:r>
            <a:r>
              <a:rPr lang="es-ES" sz="2000" dirty="0"/>
              <a:t>.</a:t>
            </a:r>
          </a:p>
          <a:p>
            <a:endParaRPr lang="es-PE" sz="2000" dirty="0"/>
          </a:p>
        </p:txBody>
      </p:sp>
      <p:sp>
        <p:nvSpPr>
          <p:cNvPr id="5" name="Google Shape;254;p35">
            <a:extLst>
              <a:ext uri="{FF2B5EF4-FFF2-40B4-BE49-F238E27FC236}">
                <a16:creationId xmlns:a16="http://schemas.microsoft.com/office/drawing/2014/main" id="{CF13BD33-5F01-7BC0-50AD-E72F21979AF5}"/>
              </a:ext>
            </a:extLst>
          </p:cNvPr>
          <p:cNvSpPr txBox="1"/>
          <p:nvPr/>
        </p:nvSpPr>
        <p:spPr>
          <a:xfrm>
            <a:off x="2431050" y="3234549"/>
            <a:ext cx="7329900" cy="1908184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@Configuration</a:t>
            </a:r>
            <a:endParaRPr sz="140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WebSecurityConfig {</a:t>
            </a: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final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DataSource </a:t>
            </a:r>
            <a:r>
              <a:rPr lang="es-419" sz="1400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dataSource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public </a:t>
            </a:r>
            <a:r>
              <a:rPr lang="es-419" sz="140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WebSecurityConfig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(DataSource dataSource) {</a:t>
            </a: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400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dataSource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= dataSource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92526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646CB-EBDA-0B92-AE54-3CBEE6877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4DAD2-3D7B-36FD-00CC-AE71CFD6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Autenticar por roles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7934961-7B23-D6BA-E218-608DEA47DF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F93826-AC2E-2D1E-A464-96F2621E7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Debido a que los </a:t>
            </a:r>
            <a:r>
              <a:rPr lang="es-ES" sz="2000" dirty="0" err="1"/>
              <a:t>password</a:t>
            </a:r>
            <a:r>
              <a:rPr lang="es-ES" sz="2000" dirty="0"/>
              <a:t> están con hash </a:t>
            </a:r>
            <a:r>
              <a:rPr lang="es-ES" sz="2000" dirty="0" err="1"/>
              <a:t>bcrypt</a:t>
            </a:r>
            <a:r>
              <a:rPr lang="es-ES" sz="2000" dirty="0"/>
              <a:t>, debemos indicarle a Spring cómo comparará este campo con </a:t>
            </a:r>
            <a:r>
              <a:rPr lang="es-ES" sz="20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PasswordEncoder</a:t>
            </a:r>
            <a:r>
              <a:rPr lang="es-ES" sz="2000" dirty="0"/>
              <a:t>, anotado con </a:t>
            </a:r>
            <a:r>
              <a:rPr lang="es-ES" sz="2000" b="1" dirty="0"/>
              <a:t>@Bean</a:t>
            </a:r>
            <a:r>
              <a:rPr lang="es-ES" sz="2000" dirty="0"/>
              <a:t>.</a:t>
            </a:r>
          </a:p>
          <a:p>
            <a:endParaRPr lang="es-PE" sz="2000" dirty="0"/>
          </a:p>
        </p:txBody>
      </p:sp>
      <p:sp>
        <p:nvSpPr>
          <p:cNvPr id="5" name="Google Shape;262;p36">
            <a:extLst>
              <a:ext uri="{FF2B5EF4-FFF2-40B4-BE49-F238E27FC236}">
                <a16:creationId xmlns:a16="http://schemas.microsoft.com/office/drawing/2014/main" id="{D3DBE788-D47B-6D0C-CCA9-5E2374F8CD56}"/>
              </a:ext>
            </a:extLst>
          </p:cNvPr>
          <p:cNvSpPr txBox="1"/>
          <p:nvPr/>
        </p:nvSpPr>
        <p:spPr>
          <a:xfrm>
            <a:off x="2993250" y="2472173"/>
            <a:ext cx="6205500" cy="2985402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@Configuration</a:t>
            </a:r>
            <a:endParaRPr sz="140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WebSecurityConfig {</a:t>
            </a: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final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DataSource </a:t>
            </a:r>
            <a:r>
              <a:rPr lang="es-419" sz="1400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dataSource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public </a:t>
            </a:r>
            <a:r>
              <a:rPr lang="es-419" sz="140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WebSecurityConfig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(DataSource dataSource) {</a:t>
            </a: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400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dataSource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= dataSource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4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40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PasswordEncoder </a:t>
            </a:r>
            <a:r>
              <a:rPr lang="es-419" sz="140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passwordEncoder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return new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BCryptPasswordEncoder()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263;p36">
            <a:extLst>
              <a:ext uri="{FF2B5EF4-FFF2-40B4-BE49-F238E27FC236}">
                <a16:creationId xmlns:a16="http://schemas.microsoft.com/office/drawing/2014/main" id="{C9E7744A-179D-3E33-E746-BA327E92EBC8}"/>
              </a:ext>
            </a:extLst>
          </p:cNvPr>
          <p:cNvSpPr/>
          <p:nvPr/>
        </p:nvSpPr>
        <p:spPr>
          <a:xfrm>
            <a:off x="3137125" y="4419023"/>
            <a:ext cx="187800" cy="977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953444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AA51D-2946-5F0A-32FA-95C324490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E0AD4-EC8C-CB88-4790-D7F248B6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Autenticar por roles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808176C-42FE-517C-5EF6-24CB925207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076203-4942-EADF-3FFC-DB3C6E53B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Finalmente, se utiliza el método </a:t>
            </a:r>
            <a:r>
              <a:rPr lang="es-ES" sz="20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UserDetailsManager</a:t>
            </a:r>
            <a:r>
              <a:rPr lang="es-ES" sz="2000" dirty="0"/>
              <a:t> con el cual se obtiene la información de usuario/</a:t>
            </a:r>
            <a:r>
              <a:rPr lang="es-ES" sz="2000" dirty="0" err="1"/>
              <a:t>password</a:t>
            </a:r>
            <a:r>
              <a:rPr lang="es-ES" sz="2000" dirty="0"/>
              <a:t>/rol para cada usuario que trate de ingresar.</a:t>
            </a:r>
          </a:p>
          <a:p>
            <a:endParaRPr lang="es-PE" sz="2000" dirty="0"/>
          </a:p>
        </p:txBody>
      </p:sp>
      <p:sp>
        <p:nvSpPr>
          <p:cNvPr id="5" name="Google Shape;268;p37">
            <a:extLst>
              <a:ext uri="{FF2B5EF4-FFF2-40B4-BE49-F238E27FC236}">
                <a16:creationId xmlns:a16="http://schemas.microsoft.com/office/drawing/2014/main" id="{7D6D972A-0932-E4E2-9961-B8636180236A}"/>
              </a:ext>
            </a:extLst>
          </p:cNvPr>
          <p:cNvSpPr txBox="1"/>
          <p:nvPr/>
        </p:nvSpPr>
        <p:spPr>
          <a:xfrm>
            <a:off x="1524000" y="2310937"/>
            <a:ext cx="9144000" cy="3323957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200" dirty="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PasswordEncoder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passwordEncoder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new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BCryptPasswordEncoder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200" dirty="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UserDetailsManager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DataSource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dataSource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JdbcUserDetailsManager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JdbcUserDetailsManager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dataSource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String sql1 = 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"SELECT email, 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activo FROM usuario WHERE email = ?"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String sql2 = 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"SELECT 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u.email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r.nombre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FROM usuario u "</a:t>
            </a:r>
            <a:endParaRPr sz="1200" dirty="0">
              <a:solidFill>
                <a:srgbClr val="6A875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"INNER JOIN rol r ON (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u.idrol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r.idrol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 "</a:t>
            </a:r>
            <a:endParaRPr sz="1200" dirty="0">
              <a:solidFill>
                <a:srgbClr val="6A875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"WHERE 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u.email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= ? and 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u.activo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= 1"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users.setUsersByUsernameQuery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(sql1)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users.setAuthoritiesByUsernameQuery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(sql2)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272;p37">
            <a:extLst>
              <a:ext uri="{FF2B5EF4-FFF2-40B4-BE49-F238E27FC236}">
                <a16:creationId xmlns:a16="http://schemas.microsoft.com/office/drawing/2014/main" id="{948791B6-D829-D489-18C7-C9C4F8742E7A}"/>
              </a:ext>
            </a:extLst>
          </p:cNvPr>
          <p:cNvSpPr/>
          <p:nvPr/>
        </p:nvSpPr>
        <p:spPr>
          <a:xfrm>
            <a:off x="1669497" y="3307975"/>
            <a:ext cx="319200" cy="2247875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69456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90687-39A3-F8F0-393B-CA2E3C7FF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1F92F-5F6C-0D52-F178-EDBE051E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UserDetailsManager</a:t>
            </a:r>
            <a:r>
              <a:rPr lang="es-ES" dirty="0"/>
              <a:t> - explicación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79E5D90-D9C5-0497-83F1-695019F895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78F865-FACC-F489-F933-491D4BDDB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777" y="4202276"/>
            <a:ext cx="10354982" cy="1353388"/>
          </a:xfrm>
        </p:spPr>
        <p:txBody>
          <a:bodyPr>
            <a:normAutofit/>
          </a:bodyPr>
          <a:lstStyle/>
          <a:p>
            <a:pPr lvl="0" indent="-317500">
              <a:spcBef>
                <a:spcPts val="1600"/>
              </a:spcBef>
              <a:buSzPts val="1400"/>
              <a:buChar char="●"/>
            </a:pPr>
            <a:r>
              <a:rPr lang="es-419" sz="1400" b="1" dirty="0" err="1">
                <a:ea typeface="Courier New"/>
                <a:cs typeface="Courier New"/>
                <a:sym typeface="Courier New"/>
              </a:rPr>
              <a:t>JdbcUserDetailsManager</a:t>
            </a:r>
            <a:r>
              <a:rPr lang="es-419" sz="1400" b="1" dirty="0">
                <a:ea typeface="Courier New"/>
                <a:cs typeface="Courier New"/>
                <a:sym typeface="Courier New"/>
              </a:rPr>
              <a:t>()</a:t>
            </a:r>
            <a:r>
              <a:rPr lang="es-419" sz="1400" b="1" dirty="0"/>
              <a:t> </a:t>
            </a:r>
            <a:r>
              <a:rPr lang="es-419" sz="1400" dirty="0"/>
              <a:t>→ Para obtener las credenciales de forma personalizada.</a:t>
            </a:r>
          </a:p>
          <a:p>
            <a:pPr lvl="0" indent="-317500">
              <a:buSzPts val="1400"/>
              <a:buChar char="●"/>
            </a:pPr>
            <a:r>
              <a:rPr lang="es-419" sz="1400" b="1" dirty="0" err="1">
                <a:ea typeface="Courier New"/>
                <a:cs typeface="Courier New"/>
                <a:sym typeface="Courier New"/>
              </a:rPr>
              <a:t>setUsersByUsernameQuery</a:t>
            </a:r>
            <a:r>
              <a:rPr lang="es-419" sz="1400" b="1" dirty="0">
                <a:ea typeface="Courier New"/>
                <a:cs typeface="Courier New"/>
                <a:sym typeface="Courier New"/>
              </a:rPr>
              <a:t>(</a:t>
            </a:r>
            <a:r>
              <a:rPr lang="es-419" sz="1400" b="1" dirty="0" err="1">
                <a:ea typeface="Courier New"/>
                <a:cs typeface="Courier New"/>
                <a:sym typeface="Courier New"/>
              </a:rPr>
              <a:t>sql</a:t>
            </a:r>
            <a:r>
              <a:rPr lang="es-419" sz="1400" b="1" dirty="0">
                <a:ea typeface="Courier New"/>
                <a:cs typeface="Courier New"/>
                <a:sym typeface="Courier New"/>
              </a:rPr>
              <a:t>)</a:t>
            </a:r>
            <a:r>
              <a:rPr lang="es-419" sz="1400" b="1" dirty="0"/>
              <a:t> </a:t>
            </a:r>
            <a:r>
              <a:rPr lang="es-419" sz="1400" dirty="0"/>
              <a:t>→ Query para obtener el email, </a:t>
            </a:r>
            <a:r>
              <a:rPr lang="es-419" sz="1400" dirty="0" err="1"/>
              <a:t>password</a:t>
            </a:r>
            <a:r>
              <a:rPr lang="es-419" sz="1400" dirty="0"/>
              <a:t> y estado. 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1400" dirty="0"/>
              <a:t>A Spring Security sólo le importa el orden de los campos, no el nombre.</a:t>
            </a:r>
          </a:p>
          <a:p>
            <a:pPr lvl="0" indent="-317500">
              <a:buSzPts val="1400"/>
              <a:buChar char="●"/>
            </a:pPr>
            <a:r>
              <a:rPr lang="es-419" sz="1400" b="1" dirty="0" err="1">
                <a:ea typeface="Courier New"/>
                <a:cs typeface="Courier New"/>
                <a:sym typeface="Courier New"/>
              </a:rPr>
              <a:t>setAuthoritiesByUsernameQuery</a:t>
            </a:r>
            <a:r>
              <a:rPr lang="es-419" sz="1400" b="1" dirty="0">
                <a:ea typeface="Courier New"/>
                <a:cs typeface="Courier New"/>
                <a:sym typeface="Courier New"/>
              </a:rPr>
              <a:t>(</a:t>
            </a:r>
            <a:r>
              <a:rPr lang="es-419" sz="1400" b="1" dirty="0" err="1">
                <a:ea typeface="Courier New"/>
                <a:cs typeface="Courier New"/>
                <a:sym typeface="Courier New"/>
              </a:rPr>
              <a:t>sql</a:t>
            </a:r>
            <a:r>
              <a:rPr lang="es-419" sz="1400" b="1" dirty="0">
                <a:ea typeface="Courier New"/>
                <a:cs typeface="Courier New"/>
                <a:sym typeface="Courier New"/>
              </a:rPr>
              <a:t>)</a:t>
            </a:r>
            <a:r>
              <a:rPr lang="es-419" sz="1400" b="1" dirty="0"/>
              <a:t> </a:t>
            </a:r>
            <a:r>
              <a:rPr lang="es-419" sz="1400" dirty="0"/>
              <a:t>→ Query para obtener los roles de los usuarios en base al email.</a:t>
            </a:r>
          </a:p>
          <a:p>
            <a:endParaRPr lang="es-PE" sz="2000" dirty="0"/>
          </a:p>
        </p:txBody>
      </p:sp>
      <p:sp>
        <p:nvSpPr>
          <p:cNvPr id="5" name="Google Shape;280;p38">
            <a:extLst>
              <a:ext uri="{FF2B5EF4-FFF2-40B4-BE49-F238E27FC236}">
                <a16:creationId xmlns:a16="http://schemas.microsoft.com/office/drawing/2014/main" id="{56A3454B-A0F6-A707-7A57-DE947480E297}"/>
              </a:ext>
            </a:extLst>
          </p:cNvPr>
          <p:cNvSpPr txBox="1"/>
          <p:nvPr/>
        </p:nvSpPr>
        <p:spPr>
          <a:xfrm>
            <a:off x="1524000" y="1455410"/>
            <a:ext cx="9144000" cy="2400627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20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UserDetailsManager </a:t>
            </a:r>
            <a:r>
              <a:rPr lang="es-419" sz="120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(DataSource dataSource){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JdbcUserDetailsManager users = 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JdbcUserDetailsManager(dataSource)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String sql1 = 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"SELECT email, pwd, activo FROM usuario WHERE email = ?"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String sql2 = 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"SELECT u.email, r.nombre FROM usuario u "</a:t>
            </a:r>
            <a:endParaRPr sz="1200">
              <a:solidFill>
                <a:srgbClr val="6A875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"INNER JOIN rol r ON (u.idrol = r.idrol) "</a:t>
            </a:r>
            <a:endParaRPr sz="1200">
              <a:solidFill>
                <a:srgbClr val="6A875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"WHERE u.email = ?"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users.setUsersByUsernameQuery(sql1)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users.setAuthoritiesByUsernameQuery(sql2)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return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378419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4948E-5172-D808-A817-A248A5797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C966F-F3B6-8C24-6827-7B9DDAC98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6" y="25249"/>
            <a:ext cx="10354982" cy="705775"/>
          </a:xfrm>
        </p:spPr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67FD88C-A3E7-1AFA-B633-ACB7DCDB47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27</a:t>
            </a:fld>
            <a:endParaRPr lang="es-PE"/>
          </a:p>
        </p:txBody>
      </p:sp>
      <p:sp>
        <p:nvSpPr>
          <p:cNvPr id="5" name="Google Shape;286;p39">
            <a:extLst>
              <a:ext uri="{FF2B5EF4-FFF2-40B4-BE49-F238E27FC236}">
                <a16:creationId xmlns:a16="http://schemas.microsoft.com/office/drawing/2014/main" id="{86A9617D-6270-CB0B-9739-4D2F9434430B}"/>
              </a:ext>
            </a:extLst>
          </p:cNvPr>
          <p:cNvSpPr/>
          <p:nvPr/>
        </p:nvSpPr>
        <p:spPr>
          <a:xfrm>
            <a:off x="1265965" y="3191893"/>
            <a:ext cx="9318533" cy="2334300"/>
          </a:xfrm>
          <a:prstGeom prst="roundRect">
            <a:avLst>
              <a:gd name="adj" fmla="val 7706"/>
            </a:avLst>
          </a:prstGeom>
          <a:solidFill>
            <a:srgbClr val="C6FA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86;p39">
            <a:extLst>
              <a:ext uri="{FF2B5EF4-FFF2-40B4-BE49-F238E27FC236}">
                <a16:creationId xmlns:a16="http://schemas.microsoft.com/office/drawing/2014/main" id="{A9665523-B4F0-AD52-45C6-5F7C4154B1FA}"/>
              </a:ext>
            </a:extLst>
          </p:cNvPr>
          <p:cNvSpPr/>
          <p:nvPr/>
        </p:nvSpPr>
        <p:spPr>
          <a:xfrm>
            <a:off x="1265966" y="766136"/>
            <a:ext cx="9318533" cy="2334300"/>
          </a:xfrm>
          <a:prstGeom prst="roundRect">
            <a:avLst>
              <a:gd name="adj" fmla="val 7706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290;p39">
            <a:extLst>
              <a:ext uri="{FF2B5EF4-FFF2-40B4-BE49-F238E27FC236}">
                <a16:creationId xmlns:a16="http://schemas.microsoft.com/office/drawing/2014/main" id="{0A2AE5ED-1B9D-D058-E51A-FE486BCDF52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30230" y="1431611"/>
            <a:ext cx="2191225" cy="15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91;p39">
            <a:extLst>
              <a:ext uri="{FF2B5EF4-FFF2-40B4-BE49-F238E27FC236}">
                <a16:creationId xmlns:a16="http://schemas.microsoft.com/office/drawing/2014/main" id="{DB32E3EC-CDCC-ED6F-9BC7-12B2E0EC93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5675"/>
          <a:stretch/>
        </p:blipFill>
        <p:spPr>
          <a:xfrm>
            <a:off x="4493531" y="1431611"/>
            <a:ext cx="2717125" cy="15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92;p39">
            <a:extLst>
              <a:ext uri="{FF2B5EF4-FFF2-40B4-BE49-F238E27FC236}">
                <a16:creationId xmlns:a16="http://schemas.microsoft.com/office/drawing/2014/main" id="{88F852AD-AC9C-1F6F-FFD2-8ED36F4226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675"/>
          <a:stretch/>
        </p:blipFill>
        <p:spPr>
          <a:xfrm>
            <a:off x="7578230" y="1442324"/>
            <a:ext cx="2717125" cy="150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93;p39">
            <a:extLst>
              <a:ext uri="{FF2B5EF4-FFF2-40B4-BE49-F238E27FC236}">
                <a16:creationId xmlns:a16="http://schemas.microsoft.com/office/drawing/2014/main" id="{5CB6BFEA-D3A0-71A6-3972-D4681FA1BDBF}"/>
              </a:ext>
            </a:extLst>
          </p:cNvPr>
          <p:cNvSpPr/>
          <p:nvPr/>
        </p:nvSpPr>
        <p:spPr>
          <a:xfrm>
            <a:off x="3907693" y="1985849"/>
            <a:ext cx="399600" cy="41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294;p39">
            <a:extLst>
              <a:ext uri="{FF2B5EF4-FFF2-40B4-BE49-F238E27FC236}">
                <a16:creationId xmlns:a16="http://schemas.microsoft.com/office/drawing/2014/main" id="{1F79ACB0-54C3-3166-F8C5-DEA4F454C29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675"/>
          <a:stretch/>
        </p:blipFill>
        <p:spPr>
          <a:xfrm>
            <a:off x="7495057" y="3774206"/>
            <a:ext cx="2717125" cy="150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95;p39">
            <a:extLst>
              <a:ext uri="{FF2B5EF4-FFF2-40B4-BE49-F238E27FC236}">
                <a16:creationId xmlns:a16="http://schemas.microsoft.com/office/drawing/2014/main" id="{A7E69B72-29F9-4B00-EE81-D6E3A03F7F34}"/>
              </a:ext>
            </a:extLst>
          </p:cNvPr>
          <p:cNvSpPr/>
          <p:nvPr/>
        </p:nvSpPr>
        <p:spPr>
          <a:xfrm>
            <a:off x="3824520" y="4317731"/>
            <a:ext cx="399600" cy="41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296;p39">
            <a:extLst>
              <a:ext uri="{FF2B5EF4-FFF2-40B4-BE49-F238E27FC236}">
                <a16:creationId xmlns:a16="http://schemas.microsoft.com/office/drawing/2014/main" id="{F53734DB-1C52-4B30-D27C-60610C30107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7042" y="3774218"/>
            <a:ext cx="2191225" cy="1526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97;p39">
            <a:extLst>
              <a:ext uri="{FF2B5EF4-FFF2-40B4-BE49-F238E27FC236}">
                <a16:creationId xmlns:a16="http://schemas.microsoft.com/office/drawing/2014/main" id="{82BCEB5B-08D5-D518-30EB-6ABF86BB0CE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65545" y="3774218"/>
            <a:ext cx="2728162" cy="152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98;p39">
            <a:extLst>
              <a:ext uri="{FF2B5EF4-FFF2-40B4-BE49-F238E27FC236}">
                <a16:creationId xmlns:a16="http://schemas.microsoft.com/office/drawing/2014/main" id="{72D8C980-F341-48FD-1FB5-80BAEA9BDBE1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26736" y="1048592"/>
            <a:ext cx="837750" cy="837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2242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2F71E42-47EB-A7EC-F5EC-F371C642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dirty="0"/>
              <a:t>Ventana </a:t>
            </a:r>
            <a:r>
              <a:rPr lang="es-ES" sz="4800" dirty="0" err="1"/>
              <a:t>Login</a:t>
            </a:r>
            <a:r>
              <a:rPr lang="es-ES" sz="4800" dirty="0"/>
              <a:t> personalizada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0472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24DF2-467A-8189-C4C9-3610A97C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D869F-5D0C-F341-C747-142FF7CF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Ventana </a:t>
            </a:r>
            <a:r>
              <a:rPr lang="es-ES" dirty="0" err="1"/>
              <a:t>login</a:t>
            </a:r>
            <a:r>
              <a:rPr lang="es-ES" dirty="0"/>
              <a:t> personalizada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0066761-0ED0-E4CE-A144-B15C315BC6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7898EC-6B13-1162-A4CC-5B0AAB13A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Como se observó, la ventana de </a:t>
            </a:r>
            <a:r>
              <a:rPr lang="es-ES" sz="1800" dirty="0" err="1"/>
              <a:t>login</a:t>
            </a:r>
            <a:r>
              <a:rPr lang="es-ES" sz="1800" dirty="0"/>
              <a:t> es generada automáticamente por Spring </a:t>
            </a:r>
            <a:r>
              <a:rPr lang="es-ES" sz="1800" dirty="0" err="1"/>
              <a:t>security</a:t>
            </a:r>
            <a:r>
              <a:rPr lang="es-ES" sz="1800" dirty="0"/>
              <a:t>, lo cual sirve para probar la funcionalidad de ingreso al sistema pero los errores e información están en inglés; además que no se pueden personalizar los estilos.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Para indicarle a Spring que utilice una ventana de Login propia, se debe ajustar lo siguiente: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1800" dirty="0"/>
              <a:t>Ajustar la configuración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Gestionar las rutas del </a:t>
            </a:r>
            <a:r>
              <a:rPr lang="es-ES" sz="1800" dirty="0" err="1"/>
              <a:t>login</a:t>
            </a:r>
            <a:endParaRPr lang="es-ES" sz="18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Crear una vista con el </a:t>
            </a:r>
            <a:r>
              <a:rPr lang="es-ES" sz="1800" dirty="0" err="1"/>
              <a:t>login</a:t>
            </a:r>
            <a:r>
              <a:rPr lang="es-ES" sz="1800" dirty="0"/>
              <a:t> personalizado</a:t>
            </a:r>
          </a:p>
          <a:p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2672407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A2D8E-DE15-12ED-6EED-3205497F8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B8A49-01A1-AD78-80BB-3CA3C3D69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Ajustar la configuración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9AD21B-E1F5-B9DE-0C4F-C2C1EE5668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2A8B74-C4D5-E8D2-9204-67079075B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Antes: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32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Ahora: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Adicionar los métodos </a:t>
            </a:r>
            <a:r>
              <a:rPr lang="es-ES" sz="1800" b="1" dirty="0" err="1"/>
              <a:t>loginPage</a:t>
            </a:r>
            <a:r>
              <a:rPr lang="es-ES" sz="1800" b="1" dirty="0"/>
              <a:t> </a:t>
            </a:r>
            <a:r>
              <a:rPr lang="es-ES" sz="1800" dirty="0"/>
              <a:t>y </a:t>
            </a:r>
            <a:r>
              <a:rPr lang="es-ES" sz="1800" b="1" dirty="0" err="1"/>
              <a:t>loginProcessingUrl</a:t>
            </a:r>
            <a:r>
              <a:rPr lang="es-ES" sz="1800" dirty="0"/>
              <a:t>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1800" b="1" dirty="0" err="1"/>
              <a:t>loginPage</a:t>
            </a:r>
            <a:r>
              <a:rPr lang="es-ES" sz="1800" b="1" dirty="0"/>
              <a:t>()</a:t>
            </a:r>
            <a:r>
              <a:rPr lang="es-ES" sz="1800" dirty="0"/>
              <a:t> → ruta donde será estará la ventana de </a:t>
            </a:r>
            <a:r>
              <a:rPr lang="es-ES" sz="1800" dirty="0" err="1"/>
              <a:t>login</a:t>
            </a:r>
            <a:endParaRPr lang="es-ES" sz="1800" dirty="0"/>
          </a:p>
          <a:p>
            <a:pPr lvl="0" indent="-342900">
              <a:spcBef>
                <a:spcPts val="0"/>
              </a:spcBef>
              <a:spcAft>
                <a:spcPts val="1600"/>
              </a:spcAft>
              <a:buSzPts val="1800"/>
              <a:buChar char="●"/>
            </a:pPr>
            <a:r>
              <a:rPr lang="es-ES" sz="1800" b="1" dirty="0" err="1"/>
              <a:t>loginProcessingUrl</a:t>
            </a:r>
            <a:r>
              <a:rPr lang="es-ES" sz="1800" b="1" dirty="0"/>
              <a:t>()</a:t>
            </a:r>
            <a:r>
              <a:rPr lang="es-ES" sz="1800" dirty="0"/>
              <a:t> → ruta donde se envía el formulario de </a:t>
            </a:r>
            <a:r>
              <a:rPr lang="es-ES" sz="1800" dirty="0" err="1"/>
              <a:t>login</a:t>
            </a:r>
            <a:endParaRPr lang="es-ES" sz="1800" dirty="0"/>
          </a:p>
          <a:p>
            <a:endParaRPr lang="es-PE" sz="1800" dirty="0"/>
          </a:p>
        </p:txBody>
      </p:sp>
      <p:sp>
        <p:nvSpPr>
          <p:cNvPr id="5" name="Google Shape;319;p42">
            <a:extLst>
              <a:ext uri="{FF2B5EF4-FFF2-40B4-BE49-F238E27FC236}">
                <a16:creationId xmlns:a16="http://schemas.microsoft.com/office/drawing/2014/main" id="{D928EAB8-E762-F336-A436-7542FA3ED058}"/>
              </a:ext>
            </a:extLst>
          </p:cNvPr>
          <p:cNvSpPr txBox="1"/>
          <p:nvPr/>
        </p:nvSpPr>
        <p:spPr>
          <a:xfrm>
            <a:off x="1719459" y="1906109"/>
            <a:ext cx="8403000" cy="104641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40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 </a:t>
            </a:r>
            <a:r>
              <a:rPr lang="es-419" sz="140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filterChain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(HttpSecurity http) 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throws </a:t>
            </a: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Exception {</a:t>
            </a: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http.formLogin()</a:t>
            </a:r>
            <a:r>
              <a:rPr lang="es-419" sz="14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320;p42">
            <a:extLst>
              <a:ext uri="{FF2B5EF4-FFF2-40B4-BE49-F238E27FC236}">
                <a16:creationId xmlns:a16="http://schemas.microsoft.com/office/drawing/2014/main" id="{DB68AECA-0385-9F26-557E-2BF425A417C4}"/>
              </a:ext>
            </a:extLst>
          </p:cNvPr>
          <p:cNvSpPr txBox="1"/>
          <p:nvPr/>
        </p:nvSpPr>
        <p:spPr>
          <a:xfrm>
            <a:off x="1576024" y="4331447"/>
            <a:ext cx="8403000" cy="1292631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20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 </a:t>
            </a:r>
            <a:r>
              <a:rPr lang="es-419" sz="120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filterChain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(HttpSecurity http) 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throws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Exception {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http.formLogin()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.loginPage(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"/loginForm"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.loginProcessingUrl(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"/processLogin"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96320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2FD94-ACAB-14EA-929C-7673B561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6C3BB-F596-1498-D0F0-9ACF75D62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5925"/>
            <a:ext cx="10354982" cy="705775"/>
          </a:xfrm>
        </p:spPr>
        <p:txBody>
          <a:bodyPr/>
          <a:lstStyle/>
          <a:p>
            <a:r>
              <a:rPr lang="es-ES" dirty="0"/>
              <a:t>Gestionar las rutas de </a:t>
            </a:r>
            <a:r>
              <a:rPr lang="es-ES" dirty="0" err="1"/>
              <a:t>login</a:t>
            </a:r>
            <a:r>
              <a:rPr lang="es-ES" dirty="0"/>
              <a:t> - Controlador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22386B1-BF53-6DF7-B32A-D51ADFD91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EE3ED3-F7DE-56D6-0BD2-2B2A10A26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777" y="984404"/>
            <a:ext cx="10354982" cy="3843645"/>
          </a:xfrm>
        </p:spPr>
        <p:txBody>
          <a:bodyPr>
            <a:normAutofit/>
          </a:bodyPr>
          <a:lstStyle/>
          <a:p>
            <a:r>
              <a:rPr lang="es-ES" sz="1800" dirty="0"/>
              <a:t>Se crea un controlador para gestionar las acciones del </a:t>
            </a:r>
            <a:r>
              <a:rPr lang="es-ES" sz="1800" dirty="0" err="1"/>
              <a:t>login</a:t>
            </a:r>
            <a:r>
              <a:rPr lang="es-ES" sz="1800" dirty="0"/>
              <a:t> y la ruta </a:t>
            </a:r>
            <a:r>
              <a:rPr lang="es-ES" sz="1800" b="1" dirty="0"/>
              <a:t>/</a:t>
            </a:r>
            <a:r>
              <a:rPr lang="es-ES" sz="1800" b="1" dirty="0" err="1"/>
              <a:t>loginForm</a:t>
            </a:r>
            <a:r>
              <a:rPr lang="es-ES" sz="1800" dirty="0"/>
              <a:t>, la cual debe abrir la vista </a:t>
            </a:r>
            <a:r>
              <a:rPr lang="es-ES" sz="1800" b="1" dirty="0"/>
              <a:t>form.html</a:t>
            </a:r>
            <a:r>
              <a:rPr lang="es-ES" sz="1800" dirty="0"/>
              <a:t> (en la siguiente diapositiva).</a:t>
            </a:r>
          </a:p>
          <a:p>
            <a:endParaRPr lang="es-PE" sz="1800" dirty="0"/>
          </a:p>
        </p:txBody>
      </p:sp>
      <p:sp>
        <p:nvSpPr>
          <p:cNvPr id="5" name="Google Shape;326;p43">
            <a:extLst>
              <a:ext uri="{FF2B5EF4-FFF2-40B4-BE49-F238E27FC236}">
                <a16:creationId xmlns:a16="http://schemas.microsoft.com/office/drawing/2014/main" id="{3EE0A1F9-4E73-899A-DA8E-A6F5928B9673}"/>
              </a:ext>
            </a:extLst>
          </p:cNvPr>
          <p:cNvSpPr txBox="1"/>
          <p:nvPr/>
        </p:nvSpPr>
        <p:spPr>
          <a:xfrm>
            <a:off x="2342437" y="4584527"/>
            <a:ext cx="7159500" cy="1107965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@Bean</a:t>
            </a:r>
            <a:endParaRPr sz="100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s-419" sz="10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SecurityFilterChain </a:t>
            </a:r>
            <a:r>
              <a:rPr lang="es-419" sz="100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filterChain</a:t>
            </a:r>
            <a:r>
              <a:rPr lang="es-419" sz="10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(HttpSecurity http) </a:t>
            </a:r>
            <a:r>
              <a:rPr lang="es-419" sz="10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throws </a:t>
            </a:r>
            <a:r>
              <a:rPr lang="es-419" sz="10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Exception {</a:t>
            </a:r>
            <a:endParaRPr sz="10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http.formLogin()</a:t>
            </a:r>
            <a:endParaRPr sz="10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.loginPage(</a:t>
            </a:r>
            <a:r>
              <a:rPr lang="es-419" sz="10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"/loginForm"</a:t>
            </a:r>
            <a:r>
              <a:rPr lang="es-419" sz="10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.loginProcessingUrl(</a:t>
            </a:r>
            <a:r>
              <a:rPr lang="es-419" sz="10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"/processLogin"</a:t>
            </a:r>
            <a:r>
              <a:rPr lang="es-419" sz="10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0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327;p43">
            <a:extLst>
              <a:ext uri="{FF2B5EF4-FFF2-40B4-BE49-F238E27FC236}">
                <a16:creationId xmlns:a16="http://schemas.microsoft.com/office/drawing/2014/main" id="{4FBECF99-0D86-C4D1-B4A5-E16DB204809A}"/>
              </a:ext>
            </a:extLst>
          </p:cNvPr>
          <p:cNvSpPr txBox="1"/>
          <p:nvPr/>
        </p:nvSpPr>
        <p:spPr>
          <a:xfrm>
            <a:off x="4512412" y="1841277"/>
            <a:ext cx="3404400" cy="1661963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@Controller</a:t>
            </a:r>
            <a:endParaRPr sz="120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LoginController {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@GetMapping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"/loginForm"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s-419" sz="1200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loginForm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s-419" sz="12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"login/form"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" name="Google Shape;331;p43">
            <a:extLst>
              <a:ext uri="{FF2B5EF4-FFF2-40B4-BE49-F238E27FC236}">
                <a16:creationId xmlns:a16="http://schemas.microsoft.com/office/drawing/2014/main" id="{8C3E4357-FC69-5D0A-D6AB-07A3D02C80FF}"/>
              </a:ext>
            </a:extLst>
          </p:cNvPr>
          <p:cNvSpPr txBox="1"/>
          <p:nvPr/>
        </p:nvSpPr>
        <p:spPr>
          <a:xfrm>
            <a:off x="2236662" y="4202327"/>
            <a:ext cx="20931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latin typeface="Open Sans"/>
                <a:ea typeface="Open Sans"/>
                <a:cs typeface="Open Sans"/>
                <a:sym typeface="Open Sans"/>
              </a:rPr>
              <a:t>Observar: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" name="Google Shape;332;p43">
            <a:extLst>
              <a:ext uri="{FF2B5EF4-FFF2-40B4-BE49-F238E27FC236}">
                <a16:creationId xmlns:a16="http://schemas.microsoft.com/office/drawing/2014/main" id="{DB1C581C-1D7B-0B2B-A82C-A6D88BC173C3}"/>
              </a:ext>
            </a:extLst>
          </p:cNvPr>
          <p:cNvCxnSpPr/>
          <p:nvPr/>
        </p:nvCxnSpPr>
        <p:spPr>
          <a:xfrm>
            <a:off x="2342425" y="4167202"/>
            <a:ext cx="8309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333;p43">
            <a:extLst>
              <a:ext uri="{FF2B5EF4-FFF2-40B4-BE49-F238E27FC236}">
                <a16:creationId xmlns:a16="http://schemas.microsoft.com/office/drawing/2014/main" id="{9DA3FBF0-717B-E7AE-885D-4E44856C25DD}"/>
              </a:ext>
            </a:extLst>
          </p:cNvPr>
          <p:cNvSpPr/>
          <p:nvPr/>
        </p:nvSpPr>
        <p:spPr>
          <a:xfrm>
            <a:off x="5402462" y="5364827"/>
            <a:ext cx="266100" cy="2754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0" name="Google Shape;334;p43">
            <a:extLst>
              <a:ext uri="{FF2B5EF4-FFF2-40B4-BE49-F238E27FC236}">
                <a16:creationId xmlns:a16="http://schemas.microsoft.com/office/drawing/2014/main" id="{1063E487-19FB-68DA-BBDF-92DB41E6B221}"/>
              </a:ext>
            </a:extLst>
          </p:cNvPr>
          <p:cNvSpPr/>
          <p:nvPr/>
        </p:nvSpPr>
        <p:spPr>
          <a:xfrm>
            <a:off x="7433412" y="2513327"/>
            <a:ext cx="266100" cy="2754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11" name="Google Shape;335;p43">
            <a:extLst>
              <a:ext uri="{FF2B5EF4-FFF2-40B4-BE49-F238E27FC236}">
                <a16:creationId xmlns:a16="http://schemas.microsoft.com/office/drawing/2014/main" id="{DEEFC24D-D966-1DD1-A198-8E8382AB9E1D}"/>
              </a:ext>
            </a:extLst>
          </p:cNvPr>
          <p:cNvCxnSpPr>
            <a:cxnSpLocks/>
            <a:endCxn id="10" idx="3"/>
          </p:cNvCxnSpPr>
          <p:nvPr/>
        </p:nvCxnSpPr>
        <p:spPr>
          <a:xfrm rot="5400000" flipH="1" flipV="1">
            <a:off x="5103909" y="2716959"/>
            <a:ext cx="2661535" cy="2529672"/>
          </a:xfrm>
          <a:prstGeom prst="bentConnector4">
            <a:avLst>
              <a:gd name="adj1" fmla="val -31"/>
              <a:gd name="adj2" fmla="val 15551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890357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A20C-B23C-907E-C29E-5037E6D11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5B58-E58B-6017-1CAB-3A90E79C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Vista de Login personalizado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B04AA30-673C-29BB-480A-5D429AB18F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078DB3-2BF2-15E0-A722-78BC89836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777" y="1248025"/>
            <a:ext cx="10354982" cy="3843645"/>
          </a:xfrm>
        </p:spPr>
        <p:txBody>
          <a:bodyPr>
            <a:normAutofit/>
          </a:bodyPr>
          <a:lstStyle/>
          <a:p>
            <a:r>
              <a:rPr lang="es-ES" sz="2000" dirty="0"/>
              <a:t>La vista es similar a la ofrecida por Spring pero ahora tenemos el control total.</a:t>
            </a:r>
          </a:p>
          <a:p>
            <a:endParaRPr lang="es-PE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ACABE9-BF96-235D-0BBC-4566C7E6D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24" y="1836504"/>
            <a:ext cx="6803598" cy="3907605"/>
          </a:xfrm>
          <a:prstGeom prst="rect">
            <a:avLst/>
          </a:prstGeom>
        </p:spPr>
      </p:pic>
      <p:pic>
        <p:nvPicPr>
          <p:cNvPr id="6" name="Google Shape;344;p44">
            <a:extLst>
              <a:ext uri="{FF2B5EF4-FFF2-40B4-BE49-F238E27FC236}">
                <a16:creationId xmlns:a16="http://schemas.microsoft.com/office/drawing/2014/main" id="{135685E5-D1BB-9C4F-71EC-1C46C576E2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7108"/>
          <a:stretch/>
        </p:blipFill>
        <p:spPr>
          <a:xfrm>
            <a:off x="9229640" y="2319553"/>
            <a:ext cx="1965130" cy="1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46;p44">
            <a:extLst>
              <a:ext uri="{FF2B5EF4-FFF2-40B4-BE49-F238E27FC236}">
                <a16:creationId xmlns:a16="http://schemas.microsoft.com/office/drawing/2014/main" id="{AF7280F3-21F5-2FA9-597D-ADE847AA701D}"/>
              </a:ext>
            </a:extLst>
          </p:cNvPr>
          <p:cNvSpPr/>
          <p:nvPr/>
        </p:nvSpPr>
        <p:spPr>
          <a:xfrm>
            <a:off x="8967688" y="3549778"/>
            <a:ext cx="1101600" cy="14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7489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6CC39-ACBF-8FEA-2C3C-407BCACB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3EBB2-38A6-0C29-92AD-67C5AB1FE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33825D7-CAEC-1DCF-DB7D-AA6638087A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49F3E7-1438-89B5-73C6-776E7C869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El </a:t>
            </a:r>
            <a:r>
              <a:rPr lang="es-ES" sz="2000" dirty="0" err="1"/>
              <a:t>url</a:t>
            </a:r>
            <a:r>
              <a:rPr lang="es-ES" sz="2000" dirty="0"/>
              <a:t> </a:t>
            </a:r>
            <a:r>
              <a:rPr lang="es-ES" sz="2000" b="1" dirty="0" err="1"/>
              <a:t>LoginForm</a:t>
            </a:r>
            <a:r>
              <a:rPr lang="es-ES" sz="2000" b="1" dirty="0"/>
              <a:t> </a:t>
            </a:r>
            <a:r>
              <a:rPr lang="es-ES" sz="2000" dirty="0"/>
              <a:t>se visualiza correctamente y el mensaje de error también si no se tienen las credenciales.</a:t>
            </a:r>
          </a:p>
          <a:p>
            <a:endParaRPr lang="es-PE" sz="2000" dirty="0"/>
          </a:p>
        </p:txBody>
      </p:sp>
      <p:pic>
        <p:nvPicPr>
          <p:cNvPr id="5" name="Google Shape;359;p45">
            <a:extLst>
              <a:ext uri="{FF2B5EF4-FFF2-40B4-BE49-F238E27FC236}">
                <a16:creationId xmlns:a16="http://schemas.microsoft.com/office/drawing/2014/main" id="{F806E15B-D89A-AC39-8350-EEE767A2D5B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29775" y="2375648"/>
            <a:ext cx="4132449" cy="323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71388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D2D31-F328-D8BB-D20B-D9469AE3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C9B33-C7F3-4016-343D-C3ED9CD18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Observación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7A976A8-0F85-1CF3-C211-A5F30F7B9A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BF0CF7-424C-8386-06AB-465A55437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 el formulario de </a:t>
            </a:r>
            <a:r>
              <a:rPr lang="es-ES" sz="1800" dirty="0" err="1"/>
              <a:t>login</a:t>
            </a:r>
            <a:r>
              <a:rPr lang="es-ES" sz="1800" dirty="0"/>
              <a:t>, los campos de nombre usuario y </a:t>
            </a:r>
            <a:r>
              <a:rPr lang="es-ES" sz="1800" dirty="0" err="1"/>
              <a:t>password</a:t>
            </a:r>
            <a:r>
              <a:rPr lang="es-ES" sz="1800" dirty="0"/>
              <a:t>, deben tener el atributo </a:t>
            </a:r>
            <a:r>
              <a:rPr lang="es-ES" sz="1800" b="1" dirty="0" err="1"/>
              <a:t>name</a:t>
            </a:r>
            <a:r>
              <a:rPr lang="es-ES" sz="1800" b="1" dirty="0"/>
              <a:t> </a:t>
            </a:r>
            <a:r>
              <a:rPr lang="es-ES" sz="1800" dirty="0"/>
              <a:t>igual a </a:t>
            </a:r>
            <a:r>
              <a:rPr lang="es-ES" sz="1800" b="1" dirty="0" err="1"/>
              <a:t>username</a:t>
            </a:r>
            <a:r>
              <a:rPr lang="es-ES" sz="1800" b="1" dirty="0"/>
              <a:t> </a:t>
            </a:r>
            <a:r>
              <a:rPr lang="es-ES" sz="1800" dirty="0"/>
              <a:t>y </a:t>
            </a:r>
            <a:r>
              <a:rPr lang="es-ES" sz="1800" b="1" dirty="0" err="1"/>
              <a:t>password</a:t>
            </a:r>
            <a:r>
              <a:rPr lang="es-ES" sz="1800" dirty="0"/>
              <a:t>, respectivamente.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Si se desea usar otros nombres, debe registrarlo en la clase de configuración:</a:t>
            </a:r>
          </a:p>
          <a:p>
            <a:endParaRPr lang="es-PE" sz="1800" dirty="0"/>
          </a:p>
        </p:txBody>
      </p:sp>
      <p:pic>
        <p:nvPicPr>
          <p:cNvPr id="5" name="Google Shape;369;p46">
            <a:extLst>
              <a:ext uri="{FF2B5EF4-FFF2-40B4-BE49-F238E27FC236}">
                <a16:creationId xmlns:a16="http://schemas.microsoft.com/office/drawing/2014/main" id="{27CBF9B4-1934-6EBE-97DA-0265F839E3B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491" y="1983516"/>
            <a:ext cx="5530925" cy="9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64;p46">
            <a:extLst>
              <a:ext uri="{FF2B5EF4-FFF2-40B4-BE49-F238E27FC236}">
                <a16:creationId xmlns:a16="http://schemas.microsoft.com/office/drawing/2014/main" id="{9B5922F2-47AB-BE04-E19E-514A12C6502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4525197"/>
            <a:ext cx="3957575" cy="10832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68;p46">
            <a:extLst>
              <a:ext uri="{FF2B5EF4-FFF2-40B4-BE49-F238E27FC236}">
                <a16:creationId xmlns:a16="http://schemas.microsoft.com/office/drawing/2014/main" id="{295A1F02-E025-5E5C-F4E7-85BB5DD319F9}"/>
              </a:ext>
            </a:extLst>
          </p:cNvPr>
          <p:cNvSpPr/>
          <p:nvPr/>
        </p:nvSpPr>
        <p:spPr>
          <a:xfrm rot="10800000">
            <a:off x="6673999" y="5135347"/>
            <a:ext cx="193200" cy="378600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372;p46">
            <a:extLst>
              <a:ext uri="{FF2B5EF4-FFF2-40B4-BE49-F238E27FC236}">
                <a16:creationId xmlns:a16="http://schemas.microsoft.com/office/drawing/2014/main" id="{FD38FF20-016F-3E23-7D5E-6A63EA7CE07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3875" y="3408480"/>
            <a:ext cx="5444488" cy="94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376;p46">
            <a:extLst>
              <a:ext uri="{FF2B5EF4-FFF2-40B4-BE49-F238E27FC236}">
                <a16:creationId xmlns:a16="http://schemas.microsoft.com/office/drawing/2014/main" id="{6B0F1126-1DAC-4599-8583-F9A4C64E3B9A}"/>
              </a:ext>
            </a:extLst>
          </p:cNvPr>
          <p:cNvCxnSpPr>
            <a:cxnSpLocks/>
          </p:cNvCxnSpPr>
          <p:nvPr/>
        </p:nvCxnSpPr>
        <p:spPr>
          <a:xfrm rot="10800000">
            <a:off x="6316475" y="3772882"/>
            <a:ext cx="2984100" cy="1466128"/>
          </a:xfrm>
          <a:prstGeom prst="bentConnector3">
            <a:avLst>
              <a:gd name="adj1" fmla="val -2931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94471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2F71E42-47EB-A7EC-F5EC-F371C642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dirty="0"/>
              <a:t>Otros Ajustes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11722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AB131-3C02-949D-208F-9FC1E43E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Otros Ajustes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9588E00-DF35-0921-F117-FA66A8CD6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957A2A-F799-423D-5400-670385C27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Realizar las modificaciones necesarias para:</a:t>
            </a:r>
          </a:p>
          <a:p>
            <a:pPr lvl="0" indent="-342900">
              <a:buSzPts val="1800"/>
              <a:buChar char="●"/>
            </a:pPr>
            <a:r>
              <a:rPr lang="es-ES" sz="2000" dirty="0"/>
              <a:t>Mostrar un botón de “iniciar sesión”.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Luego de iniciar sesión, en función de su rol redireccionar a: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2000" dirty="0" err="1"/>
              <a:t>admin</a:t>
            </a:r>
            <a:r>
              <a:rPr lang="es-ES" sz="2000" dirty="0"/>
              <a:t> (</a:t>
            </a:r>
            <a:r>
              <a:rPr lang="es-ES" sz="2000" dirty="0" err="1"/>
              <a:t>oscar</a:t>
            </a:r>
            <a:r>
              <a:rPr lang="es-ES" sz="2000" dirty="0"/>
              <a:t>) → </a:t>
            </a:r>
            <a:r>
              <a:rPr lang="es-ES" sz="2000" dirty="0" err="1"/>
              <a:t>shipper</a:t>
            </a:r>
            <a:r>
              <a:rPr lang="es-ES" sz="2000" dirty="0"/>
              <a:t> // logística (</a:t>
            </a:r>
            <a:r>
              <a:rPr lang="es-ES" sz="2000" dirty="0" err="1"/>
              <a:t>victor</a:t>
            </a:r>
            <a:r>
              <a:rPr lang="es-ES" sz="2000" dirty="0"/>
              <a:t>) → </a:t>
            </a:r>
            <a:r>
              <a:rPr lang="es-ES" sz="2000" dirty="0" err="1"/>
              <a:t>employee</a:t>
            </a:r>
            <a:endParaRPr lang="es-ES" sz="20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Si el usuario ya inició sesión, mostrar el botón para cerrar sesión e información del usuario </a:t>
            </a:r>
            <a:r>
              <a:rPr lang="es-ES" sz="2000" dirty="0" err="1"/>
              <a:t>logueado</a:t>
            </a:r>
            <a:endParaRPr lang="es-ES" sz="20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Mostrar los enlaces a /</a:t>
            </a:r>
            <a:r>
              <a:rPr lang="es-ES" sz="2000" dirty="0" err="1"/>
              <a:t>shipper</a:t>
            </a:r>
            <a:r>
              <a:rPr lang="es-ES" sz="2000" dirty="0"/>
              <a:t> y /</a:t>
            </a:r>
            <a:r>
              <a:rPr lang="es-ES" sz="2000" dirty="0" err="1"/>
              <a:t>employees</a:t>
            </a:r>
            <a:r>
              <a:rPr lang="es-ES" sz="2000" dirty="0"/>
              <a:t> solo si el usuario tiene el rol adecuado 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643741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80685-CDCF-ED1B-256E-B5BCA1A0B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7BC53-492E-2E31-9BA0-2FF95B43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Botón de inicio de sesión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F0448FA-59BD-F2A7-E378-624F95CB79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21DD44-7845-305E-D677-390BA1A99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En el archivo </a:t>
            </a:r>
            <a:r>
              <a:rPr lang="es-ES" sz="2000" b="1" dirty="0"/>
              <a:t>navbar.html </a:t>
            </a:r>
            <a:r>
              <a:rPr lang="es-ES" sz="2000" dirty="0"/>
              <a:t>(carpeta </a:t>
            </a:r>
            <a:r>
              <a:rPr lang="es-ES" sz="2000" dirty="0" err="1"/>
              <a:t>fragments</a:t>
            </a:r>
            <a:r>
              <a:rPr lang="es-ES" sz="2000" dirty="0"/>
              <a:t>), se adiciona el botón y se apunta a la ventana de </a:t>
            </a:r>
            <a:r>
              <a:rPr lang="es-ES" sz="2000" dirty="0" err="1"/>
              <a:t>login</a:t>
            </a:r>
            <a:r>
              <a:rPr lang="es-ES" sz="2000" dirty="0"/>
              <a:t>.</a:t>
            </a:r>
          </a:p>
          <a:p>
            <a:endParaRPr lang="es-PE" sz="2000" dirty="0"/>
          </a:p>
        </p:txBody>
      </p:sp>
      <p:pic>
        <p:nvPicPr>
          <p:cNvPr id="5" name="Google Shape;394;p49">
            <a:extLst>
              <a:ext uri="{FF2B5EF4-FFF2-40B4-BE49-F238E27FC236}">
                <a16:creationId xmlns:a16="http://schemas.microsoft.com/office/drawing/2014/main" id="{8D49C85B-DE6C-F06A-6F8D-BD160D9D8D7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22163" y="1942831"/>
            <a:ext cx="6158000" cy="353868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8;p49">
            <a:extLst>
              <a:ext uri="{FF2B5EF4-FFF2-40B4-BE49-F238E27FC236}">
                <a16:creationId xmlns:a16="http://schemas.microsoft.com/office/drawing/2014/main" id="{0A40919F-A3C8-DA1D-AA4C-E2157128525F}"/>
              </a:ext>
            </a:extLst>
          </p:cNvPr>
          <p:cNvSpPr/>
          <p:nvPr/>
        </p:nvSpPr>
        <p:spPr>
          <a:xfrm rot="10800000">
            <a:off x="3622163" y="4681474"/>
            <a:ext cx="173916" cy="567606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" name="Google Shape;399;p49">
            <a:extLst>
              <a:ext uri="{FF2B5EF4-FFF2-40B4-BE49-F238E27FC236}">
                <a16:creationId xmlns:a16="http://schemas.microsoft.com/office/drawing/2014/main" id="{1CC9E9C1-25CE-F5BD-12F2-892ACFBF1C97}"/>
              </a:ext>
            </a:extLst>
          </p:cNvPr>
          <p:cNvSpPr/>
          <p:nvPr/>
        </p:nvSpPr>
        <p:spPr>
          <a:xfrm>
            <a:off x="7692472" y="4681474"/>
            <a:ext cx="173916" cy="567606"/>
          </a:xfrm>
          <a:prstGeom prst="righ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8637173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36CB-1108-9043-9C1F-F6245A387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A56CB-358B-5C4F-4146-011070D8A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Redirección en función del rol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7474FDD-C7FF-1861-D0E0-083D47F862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A9706E-5867-E5A0-0B92-F863C4BE5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Luego que el usuario ingresa sus credenciales en el formulario, estas son validadas automáticamente por Spring Security. Luego de la validación se puede configurar para elegir a donde debe ir el usuario, en este caso, en función de su rol.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Esto se logra con el método </a:t>
            </a:r>
            <a:r>
              <a:rPr lang="es-ES" sz="1800" b="1" dirty="0" err="1">
                <a:latin typeface="Courier New"/>
                <a:ea typeface="Courier New"/>
                <a:cs typeface="Courier New"/>
                <a:sym typeface="Courier New"/>
              </a:rPr>
              <a:t>successHandler</a:t>
            </a:r>
            <a:r>
              <a:rPr lang="es-ES" sz="1800" b="1" dirty="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ES" sz="1800" dirty="0"/>
              <a:t>, el cual se lanza en caso de un ingreso exitoso.</a:t>
            </a:r>
          </a:p>
          <a:p>
            <a:endParaRPr lang="es-PE" sz="1800" dirty="0"/>
          </a:p>
        </p:txBody>
      </p:sp>
      <p:sp>
        <p:nvSpPr>
          <p:cNvPr id="5" name="Google Shape;407;p50">
            <a:extLst>
              <a:ext uri="{FF2B5EF4-FFF2-40B4-BE49-F238E27FC236}">
                <a16:creationId xmlns:a16="http://schemas.microsoft.com/office/drawing/2014/main" id="{26B8BBAD-EEE2-5647-ECE5-9EE0C1FD6818}"/>
              </a:ext>
            </a:extLst>
          </p:cNvPr>
          <p:cNvSpPr txBox="1"/>
          <p:nvPr/>
        </p:nvSpPr>
        <p:spPr>
          <a:xfrm>
            <a:off x="1410789" y="2883437"/>
            <a:ext cx="9144000" cy="2554515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http.formLogin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4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.</a:t>
            </a: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loginPage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4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</a:t>
            </a:r>
            <a:r>
              <a:rPr lang="es-419" sz="14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loginForm</a:t>
            </a:r>
            <a:r>
              <a:rPr lang="es-419" sz="14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.</a:t>
            </a: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loginProcessingUrl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4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</a:t>
            </a:r>
            <a:r>
              <a:rPr lang="es-419" sz="14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processLogin</a:t>
            </a:r>
            <a:r>
              <a:rPr lang="es-419" sz="14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.</a:t>
            </a: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successHandler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4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AuthenticationSuccessHandler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s-419" sz="14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@Override</a:t>
            </a:r>
            <a:endParaRPr sz="1400" dirty="0">
              <a:solidFill>
                <a:srgbClr val="BBB52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BBB52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s-419" sz="14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s-419" sz="14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4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-419" sz="14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400" dirty="0" err="1">
                <a:solidFill>
                  <a:srgbClr val="FFC66D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onAuthenticationSuccess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HttpServletRequest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request</a:t>
            </a:r>
            <a:r>
              <a:rPr lang="es-419" sz="14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HttpServletResponse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response</a:t>
            </a:r>
            <a:r>
              <a:rPr lang="es-419" sz="14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4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14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}</a:t>
            </a:r>
            <a:endParaRPr sz="14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})</a:t>
            </a:r>
            <a:r>
              <a:rPr lang="es-419" sz="14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408;p50">
            <a:extLst>
              <a:ext uri="{FF2B5EF4-FFF2-40B4-BE49-F238E27FC236}">
                <a16:creationId xmlns:a16="http://schemas.microsoft.com/office/drawing/2014/main" id="{BFE6870F-0785-E2D8-4BCE-B2A46D10FC33}"/>
              </a:ext>
            </a:extLst>
          </p:cNvPr>
          <p:cNvSpPr/>
          <p:nvPr/>
        </p:nvSpPr>
        <p:spPr>
          <a:xfrm rot="10800000">
            <a:off x="2000489" y="3602062"/>
            <a:ext cx="253800" cy="1720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83132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B0E72-ABD3-E699-E391-E79529054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0C86F-7698-A899-E4ED-9C152AE4D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Redirección en función del rol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9C72277-CDDD-884E-42AA-8F158A8016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C79DD0-3254-3CCE-DED0-C95155EC4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De authentication se pueden obtener los roles del usuario y con el response, se puede reenviar a la vista adecuada.</a:t>
            </a:r>
          </a:p>
          <a:p>
            <a:endParaRPr lang="es-PE" sz="2000" dirty="0"/>
          </a:p>
        </p:txBody>
      </p:sp>
      <p:sp>
        <p:nvSpPr>
          <p:cNvPr id="5" name="Google Shape;419;p51">
            <a:extLst>
              <a:ext uri="{FF2B5EF4-FFF2-40B4-BE49-F238E27FC236}">
                <a16:creationId xmlns:a16="http://schemas.microsoft.com/office/drawing/2014/main" id="{0873F9A4-42CD-02A0-E4D2-0E7A1D5A755F}"/>
              </a:ext>
            </a:extLst>
          </p:cNvPr>
          <p:cNvSpPr txBox="1"/>
          <p:nvPr/>
        </p:nvSpPr>
        <p:spPr>
          <a:xfrm>
            <a:off x="2186794" y="2268597"/>
            <a:ext cx="7440000" cy="430857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s-419" sz="16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org.springframework.security.core.GrantedAuthority</a:t>
            </a:r>
            <a:r>
              <a:rPr lang="es-419" sz="16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416;p51">
            <a:extLst>
              <a:ext uri="{FF2B5EF4-FFF2-40B4-BE49-F238E27FC236}">
                <a16:creationId xmlns:a16="http://schemas.microsoft.com/office/drawing/2014/main" id="{D94E9298-F763-EA8F-0F27-B61A0670DF28}"/>
              </a:ext>
            </a:extLst>
          </p:cNvPr>
          <p:cNvSpPr txBox="1"/>
          <p:nvPr/>
        </p:nvSpPr>
        <p:spPr>
          <a:xfrm>
            <a:off x="2186794" y="2888240"/>
            <a:ext cx="7440000" cy="2769959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successHandler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request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 -&gt; 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rol = 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GrantedAuthority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role :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authentication.getAuthorities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()) 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rol =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role.getAuthority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break;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rol.equals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)) 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response.sendRedirect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shipper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s-419" sz="1200" dirty="0" err="1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12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response.sendRedirect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</a:t>
            </a:r>
            <a:r>
              <a:rPr lang="es-419" sz="1200" dirty="0" err="1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r>
              <a:rPr lang="es-419" sz="1200" dirty="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r>
              <a:rPr lang="es-419" sz="1200" dirty="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" name="Google Shape;417;p51">
            <a:extLst>
              <a:ext uri="{FF2B5EF4-FFF2-40B4-BE49-F238E27FC236}">
                <a16:creationId xmlns:a16="http://schemas.microsoft.com/office/drawing/2014/main" id="{AC59D734-E6A1-5BF3-E107-36D897C77767}"/>
              </a:ext>
            </a:extLst>
          </p:cNvPr>
          <p:cNvSpPr/>
          <p:nvPr/>
        </p:nvSpPr>
        <p:spPr>
          <a:xfrm>
            <a:off x="8205570" y="4697442"/>
            <a:ext cx="2989200" cy="9432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 err="1">
                <a:solidFill>
                  <a:srgbClr val="FFFFFF"/>
                </a:solidFill>
              </a:rPr>
              <a:t>auth.getAuthorities</a:t>
            </a:r>
            <a:r>
              <a:rPr lang="es-419" sz="1200" dirty="0">
                <a:solidFill>
                  <a:srgbClr val="FFFFFF"/>
                </a:solidFill>
              </a:rPr>
              <a:t>() devuelve los roles del usuario. Como nuestro usuario solo tiene 1 rol este se obtiene con </a:t>
            </a:r>
            <a:r>
              <a:rPr lang="es-419" sz="1200" dirty="0" err="1">
                <a:solidFill>
                  <a:srgbClr val="FFFFFF"/>
                </a:solidFill>
              </a:rPr>
              <a:t>getAuthority</a:t>
            </a:r>
            <a:r>
              <a:rPr lang="es-419" sz="1200" dirty="0">
                <a:solidFill>
                  <a:srgbClr val="FFFFFF"/>
                </a:solidFill>
              </a:rPr>
              <a:t>()</a:t>
            </a:r>
            <a:endParaRPr sz="1200" dirty="0">
              <a:solidFill>
                <a:srgbClr val="FFFFFF"/>
              </a:solidFill>
            </a:endParaRPr>
          </a:p>
        </p:txBody>
      </p:sp>
      <p:cxnSp>
        <p:nvCxnSpPr>
          <p:cNvPr id="8" name="Google Shape;418;p51">
            <a:extLst>
              <a:ext uri="{FF2B5EF4-FFF2-40B4-BE49-F238E27FC236}">
                <a16:creationId xmlns:a16="http://schemas.microsoft.com/office/drawing/2014/main" id="{7F4DAA5B-1BCD-A70D-B274-34BEFE18DD80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7862047" y="3720353"/>
            <a:ext cx="1838123" cy="97708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4684902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C39ED-3391-0F9F-6348-3E6DE189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654D2-21A1-BB17-9EB2-C92428C6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A620C4-BD74-6EF4-82D0-1D7108E06D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16ED62-02E8-49FB-6983-8534CC65B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Si se ingresa por el enlace de “Iniciar sesión”, todo funciona bien.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Sin embargo….</a:t>
            </a:r>
          </a:p>
          <a:p>
            <a:endParaRPr lang="es-PE" dirty="0"/>
          </a:p>
        </p:txBody>
      </p:sp>
      <p:pic>
        <p:nvPicPr>
          <p:cNvPr id="5" name="Google Shape;427;p52">
            <a:extLst>
              <a:ext uri="{FF2B5EF4-FFF2-40B4-BE49-F238E27FC236}">
                <a16:creationId xmlns:a16="http://schemas.microsoft.com/office/drawing/2014/main" id="{CC6CBE79-2238-8BDB-3A5F-EBB83B3EE7E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3662" y="2646001"/>
            <a:ext cx="18478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28;p52">
            <a:extLst>
              <a:ext uri="{FF2B5EF4-FFF2-40B4-BE49-F238E27FC236}">
                <a16:creationId xmlns:a16="http://schemas.microsoft.com/office/drawing/2014/main" id="{F1E1661A-B6F1-017B-A45F-BFCA40C2979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7650" y="3150101"/>
            <a:ext cx="1193833" cy="46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29;p52">
            <a:extLst>
              <a:ext uri="{FF2B5EF4-FFF2-40B4-BE49-F238E27FC236}">
                <a16:creationId xmlns:a16="http://schemas.microsoft.com/office/drawing/2014/main" id="{FF314DE5-8E51-0F62-CCFC-AD99D73B00F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5921" y="2494489"/>
            <a:ext cx="2506650" cy="17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30;p52">
            <a:extLst>
              <a:ext uri="{FF2B5EF4-FFF2-40B4-BE49-F238E27FC236}">
                <a16:creationId xmlns:a16="http://schemas.microsoft.com/office/drawing/2014/main" id="{33E31151-BC28-041D-E1F6-A634F0660CC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6985" y="2439053"/>
            <a:ext cx="3117275" cy="12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31;p52">
            <a:extLst>
              <a:ext uri="{FF2B5EF4-FFF2-40B4-BE49-F238E27FC236}">
                <a16:creationId xmlns:a16="http://schemas.microsoft.com/office/drawing/2014/main" id="{E08F7CE7-EFDA-2157-6BF2-12E44EF5B76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39887" y="3519005"/>
            <a:ext cx="837750" cy="837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75001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89F38-5CDE-2220-6115-5D92717F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07B7D-E3F8-9C58-2F57-C925E038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144ACC0-DAD2-C292-EFDB-DA762A8045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61D30-1FC6-57A2-1392-CC0C59E2E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En una ventana en privado, si se ingresa directamente a la </a:t>
            </a:r>
            <a:r>
              <a:rPr lang="es-ES" sz="1800" dirty="0" err="1"/>
              <a:t>url</a:t>
            </a:r>
            <a:r>
              <a:rPr lang="es-ES" sz="1800" dirty="0"/>
              <a:t> de /</a:t>
            </a:r>
            <a:r>
              <a:rPr lang="es-ES" sz="1800" dirty="0" err="1"/>
              <a:t>Employee</a:t>
            </a:r>
            <a:r>
              <a:rPr lang="es-ES" sz="1800" dirty="0"/>
              <a:t>, se va a redireccionar a la ventana de </a:t>
            </a:r>
            <a:r>
              <a:rPr lang="es-ES" sz="1800" dirty="0" err="1"/>
              <a:t>login</a:t>
            </a:r>
            <a:r>
              <a:rPr lang="es-ES" sz="1800" dirty="0"/>
              <a:t> (hasta aquí correcto); sin embargo, luego de ingresar las credenciales, nos redirecciona a la página de /</a:t>
            </a:r>
            <a:r>
              <a:rPr lang="es-ES" sz="1800" dirty="0" err="1"/>
              <a:t>shipper</a:t>
            </a:r>
            <a:r>
              <a:rPr lang="es-ES" sz="1800" dirty="0"/>
              <a:t>. Esto es incorrecto pues se debió mantener la ruta /</a:t>
            </a:r>
            <a:r>
              <a:rPr lang="es-ES" sz="1800" dirty="0" err="1"/>
              <a:t>Employee</a:t>
            </a:r>
            <a:r>
              <a:rPr lang="es-ES" sz="1800" dirty="0"/>
              <a:t> pues el usuario tiene permisos de ver /</a:t>
            </a:r>
            <a:r>
              <a:rPr lang="es-ES" sz="1800" dirty="0" err="1"/>
              <a:t>Employee</a:t>
            </a:r>
            <a:r>
              <a:rPr lang="es-ES" sz="1800" dirty="0"/>
              <a:t>.</a:t>
            </a:r>
          </a:p>
          <a:p>
            <a:endParaRPr lang="es-PE" sz="1800" dirty="0"/>
          </a:p>
        </p:txBody>
      </p:sp>
      <p:pic>
        <p:nvPicPr>
          <p:cNvPr id="5" name="Google Shape;439;p53">
            <a:extLst>
              <a:ext uri="{FF2B5EF4-FFF2-40B4-BE49-F238E27FC236}">
                <a16:creationId xmlns:a16="http://schemas.microsoft.com/office/drawing/2014/main" id="{E3CFCA5A-6990-3A56-EC8D-BE720FDA2BF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84837" y="3317813"/>
            <a:ext cx="19240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40;p53">
            <a:extLst>
              <a:ext uri="{FF2B5EF4-FFF2-40B4-BE49-F238E27FC236}">
                <a16:creationId xmlns:a16="http://schemas.microsoft.com/office/drawing/2014/main" id="{1AC8CBC0-672A-E2DE-7EED-6E9ABE09C89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984" y="2622176"/>
            <a:ext cx="2506650" cy="17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41;p53">
            <a:extLst>
              <a:ext uri="{FF2B5EF4-FFF2-40B4-BE49-F238E27FC236}">
                <a16:creationId xmlns:a16="http://schemas.microsoft.com/office/drawing/2014/main" id="{C678434D-117B-ECB8-CFFC-0097417459A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4433" y="2706501"/>
            <a:ext cx="3117275" cy="12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42;p53">
            <a:extLst>
              <a:ext uri="{FF2B5EF4-FFF2-40B4-BE49-F238E27FC236}">
                <a16:creationId xmlns:a16="http://schemas.microsoft.com/office/drawing/2014/main" id="{79B52F2D-752F-4EEA-6048-FB1035DBDD6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8510" y="4220226"/>
            <a:ext cx="3309675" cy="1336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443;p53">
            <a:extLst>
              <a:ext uri="{FF2B5EF4-FFF2-40B4-BE49-F238E27FC236}">
                <a16:creationId xmlns:a16="http://schemas.microsoft.com/office/drawing/2014/main" id="{D132A348-7F3F-5134-AC5C-4C39F660F3D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608887" y="3508313"/>
            <a:ext cx="4701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444;p53">
            <a:extLst>
              <a:ext uri="{FF2B5EF4-FFF2-40B4-BE49-F238E27FC236}">
                <a16:creationId xmlns:a16="http://schemas.microsoft.com/office/drawing/2014/main" id="{AAA46FD2-8673-96B3-83D3-9839C9C96540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6585634" y="3344639"/>
            <a:ext cx="598799" cy="163687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445;p53">
            <a:extLst>
              <a:ext uri="{FF2B5EF4-FFF2-40B4-BE49-F238E27FC236}">
                <a16:creationId xmlns:a16="http://schemas.microsoft.com/office/drawing/2014/main" id="{A08077F7-5E1D-4232-400B-78CD9118C871}"/>
              </a:ext>
            </a:extLst>
          </p:cNvPr>
          <p:cNvCxnSpPr>
            <a:endCxn id="8" idx="1"/>
          </p:cNvCxnSpPr>
          <p:nvPr/>
        </p:nvCxnSpPr>
        <p:spPr>
          <a:xfrm>
            <a:off x="6528010" y="3870701"/>
            <a:ext cx="610500" cy="1017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446;p53">
            <a:extLst>
              <a:ext uri="{FF2B5EF4-FFF2-40B4-BE49-F238E27FC236}">
                <a16:creationId xmlns:a16="http://schemas.microsoft.com/office/drawing/2014/main" id="{555C9110-A3BF-7780-0C1D-296A064B9533}"/>
              </a:ext>
            </a:extLst>
          </p:cNvPr>
          <p:cNvSpPr txBox="1"/>
          <p:nvPr/>
        </p:nvSpPr>
        <p:spPr>
          <a:xfrm>
            <a:off x="5619237" y="4707142"/>
            <a:ext cx="13722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Open Sans"/>
                <a:ea typeface="Open Sans"/>
                <a:cs typeface="Open Sans"/>
                <a:sym typeface="Open Sans"/>
              </a:rPr>
              <a:t>debió ir aquí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203131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6242-A2E3-E47C-CF6A-8C5201DD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1E82A-025B-BE25-E511-18271431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Redirección en función del rol - completo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9074FF9-F979-B4C3-87A1-C1488182C9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C587B8-6060-1B52-81E6-0D9F337D6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Se debe hacer uso de </a:t>
            </a:r>
            <a:r>
              <a:rPr lang="es-ES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DefaultSavedRequest</a:t>
            </a:r>
            <a:r>
              <a:rPr lang="es-ES" sz="1800" dirty="0"/>
              <a:t>, el cual nos indica si se está viniendo de la página mediante el link de </a:t>
            </a:r>
            <a:r>
              <a:rPr lang="es-ES" sz="1800" dirty="0" err="1"/>
              <a:t>login</a:t>
            </a:r>
            <a:r>
              <a:rPr lang="es-ES" sz="1800" dirty="0"/>
              <a:t> o directamente de una URL protegida.   </a:t>
            </a:r>
          </a:p>
          <a:p>
            <a:endParaRPr lang="es-PE" sz="1800" dirty="0"/>
          </a:p>
        </p:txBody>
      </p:sp>
      <p:sp>
        <p:nvSpPr>
          <p:cNvPr id="7" name="Google Shape;456;p54">
            <a:extLst>
              <a:ext uri="{FF2B5EF4-FFF2-40B4-BE49-F238E27FC236}">
                <a16:creationId xmlns:a16="http://schemas.microsoft.com/office/drawing/2014/main" id="{A0AE7223-A1EC-3C6B-90E5-EE8879DE9C91}"/>
              </a:ext>
            </a:extLst>
          </p:cNvPr>
          <p:cNvSpPr txBox="1"/>
          <p:nvPr/>
        </p:nvSpPr>
        <p:spPr>
          <a:xfrm>
            <a:off x="873668" y="118500"/>
            <a:ext cx="5154600" cy="3387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s-419" sz="10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org.springframework.security.web.DefaultRedirectStrategy</a:t>
            </a:r>
            <a:r>
              <a:rPr lang="es-419" sz="10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" name="Google Shape;455;p54">
            <a:extLst>
              <a:ext uri="{FF2B5EF4-FFF2-40B4-BE49-F238E27FC236}">
                <a16:creationId xmlns:a16="http://schemas.microsoft.com/office/drawing/2014/main" id="{75D25619-7D08-6AE6-30CD-D0C14B1A9F77}"/>
              </a:ext>
            </a:extLst>
          </p:cNvPr>
          <p:cNvSpPr txBox="1"/>
          <p:nvPr/>
        </p:nvSpPr>
        <p:spPr>
          <a:xfrm>
            <a:off x="1277599" y="2032103"/>
            <a:ext cx="859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private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RedirectStrategy </a:t>
            </a:r>
            <a:r>
              <a:rPr lang="es-419" sz="1200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redirectStrategy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s-419" sz="12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DefaultRedirectStrategy()</a:t>
            </a:r>
            <a:r>
              <a:rPr lang="es-419" sz="12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" name="Google Shape;454;p54">
            <a:extLst>
              <a:ext uri="{FF2B5EF4-FFF2-40B4-BE49-F238E27FC236}">
                <a16:creationId xmlns:a16="http://schemas.microsoft.com/office/drawing/2014/main" id="{2464F307-2E1B-0F4C-C7B8-2D6137933DDC}"/>
              </a:ext>
            </a:extLst>
          </p:cNvPr>
          <p:cNvSpPr txBox="1"/>
          <p:nvPr/>
        </p:nvSpPr>
        <p:spPr>
          <a:xfrm>
            <a:off x="1350481" y="2530955"/>
            <a:ext cx="8305800" cy="3093124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.successHandler((request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authentication) -&gt; {</a:t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DefaultSavedRequest defaultSavedRequest = </a:t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(DefaultSavedRequest) request.getSession().getAttribute(</a:t>
            </a:r>
            <a:r>
              <a:rPr lang="es-419" sz="9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"SPRING_SECURITY_SAVED_REQUEST"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if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(defaultSavedRequest != 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String targetURL = defaultSavedRequest.getRedirectUrl()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900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redirectStrategy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.sendRedirect(request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targetURL)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String rol = </a:t>
            </a:r>
            <a:r>
              <a:rPr lang="es-419" sz="9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for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(GrantedAuthority role : authentication.getAuthorities()) {</a:t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rol = role.getAuthority()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break;</a:t>
            </a:r>
            <a:endParaRPr sz="9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(rol.equals(</a:t>
            </a:r>
            <a:r>
              <a:rPr lang="es-419" sz="9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"admin"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)) {</a:t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response.sendRedirect(</a:t>
            </a:r>
            <a:r>
              <a:rPr lang="es-419" sz="9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"/shipper"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else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response.sendRedirect(</a:t>
            </a:r>
            <a:r>
              <a:rPr lang="es-419" sz="900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"/employee"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r>
              <a:rPr lang="es-419" sz="900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151031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DF504-2EA0-7AC6-1116-50B5A404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073DD-7CA3-9596-C31B-A02B1A32B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Cerrar Sesión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8B03785-C472-FFDC-E67D-3238C2899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32B0DB-D5BE-493F-AF84-19DD1D0E7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Para implementar la funcionalidad de cerrar sesión, se debe habilitar para que Spring Security gestione la ruta </a:t>
            </a:r>
            <a:r>
              <a:rPr lang="es-ES" sz="2000" b="1" dirty="0"/>
              <a:t>/</a:t>
            </a:r>
            <a:r>
              <a:rPr lang="es-ES" sz="2000" b="1" dirty="0" err="1"/>
              <a:t>logout</a:t>
            </a:r>
            <a:r>
              <a:rPr lang="es-ES" sz="2000" dirty="0"/>
              <a:t> de forma tal que invalide la sesión y nos permita redireccionar a otra página.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Esto se logra con el método </a:t>
            </a:r>
            <a:r>
              <a:rPr lang="es-ES" sz="2000" b="1" dirty="0" err="1"/>
              <a:t>logout</a:t>
            </a:r>
            <a:r>
              <a:rPr lang="es-ES" sz="2000" dirty="0"/>
              <a:t>()</a:t>
            </a:r>
          </a:p>
          <a:p>
            <a:endParaRPr lang="es-PE" sz="2000" dirty="0"/>
          </a:p>
        </p:txBody>
      </p:sp>
      <p:pic>
        <p:nvPicPr>
          <p:cNvPr id="5" name="Google Shape;464;p55">
            <a:extLst>
              <a:ext uri="{FF2B5EF4-FFF2-40B4-BE49-F238E27FC236}">
                <a16:creationId xmlns:a16="http://schemas.microsoft.com/office/drawing/2014/main" id="{2213BA44-8D7A-A598-B806-02E2F988D3B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67050" y="3119995"/>
            <a:ext cx="605790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65;p55">
            <a:extLst>
              <a:ext uri="{FF2B5EF4-FFF2-40B4-BE49-F238E27FC236}">
                <a16:creationId xmlns:a16="http://schemas.microsoft.com/office/drawing/2014/main" id="{9D51FCCB-6201-9621-0223-19D0C14E39FE}"/>
              </a:ext>
            </a:extLst>
          </p:cNvPr>
          <p:cNvSpPr/>
          <p:nvPr/>
        </p:nvSpPr>
        <p:spPr>
          <a:xfrm>
            <a:off x="2515150" y="4487507"/>
            <a:ext cx="13623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66228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34C04-8CD8-8CD8-AC4C-996215432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B183A-4D4A-D16A-3F8C-8245989C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Spring Security </a:t>
            </a:r>
            <a:r>
              <a:rPr lang="es-ES" dirty="0" err="1"/>
              <a:t>Dialect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877A9F7-92A0-40C6-B4DA-972CF07D7A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B8902C-6001-E385-F9F3-DA543B6E6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Para poder validar en la vista si el usuario está </a:t>
            </a:r>
            <a:r>
              <a:rPr lang="es-ES" sz="1800" dirty="0" err="1"/>
              <a:t>logueado</a:t>
            </a:r>
            <a:r>
              <a:rPr lang="es-ES" sz="1800" dirty="0"/>
              <a:t> o ha cerrado sesión; así como cualquier validación relacionada con Spring Security, se utiliza el Spring Security </a:t>
            </a:r>
            <a:r>
              <a:rPr lang="es-ES" sz="1800" dirty="0" err="1"/>
              <a:t>Dialect</a:t>
            </a:r>
            <a:r>
              <a:rPr lang="es-ES" sz="18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b="1" dirty="0"/>
              <a:t>SSD</a:t>
            </a:r>
            <a:r>
              <a:rPr lang="es-ES" sz="1800" dirty="0"/>
              <a:t> son atributos HTML en </a:t>
            </a:r>
            <a:r>
              <a:rPr lang="es-ES" sz="1800" dirty="0" err="1"/>
              <a:t>thymeleaf</a:t>
            </a:r>
            <a:r>
              <a:rPr lang="es-ES" sz="1800" dirty="0"/>
              <a:t> que permiten utilizar Spring Security en la vista. </a:t>
            </a:r>
            <a:r>
              <a:rPr lang="es-ES" sz="1800" u="sng" dirty="0">
                <a:solidFill>
                  <a:schemeClr val="hlink"/>
                </a:solidFill>
                <a:hlinkClick r:id="rId2"/>
              </a:rPr>
              <a:t>https://github.com/thymeleaf/thymeleaf-extras-springsecurity</a:t>
            </a: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Para usar Spring Security </a:t>
            </a:r>
            <a:r>
              <a:rPr lang="es-ES" sz="1800" dirty="0" err="1"/>
              <a:t>Dialect</a:t>
            </a:r>
            <a:r>
              <a:rPr lang="es-ES" sz="1800" dirty="0"/>
              <a:t> se debe incluir en el </a:t>
            </a:r>
            <a:r>
              <a:rPr lang="es-ES" sz="1800" b="1" dirty="0"/>
              <a:t>POM.xml</a:t>
            </a:r>
            <a:r>
              <a:rPr lang="es-ES" sz="1800" dirty="0"/>
              <a:t> las dependencias:</a:t>
            </a:r>
          </a:p>
          <a:p>
            <a:endParaRPr lang="es-PE" sz="1800" dirty="0"/>
          </a:p>
        </p:txBody>
      </p:sp>
      <p:sp>
        <p:nvSpPr>
          <p:cNvPr id="5" name="Google Shape;473;p56">
            <a:extLst>
              <a:ext uri="{FF2B5EF4-FFF2-40B4-BE49-F238E27FC236}">
                <a16:creationId xmlns:a16="http://schemas.microsoft.com/office/drawing/2014/main" id="{662AAB74-8559-1A6F-20E0-95D4B34FF6D5}"/>
              </a:ext>
            </a:extLst>
          </p:cNvPr>
          <p:cNvSpPr txBox="1"/>
          <p:nvPr/>
        </p:nvSpPr>
        <p:spPr>
          <a:xfrm>
            <a:off x="2757000" y="3673909"/>
            <a:ext cx="6678000" cy="104641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419" sz="1400" dirty="0" err="1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dependency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dirty="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s-419" sz="1400" dirty="0" err="1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groupId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-419" sz="1400" dirty="0" err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org.thymeleaf.extras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400" dirty="0" err="1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groupId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dirty="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s-419" sz="1400" dirty="0" err="1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artifactId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thymeleaf-extras-springsecurity6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400" dirty="0" err="1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artifactId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dirty="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400" dirty="0" err="1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dependency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dirty="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628556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B1234-73A5-8F4C-45E6-6295B92FE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F1A9C-144D-F72D-6D31-C2614559F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1D8A895-9AA4-DBDF-2EFD-14ADFCBA3A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AF3579-25FE-65FE-72FD-227C405DA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Adicionar el </a:t>
            </a:r>
            <a:r>
              <a:rPr lang="es-ES" dirty="0" err="1"/>
              <a:t>namespace</a:t>
            </a:r>
            <a:r>
              <a:rPr lang="es-ES" dirty="0"/>
              <a:t> de </a:t>
            </a:r>
            <a:r>
              <a:rPr lang="es-ES" dirty="0" err="1"/>
              <a:t>security</a:t>
            </a:r>
            <a:r>
              <a:rPr lang="es-ES" dirty="0"/>
              <a:t> en la parte superior del HTML:</a:t>
            </a:r>
          </a:p>
          <a:p>
            <a:endParaRPr lang="es-PE" dirty="0"/>
          </a:p>
        </p:txBody>
      </p:sp>
      <p:pic>
        <p:nvPicPr>
          <p:cNvPr id="5" name="Google Shape;481;p57">
            <a:extLst>
              <a:ext uri="{FF2B5EF4-FFF2-40B4-BE49-F238E27FC236}">
                <a16:creationId xmlns:a16="http://schemas.microsoft.com/office/drawing/2014/main" id="{F55E10F2-67F2-6917-A5FD-07A3A560E8E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66949" y="2450829"/>
            <a:ext cx="70866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82;p57">
            <a:extLst>
              <a:ext uri="{FF2B5EF4-FFF2-40B4-BE49-F238E27FC236}">
                <a16:creationId xmlns:a16="http://schemas.microsoft.com/office/drawing/2014/main" id="{D962FFE0-70CF-DD5D-7A65-7FA33DC69097}"/>
              </a:ext>
            </a:extLst>
          </p:cNvPr>
          <p:cNvSpPr/>
          <p:nvPr/>
        </p:nvSpPr>
        <p:spPr>
          <a:xfrm>
            <a:off x="9279299" y="2959754"/>
            <a:ext cx="857400" cy="3906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0931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1F4E-41CE-9321-7302-82C8BC26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DEE9A-11AF-FD62-C195-22CD8E3F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Spring Security </a:t>
            </a:r>
            <a:r>
              <a:rPr lang="es-ES" dirty="0" err="1"/>
              <a:t>Dialect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B70F9EB-1ED6-3F4C-2EF2-FBB04E6196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265C29-FF58-70CF-50C4-160481F9E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Por ejemplo: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9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El atributo </a:t>
            </a:r>
            <a:r>
              <a:rPr lang="es-ES" sz="2000" b="1" dirty="0" err="1"/>
              <a:t>sec:authorize</a:t>
            </a:r>
            <a:r>
              <a:rPr lang="es-ES" sz="2000" b="1" dirty="0"/>
              <a:t>=”</a:t>
            </a:r>
            <a:r>
              <a:rPr lang="es-ES" sz="2000" b="1" dirty="0" err="1"/>
              <a:t>isAnonymous</a:t>
            </a:r>
            <a:r>
              <a:rPr lang="es-ES" sz="2000" b="1" dirty="0"/>
              <a:t>()”</a:t>
            </a:r>
            <a:r>
              <a:rPr lang="es-ES" sz="2000" dirty="0"/>
              <a:t> permite validar si el usuario NO ha iniciado sesión.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Muestra un tag HTML si la evaluación de la condición es verdadera. Es similar a </a:t>
            </a:r>
            <a:r>
              <a:rPr lang="es-ES" sz="2000" b="1" dirty="0" err="1"/>
              <a:t>th:if</a:t>
            </a:r>
            <a:r>
              <a:rPr lang="es-ES" sz="2000" dirty="0"/>
              <a:t>, pero para parámetros de Spring Security.</a:t>
            </a:r>
          </a:p>
          <a:p>
            <a:endParaRPr lang="es-PE" sz="2000" dirty="0"/>
          </a:p>
        </p:txBody>
      </p:sp>
      <p:sp>
        <p:nvSpPr>
          <p:cNvPr id="5" name="Google Shape;490;p58">
            <a:extLst>
              <a:ext uri="{FF2B5EF4-FFF2-40B4-BE49-F238E27FC236}">
                <a16:creationId xmlns:a16="http://schemas.microsoft.com/office/drawing/2014/main" id="{D3256A29-6CFA-5FA2-54B1-ED55DA5375C0}"/>
              </a:ext>
            </a:extLst>
          </p:cNvPr>
          <p:cNvSpPr txBox="1"/>
          <p:nvPr/>
        </p:nvSpPr>
        <p:spPr>
          <a:xfrm>
            <a:off x="2798250" y="1714204"/>
            <a:ext cx="6900300" cy="83096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419" sz="1400" dirty="0" err="1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400" dirty="0" err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sec</a:t>
            </a:r>
            <a:r>
              <a:rPr lang="es-419" sz="1400" dirty="0" err="1">
                <a:solidFill>
                  <a:srgbClr val="BABAB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:authorize</a:t>
            </a:r>
            <a:r>
              <a:rPr lang="es-419" sz="1400" dirty="0">
                <a:solidFill>
                  <a:srgbClr val="A5C261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4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isAnonymous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s-419" sz="1400" dirty="0">
                <a:solidFill>
                  <a:srgbClr val="A5C261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dirty="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  &lt;a </a:t>
            </a:r>
            <a:r>
              <a:rPr lang="es-419" sz="1400" dirty="0" err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s-419" sz="1400" dirty="0" err="1">
                <a:solidFill>
                  <a:srgbClr val="BABAB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:h</a:t>
            </a:r>
            <a:r>
              <a:rPr lang="es-419" sz="14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ref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="@{/</a:t>
            </a:r>
            <a:r>
              <a:rPr lang="es-419" sz="14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loginForm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}"</a:t>
            </a:r>
            <a:r>
              <a:rPr lang="es-419" sz="14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-419" sz="1400" dirty="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419" sz="1400" dirty="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Iniciar Sesión)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 sz="1400" dirty="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400" dirty="0" err="1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es-419" sz="1400" dirty="0">
                <a:solidFill>
                  <a:srgbClr val="E8BF6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dirty="0">
              <a:solidFill>
                <a:srgbClr val="E8BF6A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9737339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30EC-0A80-8776-4B3B-D5C0D4D5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1F34C-63E9-5907-20D8-6AF7C3A9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Vista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1636D88-7733-C987-7DBB-A8E2D20585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C20BA5-8FC6-1C23-C4AD-92C061CBF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300" dirty="0"/>
              <a:t>Para mostrar el botón de iniciar sesión a los usuarios no </a:t>
            </a:r>
            <a:r>
              <a:rPr lang="es-ES" sz="1300" dirty="0" err="1"/>
              <a:t>logueados</a:t>
            </a:r>
            <a:r>
              <a:rPr lang="es-ES" sz="1300" dirty="0"/>
              <a:t> y por el contrario, el botón de cerrar sesión si el usuario está </a:t>
            </a:r>
            <a:r>
              <a:rPr lang="es-ES" sz="1300" dirty="0" err="1"/>
              <a:t>logueado</a:t>
            </a:r>
            <a:r>
              <a:rPr lang="es-ES" sz="1300" dirty="0"/>
              <a:t> se utiliza: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300" b="1" dirty="0" err="1"/>
              <a:t>sec:authorize</a:t>
            </a:r>
            <a:r>
              <a:rPr lang="es-ES" sz="1300" b="1" dirty="0"/>
              <a:t>="</a:t>
            </a:r>
            <a:r>
              <a:rPr lang="es-ES" sz="1300" b="1" dirty="0" err="1"/>
              <a:t>isAnonymous</a:t>
            </a:r>
            <a:r>
              <a:rPr lang="es-ES" sz="1300" b="1" dirty="0"/>
              <a:t>()"</a:t>
            </a:r>
            <a:r>
              <a:rPr lang="es-ES" sz="1300" dirty="0"/>
              <a:t>  //   </a:t>
            </a:r>
            <a:r>
              <a:rPr lang="es-ES" sz="1300" b="1" dirty="0" err="1"/>
              <a:t>sec:authorize</a:t>
            </a:r>
            <a:r>
              <a:rPr lang="es-ES" sz="1300" b="1" dirty="0"/>
              <a:t>="</a:t>
            </a:r>
            <a:r>
              <a:rPr lang="es-ES" sz="1300" b="1" dirty="0" err="1"/>
              <a:t>isAuthenticated</a:t>
            </a:r>
            <a:r>
              <a:rPr lang="es-ES" sz="1300" b="1" dirty="0"/>
              <a:t>()"</a:t>
            </a:r>
            <a:endParaRPr lang="es-ES" sz="1300" dirty="0"/>
          </a:p>
          <a:p>
            <a:pPr marL="0" lvl="0" indent="0">
              <a:spcBef>
                <a:spcPts val="1600"/>
              </a:spcBef>
              <a:buNone/>
            </a:pPr>
            <a:endParaRPr lang="es-ES" sz="1300" dirty="0"/>
          </a:p>
          <a:p>
            <a:pPr marL="0" lvl="0" indent="0">
              <a:spcBef>
                <a:spcPts val="1600"/>
              </a:spcBef>
              <a:buNone/>
            </a:pPr>
            <a:endParaRPr lang="es-ES" sz="1300" dirty="0"/>
          </a:p>
          <a:p>
            <a:pPr marL="0" lvl="0" indent="0">
              <a:spcBef>
                <a:spcPts val="1600"/>
              </a:spcBef>
              <a:buNone/>
            </a:pPr>
            <a:endParaRPr lang="es-ES" sz="1300" dirty="0"/>
          </a:p>
          <a:p>
            <a:pPr marL="0" lvl="0" indent="0">
              <a:spcBef>
                <a:spcPts val="1600"/>
              </a:spcBef>
              <a:buNone/>
            </a:pPr>
            <a:endParaRPr lang="es-ES" sz="1300" dirty="0"/>
          </a:p>
          <a:p>
            <a:pPr marL="0" lvl="0" indent="0">
              <a:spcBef>
                <a:spcPts val="1600"/>
              </a:spcBef>
              <a:buNone/>
            </a:pPr>
            <a:endParaRPr lang="es-ES" sz="1300" dirty="0"/>
          </a:p>
          <a:p>
            <a:pPr marL="0" lvl="0" indent="0">
              <a:spcBef>
                <a:spcPts val="1600"/>
              </a:spcBef>
              <a:buNone/>
            </a:pPr>
            <a:endParaRPr lang="es-ES" sz="1300" dirty="0"/>
          </a:p>
          <a:p>
            <a:pPr marL="0" lvl="0" indent="0">
              <a:spcBef>
                <a:spcPts val="1600"/>
              </a:spcBef>
              <a:buNone/>
            </a:pPr>
            <a:endParaRPr lang="es-ES" sz="13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300" dirty="0"/>
              <a:t>Esto se coloca en el fragmento </a:t>
            </a:r>
            <a:r>
              <a:rPr lang="es-ES" sz="1300" b="1" dirty="0"/>
              <a:t>navbar.html</a:t>
            </a:r>
            <a:endParaRPr lang="es-ES" sz="13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9F0BA6-EF3C-947B-60BF-8ED4D86B4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953" y="2323959"/>
            <a:ext cx="8681456" cy="31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6628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4639D-DA6B-9D44-36AA-139D556A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AF252-2C28-3ACD-8B16-F99F2FBB3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Expression</a:t>
            </a:r>
            <a:r>
              <a:rPr lang="es-ES" dirty="0"/>
              <a:t> </a:t>
            </a:r>
            <a:r>
              <a:rPr lang="es-ES" dirty="0" err="1"/>
              <a:t>utility</a:t>
            </a:r>
            <a:r>
              <a:rPr lang="es-ES" dirty="0"/>
              <a:t> </a:t>
            </a:r>
            <a:r>
              <a:rPr lang="es-ES" dirty="0" err="1"/>
              <a:t>objects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067BEF2-81B1-3289-9D5F-8D801C1EAA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76D23E-505F-2ED5-E049-A720971A8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Podrá observa que al correr la página y entrar con un usuario aparecerá: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40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Para obtener el nombre del usuario </a:t>
            </a:r>
            <a:r>
              <a:rPr lang="es-ES" dirty="0" err="1"/>
              <a:t>logueado</a:t>
            </a:r>
            <a:r>
              <a:rPr lang="es-ES" dirty="0"/>
              <a:t>, se hace uso del atributo:</a:t>
            </a:r>
          </a:p>
          <a:p>
            <a:pPr marL="0" lvl="0" indent="457200">
              <a:spcBef>
                <a:spcPts val="1600"/>
              </a:spcBef>
              <a:buNone/>
            </a:pPr>
            <a:r>
              <a:rPr lang="es-ES" b="1" dirty="0" err="1"/>
              <a:t>sec:authentication</a:t>
            </a:r>
            <a:r>
              <a:rPr lang="es-ES" dirty="0"/>
              <a:t>=”</a:t>
            </a:r>
            <a:r>
              <a:rPr lang="es-ES" dirty="0" err="1"/>
              <a:t>name</a:t>
            </a:r>
            <a:r>
              <a:rPr lang="es-ES" dirty="0"/>
              <a:t>”</a:t>
            </a:r>
          </a:p>
          <a:p>
            <a:pPr marL="0" lvl="0" indent="457200">
              <a:spcBef>
                <a:spcPts val="1600"/>
              </a:spcBef>
              <a:buNone/>
            </a:pPr>
            <a:r>
              <a:rPr lang="es-ES" dirty="0"/>
              <a:t>o </a:t>
            </a:r>
            <a:r>
              <a:rPr lang="es-ES" b="1" dirty="0"/>
              <a:t>#authentication</a:t>
            </a:r>
            <a:r>
              <a:rPr lang="es-ES" dirty="0"/>
              <a:t> y la propiedad </a:t>
            </a:r>
            <a:r>
              <a:rPr lang="es-ES" dirty="0" err="1"/>
              <a:t>name</a:t>
            </a:r>
            <a:endParaRPr lang="es-ES" dirty="0"/>
          </a:p>
          <a:p>
            <a:pPr marL="0" lvl="0" indent="457200">
              <a:spcBef>
                <a:spcPts val="1600"/>
              </a:spcBef>
              <a:buNone/>
            </a:pPr>
            <a:endParaRPr lang="es-ES" dirty="0"/>
          </a:p>
          <a:p>
            <a:pPr marL="0" lvl="0" indent="45720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En este caso, ambos tag muestran la misma información</a:t>
            </a:r>
          </a:p>
          <a:p>
            <a:endParaRPr lang="es-PE" dirty="0"/>
          </a:p>
        </p:txBody>
      </p:sp>
      <p:pic>
        <p:nvPicPr>
          <p:cNvPr id="5" name="Google Shape;511;p60">
            <a:extLst>
              <a:ext uri="{FF2B5EF4-FFF2-40B4-BE49-F238E27FC236}">
                <a16:creationId xmlns:a16="http://schemas.microsoft.com/office/drawing/2014/main" id="{10ADF648-7A3E-A57F-A3E3-A0EBFD99526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36317" y="3700303"/>
            <a:ext cx="63341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512;p60">
            <a:extLst>
              <a:ext uri="{FF2B5EF4-FFF2-40B4-BE49-F238E27FC236}">
                <a16:creationId xmlns:a16="http://schemas.microsoft.com/office/drawing/2014/main" id="{3B5B87FD-F38E-8F80-C8DE-45CFC63DF85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2740" y="1771490"/>
            <a:ext cx="8465826" cy="419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53480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7CD04-B2A8-F056-F7AF-7F56FEB2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EC85E-5123-2344-BED5-CCDD20784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Sec:authorize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8D6646D-C021-6A0F-135F-C7FC5CB76F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700E96-7BDC-5AFD-4581-3EAA65257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Así como </a:t>
            </a:r>
            <a:r>
              <a:rPr lang="es-ES" sz="2000" dirty="0" err="1"/>
              <a:t>sec:authorize</a:t>
            </a:r>
            <a:r>
              <a:rPr lang="es-ES" sz="2000" dirty="0"/>
              <a:t> permite validar si un usuario está </a:t>
            </a:r>
            <a:r>
              <a:rPr lang="es-ES" sz="2000" dirty="0" err="1"/>
              <a:t>logueado</a:t>
            </a:r>
            <a:r>
              <a:rPr lang="es-ES" sz="2000" dirty="0"/>
              <a:t> o no en la vista, también permite validar el rol que posee (en caso esté </a:t>
            </a:r>
            <a:r>
              <a:rPr lang="es-ES" sz="2000" dirty="0" err="1"/>
              <a:t>logueado</a:t>
            </a:r>
            <a:r>
              <a:rPr lang="es-ES" sz="2000" dirty="0"/>
              <a:t>).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→ Mostrar los enlaces a /</a:t>
            </a:r>
            <a:r>
              <a:rPr lang="es-ES" sz="2000" dirty="0" err="1"/>
              <a:t>shipper</a:t>
            </a:r>
            <a:r>
              <a:rPr lang="es-ES" sz="2000" dirty="0"/>
              <a:t> y /</a:t>
            </a:r>
            <a:r>
              <a:rPr lang="es-ES" sz="2000" dirty="0" err="1"/>
              <a:t>employees</a:t>
            </a:r>
            <a:r>
              <a:rPr lang="es-ES" sz="2000" dirty="0"/>
              <a:t> solo si el usuario tiene el rol adecuado.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12922204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45AF4-4133-9A9F-5370-0743AE095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9C98C-2E7C-1CD5-A22B-8A1C7C627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Sec:authorize</a:t>
            </a:r>
            <a:r>
              <a:rPr lang="es-ES" dirty="0"/>
              <a:t> – en navbar.html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00D067-5300-CDD7-F75D-98D5DE4675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33F5B3-D879-7D9F-9784-838B3A54F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la ruta /</a:t>
            </a:r>
            <a:r>
              <a:rPr lang="es-ES" dirty="0" err="1"/>
              <a:t>employee</a:t>
            </a:r>
            <a:r>
              <a:rPr lang="es-ES" dirty="0"/>
              <a:t>, puede ver el enlace ‘</a:t>
            </a:r>
            <a:r>
              <a:rPr lang="es-ES" dirty="0" err="1"/>
              <a:t>admin</a:t>
            </a:r>
            <a:r>
              <a:rPr lang="es-ES" dirty="0"/>
              <a:t>’ y ‘logística’.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Para la ruta /</a:t>
            </a:r>
            <a:r>
              <a:rPr lang="es-ES" dirty="0" err="1"/>
              <a:t>shipper</a:t>
            </a:r>
            <a:r>
              <a:rPr lang="es-ES" dirty="0"/>
              <a:t>, solo lo puede ver ‘</a:t>
            </a:r>
            <a:r>
              <a:rPr lang="es-ES" dirty="0" err="1"/>
              <a:t>admin</a:t>
            </a:r>
            <a:r>
              <a:rPr lang="es-ES" dirty="0"/>
              <a:t>’</a:t>
            </a:r>
          </a:p>
          <a:p>
            <a:endParaRPr lang="es-PE" dirty="0"/>
          </a:p>
        </p:txBody>
      </p:sp>
      <p:sp>
        <p:nvSpPr>
          <p:cNvPr id="5" name="Google Shape;528;p62">
            <a:extLst>
              <a:ext uri="{FF2B5EF4-FFF2-40B4-BE49-F238E27FC236}">
                <a16:creationId xmlns:a16="http://schemas.microsoft.com/office/drawing/2014/main" id="{14219395-55D4-3913-DBC6-D87D0E4543D7}"/>
              </a:ext>
            </a:extLst>
          </p:cNvPr>
          <p:cNvSpPr txBox="1"/>
          <p:nvPr/>
        </p:nvSpPr>
        <p:spPr>
          <a:xfrm>
            <a:off x="1677994" y="4090032"/>
            <a:ext cx="8353800" cy="923299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419" sz="1200" dirty="0" err="1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nav-item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s-419" sz="1200" dirty="0" err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sec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:authorize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hasAnyAuthority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')"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 dirty="0">
              <a:solidFill>
                <a:srgbClr val="E8BF6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   &lt;a 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nav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-link" </a:t>
            </a:r>
            <a:r>
              <a:rPr lang="es-419" sz="1200" dirty="0" err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:classappend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2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active </a:t>
            </a:r>
            <a:r>
              <a:rPr lang="es-419" sz="12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 '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Shipper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s-419" sz="12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'active'</a:t>
            </a:r>
            <a:r>
              <a:rPr lang="es-419" sz="12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''</a:t>
            </a:r>
            <a:r>
              <a:rPr lang="es-419" sz="12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200" dirty="0">
              <a:solidFill>
                <a:srgbClr val="A5C26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s-419" sz="1200" dirty="0" err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s-419" sz="12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:href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2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@{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s-419" sz="12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shipper</a:t>
            </a:r>
            <a:r>
              <a:rPr lang="es-419" sz="12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-419" sz="12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-419" sz="1200" dirty="0" err="1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Shipper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 sz="1200" dirty="0">
              <a:solidFill>
                <a:srgbClr val="E8BF6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200" dirty="0" err="1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s-419" sz="12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 dirty="0">
              <a:solidFill>
                <a:srgbClr val="E8BF6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" name="Google Shape;527;p62">
            <a:extLst>
              <a:ext uri="{FF2B5EF4-FFF2-40B4-BE49-F238E27FC236}">
                <a16:creationId xmlns:a16="http://schemas.microsoft.com/office/drawing/2014/main" id="{9F9CE62D-C665-0547-7A98-9A044EAB1852}"/>
              </a:ext>
            </a:extLst>
          </p:cNvPr>
          <p:cNvSpPr txBox="1"/>
          <p:nvPr/>
        </p:nvSpPr>
        <p:spPr>
          <a:xfrm>
            <a:off x="1814597" y="2064109"/>
            <a:ext cx="8289600" cy="104641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419" sz="1400" dirty="0" err="1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s-419" sz="14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419" sz="14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4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nav-item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" </a:t>
            </a:r>
            <a:r>
              <a:rPr lang="es-419" sz="1400" dirty="0" err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sec</a:t>
            </a:r>
            <a:r>
              <a:rPr lang="es-419" sz="14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:authorize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4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hasAnyAuthority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s-419" sz="14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admin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','</a:t>
            </a:r>
            <a:r>
              <a:rPr lang="es-419" sz="14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logistica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')"</a:t>
            </a:r>
            <a:r>
              <a:rPr lang="es-419" sz="14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dirty="0">
              <a:solidFill>
                <a:srgbClr val="E8BF6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   &lt;a </a:t>
            </a:r>
            <a:r>
              <a:rPr lang="es-419" sz="14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4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nav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-link" </a:t>
            </a:r>
            <a:r>
              <a:rPr lang="es-419" sz="1400" dirty="0" err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s-419" sz="14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:classappend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4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active </a:t>
            </a:r>
            <a:r>
              <a:rPr lang="es-419" sz="14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 '</a:t>
            </a:r>
            <a:r>
              <a:rPr lang="es-419" sz="14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s-419" sz="14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'active'</a:t>
            </a:r>
            <a:r>
              <a:rPr lang="es-419" sz="14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''</a:t>
            </a:r>
            <a:r>
              <a:rPr lang="es-419" sz="14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400" dirty="0">
              <a:solidFill>
                <a:srgbClr val="A5C26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s-419" sz="1400" dirty="0" err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s-419" sz="1400" dirty="0" err="1">
                <a:solidFill>
                  <a:srgbClr val="BABABA"/>
                </a:solidFill>
                <a:latin typeface="Courier New"/>
                <a:ea typeface="Courier New"/>
                <a:cs typeface="Courier New"/>
                <a:sym typeface="Courier New"/>
              </a:rPr>
              <a:t>:href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="</a:t>
            </a:r>
            <a:r>
              <a:rPr lang="es-419" sz="14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@{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s-419" sz="1400" dirty="0" err="1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r>
              <a:rPr lang="es-419" sz="1400" dirty="0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s-419" sz="1400" dirty="0">
                <a:solidFill>
                  <a:srgbClr val="A5C26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419" sz="14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s-419" sz="1400" dirty="0" err="1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r>
              <a:rPr lang="es-419" sz="14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 sz="1400" dirty="0">
              <a:solidFill>
                <a:srgbClr val="E8BF6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-419" sz="1400" dirty="0" err="1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li</a:t>
            </a:r>
            <a:r>
              <a:rPr lang="es-419" sz="1400" dirty="0">
                <a:solidFill>
                  <a:srgbClr val="E8BF6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dirty="0">
              <a:solidFill>
                <a:srgbClr val="E8BF6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19219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9B34-2BD6-DFCF-F0E4-CBCBE6DD1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659A16-46E7-4FB1-7180-EBF99B13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Probando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B93EF08-3443-623C-A437-F3DC4D6896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8AD094-B9C7-FC89-90FB-7005BB08E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Usuario Oscal, rol: </a:t>
            </a:r>
            <a:r>
              <a:rPr lang="es-ES" sz="2000" dirty="0" err="1"/>
              <a:t>admin</a:t>
            </a: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Usuario </a:t>
            </a:r>
            <a:r>
              <a:rPr lang="es-ES" sz="2000" dirty="0" err="1"/>
              <a:t>Victor</a:t>
            </a:r>
            <a:r>
              <a:rPr lang="es-ES" sz="2000" dirty="0"/>
              <a:t>, rol: logística</a:t>
            </a:r>
          </a:p>
          <a:p>
            <a:endParaRPr lang="es-PE" sz="2000" dirty="0"/>
          </a:p>
        </p:txBody>
      </p:sp>
      <p:pic>
        <p:nvPicPr>
          <p:cNvPr id="5" name="Google Shape;537;p63">
            <a:extLst>
              <a:ext uri="{FF2B5EF4-FFF2-40B4-BE49-F238E27FC236}">
                <a16:creationId xmlns:a16="http://schemas.microsoft.com/office/drawing/2014/main" id="{49BBEF73-C7F0-CFD9-997A-3A786F92168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15589" y="2000221"/>
            <a:ext cx="88392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40;p63">
            <a:extLst>
              <a:ext uri="{FF2B5EF4-FFF2-40B4-BE49-F238E27FC236}">
                <a16:creationId xmlns:a16="http://schemas.microsoft.com/office/drawing/2014/main" id="{78175A0D-2149-EE61-497C-5681E4EFACC7}"/>
              </a:ext>
            </a:extLst>
          </p:cNvPr>
          <p:cNvSpPr/>
          <p:nvPr/>
        </p:nvSpPr>
        <p:spPr>
          <a:xfrm>
            <a:off x="3153876" y="2805671"/>
            <a:ext cx="409500" cy="3144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541;p63">
            <a:extLst>
              <a:ext uri="{FF2B5EF4-FFF2-40B4-BE49-F238E27FC236}">
                <a16:creationId xmlns:a16="http://schemas.microsoft.com/office/drawing/2014/main" id="{80206478-F8CC-5F83-F982-E3F9BF587BB0}"/>
              </a:ext>
            </a:extLst>
          </p:cNvPr>
          <p:cNvSpPr/>
          <p:nvPr/>
        </p:nvSpPr>
        <p:spPr>
          <a:xfrm>
            <a:off x="3820626" y="2805671"/>
            <a:ext cx="409500" cy="3144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536;p63">
            <a:extLst>
              <a:ext uri="{FF2B5EF4-FFF2-40B4-BE49-F238E27FC236}">
                <a16:creationId xmlns:a16="http://schemas.microsoft.com/office/drawing/2014/main" id="{1A84AC17-B8B4-6735-B9A8-3A369894A3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589" y="4128983"/>
            <a:ext cx="877252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42;p63">
            <a:extLst>
              <a:ext uri="{FF2B5EF4-FFF2-40B4-BE49-F238E27FC236}">
                <a16:creationId xmlns:a16="http://schemas.microsoft.com/office/drawing/2014/main" id="{8E842D84-CB1A-B6A2-2668-FDCBE32B695B}"/>
              </a:ext>
            </a:extLst>
          </p:cNvPr>
          <p:cNvSpPr/>
          <p:nvPr/>
        </p:nvSpPr>
        <p:spPr>
          <a:xfrm>
            <a:off x="3120526" y="4929670"/>
            <a:ext cx="409500" cy="3144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9470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3BE4D-7850-2318-D055-41636114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01C4A-3CEB-1FB2-92AD-B423C1CB5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Logout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E4219CA-53C0-82D9-6282-DA59E56220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FA6D69-0DE7-A124-D7D1-40B9E0F02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Debe haber probado que luego de cerrar sesión, el sistema lo envía a la página de inicio de sesión.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Este comportamiento también es configurable.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Por ejemplo:</a:t>
            </a:r>
          </a:p>
          <a:p>
            <a:pPr marL="0" lvl="0" indent="457200">
              <a:spcBef>
                <a:spcPts val="0"/>
              </a:spcBef>
              <a:spcAft>
                <a:spcPts val="1600"/>
              </a:spcAft>
              <a:buNone/>
            </a:pPr>
            <a:r>
              <a:rPr lang="es-ES" sz="2000" dirty="0"/>
              <a:t>→ Luego de cerrar sesión, redireccionarlo a la página principal (/</a:t>
            </a:r>
            <a:r>
              <a:rPr lang="es-ES" sz="2000" dirty="0" err="1"/>
              <a:t>product</a:t>
            </a:r>
            <a:r>
              <a:rPr lang="es-ES" sz="2000" dirty="0"/>
              <a:t>)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8983311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DAE8B-88BC-687E-C687-C2026C173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94B50-5A27-84C2-AECA-ADD6EAAC1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Logout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A5694EB-08EE-1990-C433-4FB230D8FA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F2D7CE-60FD-420F-E9AD-46491A16E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En el archivo de configuración utilizar el método </a:t>
            </a:r>
            <a:r>
              <a:rPr lang="es-ES" sz="2000" b="1" dirty="0" err="1">
                <a:latin typeface="Source Code Pro"/>
                <a:ea typeface="Source Code Pro"/>
                <a:cs typeface="Source Code Pro"/>
                <a:sym typeface="Source Code Pro"/>
              </a:rPr>
              <a:t>logoutSuccessUrl</a:t>
            </a:r>
            <a:r>
              <a:rPr lang="es-ES" sz="2000" b="1" dirty="0">
                <a:latin typeface="Source Code Pro"/>
                <a:ea typeface="Source Code Pro"/>
                <a:cs typeface="Source Code Pro"/>
                <a:sym typeface="Source Code Pro"/>
              </a:rPr>
              <a:t>()</a:t>
            </a:r>
            <a:r>
              <a:rPr lang="es-ES" sz="2000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en este caso en particular, /</a:t>
            </a:r>
            <a:r>
              <a:rPr lang="es-ES" sz="2000" dirty="0" err="1"/>
              <a:t>product</a:t>
            </a:r>
            <a:r>
              <a:rPr lang="es-ES" sz="2000" dirty="0"/>
              <a:t> también es la raíz del proyecto “/” por lo cual se ha configurado esta ruta.</a:t>
            </a:r>
          </a:p>
          <a:p>
            <a:endParaRPr lang="es-PE" sz="2000" dirty="0"/>
          </a:p>
        </p:txBody>
      </p:sp>
      <p:pic>
        <p:nvPicPr>
          <p:cNvPr id="5" name="Google Shape;560;p65">
            <a:extLst>
              <a:ext uri="{FF2B5EF4-FFF2-40B4-BE49-F238E27FC236}">
                <a16:creationId xmlns:a16="http://schemas.microsoft.com/office/drawing/2014/main" id="{AC9C4D5D-92CF-F4D4-4F0F-4857C8FA09B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49377" y="1888746"/>
            <a:ext cx="382905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59;p65">
            <a:extLst>
              <a:ext uri="{FF2B5EF4-FFF2-40B4-BE49-F238E27FC236}">
                <a16:creationId xmlns:a16="http://schemas.microsoft.com/office/drawing/2014/main" id="{A3CBE7EC-380F-DE52-3005-C192F9EE21DC}"/>
              </a:ext>
            </a:extLst>
          </p:cNvPr>
          <p:cNvSpPr/>
          <p:nvPr/>
        </p:nvSpPr>
        <p:spPr>
          <a:xfrm rot="2700000">
            <a:off x="9003281" y="3797273"/>
            <a:ext cx="228678" cy="743311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Google Shape;557;p65">
            <a:extLst>
              <a:ext uri="{FF2B5EF4-FFF2-40B4-BE49-F238E27FC236}">
                <a16:creationId xmlns:a16="http://schemas.microsoft.com/office/drawing/2014/main" id="{7B037B78-AC81-36A8-5D7A-CAC46CA50D7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917" y="4632968"/>
            <a:ext cx="87439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558;p65">
            <a:extLst>
              <a:ext uri="{FF2B5EF4-FFF2-40B4-BE49-F238E27FC236}">
                <a16:creationId xmlns:a16="http://schemas.microsoft.com/office/drawing/2014/main" id="{AED66E52-5569-5CB2-BAB8-F7200BC263F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3392" y="3099443"/>
            <a:ext cx="8763000" cy="781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82610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DDC2E01-F227-4D65-5C89-F1CE1914D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354982" cy="705775"/>
          </a:xfrm>
        </p:spPr>
        <p:txBody>
          <a:bodyPr wrap="square" anchor="b">
            <a:normAutofit/>
          </a:bodyPr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6B22A9-4042-6B33-F6FE-445B5637FA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2A29C8B-5F70-8945-A2A6-FBD7A17156DB}" type="slidenum">
              <a:rPr lang="es-PE" sz="1400" smtClean="0"/>
              <a:pPr>
                <a:lnSpc>
                  <a:spcPct val="90000"/>
                </a:lnSpc>
                <a:spcAft>
                  <a:spcPts val="600"/>
                </a:spcAft>
              </a:pPr>
              <a:t>54</a:t>
            </a:fld>
            <a:endParaRPr lang="es-PE" sz="140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D22776-1529-4BC3-7050-A8E6DA348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777" y="1400425"/>
            <a:ext cx="10354982" cy="3843645"/>
          </a:xfrm>
        </p:spPr>
        <p:txBody>
          <a:bodyPr wrap="square" anchor="t">
            <a:norm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 sz="2200"/>
              <a:t>Spring</a:t>
            </a:r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 u="sng">
                <a:hlinkClick r:id="rId2"/>
              </a:rPr>
              <a:t>https://spring.io/projects/spring-security</a:t>
            </a:r>
            <a:endParaRPr lang="es-419"/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 u="sng">
                <a:hlinkClick r:id="rId3"/>
              </a:rPr>
              <a:t>https://docs.spring.io/spring-security/site/docs/current/reference/html5/</a:t>
            </a:r>
            <a:endParaRPr lang="es-419"/>
          </a:p>
          <a:p>
            <a:pPr marL="457200" lvl="0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 sz="2200"/>
              <a:t>Libro: </a:t>
            </a:r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 err="1"/>
              <a:t>Siva</a:t>
            </a:r>
            <a:r>
              <a:rPr lang="es-419"/>
              <a:t>, P. R. K. (2018). </a:t>
            </a:r>
            <a:r>
              <a:rPr lang="es-419" i="1" err="1"/>
              <a:t>Beginning</a:t>
            </a:r>
            <a:r>
              <a:rPr lang="es-419" i="1"/>
              <a:t> Spring </a:t>
            </a:r>
            <a:r>
              <a:rPr lang="es-419" i="1" err="1"/>
              <a:t>Boot</a:t>
            </a:r>
            <a:r>
              <a:rPr lang="es-419" i="1"/>
              <a:t> 2: </a:t>
            </a:r>
            <a:r>
              <a:rPr lang="es-419" i="1" err="1"/>
              <a:t>applications</a:t>
            </a:r>
            <a:r>
              <a:rPr lang="es-419" i="1"/>
              <a:t> and </a:t>
            </a:r>
            <a:r>
              <a:rPr lang="es-419" i="1" err="1"/>
              <a:t>microservices</a:t>
            </a:r>
            <a:r>
              <a:rPr lang="es-419" i="1"/>
              <a:t> </a:t>
            </a:r>
            <a:r>
              <a:rPr lang="es-419" i="1" err="1"/>
              <a:t>with</a:t>
            </a:r>
            <a:r>
              <a:rPr lang="es-419" i="1"/>
              <a:t> </a:t>
            </a:r>
            <a:r>
              <a:rPr lang="es-419" i="1" err="1"/>
              <a:t>the</a:t>
            </a:r>
            <a:r>
              <a:rPr lang="es-419" i="1"/>
              <a:t> Spring </a:t>
            </a:r>
            <a:r>
              <a:rPr lang="es-419" i="1" err="1"/>
              <a:t>framework</a:t>
            </a:r>
            <a:r>
              <a:rPr lang="es-419"/>
              <a:t>. New York: </a:t>
            </a:r>
            <a:r>
              <a:rPr lang="es-419" err="1"/>
              <a:t>Apress</a:t>
            </a:r>
            <a:r>
              <a:rPr lang="es-419"/>
              <a:t>.</a:t>
            </a:r>
          </a:p>
          <a:p>
            <a: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-419" sz="2200" err="1"/>
              <a:t>Chapter</a:t>
            </a:r>
            <a:r>
              <a:rPr lang="es-419" sz="2200"/>
              <a:t> 13 - </a:t>
            </a:r>
            <a:r>
              <a:rPr lang="es-419" sz="2200" err="1"/>
              <a:t>Securing</a:t>
            </a:r>
            <a:r>
              <a:rPr lang="es-419" sz="2200"/>
              <a:t> Web </a:t>
            </a:r>
            <a:r>
              <a:rPr lang="es-419" sz="2200" err="1"/>
              <a:t>Applications</a:t>
            </a:r>
            <a:endParaRPr lang="es-419" sz="2200"/>
          </a:p>
          <a:p>
            <a:pPr marL="457200" lvl="0" indent="-342900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 sz="2200"/>
              <a:t>Libro:</a:t>
            </a:r>
          </a:p>
          <a:p>
            <a: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-419" err="1"/>
              <a:t>Knutson</a:t>
            </a:r>
            <a:r>
              <a:rPr lang="es-419"/>
              <a:t>, </a:t>
            </a:r>
            <a:r>
              <a:rPr lang="es-419" err="1"/>
              <a:t>Mick</a:t>
            </a:r>
            <a:r>
              <a:rPr lang="es-419"/>
              <a:t>. </a:t>
            </a:r>
            <a:r>
              <a:rPr lang="es-419" err="1"/>
              <a:t>Winch</a:t>
            </a:r>
            <a:r>
              <a:rPr lang="es-419"/>
              <a:t>, Robert. </a:t>
            </a:r>
            <a:r>
              <a:rPr lang="es-419" err="1"/>
              <a:t>Mularien</a:t>
            </a:r>
            <a:r>
              <a:rPr lang="es-419"/>
              <a:t>, Peter. (2017).</a:t>
            </a:r>
            <a:r>
              <a:rPr lang="es-419" i="1"/>
              <a:t> Spring Security - </a:t>
            </a:r>
            <a:r>
              <a:rPr lang="es-419" i="1" err="1"/>
              <a:t>Third</a:t>
            </a:r>
            <a:r>
              <a:rPr lang="es-419" i="1"/>
              <a:t> </a:t>
            </a:r>
            <a:r>
              <a:rPr lang="es-419" i="1" err="1"/>
              <a:t>Edition</a:t>
            </a:r>
            <a:r>
              <a:rPr lang="es-419"/>
              <a:t>. PACKT Publishing </a:t>
            </a:r>
            <a:r>
              <a:rPr lang="es-419" err="1"/>
              <a:t>Limited</a:t>
            </a:r>
            <a:r>
              <a:rPr lang="es-419"/>
              <a:t>.</a:t>
            </a:r>
          </a:p>
          <a:p>
            <a:endParaRPr lang="es-PE" sz="2200"/>
          </a:p>
        </p:txBody>
      </p:sp>
      <p:sp>
        <p:nvSpPr>
          <p:cNvPr id="2" name="Marcador de fecha 1" hidden="1">
            <a:extLst>
              <a:ext uri="{FF2B5EF4-FFF2-40B4-BE49-F238E27FC236}">
                <a16:creationId xmlns:a16="http://schemas.microsoft.com/office/drawing/2014/main" id="{CE9565DE-883F-E9E5-03E4-45D91C3AB38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t>2025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645470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728</TotalTime>
  <Words>3750</Words>
  <Application>Microsoft Office PowerPoint</Application>
  <PresentationFormat>Panorámica</PresentationFormat>
  <Paragraphs>529</Paragraphs>
  <Slides>54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54</vt:i4>
      </vt:variant>
    </vt:vector>
  </HeadingPairs>
  <TitlesOfParts>
    <vt:vector size="65" baseType="lpstr">
      <vt:lpstr>Arial</vt:lpstr>
      <vt:lpstr>Courier New</vt:lpstr>
      <vt:lpstr>Montserrat</vt:lpstr>
      <vt:lpstr>Montserrat Medium</vt:lpstr>
      <vt:lpstr>Open Sans</vt:lpstr>
      <vt:lpstr>Source Code Pro</vt:lpstr>
      <vt:lpstr>Wingdings</vt:lpstr>
      <vt:lpstr>Tema de Office</vt:lpstr>
      <vt:lpstr>1_Tema de Office</vt:lpstr>
      <vt:lpstr>Diseño personalizado</vt:lpstr>
      <vt:lpstr>Telecom Pucp</vt:lpstr>
      <vt:lpstr>Presentación de PowerPoint</vt:lpstr>
      <vt:lpstr>Spring Security</vt:lpstr>
      <vt:lpstr>Spring Security</vt:lpstr>
      <vt:lpstr>Spring Security</vt:lpstr>
      <vt:lpstr>Dependencias Spring Security</vt:lpstr>
      <vt:lpstr>Configuración por defecto – Spring Security</vt:lpstr>
      <vt:lpstr>Configuración personalizada</vt:lpstr>
      <vt:lpstr>Configuración Personalizada @SecurityFilterChain</vt:lpstr>
      <vt:lpstr>@EnableWebSecurity</vt:lpstr>
      <vt:lpstr>Proteger ciertas rutas</vt:lpstr>
      <vt:lpstr>Proteger ciertas rutas</vt:lpstr>
      <vt:lpstr>Explicación</vt:lpstr>
      <vt:lpstr>Probando</vt:lpstr>
      <vt:lpstr>Login Form</vt:lpstr>
      <vt:lpstr>Default Login Form</vt:lpstr>
      <vt:lpstr>Probando</vt:lpstr>
      <vt:lpstr>Autorización: Acceso basado en roles</vt:lpstr>
      <vt:lpstr>Autorización</vt:lpstr>
      <vt:lpstr>Tablas sugeridas por Spring</vt:lpstr>
      <vt:lpstr>Tablas utilizadas en el ejemplo</vt:lpstr>
      <vt:lpstr>Información sobre las tablas</vt:lpstr>
      <vt:lpstr>Proteger ciertas rutas por roles</vt:lpstr>
      <vt:lpstr>Autenticar por roles</vt:lpstr>
      <vt:lpstr>Autenticar por roles</vt:lpstr>
      <vt:lpstr>Autenticar por roles</vt:lpstr>
      <vt:lpstr>UserDetailsManager - explicación</vt:lpstr>
      <vt:lpstr>Probando</vt:lpstr>
      <vt:lpstr>Ventana Login personalizada</vt:lpstr>
      <vt:lpstr>Ventana login personalizada</vt:lpstr>
      <vt:lpstr>Ajustar la configuración</vt:lpstr>
      <vt:lpstr>Gestionar las rutas de login - Controlador</vt:lpstr>
      <vt:lpstr>Vista de Login personalizado</vt:lpstr>
      <vt:lpstr>Probando</vt:lpstr>
      <vt:lpstr>Observación</vt:lpstr>
      <vt:lpstr>Otros Ajustes</vt:lpstr>
      <vt:lpstr>Otros Ajustes</vt:lpstr>
      <vt:lpstr>Botón de inicio de sesión</vt:lpstr>
      <vt:lpstr>Redirección en función del rol</vt:lpstr>
      <vt:lpstr>Redirección en función del rol</vt:lpstr>
      <vt:lpstr>Probando</vt:lpstr>
      <vt:lpstr>Probando</vt:lpstr>
      <vt:lpstr>Redirección en función del rol - completo</vt:lpstr>
      <vt:lpstr>Cerrar Sesión</vt:lpstr>
      <vt:lpstr>Spring Security Dialect</vt:lpstr>
      <vt:lpstr>Vista</vt:lpstr>
      <vt:lpstr>Spring Security Dialect</vt:lpstr>
      <vt:lpstr>Vista</vt:lpstr>
      <vt:lpstr>Expression utility objects</vt:lpstr>
      <vt:lpstr>Sec:authorize</vt:lpstr>
      <vt:lpstr>Sec:authorize – en navbar.html</vt:lpstr>
      <vt:lpstr>Probando</vt:lpstr>
      <vt:lpstr>Logout</vt:lpstr>
      <vt:lpstr>Logout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30</cp:revision>
  <dcterms:created xsi:type="dcterms:W3CDTF">2023-10-28T21:43:03Z</dcterms:created>
  <dcterms:modified xsi:type="dcterms:W3CDTF">2026-05-07T01:05:01Z</dcterms:modified>
</cp:coreProperties>
</file>