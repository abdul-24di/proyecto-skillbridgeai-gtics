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 id="2147483660" r:id="rId3"/>
    <p:sldMasterId id="2147483680" r:id="rId4"/>
  </p:sldMasterIdLst>
  <p:notesMasterIdLst>
    <p:notesMasterId r:id="rId40"/>
  </p:notesMasterIdLst>
  <p:handoutMasterIdLst>
    <p:handoutMasterId r:id="rId41"/>
  </p:handoutMasterIdLst>
  <p:sldIdLst>
    <p:sldId id="378" r:id="rId5"/>
    <p:sldId id="379" r:id="rId6"/>
    <p:sldId id="380" r:id="rId7"/>
    <p:sldId id="347" r:id="rId8"/>
    <p:sldId id="381" r:id="rId9"/>
    <p:sldId id="382" r:id="rId10"/>
    <p:sldId id="384" r:id="rId11"/>
    <p:sldId id="385" r:id="rId12"/>
    <p:sldId id="383" r:id="rId13"/>
    <p:sldId id="386" r:id="rId14"/>
    <p:sldId id="387" r:id="rId15"/>
    <p:sldId id="388" r:id="rId16"/>
    <p:sldId id="389" r:id="rId17"/>
    <p:sldId id="390" r:id="rId18"/>
    <p:sldId id="391" r:id="rId19"/>
    <p:sldId id="392" r:id="rId20"/>
    <p:sldId id="393" r:id="rId21"/>
    <p:sldId id="394" r:id="rId22"/>
    <p:sldId id="395" r:id="rId23"/>
    <p:sldId id="396" r:id="rId24"/>
    <p:sldId id="397" r:id="rId25"/>
    <p:sldId id="398" r:id="rId26"/>
    <p:sldId id="399" r:id="rId27"/>
    <p:sldId id="400" r:id="rId28"/>
    <p:sldId id="371" r:id="rId29"/>
    <p:sldId id="401" r:id="rId30"/>
    <p:sldId id="403" r:id="rId31"/>
    <p:sldId id="402" r:id="rId32"/>
    <p:sldId id="404" r:id="rId33"/>
    <p:sldId id="405" r:id="rId34"/>
    <p:sldId id="406" r:id="rId35"/>
    <p:sldId id="407" r:id="rId36"/>
    <p:sldId id="408" r:id="rId37"/>
    <p:sldId id="409" r:id="rId38"/>
    <p:sldId id="410" r:id="rId39"/>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FADC"/>
    <a:srgbClr val="7E32C8"/>
    <a:srgbClr val="0A2451"/>
    <a:srgbClr val="7F32C8"/>
    <a:srgbClr val="0096C8"/>
    <a:srgbClr val="009A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3792" autoAdjust="0"/>
  </p:normalViewPr>
  <p:slideViewPr>
    <p:cSldViewPr snapToGrid="0" snapToObjects="1">
      <p:cViewPr varScale="1">
        <p:scale>
          <a:sx n="79" d="100"/>
          <a:sy n="79" d="100"/>
        </p:scale>
        <p:origin x="782"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F0BF7D0-ACCD-45E0-9075-7974351BA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dirty="0"/>
          </a:p>
        </p:txBody>
      </p:sp>
      <p:sp>
        <p:nvSpPr>
          <p:cNvPr id="3" name="Marcador de fecha 2">
            <a:extLst>
              <a:ext uri="{FF2B5EF4-FFF2-40B4-BE49-F238E27FC236}">
                <a16:creationId xmlns:a16="http://schemas.microsoft.com/office/drawing/2014/main" id="{63B6A517-4C1F-40CC-B607-62B1086073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240BD7-4B38-4A99-A6E7-5E1A97DAF11B}" type="datetimeFigureOut">
              <a:rPr lang="es-PE" smtClean="0"/>
              <a:t>6/05/2026</a:t>
            </a:fld>
            <a:endParaRPr lang="es-PE"/>
          </a:p>
        </p:txBody>
      </p:sp>
      <p:sp>
        <p:nvSpPr>
          <p:cNvPr id="4" name="Marcador de pie de página 3">
            <a:extLst>
              <a:ext uri="{FF2B5EF4-FFF2-40B4-BE49-F238E27FC236}">
                <a16:creationId xmlns:a16="http://schemas.microsoft.com/office/drawing/2014/main" id="{5DE1014B-0959-4D3A-8DC3-99369C9107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5A5F80A8-C49B-4372-B96A-23231D58BE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3D7DB4-D5A9-475B-BF72-4B93DC046C52}" type="slidenum">
              <a:rPr lang="es-PE" smtClean="0"/>
              <a:t>‹Nº›</a:t>
            </a:fld>
            <a:endParaRPr lang="es-PE"/>
          </a:p>
        </p:txBody>
      </p:sp>
    </p:spTree>
    <p:extLst>
      <p:ext uri="{BB962C8B-B14F-4D97-AF65-F5344CB8AC3E}">
        <p14:creationId xmlns:p14="http://schemas.microsoft.com/office/powerpoint/2010/main" val="1126361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2EFC3-66C1-4423-B1B2-E7C9DCCB5C75}" type="datetimeFigureOut">
              <a:rPr lang="es-PE" smtClean="0"/>
              <a:t>6/05/2026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75E41-3A85-45FC-A38E-3ABB827C81B6}" type="slidenum">
              <a:rPr lang="es-PE" smtClean="0"/>
              <a:t>‹Nº›</a:t>
            </a:fld>
            <a:endParaRPr lang="es-PE"/>
          </a:p>
        </p:txBody>
      </p:sp>
    </p:spTree>
    <p:extLst>
      <p:ext uri="{BB962C8B-B14F-4D97-AF65-F5344CB8AC3E}">
        <p14:creationId xmlns:p14="http://schemas.microsoft.com/office/powerpoint/2010/main" val="20537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Para hacer el </a:t>
            </a:r>
            <a:r>
              <a:rPr lang="es-PE" dirty="0" err="1"/>
              <a:t>build</a:t>
            </a:r>
            <a:r>
              <a:rPr lang="es-PE" dirty="0"/>
              <a:t> de Docker con el nuevo nombre de tu archivo </a:t>
            </a:r>
            <a:r>
              <a:rPr lang="es-PE" dirty="0">
                <a:sym typeface="Wingdings" panose="05000000000000000000" pitchFamily="2" charset="2"/>
              </a:rPr>
              <a:t> Debes colocarte en el CMD, en la carpeta donde se encuentra  tu proyecto.</a:t>
            </a:r>
            <a:endParaRPr lang="es-PE" dirty="0"/>
          </a:p>
        </p:txBody>
      </p:sp>
      <p:sp>
        <p:nvSpPr>
          <p:cNvPr id="4" name="Marcador de número de diapositiva 3"/>
          <p:cNvSpPr>
            <a:spLocks noGrp="1"/>
          </p:cNvSpPr>
          <p:nvPr>
            <p:ph type="sldNum" sz="quarter" idx="5"/>
          </p:nvPr>
        </p:nvSpPr>
        <p:spPr/>
        <p:txBody>
          <a:bodyPr/>
          <a:lstStyle/>
          <a:p>
            <a:fld id="{CB575E41-3A85-45FC-A38E-3ABB827C81B6}" type="slidenum">
              <a:rPr lang="es-PE" smtClean="0"/>
              <a:t>15</a:t>
            </a:fld>
            <a:endParaRPr lang="es-PE"/>
          </a:p>
        </p:txBody>
      </p:sp>
    </p:spTree>
    <p:extLst>
      <p:ext uri="{BB962C8B-B14F-4D97-AF65-F5344CB8AC3E}">
        <p14:creationId xmlns:p14="http://schemas.microsoft.com/office/powerpoint/2010/main" val="867008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err="1"/>
              <a:t>Parametro</a:t>
            </a:r>
            <a:r>
              <a:rPr lang="es-PE" dirty="0"/>
              <a:t> de la imagen,</a:t>
            </a:r>
          </a:p>
          <a:p>
            <a:r>
              <a:rPr lang="es-PE" dirty="0"/>
              <a:t>Container </a:t>
            </a:r>
            <a:r>
              <a:rPr lang="es-PE" dirty="0" err="1"/>
              <a:t>name</a:t>
            </a:r>
            <a:endParaRPr lang="es-PE" dirty="0"/>
          </a:p>
          <a:p>
            <a:r>
              <a:rPr lang="es-PE" dirty="0" err="1"/>
              <a:t>Bind</a:t>
            </a:r>
            <a:r>
              <a:rPr lang="es-PE" dirty="0"/>
              <a:t> </a:t>
            </a:r>
            <a:r>
              <a:rPr lang="es-PE" dirty="0" err="1"/>
              <a:t>port</a:t>
            </a:r>
            <a:endParaRPr lang="es-PE" dirty="0"/>
          </a:p>
          <a:p>
            <a:r>
              <a:rPr lang="es-PE" dirty="0" err="1"/>
              <a:t>Environment</a:t>
            </a:r>
            <a:r>
              <a:rPr lang="es-PE" dirty="0"/>
              <a:t> variable</a:t>
            </a:r>
          </a:p>
          <a:p>
            <a:r>
              <a:rPr lang="es-PE" dirty="0"/>
              <a:t>Run </a:t>
            </a:r>
            <a:r>
              <a:rPr lang="es-PE" dirty="0" err="1"/>
              <a:t>options</a:t>
            </a:r>
            <a:r>
              <a:rPr lang="es-PE" dirty="0"/>
              <a:t>.</a:t>
            </a:r>
          </a:p>
        </p:txBody>
      </p:sp>
      <p:sp>
        <p:nvSpPr>
          <p:cNvPr id="4" name="Marcador de número de diapositiva 3"/>
          <p:cNvSpPr>
            <a:spLocks noGrp="1"/>
          </p:cNvSpPr>
          <p:nvPr>
            <p:ph type="sldNum" sz="quarter" idx="5"/>
          </p:nvPr>
        </p:nvSpPr>
        <p:spPr/>
        <p:txBody>
          <a:bodyPr/>
          <a:lstStyle/>
          <a:p>
            <a:fld id="{CB575E41-3A85-45FC-A38E-3ABB827C81B6}" type="slidenum">
              <a:rPr lang="es-PE" smtClean="0"/>
              <a:t>20</a:t>
            </a:fld>
            <a:endParaRPr lang="es-PE"/>
          </a:p>
        </p:txBody>
      </p:sp>
    </p:spTree>
    <p:extLst>
      <p:ext uri="{BB962C8B-B14F-4D97-AF65-F5344CB8AC3E}">
        <p14:creationId xmlns:p14="http://schemas.microsoft.com/office/powerpoint/2010/main" val="1856548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Marcador de fecha 6">
            <a:extLst>
              <a:ext uri="{FF2B5EF4-FFF2-40B4-BE49-F238E27FC236}">
                <a16:creationId xmlns:a16="http://schemas.microsoft.com/office/drawing/2014/main" id="{ABBDFEDA-4707-4FCF-B728-8770DE811E89}"/>
              </a:ext>
            </a:extLst>
          </p:cNvPr>
          <p:cNvSpPr>
            <a:spLocks noGrp="1"/>
          </p:cNvSpPr>
          <p:nvPr>
            <p:ph type="dt" sz="half" idx="10"/>
          </p:nvPr>
        </p:nvSpPr>
        <p:spPr/>
        <p:txBody>
          <a:bodyPr/>
          <a:lstStyle/>
          <a:p>
            <a:fld id="{7B51C491-E0CA-4324-AB99-27795370E731}" type="datetime6">
              <a:rPr lang="es-PE" smtClean="0"/>
              <a:t>Mayo de 2026</a:t>
            </a:fld>
            <a:endParaRPr lang="es-PE" dirty="0"/>
          </a:p>
        </p:txBody>
      </p:sp>
      <p:sp>
        <p:nvSpPr>
          <p:cNvPr id="8" name="Marcador de pie de página 7">
            <a:extLst>
              <a:ext uri="{FF2B5EF4-FFF2-40B4-BE49-F238E27FC236}">
                <a16:creationId xmlns:a16="http://schemas.microsoft.com/office/drawing/2014/main" id="{0FEC6C11-5534-41C2-AE3F-23A2E42B2787}"/>
              </a:ext>
            </a:extLst>
          </p:cNvPr>
          <p:cNvSpPr>
            <a:spLocks noGrp="1"/>
          </p:cNvSpPr>
          <p:nvPr>
            <p:ph type="ftr" sz="quarter" idx="11"/>
          </p:nvPr>
        </p:nvSpPr>
        <p:spPr/>
        <p:txBody>
          <a:bodyPr/>
          <a:lstStyle/>
          <a:p>
            <a:r>
              <a:rPr lang="es-PE"/>
              <a:t>Nombre de Curso</a:t>
            </a:r>
            <a:endParaRPr lang="es-PE" dirty="0"/>
          </a:p>
        </p:txBody>
      </p:sp>
      <p:sp>
        <p:nvSpPr>
          <p:cNvPr id="9" name="Marcador de número de diapositiva 8">
            <a:extLst>
              <a:ext uri="{FF2B5EF4-FFF2-40B4-BE49-F238E27FC236}">
                <a16:creationId xmlns:a16="http://schemas.microsoft.com/office/drawing/2014/main" id="{C596F09D-DC31-489D-B4ED-C366F8894D98}"/>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66910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EBB98E25-E046-416A-8AD2-E2EA35E0D47B}" type="datetime6">
              <a:rPr lang="es-PE" smtClean="0"/>
              <a:t>Mayo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602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373F8130-A112-4F15-AFC2-368CC75448B6}" type="datetime6">
              <a:rPr lang="es-PE" smtClean="0"/>
              <a:t>Mayo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
        <p:nvSpPr>
          <p:cNvPr id="2" name="Title 1">
            <a:extLst>
              <a:ext uri="{FF2B5EF4-FFF2-40B4-BE49-F238E27FC236}">
                <a16:creationId xmlns:a16="http://schemas.microsoft.com/office/drawing/2014/main" id="{1C996BDD-8036-732D-98BA-0F2E3735264C}"/>
              </a:ext>
            </a:extLst>
          </p:cNvPr>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3308758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D79D8E-AB04-8E45-9319-348AC3CB4E56}"/>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1049A28C-F211-4BC4-A82C-550C2815AB6D}" type="datetime6">
              <a:rPr lang="es-PE" smtClean="0"/>
              <a:t>Mayo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297A3063-101A-4748-9BF4-BDCEAD74E9C2}"/>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7816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C011ED01-9170-4915-AD68-3CC34DFA2DBD}" type="datetime6">
              <a:rPr lang="es-PE" smtClean="0"/>
              <a:t>Mayo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s-PE"/>
              <a:t>Nombre de Curso</a:t>
            </a:r>
            <a:endParaRPr lang="es-PE" dirty="0"/>
          </a:p>
        </p:txBody>
      </p:sp>
      <p:sp>
        <p:nvSpPr>
          <p:cNvPr id="7" name="Marcador de número de diapositiva 6">
            <a:extLst>
              <a:ext uri="{FF2B5EF4-FFF2-40B4-BE49-F238E27FC236}">
                <a16:creationId xmlns:a16="http://schemas.microsoft.com/office/drawing/2014/main" id="{F38F1C9D-46B9-3A4E-AB57-99CFCB4F8DD3}"/>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9506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A6E0DE35-9A49-4AAC-8B2C-BA4A347498EB}" type="datetime6">
              <a:rPr lang="es-PE" smtClean="0"/>
              <a:t>Mayo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s-PE"/>
              <a:t>Nombre de Curso</a:t>
            </a:r>
          </a:p>
        </p:txBody>
      </p:sp>
      <p:sp>
        <p:nvSpPr>
          <p:cNvPr id="9" name="Marcador de número de diapositiva 8">
            <a:extLst>
              <a:ext uri="{FF2B5EF4-FFF2-40B4-BE49-F238E27FC236}">
                <a16:creationId xmlns:a16="http://schemas.microsoft.com/office/drawing/2014/main" id="{0C83630D-DB33-894E-A6FB-7C886A314F51}"/>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531018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F12BB3AF-5458-4635-87B4-F9A9B12C5458}" type="datetime6">
              <a:rPr lang="es-PE" smtClean="0"/>
              <a:t>Mayo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C40BCAD-F69B-D846-B7D1-F816049E47BA}"/>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011520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EC194354-6BA5-49FF-BF43-87C4B22E98B4}" type="datetime6">
              <a:rPr lang="es-PE" smtClean="0"/>
              <a:t>Mayo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D665C2B-C547-9D48-897C-C27108ED3FE5}"/>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65634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2C670608-F1FB-45F6-860F-922B6EF37ED4}" type="datetime6">
              <a:rPr lang="es-PE" smtClean="0"/>
              <a:t>Mayo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609B5093-2547-5848-96C5-63FA5D8ACCB4}"/>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41929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93D078BD-AB8A-4345-9035-53D22F2B3257}" type="datetime6">
              <a:rPr lang="es-PE" smtClean="0"/>
              <a:t>Mayo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7F95E045-43DC-F64F-8427-01C4927DE3DF}"/>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5393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a:xfrm>
            <a:off x="838200" y="1998617"/>
            <a:ext cx="10515600" cy="3304903"/>
          </a:xfrm>
          <a:prstGeom prst="rect">
            <a:avLst/>
          </a:prstGeom>
        </p:spPr>
        <p:txBody>
          <a:bodyPr/>
          <a:lstStyle>
            <a:lvl1pPr>
              <a:defRPr sz="2400"/>
            </a:lvl1pPr>
            <a:lvl2pPr>
              <a:defRPr sz="2200"/>
            </a:lvl2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67B51771-42A4-45B0-9E2A-31E6848B072B}" type="datetime6">
              <a:rPr lang="es-PE" smtClean="0"/>
              <a:t>Mayo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título 1">
            <a:extLst>
              <a:ext uri="{FF2B5EF4-FFF2-40B4-BE49-F238E27FC236}">
                <a16:creationId xmlns:a16="http://schemas.microsoft.com/office/drawing/2014/main" id="{A687CBB4-B26D-433C-982F-3DCCCFE5C7DF}"/>
              </a:ext>
            </a:extLst>
          </p:cNvPr>
          <p:cNvSpPr>
            <a:spLocks noGrp="1"/>
          </p:cNvSpPr>
          <p:nvPr>
            <p:ph type="title"/>
          </p:nvPr>
        </p:nvSpPr>
        <p:spPr>
          <a:xfrm>
            <a:off x="838200" y="1118824"/>
            <a:ext cx="10515600"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2" name="Marcador de número de diapositiva 5">
            <a:extLst>
              <a:ext uri="{FF2B5EF4-FFF2-40B4-BE49-F238E27FC236}">
                <a16:creationId xmlns:a16="http://schemas.microsoft.com/office/drawing/2014/main" id="{D43F6072-5465-F57A-EF21-56204254D97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642845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5F0A72E7-2671-47A4-AF35-66459EA16402}"/>
              </a:ext>
            </a:extLst>
          </p:cNvPr>
          <p:cNvSpPr>
            <a:spLocks noGrp="1"/>
          </p:cNvSpPr>
          <p:nvPr>
            <p:ph type="dt" sz="half" idx="10"/>
          </p:nvPr>
        </p:nvSpPr>
        <p:spPr/>
        <p:txBody>
          <a:bodyPr/>
          <a:lstStyle/>
          <a:p>
            <a:fld id="{F700D25D-3002-4A58-8B13-21BD8EE61204}" type="datetime6">
              <a:rPr lang="es-PE" smtClean="0"/>
              <a:t>Mayo de 2026</a:t>
            </a:fld>
            <a:endParaRPr lang="es-PE"/>
          </a:p>
        </p:txBody>
      </p:sp>
      <p:sp>
        <p:nvSpPr>
          <p:cNvPr id="8" name="Marcador de pie de página 7">
            <a:extLst>
              <a:ext uri="{FF2B5EF4-FFF2-40B4-BE49-F238E27FC236}">
                <a16:creationId xmlns:a16="http://schemas.microsoft.com/office/drawing/2014/main" id="{486C3314-7415-4B69-9C72-28C2155C4CD0}"/>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Marcador de número de diapositiva 5">
            <a:extLst>
              <a:ext uri="{FF2B5EF4-FFF2-40B4-BE49-F238E27FC236}">
                <a16:creationId xmlns:a16="http://schemas.microsoft.com/office/drawing/2014/main" id="{07477A4A-ECCB-8B69-A47C-30FB4783A444}"/>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655517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D791DECC-10B9-4F40-90A9-2F5BE622FB80}" type="datetime6">
              <a:rPr lang="es-PE" smtClean="0"/>
              <a:t>Mayo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Title 1">
            <a:extLst>
              <a:ext uri="{FF2B5EF4-FFF2-40B4-BE49-F238E27FC236}">
                <a16:creationId xmlns:a16="http://schemas.microsoft.com/office/drawing/2014/main" id="{843278E2-83A6-F38B-4712-926F3DB9B8D5}"/>
              </a:ext>
            </a:extLst>
          </p:cNvPr>
          <p:cNvSpPr>
            <a:spLocks noGrp="1"/>
          </p:cNvSpPr>
          <p:nvPr>
            <p:ph type="title"/>
          </p:nvPr>
        </p:nvSpPr>
        <p:spPr/>
        <p:txBody>
          <a:bodyPr/>
          <a:lstStyle/>
          <a:p>
            <a:r>
              <a:rPr lang="en-US"/>
              <a:t>Click to edit Master title style</a:t>
            </a:r>
            <a:endParaRPr lang="es-PE"/>
          </a:p>
        </p:txBody>
      </p:sp>
      <p:sp>
        <p:nvSpPr>
          <p:cNvPr id="6" name="Marcador de número de diapositiva 5">
            <a:extLst>
              <a:ext uri="{FF2B5EF4-FFF2-40B4-BE49-F238E27FC236}">
                <a16:creationId xmlns:a16="http://schemas.microsoft.com/office/drawing/2014/main" id="{0E5A0FF8-286D-9381-1F09-B45262982152}"/>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256149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10" name="Marcador de fecha 9">
            <a:extLst>
              <a:ext uri="{FF2B5EF4-FFF2-40B4-BE49-F238E27FC236}">
                <a16:creationId xmlns:a16="http://schemas.microsoft.com/office/drawing/2014/main" id="{F008D962-BEC4-402A-A407-79C9AD9F26BE}"/>
              </a:ext>
            </a:extLst>
          </p:cNvPr>
          <p:cNvSpPr>
            <a:spLocks noGrp="1"/>
          </p:cNvSpPr>
          <p:nvPr>
            <p:ph type="dt" sz="half" idx="10"/>
          </p:nvPr>
        </p:nvSpPr>
        <p:spPr/>
        <p:txBody>
          <a:bodyPr/>
          <a:lstStyle/>
          <a:p>
            <a:fld id="{93BC0233-ABB9-4EC0-9B00-FB2CD5E81D0A}" type="datetime6">
              <a:rPr lang="es-PE" smtClean="0"/>
              <a:t>Mayo de 2026</a:t>
            </a:fld>
            <a:endParaRPr lang="es-PE"/>
          </a:p>
        </p:txBody>
      </p:sp>
      <p:sp>
        <p:nvSpPr>
          <p:cNvPr id="11" name="Marcador de pie de página 10">
            <a:extLst>
              <a:ext uri="{FF2B5EF4-FFF2-40B4-BE49-F238E27FC236}">
                <a16:creationId xmlns:a16="http://schemas.microsoft.com/office/drawing/2014/main" id="{3750F3DD-81E0-4125-8E5B-E0A1E304810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4" name="Marcador de número de diapositiva 5">
            <a:extLst>
              <a:ext uri="{FF2B5EF4-FFF2-40B4-BE49-F238E27FC236}">
                <a16:creationId xmlns:a16="http://schemas.microsoft.com/office/drawing/2014/main" id="{9B72A45B-A8B6-53D1-D299-D8D234C35C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733004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a:xfrm>
            <a:off x="838200" y="860424"/>
            <a:ext cx="10515600" cy="779463"/>
          </a:xfrm>
          <a:prstGeom prst="rect">
            <a:avLst/>
          </a:prstGeom>
        </p:spPr>
        <p:txBody>
          <a:body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F9832517-B618-4C30-966E-4CE57A9A4AD9}" type="datetime6">
              <a:rPr lang="es-PE" smtClean="0"/>
              <a:t>Mayo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975A041E-5422-B9D8-43AC-BC8E8410A5B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4055190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D786572F-C44F-4ECE-A2FB-0C63931A9A8E}" type="datetime6">
              <a:rPr lang="es-PE" smtClean="0"/>
              <a:t>Mayo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10" name="Marcador de número de diapositiva 5">
            <a:extLst>
              <a:ext uri="{FF2B5EF4-FFF2-40B4-BE49-F238E27FC236}">
                <a16:creationId xmlns:a16="http://schemas.microsoft.com/office/drawing/2014/main" id="{024E81AF-5ACD-3527-83DB-C9AD4CA08FFF}"/>
              </a:ext>
            </a:extLst>
          </p:cNvPr>
          <p:cNvSpPr>
            <a:spLocks noGrp="1"/>
          </p:cNvSpPr>
          <p:nvPr>
            <p:ph type="sldNum" sz="quarter" idx="12"/>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108079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51E65C4A-DDA2-4FA4-84CD-631E9785E0C4}" type="datetime6">
              <a:rPr lang="es-PE" smtClean="0"/>
              <a:t>Mayo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59D5B90D-729B-0333-8733-D407F4441309}"/>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4487264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7C576157-6C99-4927-8D4B-5792D6D36C68}" type="datetime6">
              <a:rPr lang="es-PE" smtClean="0"/>
              <a:t>Mayo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C8F8A8AE-3D1C-5104-BD49-852FD075A3B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918953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a:xfrm>
            <a:off x="838200" y="1001711"/>
            <a:ext cx="10515600" cy="779463"/>
          </a:xfrm>
          <a:prstGeom prst="rect">
            <a:avLst/>
          </a:prstGeom>
        </p:spPr>
        <p:txBody>
          <a:bodyPr/>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a:xfrm>
            <a:off x="838200" y="2108197"/>
            <a:ext cx="10515600" cy="4068765"/>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F9ACE1B8-50E8-41AE-B289-DDEF242637E2}" type="datetime6">
              <a:rPr lang="es-PE" smtClean="0"/>
              <a:t>Mayo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E4FC7515-E45E-EA9E-AB33-84FFF36BD2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522493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a:prstGeom prst="rect">
            <a:avLst/>
          </a:prstGeom>
        </p:spPr>
        <p:txBody>
          <a:bodyPr vert="eaVert"/>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A6B82286-761A-4DF9-BC80-ED7ACDE5A868}" type="datetime6">
              <a:rPr lang="es-PE" smtClean="0"/>
              <a:t>Mayo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9245C2B-EA67-6FB3-B251-E41C031854F1}"/>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324469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E40041-0AC9-F54A-8CD6-2C6E25C00435}"/>
              </a:ext>
            </a:extLst>
          </p:cNvPr>
          <p:cNvSpPr>
            <a:spLocks noGrp="1"/>
          </p:cNvSpPr>
          <p:nvPr>
            <p:ph type="ctrTitle" hasCustomPrompt="1"/>
          </p:nvPr>
        </p:nvSpPr>
        <p:spPr>
          <a:xfrm>
            <a:off x="2628900" y="2314574"/>
            <a:ext cx="7181850" cy="2224781"/>
          </a:xfrm>
        </p:spPr>
        <p:txBody>
          <a:bodyPr anchor="b"/>
          <a:lstStyle>
            <a:lvl1pPr algn="ctr">
              <a:defRPr sz="6000">
                <a:solidFill>
                  <a:schemeClr val="accent1"/>
                </a:solidFill>
                <a:latin typeface="+mj-lt"/>
                <a:cs typeface="Arial" panose="020B0604020202020204" pitchFamily="34" charset="0"/>
              </a:defRPr>
            </a:lvl1pPr>
          </a:lstStyle>
          <a:p>
            <a:r>
              <a:rPr lang="es-ES" dirty="0"/>
              <a:t>Título de clase</a:t>
            </a:r>
            <a:endParaRPr lang="es-PE" dirty="0"/>
          </a:p>
        </p:txBody>
      </p:sp>
      <p:sp>
        <p:nvSpPr>
          <p:cNvPr id="3" name="Subtítulo 2">
            <a:extLst>
              <a:ext uri="{FF2B5EF4-FFF2-40B4-BE49-F238E27FC236}">
                <a16:creationId xmlns:a16="http://schemas.microsoft.com/office/drawing/2014/main" id="{3F940FCB-6F03-EA41-B8CA-B38BB6401CE1}"/>
              </a:ext>
            </a:extLst>
          </p:cNvPr>
          <p:cNvSpPr>
            <a:spLocks noGrp="1"/>
          </p:cNvSpPr>
          <p:nvPr>
            <p:ph type="subTitle" idx="1" hasCustomPrompt="1"/>
          </p:nvPr>
        </p:nvSpPr>
        <p:spPr>
          <a:xfrm>
            <a:off x="9810750" y="4539355"/>
            <a:ext cx="2131452" cy="651770"/>
          </a:xfrm>
        </p:spPr>
        <p:txBody>
          <a:bodyPr anchor="ctr">
            <a:normAutofit/>
          </a:bodyPr>
          <a:lstStyle>
            <a:lvl1pPr marL="0" indent="0" algn="ctr">
              <a:buNone/>
              <a:defRPr sz="4000" b="1">
                <a:solidFill>
                  <a:schemeClr val="bg1"/>
                </a:solidFill>
                <a:latin typeface="+mj-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2023</a:t>
            </a:r>
            <a:endParaRPr lang="es-PE" dirty="0"/>
          </a:p>
        </p:txBody>
      </p:sp>
      <p:sp>
        <p:nvSpPr>
          <p:cNvPr id="11" name="Marcador de pie de página 4">
            <a:extLst>
              <a:ext uri="{FF2B5EF4-FFF2-40B4-BE49-F238E27FC236}">
                <a16:creationId xmlns:a16="http://schemas.microsoft.com/office/drawing/2014/main" id="{409037FA-8AD4-46E6-D14A-A0B5918A9F7B}"/>
              </a:ext>
            </a:extLst>
          </p:cNvPr>
          <p:cNvSpPr>
            <a:spLocks noGrp="1"/>
          </p:cNvSpPr>
          <p:nvPr>
            <p:ph type="ftr" sz="quarter" idx="11"/>
          </p:nvPr>
        </p:nvSpPr>
        <p:spPr>
          <a:xfrm>
            <a:off x="2628900" y="326688"/>
            <a:ext cx="4114800" cy="365125"/>
          </a:xfrm>
        </p:spPr>
        <p:txBody>
          <a:bodyPr/>
          <a:lstStyle>
            <a:lvl1pPr>
              <a:defRPr>
                <a:solidFill>
                  <a:schemeClr val="bg1"/>
                </a:solidFill>
              </a:defRPr>
            </a:lvl1pPr>
          </a:lstStyle>
          <a:p>
            <a:r>
              <a:rPr lang="en-US" dirty="0" err="1"/>
              <a:t>Nombre</a:t>
            </a:r>
            <a:r>
              <a:rPr lang="en-US" dirty="0"/>
              <a:t> de </a:t>
            </a:r>
            <a:r>
              <a:rPr lang="en-US" dirty="0" err="1"/>
              <a:t>Curso</a:t>
            </a:r>
            <a:endParaRPr lang="es-PE" sz="800" dirty="0"/>
          </a:p>
        </p:txBody>
      </p:sp>
      <p:sp>
        <p:nvSpPr>
          <p:cNvPr id="6" name="Text Placeholder 5">
            <a:extLst>
              <a:ext uri="{FF2B5EF4-FFF2-40B4-BE49-F238E27FC236}">
                <a16:creationId xmlns:a16="http://schemas.microsoft.com/office/drawing/2014/main" id="{D1CC77DF-7156-87EC-5584-40C3F6286139}"/>
              </a:ext>
            </a:extLst>
          </p:cNvPr>
          <p:cNvSpPr>
            <a:spLocks noGrp="1"/>
          </p:cNvSpPr>
          <p:nvPr>
            <p:ph type="body" sz="quarter" idx="12" hasCustomPrompt="1"/>
          </p:nvPr>
        </p:nvSpPr>
        <p:spPr>
          <a:xfrm>
            <a:off x="374057" y="6089066"/>
            <a:ext cx="4100513" cy="440147"/>
          </a:xfrm>
        </p:spPr>
        <p:txBody>
          <a:bodyPr/>
          <a:lstStyle>
            <a:lvl1pPr marL="0" indent="0">
              <a:buClr>
                <a:schemeClr val="accent6"/>
              </a:buClr>
              <a:buNone/>
              <a:defRPr>
                <a:solidFill>
                  <a:schemeClr val="bg1"/>
                </a:solidFill>
              </a:defRPr>
            </a:lvl1pPr>
            <a:lvl2pPr>
              <a:buClr>
                <a:schemeClr val="accent6"/>
              </a:buClr>
              <a:defRPr>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n-US" dirty="0" err="1"/>
              <a:t>Nombre</a:t>
            </a:r>
            <a:r>
              <a:rPr lang="en-US" dirty="0"/>
              <a:t> de </a:t>
            </a:r>
            <a:r>
              <a:rPr lang="en-US" dirty="0" err="1"/>
              <a:t>Profesor</a:t>
            </a:r>
            <a:endParaRPr lang="es-PE" dirty="0"/>
          </a:p>
        </p:txBody>
      </p:sp>
    </p:spTree>
    <p:extLst>
      <p:ext uri="{BB962C8B-B14F-4D97-AF65-F5344CB8AC3E}">
        <p14:creationId xmlns:p14="http://schemas.microsoft.com/office/powerpoint/2010/main" val="381003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93893" y="4999970"/>
            <a:ext cx="3339907" cy="717550"/>
          </a:xfrm>
        </p:spPr>
        <p:txBody>
          <a:bodyPr>
            <a:noAutofit/>
          </a:bodyPr>
          <a:lstStyle>
            <a:lvl1pPr algn="ctr">
              <a:defRPr sz="2800">
                <a:solidFill>
                  <a:schemeClr val="bg1"/>
                </a:solidFill>
                <a:latin typeface="+mj-lt"/>
                <a:cs typeface="Arial" panose="020B0604020202020204" pitchFamily="34" charset="0"/>
              </a:defRPr>
            </a:lvl1pPr>
          </a:lstStyle>
          <a:p>
            <a:r>
              <a:rPr lang="en-US" dirty="0" err="1"/>
              <a:t>Título</a:t>
            </a:r>
            <a:endParaRPr lang="es-PE" dirty="0"/>
          </a:p>
        </p:txBody>
      </p:sp>
      <p:sp>
        <p:nvSpPr>
          <p:cNvPr id="3" name="Marcador de contenido 2">
            <a:extLst>
              <a:ext uri="{FF2B5EF4-FFF2-40B4-BE49-F238E27FC236}">
                <a16:creationId xmlns:a16="http://schemas.microsoft.com/office/drawing/2014/main" id="{AE333C54-732D-4A5F-8493-6279F2718CD3}"/>
              </a:ext>
            </a:extLst>
          </p:cNvPr>
          <p:cNvSpPr>
            <a:spLocks noGrp="1"/>
          </p:cNvSpPr>
          <p:nvPr>
            <p:ph idx="1"/>
          </p:nvPr>
        </p:nvSpPr>
        <p:spPr>
          <a:xfrm>
            <a:off x="4622993" y="1285875"/>
            <a:ext cx="6851456" cy="4072870"/>
          </a:xfrm>
        </p:spPr>
        <p:txBody>
          <a:bodyPr/>
          <a:lstStyle>
            <a:lvl1pPr marL="228600" indent="-228600">
              <a:buClr>
                <a:schemeClr val="accent1"/>
              </a:buClr>
              <a:buFontTx/>
              <a:buChar char="•"/>
              <a:defRPr>
                <a:solidFill>
                  <a:schemeClr val="tx1"/>
                </a:solidFill>
              </a:defRPr>
            </a:lvl1pPr>
            <a:lvl2pPr marL="685800" indent="-228600">
              <a:buClr>
                <a:schemeClr val="accent1"/>
              </a:buClr>
              <a:buFontTx/>
              <a:buChar char="•"/>
              <a:defRPr>
                <a:solidFill>
                  <a:schemeClr val="tx1"/>
                </a:solidFill>
              </a:defRPr>
            </a:lvl2pPr>
            <a:lvl3pPr marL="1143000" indent="-228600">
              <a:buClr>
                <a:schemeClr val="accent1"/>
              </a:buClr>
              <a:buFontTx/>
              <a:buChar char="•"/>
              <a:defRPr>
                <a:solidFill>
                  <a:schemeClr val="tx1"/>
                </a:solidFill>
              </a:defRPr>
            </a:lvl3pPr>
            <a:lvl4pPr marL="1600200" indent="-228600">
              <a:buClr>
                <a:schemeClr val="accent1"/>
              </a:buClr>
              <a:buSzPct val="70000"/>
              <a:buFontTx/>
              <a:buChar char="•"/>
              <a:defRPr>
                <a:solidFill>
                  <a:schemeClr val="tx1"/>
                </a:solidFill>
              </a:defRPr>
            </a:lvl4pPr>
            <a:lvl5pPr marL="2057400" indent="-228600">
              <a:buClr>
                <a:schemeClr val="accent1"/>
              </a:buClr>
              <a:buSzPct val="50000"/>
              <a:buFontTx/>
              <a:buChar char="•"/>
              <a:defRPr>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F12D76C1-E4EF-42D1-88E3-B3E1BE457EF7}" type="datetime6">
              <a:rPr lang="es-PE" smtClean="0"/>
              <a:t>Mayo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lvl1pPr>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37014226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936BE4A0-0EF9-4513-98D7-49E1F009126F}" type="datetime6">
              <a:rPr lang="es-PE" smtClean="0"/>
              <a:t>Mayo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1150541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CFF21E75-C2F6-4021-B002-DFF0EB1C555C}" type="datetime6">
              <a:rPr lang="es-PE" smtClean="0"/>
              <a:t>Mayo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32324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Mayo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49086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ángulo redondeado 9">
            <a:extLst>
              <a:ext uri="{FF2B5EF4-FFF2-40B4-BE49-F238E27FC236}">
                <a16:creationId xmlns:a16="http://schemas.microsoft.com/office/drawing/2014/main" id="{24F721D9-3A4E-DA31-4304-76691E23E80D}"/>
              </a:ext>
            </a:extLst>
          </p:cNvPr>
          <p:cNvSpPr/>
          <p:nvPr userDrawn="1"/>
        </p:nvSpPr>
        <p:spPr>
          <a:xfrm>
            <a:off x="838200" y="2024743"/>
            <a:ext cx="9716589" cy="3843644"/>
          </a:xfrm>
          <a:prstGeom prst="roundRect">
            <a:avLst>
              <a:gd name="adj" fmla="val 6011"/>
            </a:avLst>
          </a:prstGeom>
          <a:solidFill>
            <a:srgbClr val="0A2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tLang="es-PE" sz="2000" b="1" dirty="0">
              <a:solidFill>
                <a:schemeClr val="bg1"/>
              </a:solidFill>
              <a:latin typeface="Montserrat" pitchFamily="2" charset="77"/>
            </a:endParaRPr>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Mayo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buClr>
                <a:schemeClr val="accent6"/>
              </a:buClr>
              <a:defRPr sz="2400">
                <a:solidFill>
                  <a:schemeClr val="bg1"/>
                </a:solidFill>
              </a:defRPr>
            </a:lvl1pPr>
            <a:lvl2pPr>
              <a:buClr>
                <a:schemeClr val="accent6"/>
              </a:buClr>
              <a:defRPr sz="2200">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Tree>
    <p:extLst>
      <p:ext uri="{BB962C8B-B14F-4D97-AF65-F5344CB8AC3E}">
        <p14:creationId xmlns:p14="http://schemas.microsoft.com/office/powerpoint/2010/main" val="195278651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p:nvPr>
        </p:nvSpPr>
        <p:spPr>
          <a:xfrm>
            <a:off x="2295525" y="2549525"/>
            <a:ext cx="5162550" cy="1555750"/>
          </a:xfrm>
        </p:spPr>
        <p:txBody>
          <a:bodyPr anchor="b">
            <a:normAutofit/>
          </a:bodyPr>
          <a:lstStyle>
            <a:lvl1pPr algn="ctr">
              <a:defRPr sz="36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pic>
        <p:nvPicPr>
          <p:cNvPr id="6" name="Imagen 5">
            <a:extLst>
              <a:ext uri="{FF2B5EF4-FFF2-40B4-BE49-F238E27FC236}">
                <a16:creationId xmlns:a16="http://schemas.microsoft.com/office/drawing/2014/main" id="{6D79D4C0-AA8A-45B0-85A5-1FD89F1DDE6D}"/>
              </a:ext>
            </a:extLst>
          </p:cNvPr>
          <p:cNvPicPr>
            <a:picLocks noChangeAspect="1"/>
          </p:cNvPicPr>
          <p:nvPr userDrawn="1"/>
        </p:nvPicPr>
        <p:blipFill>
          <a:blip r:embed="rId3"/>
          <a:stretch>
            <a:fillRect/>
          </a:stretch>
        </p:blipFill>
        <p:spPr>
          <a:xfrm>
            <a:off x="7503038" y="2635960"/>
            <a:ext cx="1314090" cy="1371600"/>
          </a:xfrm>
          <a:prstGeom prst="rect">
            <a:avLst/>
          </a:prstGeom>
        </p:spPr>
      </p:pic>
    </p:spTree>
    <p:extLst>
      <p:ext uri="{BB962C8B-B14F-4D97-AF65-F5344CB8AC3E}">
        <p14:creationId xmlns:p14="http://schemas.microsoft.com/office/powerpoint/2010/main" val="2328364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hasCustomPrompt="1"/>
          </p:nvPr>
        </p:nvSpPr>
        <p:spPr>
          <a:xfrm>
            <a:off x="3514724" y="663575"/>
            <a:ext cx="7762875" cy="1079500"/>
          </a:xfrm>
        </p:spPr>
        <p:txBody>
          <a:bodyPr anchor="ctr">
            <a:normAutofit/>
          </a:bodyPr>
          <a:lstStyle>
            <a:lvl1pPr algn="ctr">
              <a:defRPr sz="28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spTree>
    <p:extLst>
      <p:ext uri="{BB962C8B-B14F-4D97-AF65-F5344CB8AC3E}">
        <p14:creationId xmlns:p14="http://schemas.microsoft.com/office/powerpoint/2010/main" val="3764727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entrada" type="blank">
  <p:cSld name="entrada">
    <p:spTree>
      <p:nvGrpSpPr>
        <p:cNvPr id="1" name="Shape 14"/>
        <p:cNvGrpSpPr/>
        <p:nvPr/>
      </p:nvGrpSpPr>
      <p:grpSpPr>
        <a:xfrm>
          <a:off x="0" y="0"/>
          <a:ext cx="0" cy="0"/>
          <a:chOff x="0" y="0"/>
          <a:chExt cx="0" cy="0"/>
        </a:xfrm>
      </p:grpSpPr>
      <p:sp>
        <p:nvSpPr>
          <p:cNvPr id="15" name="Google Shape;15;p2"/>
          <p:cNvSpPr/>
          <p:nvPr/>
        </p:nvSpPr>
        <p:spPr>
          <a:xfrm>
            <a:off x="0" y="-17314"/>
            <a:ext cx="12192000" cy="6858000"/>
          </a:xfrm>
          <a:prstGeom prst="rect">
            <a:avLst/>
          </a:prstGeom>
          <a:solidFill>
            <a:srgbClr val="00B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7" name="Google Shape;17;p2"/>
          <p:cNvPicPr preferRelativeResize="0">
            <a:picLocks noChangeAspect="1"/>
          </p:cNvPicPr>
          <p:nvPr/>
        </p:nvPicPr>
        <p:blipFill>
          <a:blip r:embed="rId2"/>
          <a:srcRect/>
          <a:stretch/>
        </p:blipFill>
        <p:spPr>
          <a:xfrm>
            <a:off x="6672059" y="2777043"/>
            <a:ext cx="4686308" cy="1389600"/>
          </a:xfrm>
          <a:prstGeom prst="rect">
            <a:avLst/>
          </a:prstGeom>
          <a:noFill/>
          <a:ln>
            <a:noFill/>
          </a:ln>
        </p:spPr>
      </p:pic>
      <p:sp>
        <p:nvSpPr>
          <p:cNvPr id="2" name="Rectángulo 1">
            <a:extLst>
              <a:ext uri="{FF2B5EF4-FFF2-40B4-BE49-F238E27FC236}">
                <a16:creationId xmlns:a16="http://schemas.microsoft.com/office/drawing/2014/main" id="{C63A0B1C-38C6-4A94-BC53-9378BD6F4196}"/>
              </a:ext>
            </a:extLst>
          </p:cNvPr>
          <p:cNvSpPr/>
          <p:nvPr/>
        </p:nvSpPr>
        <p:spPr>
          <a:xfrm>
            <a:off x="604699"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ipse 2">
            <a:extLst>
              <a:ext uri="{FF2B5EF4-FFF2-40B4-BE49-F238E27FC236}">
                <a16:creationId xmlns:a16="http://schemas.microsoft.com/office/drawing/2014/main" id="{709FF01B-D296-4FC4-86C6-18C1AA1F0700}"/>
              </a:ext>
            </a:extLst>
          </p:cNvPr>
          <p:cNvSpPr>
            <a:spLocks noChangeAspect="1"/>
          </p:cNvSpPr>
          <p:nvPr/>
        </p:nvSpPr>
        <p:spPr>
          <a:xfrm>
            <a:off x="2087026" y="5059599"/>
            <a:ext cx="1476000" cy="1475999"/>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grama de flujo: retraso 3">
            <a:extLst>
              <a:ext uri="{FF2B5EF4-FFF2-40B4-BE49-F238E27FC236}">
                <a16:creationId xmlns:a16="http://schemas.microsoft.com/office/drawing/2014/main" id="{F33AB0F3-5E83-4F73-B1B3-E7FFB7FAC1CF}"/>
              </a:ext>
            </a:extLst>
          </p:cNvPr>
          <p:cNvSpPr>
            <a:spLocks/>
          </p:cNvSpPr>
          <p:nvPr/>
        </p:nvSpPr>
        <p:spPr>
          <a:xfrm>
            <a:off x="604699" y="3568509"/>
            <a:ext cx="1476000" cy="1476000"/>
          </a:xfrm>
          <a:prstGeom prst="flowChartDela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írculo parcial 4">
            <a:extLst>
              <a:ext uri="{FF2B5EF4-FFF2-40B4-BE49-F238E27FC236}">
                <a16:creationId xmlns:a16="http://schemas.microsoft.com/office/drawing/2014/main" id="{E01F752C-EAF0-4FBF-B895-7C40EAE76E6B}"/>
              </a:ext>
            </a:extLst>
          </p:cNvPr>
          <p:cNvSpPr>
            <a:spLocks noChangeAspect="1"/>
          </p:cNvSpPr>
          <p:nvPr/>
        </p:nvSpPr>
        <p:spPr>
          <a:xfrm>
            <a:off x="2080320" y="3578476"/>
            <a:ext cx="2934000" cy="2934000"/>
          </a:xfrm>
          <a:prstGeom prst="pie">
            <a:avLst>
              <a:gd name="adj1" fmla="val 16194402"/>
              <a:gd name="adj2" fmla="val 695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ángulo 8">
            <a:extLst>
              <a:ext uri="{FF2B5EF4-FFF2-40B4-BE49-F238E27FC236}">
                <a16:creationId xmlns:a16="http://schemas.microsoft.com/office/drawing/2014/main" id="{7508BC26-9C42-409E-A296-12A08043B847}"/>
              </a:ext>
            </a:extLst>
          </p:cNvPr>
          <p:cNvSpPr/>
          <p:nvPr/>
        </p:nvSpPr>
        <p:spPr>
          <a:xfrm>
            <a:off x="2072388" y="3577936"/>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írculo parcial 5">
            <a:extLst>
              <a:ext uri="{FF2B5EF4-FFF2-40B4-BE49-F238E27FC236}">
                <a16:creationId xmlns:a16="http://schemas.microsoft.com/office/drawing/2014/main" id="{A6B1ED3D-FC35-4A2C-AEA0-527CA60D93D8}"/>
              </a:ext>
            </a:extLst>
          </p:cNvPr>
          <p:cNvSpPr>
            <a:spLocks noChangeAspect="1"/>
          </p:cNvSpPr>
          <p:nvPr/>
        </p:nvSpPr>
        <p:spPr>
          <a:xfrm rot="10800000">
            <a:off x="-821269" y="574219"/>
            <a:ext cx="2857435" cy="2995143"/>
          </a:xfrm>
          <a:prstGeom prst="pie">
            <a:avLst>
              <a:gd name="adj1" fmla="val 5387486"/>
              <a:gd name="adj2" fmla="val 16200000"/>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 name="Grupo 7">
            <a:extLst>
              <a:ext uri="{FF2B5EF4-FFF2-40B4-BE49-F238E27FC236}">
                <a16:creationId xmlns:a16="http://schemas.microsoft.com/office/drawing/2014/main" id="{1EFD23FD-AE29-404D-8F53-1FD009AE807B}"/>
              </a:ext>
            </a:extLst>
          </p:cNvPr>
          <p:cNvGrpSpPr/>
          <p:nvPr/>
        </p:nvGrpSpPr>
        <p:grpSpPr>
          <a:xfrm>
            <a:off x="2087136" y="2123409"/>
            <a:ext cx="1448999" cy="1443249"/>
            <a:chOff x="2118675" y="2004020"/>
            <a:chExt cx="1448999" cy="1443249"/>
          </a:xfrm>
        </p:grpSpPr>
        <p:sp>
          <p:nvSpPr>
            <p:cNvPr id="7" name="Elipse 6">
              <a:extLst>
                <a:ext uri="{FF2B5EF4-FFF2-40B4-BE49-F238E27FC236}">
                  <a16:creationId xmlns:a16="http://schemas.microsoft.com/office/drawing/2014/main" id="{ECAC50A2-CB41-4C53-93C3-5260E20DE2E5}"/>
                </a:ext>
              </a:extLst>
            </p:cNvPr>
            <p:cNvSpPr>
              <a:spLocks noChangeAspect="1"/>
            </p:cNvSpPr>
            <p:nvPr/>
          </p:nvSpPr>
          <p:spPr>
            <a:xfrm>
              <a:off x="2847674" y="2004020"/>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CE6D1487-82A4-4496-B087-91DD796DE7FE}"/>
                </a:ext>
              </a:extLst>
            </p:cNvPr>
            <p:cNvSpPr>
              <a:spLocks noChangeAspect="1"/>
            </p:cNvSpPr>
            <p:nvPr/>
          </p:nvSpPr>
          <p:spPr>
            <a:xfrm>
              <a:off x="2118675" y="2727269"/>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a:extLst>
                <a:ext uri="{FF2B5EF4-FFF2-40B4-BE49-F238E27FC236}">
                  <a16:creationId xmlns:a16="http://schemas.microsoft.com/office/drawing/2014/main" id="{C95F40AB-463C-4C6E-915C-5D6DF55A451C}"/>
                </a:ext>
              </a:extLst>
            </p:cNvPr>
            <p:cNvSpPr>
              <a:spLocks noChangeAspect="1"/>
            </p:cNvSpPr>
            <p:nvPr/>
          </p:nvSpPr>
          <p:spPr>
            <a:xfrm>
              <a:off x="2847674" y="2727269"/>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a:extLst>
                <a:ext uri="{FF2B5EF4-FFF2-40B4-BE49-F238E27FC236}">
                  <a16:creationId xmlns:a16="http://schemas.microsoft.com/office/drawing/2014/main" id="{A7CDF41D-9C35-41E7-8E2B-2AA7C91BEC03}"/>
                </a:ext>
              </a:extLst>
            </p:cNvPr>
            <p:cNvSpPr>
              <a:spLocks noChangeAspect="1"/>
            </p:cNvSpPr>
            <p:nvPr/>
          </p:nvSpPr>
          <p:spPr>
            <a:xfrm>
              <a:off x="2118675" y="200402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ángulo 17">
            <a:extLst>
              <a:ext uri="{FF2B5EF4-FFF2-40B4-BE49-F238E27FC236}">
                <a16:creationId xmlns:a16="http://schemas.microsoft.com/office/drawing/2014/main" id="{03FA7743-AFB1-4869-99F7-BBBF6B5081B5}"/>
              </a:ext>
            </a:extLst>
          </p:cNvPr>
          <p:cNvSpPr/>
          <p:nvPr/>
        </p:nvSpPr>
        <p:spPr>
          <a:xfrm>
            <a:off x="3540368"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írculo parcial 18">
            <a:extLst>
              <a:ext uri="{FF2B5EF4-FFF2-40B4-BE49-F238E27FC236}">
                <a16:creationId xmlns:a16="http://schemas.microsoft.com/office/drawing/2014/main" id="{9EEB8DCE-7E2B-489A-B839-B10110611D97}"/>
              </a:ext>
            </a:extLst>
          </p:cNvPr>
          <p:cNvSpPr>
            <a:spLocks noChangeAspect="1"/>
          </p:cNvSpPr>
          <p:nvPr/>
        </p:nvSpPr>
        <p:spPr>
          <a:xfrm>
            <a:off x="3552087" y="5048742"/>
            <a:ext cx="2934000" cy="2934000"/>
          </a:xfrm>
          <a:prstGeom prst="pie">
            <a:avLst>
              <a:gd name="adj1" fmla="val 16202562"/>
              <a:gd name="adj2" fmla="val 1644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47242201"/>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8"/>
        <p:cNvGrpSpPr/>
        <p:nvPr/>
      </p:nvGrpSpPr>
      <p:grpSpPr>
        <a:xfrm>
          <a:off x="0" y="0"/>
          <a:ext cx="0" cy="0"/>
          <a:chOff x="0" y="0"/>
          <a:chExt cx="0" cy="0"/>
        </a:xfrm>
      </p:grpSpPr>
      <p:pic>
        <p:nvPicPr>
          <p:cNvPr id="19" name="Google Shape;19;p3"/>
          <p:cNvPicPr preferRelativeResize="0">
            <a:picLocks noChangeAspect="1"/>
          </p:cNvPicPr>
          <p:nvPr/>
        </p:nvPicPr>
        <p:blipFill>
          <a:blip r:embed="rId2"/>
          <a:srcRect/>
          <a:stretch/>
        </p:blipFill>
        <p:spPr>
          <a:xfrm>
            <a:off x="3853671" y="5579102"/>
            <a:ext cx="4484658" cy="828000"/>
          </a:xfrm>
          <a:prstGeom prst="rect">
            <a:avLst/>
          </a:prstGeom>
          <a:noFill/>
          <a:ln>
            <a:noFill/>
          </a:ln>
        </p:spPr>
      </p:pic>
      <p:sp>
        <p:nvSpPr>
          <p:cNvPr id="20" name="Google Shape;2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1" name="Google Shape;21;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s-ES"/>
              <a:t>Haga clic para modificar el estilo de subtítulo del patrón</a:t>
            </a:r>
            <a:endParaRPr dirty="0"/>
          </a:p>
        </p:txBody>
      </p:sp>
    </p:spTree>
    <p:extLst>
      <p:ext uri="{BB962C8B-B14F-4D97-AF65-F5344CB8AC3E}">
        <p14:creationId xmlns:p14="http://schemas.microsoft.com/office/powerpoint/2010/main" val="2845392209"/>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ido con título" userDrawn="1">
  <p:cSld name="Contenido con título">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839788" y="457200"/>
            <a:ext cx="10354982" cy="61699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6" name="Google Shape;26;p4"/>
          <p:cNvSpPr/>
          <p:nvPr/>
        </p:nvSpPr>
        <p:spPr>
          <a:xfrm>
            <a:off x="-44525" y="5717000"/>
            <a:ext cx="10127400" cy="9393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 name="Google Shape;27;p4"/>
          <p:cNvSpPr/>
          <p:nvPr/>
        </p:nvSpPr>
        <p:spPr>
          <a:xfrm>
            <a:off x="8753475" y="5717000"/>
            <a:ext cx="22666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1020286" y="5716955"/>
            <a:ext cx="939300" cy="939300"/>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Imagen 2">
            <a:extLst>
              <a:ext uri="{FF2B5EF4-FFF2-40B4-BE49-F238E27FC236}">
                <a16:creationId xmlns:a16="http://schemas.microsoft.com/office/drawing/2014/main" id="{A970058A-F152-4A93-A50A-BC853F5A4603}"/>
              </a:ext>
            </a:extLst>
          </p:cNvPr>
          <p:cNvPicPr>
            <a:picLocks noChangeAspect="1"/>
          </p:cNvPicPr>
          <p:nvPr/>
        </p:nvPicPr>
        <p:blipFill rotWithShape="1">
          <a:blip r:embed="rId2"/>
          <a:srcRect l="25217"/>
          <a:stretch/>
        </p:blipFill>
        <p:spPr>
          <a:xfrm>
            <a:off x="8929708" y="5954450"/>
            <a:ext cx="1856985" cy="464401"/>
          </a:xfrm>
          <a:prstGeom prst="rect">
            <a:avLst/>
          </a:prstGeom>
        </p:spPr>
      </p:pic>
      <p:sp>
        <p:nvSpPr>
          <p:cNvPr id="30" name="Google Shape;30;p4"/>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31" name="Google Shape;31;p4"/>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dirty="0">
                <a:solidFill>
                  <a:schemeClr val="lt1"/>
                </a:solidFill>
                <a:latin typeface="Arial"/>
                <a:ea typeface="Arial"/>
                <a:cs typeface="Arial"/>
                <a:sym typeface="Arial"/>
              </a:rPr>
              <a:t>Gestión de Servicios TICS</a:t>
            </a:r>
            <a:endParaRPr sz="1600" b="1" i="0" u="none" strike="noStrike" cap="none" dirty="0">
              <a:solidFill>
                <a:schemeClr val="lt1"/>
              </a:solidFill>
              <a:latin typeface="Arial"/>
              <a:ea typeface="Arial"/>
              <a:cs typeface="Arial"/>
              <a:sym typeface="Arial"/>
            </a:endParaRPr>
          </a:p>
        </p:txBody>
      </p:sp>
      <p:pic>
        <p:nvPicPr>
          <p:cNvPr id="13" name="Imagen 12">
            <a:extLst>
              <a:ext uri="{FF2B5EF4-FFF2-40B4-BE49-F238E27FC236}">
                <a16:creationId xmlns:a16="http://schemas.microsoft.com/office/drawing/2014/main" id="{A2396329-D7D9-4B93-942B-A183A1B92BE8}"/>
              </a:ext>
            </a:extLst>
          </p:cNvPr>
          <p:cNvPicPr>
            <a:picLocks noChangeAspect="1"/>
          </p:cNvPicPr>
          <p:nvPr/>
        </p:nvPicPr>
        <p:blipFill rotWithShape="1">
          <a:blip r:embed="rId2"/>
          <a:srcRect r="74783"/>
          <a:stretch/>
        </p:blipFill>
        <p:spPr>
          <a:xfrm>
            <a:off x="7975126" y="5954450"/>
            <a:ext cx="626177" cy="464401"/>
          </a:xfrm>
          <a:prstGeom prst="rect">
            <a:avLst/>
          </a:prstGeom>
        </p:spPr>
      </p:pic>
      <p:sp>
        <p:nvSpPr>
          <p:cNvPr id="2" name="Marcador de contenido 2">
            <a:extLst>
              <a:ext uri="{FF2B5EF4-FFF2-40B4-BE49-F238E27FC236}">
                <a16:creationId xmlns:a16="http://schemas.microsoft.com/office/drawing/2014/main" id="{932B3FA1-3603-CFBF-4890-1E082EE91014}"/>
              </a:ext>
            </a:extLst>
          </p:cNvPr>
          <p:cNvSpPr>
            <a:spLocks noGrp="1"/>
          </p:cNvSpPr>
          <p:nvPr>
            <p:ph idx="1"/>
          </p:nvPr>
        </p:nvSpPr>
        <p:spPr>
          <a:xfrm>
            <a:off x="839788" y="1311648"/>
            <a:ext cx="10354982"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231507225"/>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43" name="Google Shape;43;p6"/>
          <p:cNvSpPr txBox="1">
            <a:spLocks noGrp="1"/>
          </p:cNvSpPr>
          <p:nvPr>
            <p:ph type="body" idx="1"/>
          </p:nvPr>
        </p:nvSpPr>
        <p:spPr>
          <a:xfrm>
            <a:off x="838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4" name="Google Shape;44;p6"/>
          <p:cNvSpPr txBox="1">
            <a:spLocks noGrp="1"/>
          </p:cNvSpPr>
          <p:nvPr>
            <p:ph type="body" idx="2"/>
          </p:nvPr>
        </p:nvSpPr>
        <p:spPr>
          <a:xfrm>
            <a:off x="6172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5" name="Google Shape;45;p6"/>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6"/>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8" name="Google Shape;48;p6"/>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49" name="Google Shape;49;p6"/>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50" name="Google Shape;50;p6"/>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032161437"/>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53" name="Google Shape;53;p7"/>
          <p:cNvSpPr>
            <a:spLocks noGrp="1"/>
          </p:cNvSpPr>
          <p:nvPr>
            <p:ph type="pic" idx="2"/>
          </p:nvPr>
        </p:nvSpPr>
        <p:spPr>
          <a:xfrm>
            <a:off x="5183200" y="987425"/>
            <a:ext cx="6172200" cy="3204300"/>
          </a:xfrm>
          <a:prstGeom prst="rect">
            <a:avLst/>
          </a:prstGeom>
          <a:noFill/>
          <a:ln>
            <a:noFill/>
          </a:ln>
        </p:spPr>
      </p:sp>
      <p:sp>
        <p:nvSpPr>
          <p:cNvPr id="54" name="Google Shape;54;p7"/>
          <p:cNvSpPr txBox="1">
            <a:spLocks noGrp="1"/>
          </p:cNvSpPr>
          <p:nvPr>
            <p:ph type="body" idx="1"/>
          </p:nvPr>
        </p:nvSpPr>
        <p:spPr>
          <a:xfrm>
            <a:off x="839800" y="2057400"/>
            <a:ext cx="3932100" cy="2344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s-ES"/>
              <a:t>Haga clic para modificar los estilos de texto del patrón</a:t>
            </a:r>
          </a:p>
        </p:txBody>
      </p:sp>
      <p:sp>
        <p:nvSpPr>
          <p:cNvPr id="55" name="Google Shape;55;p7"/>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7"/>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7"/>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7"/>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59" name="Google Shape;59;p7"/>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0" name="Google Shape;60;p7"/>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359059784"/>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63" name="Google Shape;63;p8"/>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64" name="Google Shape;64;p8"/>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8"/>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8"/>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7" name="Google Shape;67;p8"/>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68" name="Google Shape;68;p8"/>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9" name="Google Shape;69;p8"/>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43031870"/>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72" name="Google Shape;72;p9"/>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73" name="Google Shape;73;p9"/>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9"/>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9"/>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6" name="Google Shape;76;p9"/>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77" name="Google Shape;77;p9"/>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78" name="Google Shape;78;p9"/>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831405040"/>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ítulo y objetos 1" type="obj">
  <p:cSld name="Título y objetos 1">
    <p:spTree>
      <p:nvGrpSpPr>
        <p:cNvPr id="1" name="Shape 79"/>
        <p:cNvGrpSpPr/>
        <p:nvPr/>
      </p:nvGrpSpPr>
      <p:grpSpPr>
        <a:xfrm>
          <a:off x="0" y="0"/>
          <a:ext cx="0" cy="0"/>
          <a:chOff x="0" y="0"/>
          <a:chExt cx="0" cy="0"/>
        </a:xfrm>
      </p:grpSpPr>
      <p:sp>
        <p:nvSpPr>
          <p:cNvPr id="80" name="Google Shape;80;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1" name="Google Shape;81;p1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2" name="Google Shape;82;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Mayo de 2026</a:t>
            </a:fld>
            <a:endParaRPr lang="es-PE" dirty="0"/>
          </a:p>
        </p:txBody>
      </p:sp>
      <p:sp>
        <p:nvSpPr>
          <p:cNvPr id="83" name="Google Shape;83;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84" name="Google Shape;84;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935534239"/>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7" name="Google Shape;87;p11"/>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88" name="Google Shape;88;p11"/>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9" name="Google Shape;89;p11"/>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90" name="Google Shape;90;p11"/>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91" name="Google Shape;91;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Mayo de 2026</a:t>
            </a:fld>
            <a:endParaRPr lang="es-PE" dirty="0"/>
          </a:p>
        </p:txBody>
      </p:sp>
      <p:sp>
        <p:nvSpPr>
          <p:cNvPr id="92" name="Google Shape;92;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93" name="Google Shape;93;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1085088325"/>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57344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10" Type="http://schemas.openxmlformats.org/officeDocument/2006/relationships/image" Target="../media/image2.png"/><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theme" Target="../theme/theme4.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AE6F4FD-2238-AD4E-867E-E58E2DFA1692}"/>
              </a:ext>
            </a:extLst>
          </p:cNvPr>
          <p:cNvSpPr>
            <a:spLocks noGrp="1"/>
          </p:cNvSpPr>
          <p:nvPr>
            <p:ph type="title"/>
          </p:nvPr>
        </p:nvSpPr>
        <p:spPr>
          <a:xfrm>
            <a:off x="838200" y="1065212"/>
            <a:ext cx="9716589"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C60C6D7E-5BBC-B741-BB4C-3A3ED127A9AB}"/>
              </a:ext>
            </a:extLst>
          </p:cNvPr>
          <p:cNvSpPr>
            <a:spLocks noGrp="1"/>
          </p:cNvSpPr>
          <p:nvPr>
            <p:ph type="body" idx="1"/>
          </p:nvPr>
        </p:nvSpPr>
        <p:spPr>
          <a:xfrm>
            <a:off x="838200" y="2024743"/>
            <a:ext cx="9716589" cy="3843645"/>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2262"/>
            <a:ext cx="1638300" cy="365125"/>
          </a:xfrm>
          <a:prstGeom prst="rect">
            <a:avLst/>
          </a:prstGeom>
        </p:spPr>
        <p:txBody>
          <a:bodyPr vert="horz" lIns="91440" tIns="45720" rIns="91440" bIns="45720" rtlCol="0" anchor="ctr"/>
          <a:lstStyle>
            <a:lvl1pPr algn="l">
              <a:defRPr sz="1400">
                <a:solidFill>
                  <a:schemeClr val="tx1"/>
                </a:solidFill>
              </a:defRPr>
            </a:lvl1pPr>
          </a:lstStyle>
          <a:p>
            <a:fld id="{616E3388-8A49-4C51-A106-E2F4CF3977CF}" type="datetime6">
              <a:rPr lang="es-PE" smtClean="0"/>
              <a:t>Mayo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6428" y="322262"/>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74F71EA6-14AA-5205-13FE-35911ED08C35}"/>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17102642"/>
      </p:ext>
    </p:extLst>
  </p:cSld>
  <p:clrMap bg1="lt1" tx1="dk1" bg2="lt2" tx2="dk2" accent1="accent1" accent2="accent2" accent3="accent3" accent4="accent4" accent5="accent5" accent6="accent6" hlink="hlink" folHlink="folHlink"/>
  <p:sldLayoutIdLst>
    <p:sldLayoutId id="2147483651" r:id="rId1"/>
    <p:sldLayoutId id="2147483654" r:id="rId2"/>
    <p:sldLayoutId id="2147483674" r:id="rId3"/>
    <p:sldLayoutId id="2147483650" r:id="rId4"/>
    <p:sldLayoutId id="2147483652" r:id="rId5"/>
    <p:sldLayoutId id="2147483653" r:id="rId6"/>
    <p:sldLayoutId id="2147483656" r:id="rId7"/>
    <p:sldLayoutId id="2147483657" r:id="rId8"/>
    <p:sldLayoutId id="2147483658" r:id="rId9"/>
    <p:sldLayoutId id="2147483659"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4230"/>
            <a:ext cx="1619250" cy="365125"/>
          </a:xfrm>
          <a:prstGeom prst="rect">
            <a:avLst/>
          </a:prstGeom>
        </p:spPr>
        <p:txBody>
          <a:bodyPr vert="horz" lIns="91440" tIns="45720" rIns="91440" bIns="45720" rtlCol="0" anchor="ctr"/>
          <a:lstStyle>
            <a:lvl1pPr algn="l">
              <a:defRPr sz="1400">
                <a:solidFill>
                  <a:schemeClr val="tx1"/>
                </a:solidFill>
              </a:defRPr>
            </a:lvl1pPr>
          </a:lstStyle>
          <a:p>
            <a:fld id="{0C9694A8-123C-4838-A10C-DF4D75E09A89}" type="datetime6">
              <a:rPr lang="es-PE" smtClean="0"/>
              <a:t>Mayo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3680" y="323311"/>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10" name="Marcador de título 1">
            <a:extLst>
              <a:ext uri="{FF2B5EF4-FFF2-40B4-BE49-F238E27FC236}">
                <a16:creationId xmlns:a16="http://schemas.microsoft.com/office/drawing/2014/main" id="{144F2274-D960-4C0B-9748-88EE3F0DBEDD}"/>
              </a:ext>
            </a:extLst>
          </p:cNvPr>
          <p:cNvSpPr>
            <a:spLocks noGrp="1"/>
          </p:cNvSpPr>
          <p:nvPr>
            <p:ph type="title"/>
          </p:nvPr>
        </p:nvSpPr>
        <p:spPr>
          <a:xfrm>
            <a:off x="838199" y="1182069"/>
            <a:ext cx="10343606"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11" name="Marcador de texto 2">
            <a:extLst>
              <a:ext uri="{FF2B5EF4-FFF2-40B4-BE49-F238E27FC236}">
                <a16:creationId xmlns:a16="http://schemas.microsoft.com/office/drawing/2014/main" id="{9D6FEB95-3036-417E-9C50-CD57ED01FA94}"/>
              </a:ext>
            </a:extLst>
          </p:cNvPr>
          <p:cNvSpPr>
            <a:spLocks noGrp="1"/>
          </p:cNvSpPr>
          <p:nvPr>
            <p:ph type="body" idx="1"/>
          </p:nvPr>
        </p:nvSpPr>
        <p:spPr>
          <a:xfrm>
            <a:off x="838200" y="2024744"/>
            <a:ext cx="10343606" cy="329184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número de diapositiva 5">
            <a:extLst>
              <a:ext uri="{FF2B5EF4-FFF2-40B4-BE49-F238E27FC236}">
                <a16:creationId xmlns:a16="http://schemas.microsoft.com/office/drawing/2014/main" id="{1DCF4E30-8222-0A8A-8EB6-ACF70BC0FF3B}"/>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77794971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75" r:id="rId3"/>
    <p:sldLayoutId id="2147483667" r:id="rId4"/>
    <p:sldLayoutId id="2147483668" r:id="rId5"/>
    <p:sldLayoutId id="2147483669" r:id="rId6"/>
    <p:sldLayoutId id="2147483670" r:id="rId7"/>
    <p:sldLayoutId id="2147483671" r:id="rId8"/>
    <p:sldLayoutId id="2147483672" r:id="rId9"/>
    <p:sldLayoutId id="2147483673"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3B067A9-18EE-41F0-B696-9386E1AF8AC5}"/>
              </a:ext>
            </a:extLst>
          </p:cNvPr>
          <p:cNvSpPr>
            <a:spLocks noGrp="1"/>
          </p:cNvSpPr>
          <p:nvPr>
            <p:ph type="title"/>
          </p:nvPr>
        </p:nvSpPr>
        <p:spPr>
          <a:xfrm>
            <a:off x="838200" y="1045029"/>
            <a:ext cx="10515600" cy="645659"/>
          </a:xfrm>
          <a:prstGeom prst="rect">
            <a:avLst/>
          </a:prstGeom>
        </p:spPr>
        <p:txBody>
          <a:bodyPr vert="horz" lIns="91440" tIns="45720" rIns="91440" bIns="45720" rtlCol="0" anchor="ctr">
            <a:norm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E067C12A-CBBE-4AB2-8C8A-B75DDE302D12}"/>
              </a:ext>
            </a:extLst>
          </p:cNvPr>
          <p:cNvSpPr>
            <a:spLocks noGrp="1"/>
          </p:cNvSpPr>
          <p:nvPr>
            <p:ph type="body" idx="1"/>
          </p:nvPr>
        </p:nvSpPr>
        <p:spPr>
          <a:xfrm>
            <a:off x="838200" y="1986189"/>
            <a:ext cx="10515600" cy="32912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66C6ED39-B0EA-42B3-A3C3-7CA769E5EA7C}"/>
              </a:ext>
            </a:extLst>
          </p:cNvPr>
          <p:cNvSpPr>
            <a:spLocks noGrp="1"/>
          </p:cNvSpPr>
          <p:nvPr>
            <p:ph type="dt" sz="half" idx="2"/>
          </p:nvPr>
        </p:nvSpPr>
        <p:spPr>
          <a:xfrm>
            <a:off x="9982200" y="314064"/>
            <a:ext cx="1524000" cy="382973"/>
          </a:xfrm>
          <a:prstGeom prst="rect">
            <a:avLst/>
          </a:prstGeom>
        </p:spPr>
        <p:txBody>
          <a:bodyPr vert="horz" lIns="91440" tIns="45720" rIns="91440" bIns="45720" rtlCol="0" anchor="ctr"/>
          <a:lstStyle>
            <a:lvl1pPr algn="l">
              <a:defRPr sz="1400">
                <a:solidFill>
                  <a:schemeClr val="tx1"/>
                </a:solidFill>
              </a:defRPr>
            </a:lvl1pPr>
          </a:lstStyle>
          <a:p>
            <a:fld id="{0C8C20A4-1372-4EF1-AE37-02318244F0B2}" type="datetime6">
              <a:rPr lang="es-PE" smtClean="0"/>
              <a:t>Mayo de 2026</a:t>
            </a:fld>
            <a:endParaRPr lang="es-PE" dirty="0"/>
          </a:p>
        </p:txBody>
      </p:sp>
      <p:sp>
        <p:nvSpPr>
          <p:cNvPr id="5" name="Marcador de pie de página 4">
            <a:extLst>
              <a:ext uri="{FF2B5EF4-FFF2-40B4-BE49-F238E27FC236}">
                <a16:creationId xmlns:a16="http://schemas.microsoft.com/office/drawing/2014/main" id="{16E1549C-7307-410E-AA79-42C4BDD3FDAE}"/>
              </a:ext>
            </a:extLst>
          </p:cNvPr>
          <p:cNvSpPr>
            <a:spLocks noGrp="1"/>
          </p:cNvSpPr>
          <p:nvPr>
            <p:ph type="ftr" sz="quarter" idx="3"/>
          </p:nvPr>
        </p:nvSpPr>
        <p:spPr>
          <a:xfrm>
            <a:off x="4622993" y="322989"/>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63B87C3E-7B33-EE8E-E722-04A7DDD4F5AC}"/>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9172523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77" r:id="rId4"/>
    <p:sldLayoutId id="2147483676" r:id="rId5"/>
    <p:sldLayoutId id="2147483678" r:id="rId6"/>
    <p:sldLayoutId id="2147483661" r:id="rId7"/>
    <p:sldLayoutId id="2147483679" r:id="rId8"/>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a:t>Nombre de Curso</a:t>
            </a:r>
            <a:endParaRPr lang="es-PE" dirty="0"/>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2678436804"/>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2" r:id="rId10"/>
  </p:sldLayoutIdLs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hub.docker.com" TargetMode="Externa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hyperlink" Target="https://docs.aws.amazon.com/AmazonECS/latest/developerguide/docker-basics.html" TargetMode="Externa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1487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16A6F0-CB20-77C3-8561-5350F154F752}"/>
              </a:ext>
            </a:extLst>
          </p:cNvPr>
          <p:cNvSpPr>
            <a:spLocks noGrp="1"/>
          </p:cNvSpPr>
          <p:nvPr>
            <p:ph type="ctrTitle"/>
          </p:nvPr>
        </p:nvSpPr>
        <p:spPr/>
        <p:txBody>
          <a:bodyPr/>
          <a:lstStyle/>
          <a:p>
            <a:r>
              <a:rPr lang="es-PE" dirty="0"/>
              <a:t>Despliegue de Spring Boot con Docker y DB administradas</a:t>
            </a:r>
          </a:p>
        </p:txBody>
      </p:sp>
      <p:sp>
        <p:nvSpPr>
          <p:cNvPr id="3" name="Subtítulo 2">
            <a:extLst>
              <a:ext uri="{FF2B5EF4-FFF2-40B4-BE49-F238E27FC236}">
                <a16:creationId xmlns:a16="http://schemas.microsoft.com/office/drawing/2014/main" id="{F2F784CF-EEC8-D787-106A-6ECDA93865EE}"/>
              </a:ext>
            </a:extLst>
          </p:cNvPr>
          <p:cNvSpPr>
            <a:spLocks noGrp="1"/>
          </p:cNvSpPr>
          <p:nvPr>
            <p:ph type="subTitle" idx="1"/>
          </p:nvPr>
        </p:nvSpPr>
        <p:spPr/>
        <p:txBody>
          <a:bodyPr/>
          <a:lstStyle/>
          <a:p>
            <a:r>
              <a:rPr lang="es-PE" dirty="0"/>
              <a:t>Gestión de Servicio TICS</a:t>
            </a:r>
          </a:p>
        </p:txBody>
      </p:sp>
    </p:spTree>
    <p:extLst>
      <p:ext uri="{BB962C8B-B14F-4D97-AF65-F5344CB8AC3E}">
        <p14:creationId xmlns:p14="http://schemas.microsoft.com/office/powerpoint/2010/main" val="2467806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B2A4D5-6472-063E-86B9-A274F1709F73}"/>
              </a:ext>
            </a:extLst>
          </p:cNvPr>
          <p:cNvSpPr>
            <a:spLocks noGrp="1"/>
          </p:cNvSpPr>
          <p:nvPr>
            <p:ph type="title"/>
          </p:nvPr>
        </p:nvSpPr>
        <p:spPr/>
        <p:txBody>
          <a:bodyPr>
            <a:normAutofit/>
          </a:bodyPr>
          <a:lstStyle/>
          <a:p>
            <a:r>
              <a:rPr lang="es-ES" dirty="0">
                <a:solidFill>
                  <a:schemeClr val="bg2"/>
                </a:solidFill>
              </a:rPr>
              <a:t>Arquitectura para el despliegue</a:t>
            </a:r>
            <a:endParaRPr lang="es-PE" dirty="0">
              <a:solidFill>
                <a:schemeClr val="bg2"/>
              </a:solidFill>
            </a:endParaRPr>
          </a:p>
        </p:txBody>
      </p:sp>
      <p:sp>
        <p:nvSpPr>
          <p:cNvPr id="3" name="Marcador de número de diapositiva 2">
            <a:extLst>
              <a:ext uri="{FF2B5EF4-FFF2-40B4-BE49-F238E27FC236}">
                <a16:creationId xmlns:a16="http://schemas.microsoft.com/office/drawing/2014/main" id="{9706BAA1-5697-46E2-0C8D-2C8164080363}"/>
              </a:ext>
            </a:extLst>
          </p:cNvPr>
          <p:cNvSpPr>
            <a:spLocks noGrp="1"/>
          </p:cNvSpPr>
          <p:nvPr>
            <p:ph type="sldNum" idx="12"/>
          </p:nvPr>
        </p:nvSpPr>
        <p:spPr/>
        <p:txBody>
          <a:bodyPr/>
          <a:lstStyle/>
          <a:p>
            <a:fld id="{52A29C8B-5F70-8945-A2A6-FBD7A17156DB}" type="slidenum">
              <a:rPr lang="es-PE" smtClean="0"/>
              <a:pPr/>
              <a:t>3</a:t>
            </a:fld>
            <a:endParaRPr lang="es-PE"/>
          </a:p>
        </p:txBody>
      </p:sp>
      <p:sp>
        <p:nvSpPr>
          <p:cNvPr id="4" name="Marcador de contenido 3">
            <a:extLst>
              <a:ext uri="{FF2B5EF4-FFF2-40B4-BE49-F238E27FC236}">
                <a16:creationId xmlns:a16="http://schemas.microsoft.com/office/drawing/2014/main" id="{12FE686E-2698-BDCC-EE05-97DD41F868C7}"/>
              </a:ext>
            </a:extLst>
          </p:cNvPr>
          <p:cNvSpPr>
            <a:spLocks noGrp="1"/>
          </p:cNvSpPr>
          <p:nvPr>
            <p:ph idx="1"/>
          </p:nvPr>
        </p:nvSpPr>
        <p:spPr/>
        <p:txBody>
          <a:bodyPr/>
          <a:lstStyle/>
          <a:p>
            <a:r>
              <a:rPr lang="es-ES" dirty="0"/>
              <a:t>La siguiente arquitectura que se probará, será desplegar será la aplicación Spring </a:t>
            </a:r>
            <a:r>
              <a:rPr lang="es-ES" dirty="0" err="1"/>
              <a:t>boot</a:t>
            </a:r>
            <a:r>
              <a:rPr lang="es-ES" dirty="0"/>
              <a:t> en un contenedor con Java </a:t>
            </a:r>
            <a:r>
              <a:rPr lang="es-ES" dirty="0" err="1"/>
              <a:t>conectandola</a:t>
            </a:r>
            <a:r>
              <a:rPr lang="es-ES" dirty="0"/>
              <a:t> con la base de datos administrada del proveedor cloud.</a:t>
            </a:r>
          </a:p>
          <a:p>
            <a:endParaRPr lang="es-PE" dirty="0"/>
          </a:p>
        </p:txBody>
      </p:sp>
      <p:grpSp>
        <p:nvGrpSpPr>
          <p:cNvPr id="5" name="Google Shape;78;p14">
            <a:extLst>
              <a:ext uri="{FF2B5EF4-FFF2-40B4-BE49-F238E27FC236}">
                <a16:creationId xmlns:a16="http://schemas.microsoft.com/office/drawing/2014/main" id="{424CCC01-2A27-DF19-4294-67DA2593D797}"/>
              </a:ext>
            </a:extLst>
          </p:cNvPr>
          <p:cNvGrpSpPr/>
          <p:nvPr/>
        </p:nvGrpSpPr>
        <p:grpSpPr>
          <a:xfrm>
            <a:off x="4163066" y="2935450"/>
            <a:ext cx="3353725" cy="1160400"/>
            <a:chOff x="1794850" y="5264175"/>
            <a:chExt cx="3353725" cy="1160400"/>
          </a:xfrm>
        </p:grpSpPr>
        <p:sp>
          <p:nvSpPr>
            <p:cNvPr id="6" name="Google Shape;79;p14">
              <a:extLst>
                <a:ext uri="{FF2B5EF4-FFF2-40B4-BE49-F238E27FC236}">
                  <a16:creationId xmlns:a16="http://schemas.microsoft.com/office/drawing/2014/main" id="{90BAA6F6-ECC2-1A02-F622-EF64C9872764}"/>
                </a:ext>
              </a:extLst>
            </p:cNvPr>
            <p:cNvSpPr/>
            <p:nvPr/>
          </p:nvSpPr>
          <p:spPr>
            <a:xfrm>
              <a:off x="1794850" y="5264175"/>
              <a:ext cx="2089500" cy="1160400"/>
            </a:xfrm>
            <a:prstGeom prst="roundRect">
              <a:avLst>
                <a:gd name="adj" fmla="val 16667"/>
              </a:avLst>
            </a:prstGeom>
            <a:solidFill>
              <a:srgbClr val="C9DAF8"/>
            </a:solidFill>
            <a:ln w="9525" cap="flat" cmpd="sng">
              <a:solidFill>
                <a:srgbClr val="695D46"/>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sz="1100"/>
                <a:t>Instancia</a:t>
              </a:r>
              <a:endParaRPr sz="1100"/>
            </a:p>
          </p:txBody>
        </p:sp>
        <p:sp>
          <p:nvSpPr>
            <p:cNvPr id="7" name="Google Shape;80;p14">
              <a:extLst>
                <a:ext uri="{FF2B5EF4-FFF2-40B4-BE49-F238E27FC236}">
                  <a16:creationId xmlns:a16="http://schemas.microsoft.com/office/drawing/2014/main" id="{3B69F1E5-B50A-FCAC-7A8C-EBBA0501A43B}"/>
                </a:ext>
              </a:extLst>
            </p:cNvPr>
            <p:cNvSpPr/>
            <p:nvPr/>
          </p:nvSpPr>
          <p:spPr>
            <a:xfrm>
              <a:off x="2310550" y="5727925"/>
              <a:ext cx="1192200" cy="524700"/>
            </a:xfrm>
            <a:prstGeom prst="rect">
              <a:avLst/>
            </a:prstGeom>
            <a:solidFill>
              <a:srgbClr val="D9EAD3"/>
            </a:solidFill>
            <a:ln w="9525" cap="flat" cmpd="sng">
              <a:solidFill>
                <a:srgbClr val="695D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419" sz="1200"/>
                <a:t>Docker java</a:t>
              </a:r>
              <a:endParaRPr sz="1200"/>
            </a:p>
          </p:txBody>
        </p:sp>
        <p:sp>
          <p:nvSpPr>
            <p:cNvPr id="8" name="Google Shape;81;p14">
              <a:extLst>
                <a:ext uri="{FF2B5EF4-FFF2-40B4-BE49-F238E27FC236}">
                  <a16:creationId xmlns:a16="http://schemas.microsoft.com/office/drawing/2014/main" id="{6AB09814-7BA7-DB3E-765D-1972BF3B6CEA}"/>
                </a:ext>
              </a:extLst>
            </p:cNvPr>
            <p:cNvSpPr/>
            <p:nvPr/>
          </p:nvSpPr>
          <p:spPr>
            <a:xfrm>
              <a:off x="4318100" y="5588438"/>
              <a:ext cx="830475" cy="803675"/>
            </a:xfrm>
            <a:prstGeom prst="flowChartMagneticDisk">
              <a:avLst/>
            </a:prstGeom>
            <a:solidFill>
              <a:srgbClr val="EAD1DC"/>
            </a:solidFill>
            <a:ln w="9525" cap="flat" cmpd="sng">
              <a:solidFill>
                <a:srgbClr val="695D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200"/>
                <a:t>DB</a:t>
              </a:r>
              <a:endParaRPr sz="1200"/>
            </a:p>
          </p:txBody>
        </p:sp>
        <p:cxnSp>
          <p:nvCxnSpPr>
            <p:cNvPr id="9" name="Google Shape;82;p14">
              <a:extLst>
                <a:ext uri="{FF2B5EF4-FFF2-40B4-BE49-F238E27FC236}">
                  <a16:creationId xmlns:a16="http://schemas.microsoft.com/office/drawing/2014/main" id="{380F860D-42BA-B676-AE61-80AB243850BA}"/>
                </a:ext>
              </a:extLst>
            </p:cNvPr>
            <p:cNvCxnSpPr>
              <a:stCxn id="7" idx="3"/>
              <a:endCxn id="8" idx="2"/>
            </p:cNvCxnSpPr>
            <p:nvPr/>
          </p:nvCxnSpPr>
          <p:spPr>
            <a:xfrm>
              <a:off x="3502750" y="5990275"/>
              <a:ext cx="815400" cy="0"/>
            </a:xfrm>
            <a:prstGeom prst="straightConnector1">
              <a:avLst/>
            </a:prstGeom>
            <a:noFill/>
            <a:ln w="19050" cap="flat" cmpd="sng">
              <a:solidFill>
                <a:srgbClr val="695D46"/>
              </a:solidFill>
              <a:prstDash val="solid"/>
              <a:round/>
              <a:headEnd type="triangle" w="med" len="med"/>
              <a:tailEnd type="triangle" w="med" len="med"/>
            </a:ln>
          </p:spPr>
        </p:cxnSp>
      </p:grpSp>
    </p:spTree>
    <p:extLst>
      <p:ext uri="{BB962C8B-B14F-4D97-AF65-F5344CB8AC3E}">
        <p14:creationId xmlns:p14="http://schemas.microsoft.com/office/powerpoint/2010/main" val="244863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8961A8FA-7493-2B15-AC8F-9685D2DF38DD}"/>
              </a:ext>
            </a:extLst>
          </p:cNvPr>
          <p:cNvSpPr>
            <a:spLocks noGrp="1"/>
          </p:cNvSpPr>
          <p:nvPr>
            <p:ph type="title"/>
          </p:nvPr>
        </p:nvSpPr>
        <p:spPr/>
        <p:txBody>
          <a:bodyPr/>
          <a:lstStyle/>
          <a:p>
            <a:r>
              <a:rPr lang="es-ES" dirty="0"/>
              <a:t>Contenedor para Spring </a:t>
            </a:r>
            <a:r>
              <a:rPr lang="es-ES" dirty="0" err="1"/>
              <a:t>Boot</a:t>
            </a:r>
            <a:r>
              <a:rPr lang="es-ES" dirty="0"/>
              <a:t> LOCAL</a:t>
            </a:r>
            <a:endParaRPr lang="es-PE" dirty="0"/>
          </a:p>
        </p:txBody>
      </p:sp>
    </p:spTree>
    <p:extLst>
      <p:ext uri="{BB962C8B-B14F-4D97-AF65-F5344CB8AC3E}">
        <p14:creationId xmlns:p14="http://schemas.microsoft.com/office/powerpoint/2010/main" val="159863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208EB-E410-DD9F-BC80-8594D449F532}"/>
              </a:ext>
            </a:extLst>
          </p:cNvPr>
          <p:cNvSpPr>
            <a:spLocks noGrp="1"/>
          </p:cNvSpPr>
          <p:nvPr>
            <p:ph type="title"/>
          </p:nvPr>
        </p:nvSpPr>
        <p:spPr/>
        <p:txBody>
          <a:bodyPr/>
          <a:lstStyle/>
          <a:p>
            <a:r>
              <a:rPr lang="es-ES" dirty="0"/>
              <a:t>Crear nuestras imágenes</a:t>
            </a:r>
            <a:endParaRPr lang="es-PE" dirty="0"/>
          </a:p>
        </p:txBody>
      </p:sp>
      <p:sp>
        <p:nvSpPr>
          <p:cNvPr id="3" name="Marcador de número de diapositiva 2">
            <a:extLst>
              <a:ext uri="{FF2B5EF4-FFF2-40B4-BE49-F238E27FC236}">
                <a16:creationId xmlns:a16="http://schemas.microsoft.com/office/drawing/2014/main" id="{E65C01D5-5D16-F467-679C-DD6CDFCCCDF2}"/>
              </a:ext>
            </a:extLst>
          </p:cNvPr>
          <p:cNvSpPr>
            <a:spLocks noGrp="1"/>
          </p:cNvSpPr>
          <p:nvPr>
            <p:ph type="sldNum" idx="12"/>
          </p:nvPr>
        </p:nvSpPr>
        <p:spPr/>
        <p:txBody>
          <a:bodyPr/>
          <a:lstStyle/>
          <a:p>
            <a:fld id="{52A29C8B-5F70-8945-A2A6-FBD7A17156DB}" type="slidenum">
              <a:rPr lang="es-PE" smtClean="0"/>
              <a:pPr/>
              <a:t>5</a:t>
            </a:fld>
            <a:endParaRPr lang="es-PE"/>
          </a:p>
        </p:txBody>
      </p:sp>
      <p:sp>
        <p:nvSpPr>
          <p:cNvPr id="4" name="Marcador de contenido 3">
            <a:extLst>
              <a:ext uri="{FF2B5EF4-FFF2-40B4-BE49-F238E27FC236}">
                <a16:creationId xmlns:a16="http://schemas.microsoft.com/office/drawing/2014/main" id="{EE2DC347-3F18-E3AE-75AD-510569B011C7}"/>
              </a:ext>
            </a:extLst>
          </p:cNvPr>
          <p:cNvSpPr>
            <a:spLocks noGrp="1"/>
          </p:cNvSpPr>
          <p:nvPr>
            <p:ph idx="1"/>
          </p:nvPr>
        </p:nvSpPr>
        <p:spPr/>
        <p:txBody>
          <a:bodyPr>
            <a:normAutofit/>
          </a:bodyPr>
          <a:lstStyle/>
          <a:p>
            <a:pPr lvl="0" indent="-342900">
              <a:spcBef>
                <a:spcPts val="0"/>
              </a:spcBef>
              <a:buSzPts val="1800"/>
              <a:buChar char="●"/>
            </a:pPr>
            <a:r>
              <a:rPr lang="es-ES" sz="2000" dirty="0"/>
              <a:t>Hasta ahora, hemos utilizado imágenes ya listas para lanzar un </a:t>
            </a:r>
            <a:r>
              <a:rPr lang="es-ES" sz="2000" dirty="0" err="1"/>
              <a:t>docker</a:t>
            </a:r>
            <a:r>
              <a:rPr lang="es-ES" sz="2000" dirty="0"/>
              <a:t>; pero, ¿qué sucede si lo que deseamos es armar nuestra imagen donde lancemos nuestra aplicación en java?</a:t>
            </a:r>
          </a:p>
          <a:p>
            <a:pPr lvl="0" indent="-342900">
              <a:spcAft>
                <a:spcPts val="1000"/>
              </a:spcAft>
              <a:buSzPts val="1800"/>
              <a:buChar char="●"/>
            </a:pPr>
            <a:r>
              <a:rPr lang="es-ES" sz="2000" dirty="0"/>
              <a:t>Para este fin, debemos armar nuestra propia imagen, usando como base otras imágenes.</a:t>
            </a:r>
          </a:p>
          <a:p>
            <a:endParaRPr lang="es-PE" sz="2000" dirty="0"/>
          </a:p>
        </p:txBody>
      </p:sp>
    </p:spTree>
    <p:extLst>
      <p:ext uri="{BB962C8B-B14F-4D97-AF65-F5344CB8AC3E}">
        <p14:creationId xmlns:p14="http://schemas.microsoft.com/office/powerpoint/2010/main" val="355625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F5999-090C-7F8B-E125-561D731B11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1D2845-28F6-E2BB-A5D4-22E4468C1C6D}"/>
              </a:ext>
            </a:extLst>
          </p:cNvPr>
          <p:cNvSpPr>
            <a:spLocks noGrp="1"/>
          </p:cNvSpPr>
          <p:nvPr>
            <p:ph type="title"/>
          </p:nvPr>
        </p:nvSpPr>
        <p:spPr/>
        <p:txBody>
          <a:bodyPr/>
          <a:lstStyle/>
          <a:p>
            <a:r>
              <a:rPr lang="es-ES" dirty="0" err="1"/>
              <a:t>Dockerfile</a:t>
            </a:r>
            <a:endParaRPr lang="es-PE" dirty="0"/>
          </a:p>
        </p:txBody>
      </p:sp>
      <p:sp>
        <p:nvSpPr>
          <p:cNvPr id="3" name="Marcador de número de diapositiva 2">
            <a:extLst>
              <a:ext uri="{FF2B5EF4-FFF2-40B4-BE49-F238E27FC236}">
                <a16:creationId xmlns:a16="http://schemas.microsoft.com/office/drawing/2014/main" id="{27A9032E-D238-CBA6-C494-9BEB4FDA331C}"/>
              </a:ext>
            </a:extLst>
          </p:cNvPr>
          <p:cNvSpPr>
            <a:spLocks noGrp="1"/>
          </p:cNvSpPr>
          <p:nvPr>
            <p:ph type="sldNum" idx="12"/>
          </p:nvPr>
        </p:nvSpPr>
        <p:spPr/>
        <p:txBody>
          <a:bodyPr/>
          <a:lstStyle/>
          <a:p>
            <a:fld id="{52A29C8B-5F70-8945-A2A6-FBD7A17156DB}" type="slidenum">
              <a:rPr lang="es-PE" smtClean="0"/>
              <a:pPr/>
              <a:t>6</a:t>
            </a:fld>
            <a:endParaRPr lang="es-PE"/>
          </a:p>
        </p:txBody>
      </p:sp>
      <p:sp>
        <p:nvSpPr>
          <p:cNvPr id="4" name="Marcador de contenido 3">
            <a:extLst>
              <a:ext uri="{FF2B5EF4-FFF2-40B4-BE49-F238E27FC236}">
                <a16:creationId xmlns:a16="http://schemas.microsoft.com/office/drawing/2014/main" id="{693E3FA8-FC6C-E2D8-2498-8AB5250B15C4}"/>
              </a:ext>
            </a:extLst>
          </p:cNvPr>
          <p:cNvSpPr>
            <a:spLocks noGrp="1"/>
          </p:cNvSpPr>
          <p:nvPr>
            <p:ph idx="1"/>
          </p:nvPr>
        </p:nvSpPr>
        <p:spPr/>
        <p:txBody>
          <a:bodyPr>
            <a:normAutofit/>
          </a:bodyPr>
          <a:lstStyle/>
          <a:p>
            <a:pPr lvl="0" indent="-342900">
              <a:spcBef>
                <a:spcPts val="0"/>
              </a:spcBef>
              <a:buSzPts val="1800"/>
              <a:buChar char="●"/>
            </a:pPr>
            <a:r>
              <a:rPr lang="es-ES" sz="2000" dirty="0"/>
              <a:t>Docker puede crear imágenes automáticamente leyendo las instrucciones de un </a:t>
            </a:r>
            <a:r>
              <a:rPr lang="es-ES" sz="2000" dirty="0" err="1"/>
              <a:t>Dockerfile</a:t>
            </a:r>
            <a:r>
              <a:rPr lang="es-ES" sz="2000" dirty="0"/>
              <a:t>. </a:t>
            </a:r>
          </a:p>
          <a:p>
            <a:pPr lvl="0" indent="-342900">
              <a:buSzPts val="1800"/>
              <a:buChar char="●"/>
            </a:pPr>
            <a:r>
              <a:rPr lang="es-ES" sz="2000" dirty="0"/>
              <a:t>Un </a:t>
            </a:r>
            <a:r>
              <a:rPr lang="es-ES" sz="2000" dirty="0" err="1"/>
              <a:t>Dockerfile</a:t>
            </a:r>
            <a:r>
              <a:rPr lang="es-ES" sz="2000" dirty="0"/>
              <a:t> es un documento de texto que contiene todos los comandos que un usuario podría llamar en la línea de comandos para ensamblar una imagen.</a:t>
            </a:r>
          </a:p>
          <a:p>
            <a:endParaRPr lang="es-PE" sz="2000" dirty="0"/>
          </a:p>
        </p:txBody>
      </p:sp>
    </p:spTree>
    <p:extLst>
      <p:ext uri="{BB962C8B-B14F-4D97-AF65-F5344CB8AC3E}">
        <p14:creationId xmlns:p14="http://schemas.microsoft.com/office/powerpoint/2010/main" val="3049881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FD910-37F2-F72A-4E15-31E80A1E68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8FC1DE-02BF-0D1F-E739-DB5875CC12DC}"/>
              </a:ext>
            </a:extLst>
          </p:cNvPr>
          <p:cNvSpPr>
            <a:spLocks noGrp="1"/>
          </p:cNvSpPr>
          <p:nvPr>
            <p:ph type="title"/>
          </p:nvPr>
        </p:nvSpPr>
        <p:spPr/>
        <p:txBody>
          <a:bodyPr/>
          <a:lstStyle/>
          <a:p>
            <a:r>
              <a:rPr lang="es-ES" dirty="0"/>
              <a:t>Creando un </a:t>
            </a:r>
            <a:r>
              <a:rPr lang="es-ES" dirty="0" err="1"/>
              <a:t>Dockerfile</a:t>
            </a:r>
            <a:endParaRPr lang="es-PE" dirty="0"/>
          </a:p>
        </p:txBody>
      </p:sp>
      <p:sp>
        <p:nvSpPr>
          <p:cNvPr id="3" name="Marcador de número de diapositiva 2">
            <a:extLst>
              <a:ext uri="{FF2B5EF4-FFF2-40B4-BE49-F238E27FC236}">
                <a16:creationId xmlns:a16="http://schemas.microsoft.com/office/drawing/2014/main" id="{23847648-D4FE-E1CB-28C1-52F4D28A2217}"/>
              </a:ext>
            </a:extLst>
          </p:cNvPr>
          <p:cNvSpPr>
            <a:spLocks noGrp="1"/>
          </p:cNvSpPr>
          <p:nvPr>
            <p:ph type="sldNum" idx="12"/>
          </p:nvPr>
        </p:nvSpPr>
        <p:spPr/>
        <p:txBody>
          <a:bodyPr/>
          <a:lstStyle/>
          <a:p>
            <a:fld id="{52A29C8B-5F70-8945-A2A6-FBD7A17156DB}" type="slidenum">
              <a:rPr lang="es-PE" smtClean="0"/>
              <a:pPr/>
              <a:t>7</a:t>
            </a:fld>
            <a:endParaRPr lang="es-PE"/>
          </a:p>
        </p:txBody>
      </p:sp>
      <p:sp>
        <p:nvSpPr>
          <p:cNvPr id="4" name="Marcador de contenido 3">
            <a:extLst>
              <a:ext uri="{FF2B5EF4-FFF2-40B4-BE49-F238E27FC236}">
                <a16:creationId xmlns:a16="http://schemas.microsoft.com/office/drawing/2014/main" id="{B82CE7E9-B949-34A6-C607-9939A1A5995C}"/>
              </a:ext>
            </a:extLst>
          </p:cNvPr>
          <p:cNvSpPr>
            <a:spLocks noGrp="1"/>
          </p:cNvSpPr>
          <p:nvPr>
            <p:ph idx="1"/>
          </p:nvPr>
        </p:nvSpPr>
        <p:spPr/>
        <p:txBody>
          <a:bodyPr>
            <a:normAutofit/>
          </a:bodyPr>
          <a:lstStyle/>
          <a:p>
            <a:pPr marL="0" lvl="0" indent="0">
              <a:spcBef>
                <a:spcPts val="0"/>
              </a:spcBef>
              <a:buNone/>
            </a:pPr>
            <a:r>
              <a:rPr lang="es-ES" sz="2000" dirty="0"/>
              <a:t>Usando el proyecto:</a:t>
            </a:r>
          </a:p>
          <a:p>
            <a:pPr marL="0" lvl="0" indent="0">
              <a:spcBef>
                <a:spcPts val="1600"/>
              </a:spcBef>
              <a:buNone/>
            </a:pPr>
            <a:r>
              <a:rPr lang="es-ES" sz="2000" dirty="0"/>
              <a:t>→ </a:t>
            </a:r>
            <a:r>
              <a:rPr lang="es-ES" sz="2000" u="sng" dirty="0">
                <a:solidFill>
                  <a:schemeClr val="hlink"/>
                </a:solidFill>
              </a:rPr>
              <a:t>https://github.com/brawni10/clase8gtics-master.git</a:t>
            </a:r>
            <a:endParaRPr lang="es-ES" sz="2000" dirty="0"/>
          </a:p>
          <a:p>
            <a:pPr marL="0" lvl="0" indent="0">
              <a:spcBef>
                <a:spcPts val="1600"/>
              </a:spcBef>
              <a:buNone/>
            </a:pPr>
            <a:r>
              <a:rPr lang="es-ES" sz="2000" dirty="0"/>
              <a:t>En la raíz del proyecto crear un archivo “</a:t>
            </a:r>
            <a:r>
              <a:rPr lang="es-ES" sz="2000" b="1" dirty="0" err="1"/>
              <a:t>Dockerfile</a:t>
            </a:r>
            <a:r>
              <a:rPr lang="es-ES" sz="2000" dirty="0"/>
              <a:t>”</a:t>
            </a:r>
          </a:p>
          <a:p>
            <a:pPr lvl="0" indent="-342900">
              <a:spcBef>
                <a:spcPts val="1600"/>
              </a:spcBef>
              <a:buSzPts val="1800"/>
              <a:buChar char="●"/>
            </a:pPr>
            <a:r>
              <a:rPr lang="es-ES" sz="2000" dirty="0"/>
              <a:t>No debe tener extensión</a:t>
            </a:r>
          </a:p>
          <a:p>
            <a:pPr lvl="0" indent="-342900">
              <a:spcBef>
                <a:spcPts val="0"/>
              </a:spcBef>
              <a:buSzPts val="1800"/>
              <a:buChar char="●"/>
            </a:pPr>
            <a:r>
              <a:rPr lang="es-ES" sz="2000" dirty="0"/>
              <a:t>Respete mayúsculas y minúsculas</a:t>
            </a:r>
            <a:endParaRPr lang="es-PE" sz="2000" dirty="0"/>
          </a:p>
        </p:txBody>
      </p:sp>
      <p:pic>
        <p:nvPicPr>
          <p:cNvPr id="5" name="Google Shape;110;p18">
            <a:extLst>
              <a:ext uri="{FF2B5EF4-FFF2-40B4-BE49-F238E27FC236}">
                <a16:creationId xmlns:a16="http://schemas.microsoft.com/office/drawing/2014/main" id="{3CEFE06F-64D9-6743-7221-D71C1FB2816C}"/>
              </a:ext>
            </a:extLst>
          </p:cNvPr>
          <p:cNvPicPr preferRelativeResize="0"/>
          <p:nvPr/>
        </p:nvPicPr>
        <p:blipFill>
          <a:blip r:embed="rId2">
            <a:alphaModFix/>
          </a:blip>
          <a:stretch>
            <a:fillRect/>
          </a:stretch>
        </p:blipFill>
        <p:spPr>
          <a:xfrm>
            <a:off x="7846522" y="2825501"/>
            <a:ext cx="3181350" cy="2419350"/>
          </a:xfrm>
          <a:prstGeom prst="rect">
            <a:avLst/>
          </a:prstGeom>
          <a:noFill/>
          <a:ln>
            <a:noFill/>
          </a:ln>
        </p:spPr>
      </p:pic>
      <p:sp>
        <p:nvSpPr>
          <p:cNvPr id="6" name="Google Shape;111;p18">
            <a:extLst>
              <a:ext uri="{FF2B5EF4-FFF2-40B4-BE49-F238E27FC236}">
                <a16:creationId xmlns:a16="http://schemas.microsoft.com/office/drawing/2014/main" id="{9E76214C-A97C-21FF-0BBE-CCCFA6534BF0}"/>
              </a:ext>
            </a:extLst>
          </p:cNvPr>
          <p:cNvSpPr/>
          <p:nvPr/>
        </p:nvSpPr>
        <p:spPr>
          <a:xfrm>
            <a:off x="7252447" y="4364076"/>
            <a:ext cx="854100" cy="2475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0496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F83D-73E5-AC2A-C842-C21AC7F8BE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0DFDB6-14CD-3DCD-A663-8760561CA6C4}"/>
              </a:ext>
            </a:extLst>
          </p:cNvPr>
          <p:cNvSpPr>
            <a:spLocks noGrp="1"/>
          </p:cNvSpPr>
          <p:nvPr>
            <p:ph type="title"/>
          </p:nvPr>
        </p:nvSpPr>
        <p:spPr/>
        <p:txBody>
          <a:bodyPr/>
          <a:lstStyle/>
          <a:p>
            <a:r>
              <a:rPr lang="es-ES" dirty="0"/>
              <a:t>Imagen base</a:t>
            </a:r>
            <a:endParaRPr lang="es-PE" dirty="0"/>
          </a:p>
        </p:txBody>
      </p:sp>
      <p:sp>
        <p:nvSpPr>
          <p:cNvPr id="3" name="Marcador de número de diapositiva 2">
            <a:extLst>
              <a:ext uri="{FF2B5EF4-FFF2-40B4-BE49-F238E27FC236}">
                <a16:creationId xmlns:a16="http://schemas.microsoft.com/office/drawing/2014/main" id="{E00AC393-8A02-D9AB-1DA2-26E06C89F341}"/>
              </a:ext>
            </a:extLst>
          </p:cNvPr>
          <p:cNvSpPr>
            <a:spLocks noGrp="1"/>
          </p:cNvSpPr>
          <p:nvPr>
            <p:ph type="sldNum" idx="12"/>
          </p:nvPr>
        </p:nvSpPr>
        <p:spPr/>
        <p:txBody>
          <a:bodyPr/>
          <a:lstStyle/>
          <a:p>
            <a:fld id="{52A29C8B-5F70-8945-A2A6-FBD7A17156DB}" type="slidenum">
              <a:rPr lang="es-PE" smtClean="0"/>
              <a:pPr/>
              <a:t>8</a:t>
            </a:fld>
            <a:endParaRPr lang="es-PE"/>
          </a:p>
        </p:txBody>
      </p:sp>
      <p:sp>
        <p:nvSpPr>
          <p:cNvPr id="4" name="Marcador de contenido 3">
            <a:extLst>
              <a:ext uri="{FF2B5EF4-FFF2-40B4-BE49-F238E27FC236}">
                <a16:creationId xmlns:a16="http://schemas.microsoft.com/office/drawing/2014/main" id="{5095BC99-826F-4FC8-6FA1-D1BA72456698}"/>
              </a:ext>
            </a:extLst>
          </p:cNvPr>
          <p:cNvSpPr>
            <a:spLocks noGrp="1"/>
          </p:cNvSpPr>
          <p:nvPr>
            <p:ph idx="1"/>
          </p:nvPr>
        </p:nvSpPr>
        <p:spPr/>
        <p:txBody>
          <a:bodyPr>
            <a:normAutofit/>
          </a:bodyPr>
          <a:lstStyle/>
          <a:p>
            <a:pPr marL="0" lvl="0" indent="0">
              <a:spcBef>
                <a:spcPts val="0"/>
              </a:spcBef>
              <a:buNone/>
            </a:pPr>
            <a:r>
              <a:rPr lang="es-ES" sz="2000" dirty="0"/>
              <a:t>Antes de redactar nuestro </a:t>
            </a:r>
            <a:r>
              <a:rPr lang="es-ES" sz="2000" dirty="0" err="1"/>
              <a:t>Dockerfile</a:t>
            </a:r>
            <a:r>
              <a:rPr lang="es-ES" sz="2000" dirty="0"/>
              <a:t>, es necesario buscar nuestra imagen base, en este caso, una que contenga </a:t>
            </a:r>
            <a:r>
              <a:rPr lang="es-ES" sz="2000" dirty="0" err="1"/>
              <a:t>linux</a:t>
            </a:r>
            <a:r>
              <a:rPr lang="es-ES" sz="2000" dirty="0"/>
              <a:t> y Java 17 instalado.</a:t>
            </a:r>
          </a:p>
          <a:p>
            <a:pPr marL="0" lvl="0" indent="0">
              <a:spcBef>
                <a:spcPts val="1600"/>
              </a:spcBef>
              <a:buNone/>
            </a:pPr>
            <a:r>
              <a:rPr lang="es-ES" sz="2000" dirty="0"/>
              <a:t>Abra </a:t>
            </a:r>
            <a:r>
              <a:rPr lang="es-ES" sz="2000" dirty="0" err="1"/>
              <a:t>Dockerhub</a:t>
            </a:r>
            <a:r>
              <a:rPr lang="es-ES" sz="2000" dirty="0"/>
              <a:t> (</a:t>
            </a:r>
            <a:r>
              <a:rPr lang="es-ES" sz="2000" u="sng" dirty="0">
                <a:solidFill>
                  <a:schemeClr val="hlink"/>
                </a:solidFill>
                <a:hlinkClick r:id="rId2"/>
              </a:rPr>
              <a:t>hub.docker.com</a:t>
            </a:r>
            <a:r>
              <a:rPr lang="es-ES" sz="2000" dirty="0"/>
              <a:t>) y busque </a:t>
            </a:r>
            <a:r>
              <a:rPr lang="es-ES" sz="2000" dirty="0" err="1"/>
              <a:t>openjdk</a:t>
            </a:r>
            <a:r>
              <a:rPr lang="es-ES" sz="2000" dirty="0"/>
              <a:t>. </a:t>
            </a:r>
          </a:p>
          <a:p>
            <a:pPr marL="0" lvl="0" indent="0">
              <a:spcBef>
                <a:spcPts val="1600"/>
              </a:spcBef>
              <a:spcAft>
                <a:spcPts val="1600"/>
              </a:spcAft>
              <a:buNone/>
            </a:pPr>
            <a:r>
              <a:rPr lang="es-ES" sz="2000" dirty="0"/>
              <a:t>→ Abra el primer repo.</a:t>
            </a:r>
          </a:p>
          <a:p>
            <a:endParaRPr lang="es-PE" sz="2000" dirty="0"/>
          </a:p>
        </p:txBody>
      </p:sp>
      <p:pic>
        <p:nvPicPr>
          <p:cNvPr id="5" name="Google Shape;119;p19">
            <a:extLst>
              <a:ext uri="{FF2B5EF4-FFF2-40B4-BE49-F238E27FC236}">
                <a16:creationId xmlns:a16="http://schemas.microsoft.com/office/drawing/2014/main" id="{B5547BC8-E388-9CE1-3A1A-2ACD7388A424}"/>
              </a:ext>
            </a:extLst>
          </p:cNvPr>
          <p:cNvPicPr preferRelativeResize="0"/>
          <p:nvPr/>
        </p:nvPicPr>
        <p:blipFill>
          <a:blip r:embed="rId3">
            <a:alphaModFix/>
          </a:blip>
          <a:stretch>
            <a:fillRect/>
          </a:stretch>
        </p:blipFill>
        <p:spPr>
          <a:xfrm>
            <a:off x="2276798" y="2959913"/>
            <a:ext cx="7875253" cy="2586439"/>
          </a:xfrm>
          <a:prstGeom prst="rect">
            <a:avLst/>
          </a:prstGeom>
          <a:noFill/>
          <a:ln>
            <a:noFill/>
          </a:ln>
        </p:spPr>
      </p:pic>
      <p:sp>
        <p:nvSpPr>
          <p:cNvPr id="6" name="Google Shape;120;p19">
            <a:extLst>
              <a:ext uri="{FF2B5EF4-FFF2-40B4-BE49-F238E27FC236}">
                <a16:creationId xmlns:a16="http://schemas.microsoft.com/office/drawing/2014/main" id="{FAFD428F-582B-EF0F-B24D-CEC81C5F1C09}"/>
              </a:ext>
            </a:extLst>
          </p:cNvPr>
          <p:cNvSpPr/>
          <p:nvPr/>
        </p:nvSpPr>
        <p:spPr>
          <a:xfrm>
            <a:off x="4404906" y="4518077"/>
            <a:ext cx="735592" cy="204546"/>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5682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648EA-84C3-FC1F-20EB-AA4B902030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92F8BF-0D04-EA1B-F4C6-BC204FBEDF80}"/>
              </a:ext>
            </a:extLst>
          </p:cNvPr>
          <p:cNvSpPr>
            <a:spLocks noGrp="1"/>
          </p:cNvSpPr>
          <p:nvPr>
            <p:ph type="title"/>
          </p:nvPr>
        </p:nvSpPr>
        <p:spPr/>
        <p:txBody>
          <a:bodyPr/>
          <a:lstStyle/>
          <a:p>
            <a:r>
              <a:rPr lang="es-ES" dirty="0" err="1"/>
              <a:t>Openjdk</a:t>
            </a:r>
            <a:r>
              <a:rPr lang="es-ES" dirty="0"/>
              <a:t> </a:t>
            </a:r>
            <a:r>
              <a:rPr lang="es-ES" dirty="0" err="1"/>
              <a:t>Image</a:t>
            </a:r>
            <a:endParaRPr lang="es-PE" dirty="0"/>
          </a:p>
        </p:txBody>
      </p:sp>
      <p:sp>
        <p:nvSpPr>
          <p:cNvPr id="3" name="Marcador de número de diapositiva 2">
            <a:extLst>
              <a:ext uri="{FF2B5EF4-FFF2-40B4-BE49-F238E27FC236}">
                <a16:creationId xmlns:a16="http://schemas.microsoft.com/office/drawing/2014/main" id="{CFB5A6F3-5BEE-309E-A607-16F38491D7B4}"/>
              </a:ext>
            </a:extLst>
          </p:cNvPr>
          <p:cNvSpPr>
            <a:spLocks noGrp="1"/>
          </p:cNvSpPr>
          <p:nvPr>
            <p:ph type="sldNum" idx="12"/>
          </p:nvPr>
        </p:nvSpPr>
        <p:spPr/>
        <p:txBody>
          <a:bodyPr/>
          <a:lstStyle/>
          <a:p>
            <a:fld id="{52A29C8B-5F70-8945-A2A6-FBD7A17156DB}" type="slidenum">
              <a:rPr lang="es-PE" smtClean="0"/>
              <a:pPr/>
              <a:t>9</a:t>
            </a:fld>
            <a:endParaRPr lang="es-PE"/>
          </a:p>
        </p:txBody>
      </p:sp>
      <p:sp>
        <p:nvSpPr>
          <p:cNvPr id="4" name="Marcador de contenido 3">
            <a:extLst>
              <a:ext uri="{FF2B5EF4-FFF2-40B4-BE49-F238E27FC236}">
                <a16:creationId xmlns:a16="http://schemas.microsoft.com/office/drawing/2014/main" id="{FC1572C8-211E-99E5-4D8E-329407FFC939}"/>
              </a:ext>
            </a:extLst>
          </p:cNvPr>
          <p:cNvSpPr>
            <a:spLocks noGrp="1"/>
          </p:cNvSpPr>
          <p:nvPr>
            <p:ph idx="1"/>
          </p:nvPr>
        </p:nvSpPr>
        <p:spPr/>
        <p:txBody>
          <a:bodyPr/>
          <a:lstStyle/>
          <a:p>
            <a:r>
              <a:rPr lang="es-ES" dirty="0"/>
              <a:t>La imagen oficial de </a:t>
            </a:r>
            <a:r>
              <a:rPr lang="es-ES" dirty="0" err="1"/>
              <a:t>openjdk</a:t>
            </a:r>
            <a:r>
              <a:rPr lang="es-ES" dirty="0"/>
              <a:t> contiene diferentes versiones de JDK, para esto, seleccione “</a:t>
            </a:r>
            <a:r>
              <a:rPr lang="es-ES" b="1" dirty="0"/>
              <a:t>Tags</a:t>
            </a:r>
            <a:r>
              <a:rPr lang="es-ES" dirty="0"/>
              <a:t>”.</a:t>
            </a:r>
          </a:p>
          <a:p>
            <a:endParaRPr lang="es-PE" dirty="0"/>
          </a:p>
        </p:txBody>
      </p:sp>
      <p:pic>
        <p:nvPicPr>
          <p:cNvPr id="5" name="Google Shape;128;p20">
            <a:extLst>
              <a:ext uri="{FF2B5EF4-FFF2-40B4-BE49-F238E27FC236}">
                <a16:creationId xmlns:a16="http://schemas.microsoft.com/office/drawing/2014/main" id="{508BEB09-3686-E281-781B-9A7D602E2BE4}"/>
              </a:ext>
            </a:extLst>
          </p:cNvPr>
          <p:cNvPicPr preferRelativeResize="0"/>
          <p:nvPr/>
        </p:nvPicPr>
        <p:blipFill>
          <a:blip r:embed="rId2">
            <a:alphaModFix/>
          </a:blip>
          <a:stretch>
            <a:fillRect/>
          </a:stretch>
        </p:blipFill>
        <p:spPr>
          <a:xfrm>
            <a:off x="2365899" y="2302614"/>
            <a:ext cx="7460202" cy="3277076"/>
          </a:xfrm>
          <a:prstGeom prst="rect">
            <a:avLst/>
          </a:prstGeom>
          <a:noFill/>
          <a:ln>
            <a:noFill/>
          </a:ln>
        </p:spPr>
      </p:pic>
    </p:spTree>
    <p:extLst>
      <p:ext uri="{BB962C8B-B14F-4D97-AF65-F5344CB8AC3E}">
        <p14:creationId xmlns:p14="http://schemas.microsoft.com/office/powerpoint/2010/main" val="13878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F020F-3A38-EBE2-2580-72CD9A4EC3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30C596-051A-EF1A-D67F-D63A61CCEAEE}"/>
              </a:ext>
            </a:extLst>
          </p:cNvPr>
          <p:cNvSpPr>
            <a:spLocks noGrp="1"/>
          </p:cNvSpPr>
          <p:nvPr>
            <p:ph type="title"/>
          </p:nvPr>
        </p:nvSpPr>
        <p:spPr/>
        <p:txBody>
          <a:bodyPr/>
          <a:lstStyle/>
          <a:p>
            <a:r>
              <a:rPr lang="es-ES" dirty="0" err="1"/>
              <a:t>Openjdk</a:t>
            </a:r>
            <a:r>
              <a:rPr lang="es-ES" dirty="0"/>
              <a:t> </a:t>
            </a:r>
            <a:r>
              <a:rPr lang="es-ES" dirty="0" err="1"/>
              <a:t>Image</a:t>
            </a:r>
            <a:endParaRPr lang="es-PE" dirty="0"/>
          </a:p>
        </p:txBody>
      </p:sp>
      <p:sp>
        <p:nvSpPr>
          <p:cNvPr id="3" name="Marcador de número de diapositiva 2">
            <a:extLst>
              <a:ext uri="{FF2B5EF4-FFF2-40B4-BE49-F238E27FC236}">
                <a16:creationId xmlns:a16="http://schemas.microsoft.com/office/drawing/2014/main" id="{F2CD543F-77B2-85C6-256A-9931C4789725}"/>
              </a:ext>
            </a:extLst>
          </p:cNvPr>
          <p:cNvSpPr>
            <a:spLocks noGrp="1"/>
          </p:cNvSpPr>
          <p:nvPr>
            <p:ph type="sldNum" idx="12"/>
          </p:nvPr>
        </p:nvSpPr>
        <p:spPr/>
        <p:txBody>
          <a:bodyPr/>
          <a:lstStyle/>
          <a:p>
            <a:fld id="{52A29C8B-5F70-8945-A2A6-FBD7A17156DB}" type="slidenum">
              <a:rPr lang="es-PE" smtClean="0"/>
              <a:pPr/>
              <a:t>10</a:t>
            </a:fld>
            <a:endParaRPr lang="es-PE"/>
          </a:p>
        </p:txBody>
      </p:sp>
      <p:sp>
        <p:nvSpPr>
          <p:cNvPr id="4" name="Marcador de contenido 3">
            <a:extLst>
              <a:ext uri="{FF2B5EF4-FFF2-40B4-BE49-F238E27FC236}">
                <a16:creationId xmlns:a16="http://schemas.microsoft.com/office/drawing/2014/main" id="{C5F84B79-54B4-0180-44D5-41604C84E8B0}"/>
              </a:ext>
            </a:extLst>
          </p:cNvPr>
          <p:cNvSpPr>
            <a:spLocks noGrp="1"/>
          </p:cNvSpPr>
          <p:nvPr>
            <p:ph idx="1"/>
          </p:nvPr>
        </p:nvSpPr>
        <p:spPr/>
        <p:txBody>
          <a:bodyPr/>
          <a:lstStyle/>
          <a:p>
            <a:r>
              <a:rPr lang="es-ES" dirty="0"/>
              <a:t>En los tags, busque 17 (por </a:t>
            </a:r>
            <a:r>
              <a:rPr lang="es-ES" dirty="0" err="1"/>
              <a:t>jdk</a:t>
            </a:r>
            <a:r>
              <a:rPr lang="es-ES" dirty="0"/>
              <a:t> 17).</a:t>
            </a:r>
          </a:p>
          <a:p>
            <a:endParaRPr lang="es-PE" dirty="0"/>
          </a:p>
        </p:txBody>
      </p:sp>
      <p:pic>
        <p:nvPicPr>
          <p:cNvPr id="5" name="Google Shape;137;p21">
            <a:extLst>
              <a:ext uri="{FF2B5EF4-FFF2-40B4-BE49-F238E27FC236}">
                <a16:creationId xmlns:a16="http://schemas.microsoft.com/office/drawing/2014/main" id="{357A6E2A-2A03-79DA-111A-45E6C6BBFEC4}"/>
              </a:ext>
            </a:extLst>
          </p:cNvPr>
          <p:cNvPicPr preferRelativeResize="0"/>
          <p:nvPr/>
        </p:nvPicPr>
        <p:blipFill>
          <a:blip r:embed="rId2">
            <a:alphaModFix/>
          </a:blip>
          <a:stretch>
            <a:fillRect/>
          </a:stretch>
        </p:blipFill>
        <p:spPr>
          <a:xfrm>
            <a:off x="2974041" y="2435257"/>
            <a:ext cx="6086475" cy="2333625"/>
          </a:xfrm>
          <a:prstGeom prst="rect">
            <a:avLst/>
          </a:prstGeom>
          <a:noFill/>
          <a:ln>
            <a:noFill/>
          </a:ln>
        </p:spPr>
      </p:pic>
    </p:spTree>
    <p:extLst>
      <p:ext uri="{BB962C8B-B14F-4D97-AF65-F5344CB8AC3E}">
        <p14:creationId xmlns:p14="http://schemas.microsoft.com/office/powerpoint/2010/main" val="1157221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72B49-9256-9D74-D0CC-4E53D0ABDF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7EAD44-7947-6750-B44F-B73ABCE0B3B1}"/>
              </a:ext>
            </a:extLst>
          </p:cNvPr>
          <p:cNvSpPr>
            <a:spLocks noGrp="1"/>
          </p:cNvSpPr>
          <p:nvPr>
            <p:ph type="title"/>
          </p:nvPr>
        </p:nvSpPr>
        <p:spPr/>
        <p:txBody>
          <a:bodyPr/>
          <a:lstStyle/>
          <a:p>
            <a:r>
              <a:rPr lang="es-ES" dirty="0" err="1"/>
              <a:t>Openjdk</a:t>
            </a:r>
            <a:r>
              <a:rPr lang="es-ES" dirty="0"/>
              <a:t> 17 </a:t>
            </a:r>
            <a:r>
              <a:rPr lang="es-ES" dirty="0" err="1"/>
              <a:t>Image</a:t>
            </a:r>
            <a:endParaRPr lang="es-PE" dirty="0"/>
          </a:p>
        </p:txBody>
      </p:sp>
      <p:sp>
        <p:nvSpPr>
          <p:cNvPr id="3" name="Marcador de número de diapositiva 2">
            <a:extLst>
              <a:ext uri="{FF2B5EF4-FFF2-40B4-BE49-F238E27FC236}">
                <a16:creationId xmlns:a16="http://schemas.microsoft.com/office/drawing/2014/main" id="{0E2417EC-8187-FFA3-DB28-33D37C21D0FD}"/>
              </a:ext>
            </a:extLst>
          </p:cNvPr>
          <p:cNvSpPr>
            <a:spLocks noGrp="1"/>
          </p:cNvSpPr>
          <p:nvPr>
            <p:ph type="sldNum" idx="12"/>
          </p:nvPr>
        </p:nvSpPr>
        <p:spPr/>
        <p:txBody>
          <a:bodyPr/>
          <a:lstStyle/>
          <a:p>
            <a:fld id="{52A29C8B-5F70-8945-A2A6-FBD7A17156DB}" type="slidenum">
              <a:rPr lang="es-PE" smtClean="0"/>
              <a:pPr/>
              <a:t>11</a:t>
            </a:fld>
            <a:endParaRPr lang="es-PE"/>
          </a:p>
        </p:txBody>
      </p:sp>
      <p:sp>
        <p:nvSpPr>
          <p:cNvPr id="4" name="Marcador de contenido 3">
            <a:extLst>
              <a:ext uri="{FF2B5EF4-FFF2-40B4-BE49-F238E27FC236}">
                <a16:creationId xmlns:a16="http://schemas.microsoft.com/office/drawing/2014/main" id="{B10C89CE-6979-AE77-9F7E-64CB061A1576}"/>
              </a:ext>
            </a:extLst>
          </p:cNvPr>
          <p:cNvSpPr>
            <a:spLocks noGrp="1"/>
          </p:cNvSpPr>
          <p:nvPr>
            <p:ph idx="1"/>
          </p:nvPr>
        </p:nvSpPr>
        <p:spPr/>
        <p:txBody>
          <a:bodyPr/>
          <a:lstStyle/>
          <a:p>
            <a:pPr marL="0" lvl="0" indent="0">
              <a:spcBef>
                <a:spcPts val="0"/>
              </a:spcBef>
              <a:buNone/>
            </a:pPr>
            <a:r>
              <a:rPr lang="es-ES" dirty="0"/>
              <a:t>Observará varios resultados:</a:t>
            </a:r>
          </a:p>
          <a:p>
            <a:pPr marL="0" lvl="0" indent="0">
              <a:spcBef>
                <a:spcPts val="1600"/>
              </a:spcBef>
              <a:spcAft>
                <a:spcPts val="1600"/>
              </a:spcAft>
              <a:buNone/>
            </a:pPr>
            <a:r>
              <a:rPr lang="es-ES" dirty="0"/>
              <a:t>→ copie la </a:t>
            </a:r>
            <a:r>
              <a:rPr lang="es-ES" b="1" dirty="0"/>
              <a:t>imagen </a:t>
            </a:r>
            <a:r>
              <a:rPr lang="es-ES" dirty="0"/>
              <a:t>y </a:t>
            </a:r>
            <a:r>
              <a:rPr lang="es-ES" b="1" dirty="0"/>
              <a:t>su versión</a:t>
            </a:r>
          </a:p>
          <a:p>
            <a:endParaRPr lang="es-PE" dirty="0"/>
          </a:p>
        </p:txBody>
      </p:sp>
      <p:pic>
        <p:nvPicPr>
          <p:cNvPr id="5" name="Imagen 4">
            <a:extLst>
              <a:ext uri="{FF2B5EF4-FFF2-40B4-BE49-F238E27FC236}">
                <a16:creationId xmlns:a16="http://schemas.microsoft.com/office/drawing/2014/main" id="{0E48E09A-B1AF-B2E9-C5D7-1008ECA51FBC}"/>
              </a:ext>
            </a:extLst>
          </p:cNvPr>
          <p:cNvPicPr>
            <a:picLocks noChangeAspect="1"/>
          </p:cNvPicPr>
          <p:nvPr/>
        </p:nvPicPr>
        <p:blipFill>
          <a:blip r:embed="rId2"/>
          <a:stretch>
            <a:fillRect/>
          </a:stretch>
        </p:blipFill>
        <p:spPr>
          <a:xfrm>
            <a:off x="1429304" y="2686586"/>
            <a:ext cx="9490229" cy="2468707"/>
          </a:xfrm>
          <a:prstGeom prst="rect">
            <a:avLst/>
          </a:prstGeom>
        </p:spPr>
      </p:pic>
      <p:sp>
        <p:nvSpPr>
          <p:cNvPr id="6" name="Google Shape;146;p22">
            <a:extLst>
              <a:ext uri="{FF2B5EF4-FFF2-40B4-BE49-F238E27FC236}">
                <a16:creationId xmlns:a16="http://schemas.microsoft.com/office/drawing/2014/main" id="{2AFA3A0E-5B04-A754-043F-C8187D593706}"/>
              </a:ext>
            </a:extLst>
          </p:cNvPr>
          <p:cNvSpPr/>
          <p:nvPr/>
        </p:nvSpPr>
        <p:spPr>
          <a:xfrm>
            <a:off x="8207055" y="2308578"/>
            <a:ext cx="879000" cy="297000"/>
          </a:xfrm>
          <a:prstGeom prst="roundRect">
            <a:avLst>
              <a:gd name="adj" fmla="val 16667"/>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200" dirty="0"/>
              <a:t>imagen</a:t>
            </a:r>
            <a:endParaRPr sz="1200" dirty="0"/>
          </a:p>
        </p:txBody>
      </p:sp>
      <p:sp>
        <p:nvSpPr>
          <p:cNvPr id="7" name="Google Shape;147;p22">
            <a:extLst>
              <a:ext uri="{FF2B5EF4-FFF2-40B4-BE49-F238E27FC236}">
                <a16:creationId xmlns:a16="http://schemas.microsoft.com/office/drawing/2014/main" id="{FB90FA89-578F-1214-7649-E46542D22987}"/>
              </a:ext>
            </a:extLst>
          </p:cNvPr>
          <p:cNvSpPr/>
          <p:nvPr/>
        </p:nvSpPr>
        <p:spPr>
          <a:xfrm>
            <a:off x="9550955" y="2308578"/>
            <a:ext cx="879000" cy="297000"/>
          </a:xfrm>
          <a:prstGeom prst="roundRect">
            <a:avLst>
              <a:gd name="adj" fmla="val 16667"/>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200"/>
              <a:t>versión</a:t>
            </a:r>
            <a:endParaRPr sz="1200"/>
          </a:p>
        </p:txBody>
      </p:sp>
      <p:sp>
        <p:nvSpPr>
          <p:cNvPr id="8" name="Google Shape;148;p22">
            <a:extLst>
              <a:ext uri="{FF2B5EF4-FFF2-40B4-BE49-F238E27FC236}">
                <a16:creationId xmlns:a16="http://schemas.microsoft.com/office/drawing/2014/main" id="{55B83618-B735-44BF-1DFB-7099D61D29BE}"/>
              </a:ext>
            </a:extLst>
          </p:cNvPr>
          <p:cNvSpPr/>
          <p:nvPr/>
        </p:nvSpPr>
        <p:spPr>
          <a:xfrm rot="16200000">
            <a:off x="9574730" y="2684903"/>
            <a:ext cx="151800" cy="651000"/>
          </a:xfrm>
          <a:prstGeom prst="righ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9" name="Google Shape;149;p22">
            <a:extLst>
              <a:ext uri="{FF2B5EF4-FFF2-40B4-BE49-F238E27FC236}">
                <a16:creationId xmlns:a16="http://schemas.microsoft.com/office/drawing/2014/main" id="{A25446E1-222B-CBEF-8CE4-27F7583634D3}"/>
              </a:ext>
            </a:extLst>
          </p:cNvPr>
          <p:cNvSpPr/>
          <p:nvPr/>
        </p:nvSpPr>
        <p:spPr>
          <a:xfrm rot="16200000">
            <a:off x="8959305" y="2759753"/>
            <a:ext cx="151800" cy="501300"/>
          </a:xfrm>
          <a:prstGeom prst="righ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cxnSp>
        <p:nvCxnSpPr>
          <p:cNvPr id="10" name="Google Shape;150;p22">
            <a:extLst>
              <a:ext uri="{FF2B5EF4-FFF2-40B4-BE49-F238E27FC236}">
                <a16:creationId xmlns:a16="http://schemas.microsoft.com/office/drawing/2014/main" id="{38DB7D52-BBCD-609A-BE0F-8116369A523F}"/>
              </a:ext>
            </a:extLst>
          </p:cNvPr>
          <p:cNvCxnSpPr>
            <a:stCxn id="6" idx="2"/>
            <a:endCxn id="9" idx="1"/>
          </p:cNvCxnSpPr>
          <p:nvPr/>
        </p:nvCxnSpPr>
        <p:spPr>
          <a:xfrm>
            <a:off x="8646555" y="2605578"/>
            <a:ext cx="388800" cy="328800"/>
          </a:xfrm>
          <a:prstGeom prst="straightConnector1">
            <a:avLst/>
          </a:prstGeom>
          <a:noFill/>
          <a:ln w="9525" cap="flat" cmpd="sng">
            <a:solidFill>
              <a:srgbClr val="FF0000"/>
            </a:solidFill>
            <a:prstDash val="solid"/>
            <a:round/>
            <a:headEnd type="none" w="med" len="med"/>
            <a:tailEnd type="triangle" w="med" len="med"/>
          </a:ln>
        </p:spPr>
      </p:cxnSp>
      <p:cxnSp>
        <p:nvCxnSpPr>
          <p:cNvPr id="11" name="Google Shape;151;p22">
            <a:extLst>
              <a:ext uri="{FF2B5EF4-FFF2-40B4-BE49-F238E27FC236}">
                <a16:creationId xmlns:a16="http://schemas.microsoft.com/office/drawing/2014/main" id="{81F22378-B3E9-7090-0452-3E16831113CF}"/>
              </a:ext>
            </a:extLst>
          </p:cNvPr>
          <p:cNvCxnSpPr>
            <a:stCxn id="7" idx="2"/>
            <a:endCxn id="8" idx="1"/>
          </p:cNvCxnSpPr>
          <p:nvPr/>
        </p:nvCxnSpPr>
        <p:spPr>
          <a:xfrm flipH="1">
            <a:off x="9650555" y="2605578"/>
            <a:ext cx="339900" cy="328800"/>
          </a:xfrm>
          <a:prstGeom prst="straightConnector1">
            <a:avLst/>
          </a:prstGeom>
          <a:noFill/>
          <a:ln w="9525" cap="flat" cmpd="sng">
            <a:solidFill>
              <a:srgbClr val="FF0000"/>
            </a:solidFill>
            <a:prstDash val="solid"/>
            <a:round/>
            <a:headEnd type="none" w="med" len="med"/>
            <a:tailEnd type="triangle" w="med" len="med"/>
          </a:ln>
        </p:spPr>
      </p:cxnSp>
    </p:spTree>
    <p:extLst>
      <p:ext uri="{BB962C8B-B14F-4D97-AF65-F5344CB8AC3E}">
        <p14:creationId xmlns:p14="http://schemas.microsoft.com/office/powerpoint/2010/main" val="2023841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47D8E-29AA-2540-907A-A783719C1E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32798D-A74A-48D5-2DC6-2929DD80925F}"/>
              </a:ext>
            </a:extLst>
          </p:cNvPr>
          <p:cNvSpPr>
            <a:spLocks noGrp="1"/>
          </p:cNvSpPr>
          <p:nvPr>
            <p:ph type="title"/>
          </p:nvPr>
        </p:nvSpPr>
        <p:spPr/>
        <p:txBody>
          <a:bodyPr/>
          <a:lstStyle/>
          <a:p>
            <a:r>
              <a:rPr lang="es-ES" dirty="0" err="1"/>
              <a:t>Dockerfile</a:t>
            </a:r>
            <a:endParaRPr lang="es-PE" dirty="0"/>
          </a:p>
        </p:txBody>
      </p:sp>
      <p:sp>
        <p:nvSpPr>
          <p:cNvPr id="3" name="Marcador de número de diapositiva 2">
            <a:extLst>
              <a:ext uri="{FF2B5EF4-FFF2-40B4-BE49-F238E27FC236}">
                <a16:creationId xmlns:a16="http://schemas.microsoft.com/office/drawing/2014/main" id="{8A24CC6B-0FE9-A5F9-8DD2-49A13BFCA688}"/>
              </a:ext>
            </a:extLst>
          </p:cNvPr>
          <p:cNvSpPr>
            <a:spLocks noGrp="1"/>
          </p:cNvSpPr>
          <p:nvPr>
            <p:ph type="sldNum" idx="12"/>
          </p:nvPr>
        </p:nvSpPr>
        <p:spPr/>
        <p:txBody>
          <a:bodyPr/>
          <a:lstStyle/>
          <a:p>
            <a:fld id="{52A29C8B-5F70-8945-A2A6-FBD7A17156DB}" type="slidenum">
              <a:rPr lang="es-PE" smtClean="0"/>
              <a:pPr/>
              <a:t>12</a:t>
            </a:fld>
            <a:endParaRPr lang="es-PE"/>
          </a:p>
        </p:txBody>
      </p:sp>
      <p:sp>
        <p:nvSpPr>
          <p:cNvPr id="4" name="Marcador de contenido 3">
            <a:extLst>
              <a:ext uri="{FF2B5EF4-FFF2-40B4-BE49-F238E27FC236}">
                <a16:creationId xmlns:a16="http://schemas.microsoft.com/office/drawing/2014/main" id="{CF5B7987-00B5-4791-F1EB-67A527B1CEB8}"/>
              </a:ext>
            </a:extLst>
          </p:cNvPr>
          <p:cNvSpPr>
            <a:spLocks noGrp="1"/>
          </p:cNvSpPr>
          <p:nvPr>
            <p:ph idx="1"/>
          </p:nvPr>
        </p:nvSpPr>
        <p:spPr>
          <a:xfrm>
            <a:off x="839788" y="1311648"/>
            <a:ext cx="4637647" cy="3843645"/>
          </a:xfrm>
        </p:spPr>
        <p:txBody>
          <a:bodyPr>
            <a:normAutofit fontScale="85000" lnSpcReduction="10000"/>
          </a:bodyPr>
          <a:lstStyle/>
          <a:p>
            <a:pPr marL="0" lvl="0" indent="0">
              <a:spcBef>
                <a:spcPts val="0"/>
              </a:spcBef>
              <a:buNone/>
            </a:pPr>
            <a:r>
              <a:rPr lang="es-ES" dirty="0"/>
              <a:t>En su archivo </a:t>
            </a:r>
            <a:r>
              <a:rPr lang="es-ES" dirty="0" err="1"/>
              <a:t>Dockerfile</a:t>
            </a:r>
            <a:r>
              <a:rPr lang="es-ES" dirty="0"/>
              <a:t>, comience indicando la imagen base, utilizando la sentencia </a:t>
            </a:r>
            <a:r>
              <a:rPr lang="es-ES" b="1" dirty="0"/>
              <a:t>FROM</a:t>
            </a:r>
            <a:r>
              <a:rPr lang="es-ES" dirty="0"/>
              <a:t>.</a:t>
            </a:r>
          </a:p>
          <a:p>
            <a:pPr marL="0" lvl="0" indent="0">
              <a:spcBef>
                <a:spcPts val="1600"/>
              </a:spcBef>
              <a:buNone/>
            </a:pPr>
            <a:endParaRPr lang="es-ES" dirty="0"/>
          </a:p>
          <a:p>
            <a:pPr marL="0" lvl="0" indent="0">
              <a:spcBef>
                <a:spcPts val="1600"/>
              </a:spcBef>
              <a:buNone/>
            </a:pPr>
            <a:endParaRPr lang="es-ES" dirty="0"/>
          </a:p>
          <a:p>
            <a:pPr marL="0" lvl="0" indent="0">
              <a:spcBef>
                <a:spcPts val="1600"/>
              </a:spcBef>
              <a:spcAft>
                <a:spcPts val="1600"/>
              </a:spcAft>
              <a:buNone/>
            </a:pPr>
            <a:r>
              <a:rPr lang="es-ES" dirty="0"/>
              <a:t>Luego, cada vez que apaga un contenedor y lo vuelve a prender, los archivos creados son borrados y no tienen persistencia. Se puede definir un directorio que no se borre aún cuando se apague y prenda el contenedor. Se realiza con </a:t>
            </a:r>
            <a:r>
              <a:rPr lang="es-ES" b="1" dirty="0"/>
              <a:t>VOLUME</a:t>
            </a:r>
            <a:r>
              <a:rPr lang="es-ES" dirty="0"/>
              <a:t>.</a:t>
            </a:r>
          </a:p>
          <a:p>
            <a:endParaRPr lang="es-PE" dirty="0"/>
          </a:p>
        </p:txBody>
      </p:sp>
      <p:pic>
        <p:nvPicPr>
          <p:cNvPr id="5" name="Imagen 4">
            <a:extLst>
              <a:ext uri="{FF2B5EF4-FFF2-40B4-BE49-F238E27FC236}">
                <a16:creationId xmlns:a16="http://schemas.microsoft.com/office/drawing/2014/main" id="{207B09D2-C311-7E8C-B8EF-F78C1C49E272}"/>
              </a:ext>
            </a:extLst>
          </p:cNvPr>
          <p:cNvPicPr>
            <a:picLocks noChangeAspect="1"/>
          </p:cNvPicPr>
          <p:nvPr/>
        </p:nvPicPr>
        <p:blipFill>
          <a:blip r:embed="rId2"/>
          <a:stretch>
            <a:fillRect/>
          </a:stretch>
        </p:blipFill>
        <p:spPr>
          <a:xfrm>
            <a:off x="6248399" y="1647809"/>
            <a:ext cx="4029075" cy="1066800"/>
          </a:xfrm>
          <a:prstGeom prst="rect">
            <a:avLst/>
          </a:prstGeom>
        </p:spPr>
      </p:pic>
      <p:pic>
        <p:nvPicPr>
          <p:cNvPr id="6" name="Imagen 5">
            <a:extLst>
              <a:ext uri="{FF2B5EF4-FFF2-40B4-BE49-F238E27FC236}">
                <a16:creationId xmlns:a16="http://schemas.microsoft.com/office/drawing/2014/main" id="{A366F1D8-5C22-D2D6-7464-A5F7465024C4}"/>
              </a:ext>
            </a:extLst>
          </p:cNvPr>
          <p:cNvPicPr>
            <a:picLocks noChangeAspect="1"/>
          </p:cNvPicPr>
          <p:nvPr/>
        </p:nvPicPr>
        <p:blipFill>
          <a:blip r:embed="rId3"/>
          <a:stretch>
            <a:fillRect/>
          </a:stretch>
        </p:blipFill>
        <p:spPr>
          <a:xfrm>
            <a:off x="6296023" y="3623291"/>
            <a:ext cx="4067175" cy="1190625"/>
          </a:xfrm>
          <a:prstGeom prst="rect">
            <a:avLst/>
          </a:prstGeom>
        </p:spPr>
      </p:pic>
    </p:spTree>
    <p:extLst>
      <p:ext uri="{BB962C8B-B14F-4D97-AF65-F5344CB8AC3E}">
        <p14:creationId xmlns:p14="http://schemas.microsoft.com/office/powerpoint/2010/main" val="50572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3B3B1-DDBF-B1CD-B9D1-7F5B42412A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9FFCFD-B242-7D66-1D07-68DB94ECFAAD}"/>
              </a:ext>
            </a:extLst>
          </p:cNvPr>
          <p:cNvSpPr>
            <a:spLocks noGrp="1"/>
          </p:cNvSpPr>
          <p:nvPr>
            <p:ph type="title"/>
          </p:nvPr>
        </p:nvSpPr>
        <p:spPr/>
        <p:txBody>
          <a:bodyPr/>
          <a:lstStyle/>
          <a:p>
            <a:r>
              <a:rPr lang="es-ES" dirty="0" err="1"/>
              <a:t>Dockerfile</a:t>
            </a:r>
            <a:endParaRPr lang="es-PE" dirty="0"/>
          </a:p>
        </p:txBody>
      </p:sp>
      <p:sp>
        <p:nvSpPr>
          <p:cNvPr id="3" name="Marcador de número de diapositiva 2">
            <a:extLst>
              <a:ext uri="{FF2B5EF4-FFF2-40B4-BE49-F238E27FC236}">
                <a16:creationId xmlns:a16="http://schemas.microsoft.com/office/drawing/2014/main" id="{F8676D11-E13C-D839-BE7A-06A44901625F}"/>
              </a:ext>
            </a:extLst>
          </p:cNvPr>
          <p:cNvSpPr>
            <a:spLocks noGrp="1"/>
          </p:cNvSpPr>
          <p:nvPr>
            <p:ph type="sldNum" idx="12"/>
          </p:nvPr>
        </p:nvSpPr>
        <p:spPr/>
        <p:txBody>
          <a:bodyPr/>
          <a:lstStyle/>
          <a:p>
            <a:fld id="{52A29C8B-5F70-8945-A2A6-FBD7A17156DB}" type="slidenum">
              <a:rPr lang="es-PE" smtClean="0"/>
              <a:pPr/>
              <a:t>13</a:t>
            </a:fld>
            <a:endParaRPr lang="es-PE"/>
          </a:p>
        </p:txBody>
      </p:sp>
      <p:sp>
        <p:nvSpPr>
          <p:cNvPr id="4" name="Marcador de contenido 3">
            <a:extLst>
              <a:ext uri="{FF2B5EF4-FFF2-40B4-BE49-F238E27FC236}">
                <a16:creationId xmlns:a16="http://schemas.microsoft.com/office/drawing/2014/main" id="{FF5687D0-2CA5-E60C-4B09-CE4ED0E3946D}"/>
              </a:ext>
            </a:extLst>
          </p:cNvPr>
          <p:cNvSpPr>
            <a:spLocks noGrp="1"/>
          </p:cNvSpPr>
          <p:nvPr>
            <p:ph idx="1"/>
          </p:nvPr>
        </p:nvSpPr>
        <p:spPr/>
        <p:txBody>
          <a:bodyPr>
            <a:normAutofit/>
          </a:bodyPr>
          <a:lstStyle/>
          <a:p>
            <a:r>
              <a:rPr lang="es-ES" sz="1800" dirty="0"/>
              <a:t>A continuación, se debe indicar qué puerto estará expuesto en el contenedor con </a:t>
            </a:r>
            <a:r>
              <a:rPr lang="es-ES" sz="1800" b="1" dirty="0"/>
              <a:t>EXPOSE</a:t>
            </a:r>
            <a:r>
              <a:rPr lang="es-ES" sz="1800" dirty="0"/>
              <a:t>. En este caso, la aplicación funciona en el </a:t>
            </a:r>
            <a:r>
              <a:rPr lang="es-ES" sz="1800" b="1" dirty="0"/>
              <a:t>8080</a:t>
            </a:r>
            <a:r>
              <a:rPr lang="es-ES" sz="1800" dirty="0"/>
              <a:t>.</a:t>
            </a:r>
          </a:p>
          <a:p>
            <a:endParaRPr lang="es-ES" sz="1800" dirty="0"/>
          </a:p>
          <a:p>
            <a:endParaRPr lang="es-ES" sz="1800" dirty="0"/>
          </a:p>
          <a:p>
            <a:r>
              <a:rPr lang="es-ES" sz="1800" dirty="0">
                <a:latin typeface="Open Sans"/>
                <a:ea typeface="Open Sans"/>
                <a:cs typeface="Open Sans"/>
                <a:sym typeface="Open Sans"/>
              </a:rPr>
              <a:t>Luego, debemos agregar nuestro archivo </a:t>
            </a:r>
            <a:r>
              <a:rPr lang="es-ES" sz="1800" b="1" dirty="0">
                <a:latin typeface="Open Sans"/>
                <a:ea typeface="Open Sans"/>
                <a:cs typeface="Open Sans"/>
                <a:sym typeface="Open Sans"/>
              </a:rPr>
              <a:t>.</a:t>
            </a:r>
            <a:r>
              <a:rPr lang="es-ES" sz="1800" b="1" dirty="0" err="1">
                <a:latin typeface="Open Sans"/>
                <a:ea typeface="Open Sans"/>
                <a:cs typeface="Open Sans"/>
                <a:sym typeface="Open Sans"/>
              </a:rPr>
              <a:t>jar</a:t>
            </a:r>
            <a:r>
              <a:rPr lang="es-ES" sz="1800" dirty="0">
                <a:latin typeface="Open Sans"/>
                <a:ea typeface="Open Sans"/>
                <a:cs typeface="Open Sans"/>
                <a:sym typeface="Open Sans"/>
              </a:rPr>
              <a:t> del proyecto al directorio local del contenedor. Esto se logra con </a:t>
            </a:r>
            <a:r>
              <a:rPr lang="es-ES" sz="1800" b="1" dirty="0">
                <a:latin typeface="Open Sans"/>
                <a:ea typeface="Open Sans"/>
                <a:cs typeface="Open Sans"/>
                <a:sym typeface="Open Sans"/>
              </a:rPr>
              <a:t>ADD &lt;</a:t>
            </a:r>
            <a:r>
              <a:rPr lang="es-ES" sz="1800" b="1" dirty="0" err="1">
                <a:latin typeface="Open Sans"/>
                <a:ea typeface="Open Sans"/>
                <a:cs typeface="Open Sans"/>
                <a:sym typeface="Open Sans"/>
              </a:rPr>
              <a:t>src</a:t>
            </a:r>
            <a:r>
              <a:rPr lang="es-ES" sz="1800" b="1" dirty="0">
                <a:latin typeface="Open Sans"/>
                <a:ea typeface="Open Sans"/>
                <a:cs typeface="Open Sans"/>
                <a:sym typeface="Open Sans"/>
              </a:rPr>
              <a:t>&gt; &lt;</a:t>
            </a:r>
            <a:r>
              <a:rPr lang="es-ES" sz="1800" b="1" dirty="0" err="1">
                <a:latin typeface="Open Sans"/>
                <a:ea typeface="Open Sans"/>
                <a:cs typeface="Open Sans"/>
                <a:sym typeface="Open Sans"/>
              </a:rPr>
              <a:t>dst</a:t>
            </a:r>
            <a:r>
              <a:rPr lang="es-ES" sz="1800" b="1" dirty="0">
                <a:latin typeface="Open Sans"/>
                <a:ea typeface="Open Sans"/>
                <a:cs typeface="Open Sans"/>
                <a:sym typeface="Open Sans"/>
              </a:rPr>
              <a:t>&gt;</a:t>
            </a:r>
            <a:r>
              <a:rPr lang="es-ES" sz="1800" dirty="0">
                <a:latin typeface="Open Sans"/>
                <a:ea typeface="Open Sans"/>
                <a:cs typeface="Open Sans"/>
                <a:sym typeface="Open Sans"/>
              </a:rPr>
              <a:t>.</a:t>
            </a:r>
          </a:p>
          <a:p>
            <a:endParaRPr lang="es-ES" sz="1800" dirty="0">
              <a:latin typeface="Open Sans"/>
              <a:ea typeface="Open Sans"/>
              <a:cs typeface="Open Sans"/>
              <a:sym typeface="Open Sans"/>
            </a:endParaRPr>
          </a:p>
          <a:p>
            <a:endParaRPr lang="es-ES" sz="1800" dirty="0">
              <a:latin typeface="Open Sans"/>
              <a:ea typeface="Open Sans"/>
              <a:cs typeface="Open Sans"/>
              <a:sym typeface="Open Sans"/>
            </a:endParaRPr>
          </a:p>
          <a:p>
            <a:endParaRPr lang="es-ES" sz="1800" dirty="0"/>
          </a:p>
          <a:p>
            <a:r>
              <a:rPr lang="es-ES" sz="1800" dirty="0">
                <a:latin typeface="Open Sans"/>
                <a:ea typeface="Open Sans"/>
                <a:cs typeface="Open Sans"/>
                <a:sym typeface="Open Sans"/>
              </a:rPr>
              <a:t>Aquí estamos cambiando el nombre del archivo a </a:t>
            </a:r>
            <a:r>
              <a:rPr lang="es-ES" sz="1800" b="1" dirty="0">
                <a:latin typeface="Open Sans"/>
                <a:ea typeface="Open Sans"/>
                <a:cs typeface="Open Sans"/>
                <a:sym typeface="Open Sans"/>
              </a:rPr>
              <a:t>clase8.jar</a:t>
            </a:r>
          </a:p>
          <a:p>
            <a:endParaRPr lang="es-PE" sz="1800" dirty="0"/>
          </a:p>
        </p:txBody>
      </p:sp>
      <p:pic>
        <p:nvPicPr>
          <p:cNvPr id="5" name="Imagen 4">
            <a:extLst>
              <a:ext uri="{FF2B5EF4-FFF2-40B4-BE49-F238E27FC236}">
                <a16:creationId xmlns:a16="http://schemas.microsoft.com/office/drawing/2014/main" id="{80E61140-B6A1-4BC0-EC64-1C32E97047BE}"/>
              </a:ext>
            </a:extLst>
          </p:cNvPr>
          <p:cNvPicPr>
            <a:picLocks noChangeAspect="1"/>
          </p:cNvPicPr>
          <p:nvPr/>
        </p:nvPicPr>
        <p:blipFill>
          <a:blip r:embed="rId2"/>
          <a:stretch>
            <a:fillRect/>
          </a:stretch>
        </p:blipFill>
        <p:spPr>
          <a:xfrm>
            <a:off x="6265918" y="1790862"/>
            <a:ext cx="2238612" cy="812098"/>
          </a:xfrm>
          <a:prstGeom prst="rect">
            <a:avLst/>
          </a:prstGeom>
        </p:spPr>
      </p:pic>
      <p:pic>
        <p:nvPicPr>
          <p:cNvPr id="6" name="Imagen 5">
            <a:extLst>
              <a:ext uri="{FF2B5EF4-FFF2-40B4-BE49-F238E27FC236}">
                <a16:creationId xmlns:a16="http://schemas.microsoft.com/office/drawing/2014/main" id="{FB87C36C-83C8-D5F1-C20A-7A9496BF1FBD}"/>
              </a:ext>
            </a:extLst>
          </p:cNvPr>
          <p:cNvPicPr>
            <a:picLocks noChangeAspect="1"/>
          </p:cNvPicPr>
          <p:nvPr/>
        </p:nvPicPr>
        <p:blipFill>
          <a:blip r:embed="rId3"/>
          <a:stretch>
            <a:fillRect/>
          </a:stretch>
        </p:blipFill>
        <p:spPr>
          <a:xfrm>
            <a:off x="3705549" y="3429000"/>
            <a:ext cx="3762051" cy="1054591"/>
          </a:xfrm>
          <a:prstGeom prst="rect">
            <a:avLst/>
          </a:prstGeom>
        </p:spPr>
      </p:pic>
    </p:spTree>
    <p:extLst>
      <p:ext uri="{BB962C8B-B14F-4D97-AF65-F5344CB8AC3E}">
        <p14:creationId xmlns:p14="http://schemas.microsoft.com/office/powerpoint/2010/main" val="53618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6BE5E-A255-3566-2B0B-AD25931F85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8E1A06-9252-38FA-6FBD-2710FDF06854}"/>
              </a:ext>
            </a:extLst>
          </p:cNvPr>
          <p:cNvSpPr>
            <a:spLocks noGrp="1"/>
          </p:cNvSpPr>
          <p:nvPr>
            <p:ph type="title"/>
          </p:nvPr>
        </p:nvSpPr>
        <p:spPr/>
        <p:txBody>
          <a:bodyPr/>
          <a:lstStyle/>
          <a:p>
            <a:r>
              <a:rPr lang="es-ES" dirty="0" err="1"/>
              <a:t>Dockerfile</a:t>
            </a:r>
            <a:endParaRPr lang="es-PE" dirty="0"/>
          </a:p>
        </p:txBody>
      </p:sp>
      <p:sp>
        <p:nvSpPr>
          <p:cNvPr id="3" name="Marcador de número de diapositiva 2">
            <a:extLst>
              <a:ext uri="{FF2B5EF4-FFF2-40B4-BE49-F238E27FC236}">
                <a16:creationId xmlns:a16="http://schemas.microsoft.com/office/drawing/2014/main" id="{277D9279-0C6F-84FA-8ED6-CF775A4EB797}"/>
              </a:ext>
            </a:extLst>
          </p:cNvPr>
          <p:cNvSpPr>
            <a:spLocks noGrp="1"/>
          </p:cNvSpPr>
          <p:nvPr>
            <p:ph type="sldNum" idx="12"/>
          </p:nvPr>
        </p:nvSpPr>
        <p:spPr/>
        <p:txBody>
          <a:bodyPr/>
          <a:lstStyle/>
          <a:p>
            <a:fld id="{52A29C8B-5F70-8945-A2A6-FBD7A17156DB}" type="slidenum">
              <a:rPr lang="es-PE" smtClean="0"/>
              <a:pPr/>
              <a:t>14</a:t>
            </a:fld>
            <a:endParaRPr lang="es-PE"/>
          </a:p>
        </p:txBody>
      </p:sp>
      <p:sp>
        <p:nvSpPr>
          <p:cNvPr id="4" name="Marcador de contenido 3">
            <a:extLst>
              <a:ext uri="{FF2B5EF4-FFF2-40B4-BE49-F238E27FC236}">
                <a16:creationId xmlns:a16="http://schemas.microsoft.com/office/drawing/2014/main" id="{E8CE7F00-5E09-AFCD-61CB-5520B8F19066}"/>
              </a:ext>
            </a:extLst>
          </p:cNvPr>
          <p:cNvSpPr>
            <a:spLocks noGrp="1"/>
          </p:cNvSpPr>
          <p:nvPr>
            <p:ph idx="1"/>
          </p:nvPr>
        </p:nvSpPr>
        <p:spPr/>
        <p:txBody>
          <a:bodyPr>
            <a:normAutofit/>
          </a:bodyPr>
          <a:lstStyle/>
          <a:p>
            <a:pPr marL="0" lvl="0" indent="0">
              <a:spcBef>
                <a:spcPts val="0"/>
              </a:spcBef>
              <a:buNone/>
            </a:pPr>
            <a:r>
              <a:rPr lang="es-ES" sz="1800" dirty="0"/>
              <a:t>Finalmente, debemos indicar a manera de arreglo los comandos usados para correr la aplicación, usando </a:t>
            </a:r>
            <a:r>
              <a:rPr lang="es-ES" sz="1800" b="1" dirty="0"/>
              <a:t>ENTRYPOINT</a:t>
            </a:r>
            <a:r>
              <a:rPr lang="es-ES" sz="1800" dirty="0"/>
              <a:t>.</a:t>
            </a:r>
          </a:p>
          <a:p>
            <a:pPr marL="0" lvl="0" indent="0">
              <a:spcBef>
                <a:spcPts val="1600"/>
              </a:spcBef>
              <a:buNone/>
            </a:pPr>
            <a:r>
              <a:rPr lang="es-ES" sz="1800" dirty="0"/>
              <a:t>Si para correr la aplicación se usaba: </a:t>
            </a:r>
            <a:r>
              <a:rPr lang="es-ES" sz="1800" b="1" dirty="0">
                <a:latin typeface="Source Code Pro"/>
                <a:ea typeface="Source Code Pro"/>
                <a:cs typeface="Source Code Pro"/>
                <a:sym typeface="Source Code Pro"/>
              </a:rPr>
              <a:t>java -</a:t>
            </a:r>
            <a:r>
              <a:rPr lang="es-ES" sz="1800" b="1" dirty="0" err="1">
                <a:latin typeface="Source Code Pro"/>
                <a:ea typeface="Source Code Pro"/>
                <a:cs typeface="Source Code Pro"/>
                <a:sym typeface="Source Code Pro"/>
              </a:rPr>
              <a:t>jar</a:t>
            </a:r>
            <a:r>
              <a:rPr lang="es-ES" sz="1800" b="1" dirty="0">
                <a:latin typeface="Source Code Pro"/>
                <a:ea typeface="Source Code Pro"/>
                <a:cs typeface="Source Code Pro"/>
                <a:sym typeface="Source Code Pro"/>
              </a:rPr>
              <a:t> app.jar</a:t>
            </a:r>
          </a:p>
          <a:p>
            <a:pPr marL="0" lvl="0" indent="0">
              <a:spcBef>
                <a:spcPts val="1600"/>
              </a:spcBef>
              <a:spcAft>
                <a:spcPts val="1600"/>
              </a:spcAft>
              <a:buNone/>
            </a:pPr>
            <a:r>
              <a:rPr lang="es-ES" sz="1800" dirty="0"/>
              <a:t>→ Entonces en forma de arreglo </a:t>
            </a:r>
            <a:r>
              <a:rPr lang="es-ES" sz="1800" b="1" dirty="0">
                <a:latin typeface="Source Code Pro"/>
                <a:ea typeface="Source Code Pro"/>
                <a:cs typeface="Source Code Pro"/>
                <a:sym typeface="Source Code Pro"/>
              </a:rPr>
              <a:t>["java","-</a:t>
            </a:r>
            <a:r>
              <a:rPr lang="es-ES" sz="1800" b="1" dirty="0" err="1">
                <a:latin typeface="Source Code Pro"/>
                <a:ea typeface="Source Code Pro"/>
                <a:cs typeface="Source Code Pro"/>
                <a:sym typeface="Source Code Pro"/>
              </a:rPr>
              <a:t>jar</a:t>
            </a:r>
            <a:r>
              <a:rPr lang="es-ES" sz="1800" b="1" dirty="0">
                <a:latin typeface="Source Code Pro"/>
                <a:ea typeface="Source Code Pro"/>
                <a:cs typeface="Source Code Pro"/>
                <a:sym typeface="Source Code Pro"/>
              </a:rPr>
              <a:t>","app.jar"]</a:t>
            </a:r>
          </a:p>
          <a:p>
            <a:endParaRPr lang="es-PE" sz="1800" dirty="0"/>
          </a:p>
        </p:txBody>
      </p:sp>
      <p:cxnSp>
        <p:nvCxnSpPr>
          <p:cNvPr id="5" name="Google Shape;179;p25">
            <a:extLst>
              <a:ext uri="{FF2B5EF4-FFF2-40B4-BE49-F238E27FC236}">
                <a16:creationId xmlns:a16="http://schemas.microsoft.com/office/drawing/2014/main" id="{8B781FA0-AD46-F36D-B0CE-8C886DD4B6FD}"/>
              </a:ext>
            </a:extLst>
          </p:cNvPr>
          <p:cNvCxnSpPr/>
          <p:nvPr/>
        </p:nvCxnSpPr>
        <p:spPr>
          <a:xfrm flipH="1">
            <a:off x="4853278" y="2247347"/>
            <a:ext cx="74400" cy="297000"/>
          </a:xfrm>
          <a:prstGeom prst="straightConnector1">
            <a:avLst/>
          </a:prstGeom>
          <a:noFill/>
          <a:ln w="9525" cap="flat" cmpd="sng">
            <a:solidFill>
              <a:srgbClr val="FF0000"/>
            </a:solidFill>
            <a:prstDash val="solid"/>
            <a:round/>
            <a:headEnd type="none" w="med" len="med"/>
            <a:tailEnd type="triangle" w="med" len="med"/>
          </a:ln>
        </p:spPr>
      </p:cxnSp>
      <p:cxnSp>
        <p:nvCxnSpPr>
          <p:cNvPr id="6" name="Google Shape;180;p25">
            <a:extLst>
              <a:ext uri="{FF2B5EF4-FFF2-40B4-BE49-F238E27FC236}">
                <a16:creationId xmlns:a16="http://schemas.microsoft.com/office/drawing/2014/main" id="{89DB86E1-8EA3-2221-01C5-8FE2653C1A0A}"/>
              </a:ext>
            </a:extLst>
          </p:cNvPr>
          <p:cNvCxnSpPr/>
          <p:nvPr/>
        </p:nvCxnSpPr>
        <p:spPr>
          <a:xfrm>
            <a:off x="5754753" y="2241022"/>
            <a:ext cx="45600" cy="286500"/>
          </a:xfrm>
          <a:prstGeom prst="straightConnector1">
            <a:avLst/>
          </a:prstGeom>
          <a:noFill/>
          <a:ln w="9525" cap="flat" cmpd="sng">
            <a:solidFill>
              <a:srgbClr val="FF0000"/>
            </a:solidFill>
            <a:prstDash val="solid"/>
            <a:round/>
            <a:headEnd type="none" w="med" len="med"/>
            <a:tailEnd type="triangle" w="med" len="med"/>
          </a:ln>
        </p:spPr>
      </p:cxnSp>
      <p:cxnSp>
        <p:nvCxnSpPr>
          <p:cNvPr id="7" name="Google Shape;181;p25">
            <a:extLst>
              <a:ext uri="{FF2B5EF4-FFF2-40B4-BE49-F238E27FC236}">
                <a16:creationId xmlns:a16="http://schemas.microsoft.com/office/drawing/2014/main" id="{C28BF21F-09C5-33C9-B2F6-844B5FBBB562}"/>
              </a:ext>
            </a:extLst>
          </p:cNvPr>
          <p:cNvCxnSpPr/>
          <p:nvPr/>
        </p:nvCxnSpPr>
        <p:spPr>
          <a:xfrm>
            <a:off x="6611228" y="2261297"/>
            <a:ext cx="324900" cy="269100"/>
          </a:xfrm>
          <a:prstGeom prst="straightConnector1">
            <a:avLst/>
          </a:prstGeom>
          <a:noFill/>
          <a:ln w="9525" cap="flat" cmpd="sng">
            <a:solidFill>
              <a:srgbClr val="FF0000"/>
            </a:solidFill>
            <a:prstDash val="solid"/>
            <a:round/>
            <a:headEnd type="none" w="med" len="med"/>
            <a:tailEnd type="triangle" w="med" len="med"/>
          </a:ln>
        </p:spPr>
      </p:cxnSp>
      <p:pic>
        <p:nvPicPr>
          <p:cNvPr id="8" name="Imagen 7">
            <a:extLst>
              <a:ext uri="{FF2B5EF4-FFF2-40B4-BE49-F238E27FC236}">
                <a16:creationId xmlns:a16="http://schemas.microsoft.com/office/drawing/2014/main" id="{B9CF1C7B-77B2-E398-C38D-C4DB4BA25F87}"/>
              </a:ext>
            </a:extLst>
          </p:cNvPr>
          <p:cNvPicPr>
            <a:picLocks noChangeAspect="1"/>
          </p:cNvPicPr>
          <p:nvPr/>
        </p:nvPicPr>
        <p:blipFill>
          <a:blip r:embed="rId2"/>
          <a:stretch>
            <a:fillRect/>
          </a:stretch>
        </p:blipFill>
        <p:spPr>
          <a:xfrm>
            <a:off x="2329702" y="3249618"/>
            <a:ext cx="7296150" cy="2143125"/>
          </a:xfrm>
          <a:prstGeom prst="rect">
            <a:avLst/>
          </a:prstGeom>
        </p:spPr>
      </p:pic>
    </p:spTree>
    <p:extLst>
      <p:ext uri="{BB962C8B-B14F-4D97-AF65-F5344CB8AC3E}">
        <p14:creationId xmlns:p14="http://schemas.microsoft.com/office/powerpoint/2010/main" val="2790982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86A7B-0FC5-54D0-F3B6-57D0C62852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418603-E9AE-E3AB-387E-8CD0809903FB}"/>
              </a:ext>
            </a:extLst>
          </p:cNvPr>
          <p:cNvSpPr>
            <a:spLocks noGrp="1"/>
          </p:cNvSpPr>
          <p:nvPr>
            <p:ph type="title"/>
          </p:nvPr>
        </p:nvSpPr>
        <p:spPr/>
        <p:txBody>
          <a:bodyPr/>
          <a:lstStyle/>
          <a:p>
            <a:r>
              <a:rPr lang="es-ES" dirty="0"/>
              <a:t>Docker </a:t>
            </a:r>
            <a:r>
              <a:rPr lang="es-ES" dirty="0" err="1"/>
              <a:t>build</a:t>
            </a:r>
            <a:endParaRPr lang="es-PE" dirty="0"/>
          </a:p>
        </p:txBody>
      </p:sp>
      <p:sp>
        <p:nvSpPr>
          <p:cNvPr id="3" name="Marcador de número de diapositiva 2">
            <a:extLst>
              <a:ext uri="{FF2B5EF4-FFF2-40B4-BE49-F238E27FC236}">
                <a16:creationId xmlns:a16="http://schemas.microsoft.com/office/drawing/2014/main" id="{84B2F1D6-D0FA-CB4A-E572-03762399CBE3}"/>
              </a:ext>
            </a:extLst>
          </p:cNvPr>
          <p:cNvSpPr>
            <a:spLocks noGrp="1"/>
          </p:cNvSpPr>
          <p:nvPr>
            <p:ph type="sldNum" idx="12"/>
          </p:nvPr>
        </p:nvSpPr>
        <p:spPr/>
        <p:txBody>
          <a:bodyPr/>
          <a:lstStyle/>
          <a:p>
            <a:fld id="{52A29C8B-5F70-8945-A2A6-FBD7A17156DB}" type="slidenum">
              <a:rPr lang="es-PE" smtClean="0"/>
              <a:pPr/>
              <a:t>15</a:t>
            </a:fld>
            <a:endParaRPr lang="es-PE"/>
          </a:p>
        </p:txBody>
      </p:sp>
      <p:sp>
        <p:nvSpPr>
          <p:cNvPr id="4" name="Marcador de contenido 3">
            <a:extLst>
              <a:ext uri="{FF2B5EF4-FFF2-40B4-BE49-F238E27FC236}">
                <a16:creationId xmlns:a16="http://schemas.microsoft.com/office/drawing/2014/main" id="{A786F391-65F0-3E4B-7E03-9B86B6C5BC69}"/>
              </a:ext>
            </a:extLst>
          </p:cNvPr>
          <p:cNvSpPr>
            <a:spLocks noGrp="1"/>
          </p:cNvSpPr>
          <p:nvPr>
            <p:ph idx="1"/>
          </p:nvPr>
        </p:nvSpPr>
        <p:spPr/>
        <p:txBody>
          <a:bodyPr>
            <a:normAutofit/>
          </a:bodyPr>
          <a:lstStyle/>
          <a:p>
            <a:r>
              <a:rPr lang="es-ES" sz="2000" dirty="0"/>
              <a:t>Creamos nuestra imagen en base al </a:t>
            </a:r>
            <a:r>
              <a:rPr lang="es-ES" sz="2000" dirty="0" err="1"/>
              <a:t>Dockerfile</a:t>
            </a:r>
            <a:r>
              <a:rPr lang="es-ES" sz="2000" dirty="0"/>
              <a:t> (nos ubicamos en la misma carpeta del </a:t>
            </a:r>
            <a:r>
              <a:rPr lang="es-ES" sz="2000" dirty="0" err="1"/>
              <a:t>Dockerfile</a:t>
            </a:r>
            <a:r>
              <a:rPr lang="es-ES" sz="2000" dirty="0"/>
              <a:t>):</a:t>
            </a:r>
          </a:p>
          <a:p>
            <a:r>
              <a:rPr lang="en-US" sz="2000" b="1" dirty="0">
                <a:solidFill>
                  <a:schemeClr val="lt1"/>
                </a:solidFill>
                <a:highlight>
                  <a:srgbClr val="2B2B2B"/>
                </a:highlight>
                <a:latin typeface="Source Code Pro"/>
                <a:ea typeface="Source Code Pro"/>
                <a:cs typeface="Source Code Pro"/>
                <a:sym typeface="Source Code Pro"/>
              </a:rPr>
              <a:t>docker build -t clase8:v1 .</a:t>
            </a:r>
            <a:endParaRPr lang="en-US" sz="2000" dirty="0"/>
          </a:p>
          <a:p>
            <a:endParaRPr lang="es-PE" sz="2000" dirty="0"/>
          </a:p>
        </p:txBody>
      </p:sp>
      <p:pic>
        <p:nvPicPr>
          <p:cNvPr id="5" name="Imagen 4">
            <a:extLst>
              <a:ext uri="{FF2B5EF4-FFF2-40B4-BE49-F238E27FC236}">
                <a16:creationId xmlns:a16="http://schemas.microsoft.com/office/drawing/2014/main" id="{2D10039A-00CD-95D7-6104-34535C073535}"/>
              </a:ext>
            </a:extLst>
          </p:cNvPr>
          <p:cNvPicPr>
            <a:picLocks noChangeAspect="1"/>
          </p:cNvPicPr>
          <p:nvPr/>
        </p:nvPicPr>
        <p:blipFill>
          <a:blip r:embed="rId3"/>
          <a:stretch>
            <a:fillRect/>
          </a:stretch>
        </p:blipFill>
        <p:spPr>
          <a:xfrm>
            <a:off x="2090691" y="2716981"/>
            <a:ext cx="8010617" cy="2862709"/>
          </a:xfrm>
          <a:prstGeom prst="rect">
            <a:avLst/>
          </a:prstGeom>
        </p:spPr>
      </p:pic>
    </p:spTree>
    <p:extLst>
      <p:ext uri="{BB962C8B-B14F-4D97-AF65-F5344CB8AC3E}">
        <p14:creationId xmlns:p14="http://schemas.microsoft.com/office/powerpoint/2010/main" val="1155203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D2834-5C9E-55AB-4533-44B86B5E35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BF1391-EBD3-59CB-D404-8C07E003B741}"/>
              </a:ext>
            </a:extLst>
          </p:cNvPr>
          <p:cNvSpPr>
            <a:spLocks noGrp="1"/>
          </p:cNvSpPr>
          <p:nvPr>
            <p:ph type="title"/>
          </p:nvPr>
        </p:nvSpPr>
        <p:spPr/>
        <p:txBody>
          <a:bodyPr/>
          <a:lstStyle/>
          <a:p>
            <a:r>
              <a:rPr lang="es-ES" dirty="0" err="1"/>
              <a:t>Externalized</a:t>
            </a:r>
            <a:r>
              <a:rPr lang="es-ES" dirty="0"/>
              <a:t> </a:t>
            </a:r>
            <a:r>
              <a:rPr lang="es-ES" dirty="0" err="1"/>
              <a:t>Configuration</a:t>
            </a:r>
            <a:endParaRPr lang="es-PE" dirty="0"/>
          </a:p>
        </p:txBody>
      </p:sp>
      <p:sp>
        <p:nvSpPr>
          <p:cNvPr id="3" name="Marcador de número de diapositiva 2">
            <a:extLst>
              <a:ext uri="{FF2B5EF4-FFF2-40B4-BE49-F238E27FC236}">
                <a16:creationId xmlns:a16="http://schemas.microsoft.com/office/drawing/2014/main" id="{5AF36BB4-8CD2-E9E6-C460-50FB482F432D}"/>
              </a:ext>
            </a:extLst>
          </p:cNvPr>
          <p:cNvSpPr>
            <a:spLocks noGrp="1"/>
          </p:cNvSpPr>
          <p:nvPr>
            <p:ph type="sldNum" idx="12"/>
          </p:nvPr>
        </p:nvSpPr>
        <p:spPr/>
        <p:txBody>
          <a:bodyPr/>
          <a:lstStyle/>
          <a:p>
            <a:fld id="{52A29C8B-5F70-8945-A2A6-FBD7A17156DB}" type="slidenum">
              <a:rPr lang="es-PE" smtClean="0"/>
              <a:pPr/>
              <a:t>16</a:t>
            </a:fld>
            <a:endParaRPr lang="es-PE"/>
          </a:p>
        </p:txBody>
      </p:sp>
      <p:sp>
        <p:nvSpPr>
          <p:cNvPr id="4" name="Marcador de contenido 3">
            <a:extLst>
              <a:ext uri="{FF2B5EF4-FFF2-40B4-BE49-F238E27FC236}">
                <a16:creationId xmlns:a16="http://schemas.microsoft.com/office/drawing/2014/main" id="{3717ADDE-0224-C816-2E18-FC012D2416B7}"/>
              </a:ext>
            </a:extLst>
          </p:cNvPr>
          <p:cNvSpPr>
            <a:spLocks noGrp="1"/>
          </p:cNvSpPr>
          <p:nvPr>
            <p:ph idx="1"/>
          </p:nvPr>
        </p:nvSpPr>
        <p:spPr/>
        <p:txBody>
          <a:bodyPr>
            <a:normAutofit/>
          </a:bodyPr>
          <a:lstStyle/>
          <a:p>
            <a:pPr marL="0" lvl="0" indent="0">
              <a:spcBef>
                <a:spcPts val="0"/>
              </a:spcBef>
              <a:buNone/>
            </a:pPr>
            <a:r>
              <a:rPr lang="es-ES" sz="2000" dirty="0"/>
              <a:t>Recordemos que en las clases 3, 4 y 5, se tuvo que crear un archivo </a:t>
            </a:r>
            <a:r>
              <a:rPr lang="es-ES" sz="2000" b="1" i="1" dirty="0" err="1"/>
              <a:t>application.properties</a:t>
            </a:r>
            <a:r>
              <a:rPr lang="es-ES" sz="2000" b="1" i="1" dirty="0"/>
              <a:t> externo</a:t>
            </a:r>
            <a:r>
              <a:rPr lang="es-ES" sz="2000" dirty="0"/>
              <a:t> para que al correr Spring Boot, se </a:t>
            </a:r>
            <a:r>
              <a:rPr lang="es-ES" sz="2000" dirty="0" err="1"/>
              <a:t>sobreescriban</a:t>
            </a:r>
            <a:r>
              <a:rPr lang="es-ES" sz="2000" dirty="0"/>
              <a:t> las propiedades del proyecto.</a:t>
            </a:r>
          </a:p>
          <a:p>
            <a:pPr marL="0" lvl="0" indent="0">
              <a:spcBef>
                <a:spcPts val="1600"/>
              </a:spcBef>
              <a:spcAft>
                <a:spcPts val="1600"/>
              </a:spcAft>
              <a:buNone/>
            </a:pPr>
            <a:r>
              <a:rPr lang="es-ES" sz="2000" dirty="0"/>
              <a:t>Aquí tenemos que hacer lo mismo, pero en vez de utilizar un archivo externo, le pasaremos los parámetros al momento de correr el contenedor, mediante variables de entorno (otra forma de utilizar </a:t>
            </a:r>
            <a:r>
              <a:rPr lang="es-ES" sz="2000" dirty="0" err="1"/>
              <a:t>Externalized</a:t>
            </a:r>
            <a:r>
              <a:rPr lang="es-ES" sz="2000" dirty="0"/>
              <a:t> </a:t>
            </a:r>
            <a:r>
              <a:rPr lang="es-ES" sz="2000" dirty="0" err="1"/>
              <a:t>configuration</a:t>
            </a:r>
            <a:r>
              <a:rPr lang="es-ES" sz="2000" dirty="0"/>
              <a:t>).</a:t>
            </a:r>
          </a:p>
          <a:p>
            <a:endParaRPr lang="es-PE" sz="2000" dirty="0"/>
          </a:p>
        </p:txBody>
      </p:sp>
    </p:spTree>
    <p:extLst>
      <p:ext uri="{BB962C8B-B14F-4D97-AF65-F5344CB8AC3E}">
        <p14:creationId xmlns:p14="http://schemas.microsoft.com/office/powerpoint/2010/main" val="2205405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445D-007D-CCD4-3BD0-90CF43DA1C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85713F-4F96-CA33-1DA5-22AEA74F1233}"/>
              </a:ext>
            </a:extLst>
          </p:cNvPr>
          <p:cNvSpPr>
            <a:spLocks noGrp="1"/>
          </p:cNvSpPr>
          <p:nvPr>
            <p:ph type="title"/>
          </p:nvPr>
        </p:nvSpPr>
        <p:spPr/>
        <p:txBody>
          <a:bodyPr/>
          <a:lstStyle/>
          <a:p>
            <a:r>
              <a:rPr lang="es-ES" dirty="0"/>
              <a:t>¿Qué opciones debemos cambiar?</a:t>
            </a:r>
            <a:endParaRPr lang="es-PE" dirty="0"/>
          </a:p>
        </p:txBody>
      </p:sp>
      <p:sp>
        <p:nvSpPr>
          <p:cNvPr id="3" name="Marcador de número de diapositiva 2">
            <a:extLst>
              <a:ext uri="{FF2B5EF4-FFF2-40B4-BE49-F238E27FC236}">
                <a16:creationId xmlns:a16="http://schemas.microsoft.com/office/drawing/2014/main" id="{F4E2AE07-A075-7C74-5D46-627DADDA4681}"/>
              </a:ext>
            </a:extLst>
          </p:cNvPr>
          <p:cNvSpPr>
            <a:spLocks noGrp="1"/>
          </p:cNvSpPr>
          <p:nvPr>
            <p:ph type="sldNum" idx="12"/>
          </p:nvPr>
        </p:nvSpPr>
        <p:spPr/>
        <p:txBody>
          <a:bodyPr/>
          <a:lstStyle/>
          <a:p>
            <a:fld id="{52A29C8B-5F70-8945-A2A6-FBD7A17156DB}" type="slidenum">
              <a:rPr lang="es-PE" smtClean="0"/>
              <a:pPr/>
              <a:t>17</a:t>
            </a:fld>
            <a:endParaRPr lang="es-PE"/>
          </a:p>
        </p:txBody>
      </p:sp>
      <p:sp>
        <p:nvSpPr>
          <p:cNvPr id="4" name="Marcador de contenido 3">
            <a:extLst>
              <a:ext uri="{FF2B5EF4-FFF2-40B4-BE49-F238E27FC236}">
                <a16:creationId xmlns:a16="http://schemas.microsoft.com/office/drawing/2014/main" id="{7D606C01-3B72-7871-D946-BEDF8C6892C1}"/>
              </a:ext>
            </a:extLst>
          </p:cNvPr>
          <p:cNvSpPr>
            <a:spLocks noGrp="1"/>
          </p:cNvSpPr>
          <p:nvPr>
            <p:ph idx="1"/>
          </p:nvPr>
        </p:nvSpPr>
        <p:spPr/>
        <p:txBody>
          <a:bodyPr>
            <a:normAutofit/>
          </a:bodyPr>
          <a:lstStyle/>
          <a:p>
            <a:pPr marL="0" lvl="0" indent="0">
              <a:spcBef>
                <a:spcPts val="0"/>
              </a:spcBef>
              <a:buNone/>
            </a:pPr>
            <a:r>
              <a:rPr lang="es-ES" sz="1800" dirty="0"/>
              <a:t>La base de datos de la computadora está en localhost y el </a:t>
            </a:r>
            <a:r>
              <a:rPr lang="es-ES" sz="1800" dirty="0" err="1"/>
              <a:t>docker</a:t>
            </a:r>
            <a:r>
              <a:rPr lang="es-ES" sz="1800" dirty="0"/>
              <a:t> donde se desplegará Spring también lo estará, entonces… ¿por qué necesitamos cambiar la configuración? pues si analizamos la </a:t>
            </a:r>
            <a:r>
              <a:rPr lang="es-ES" sz="1800" dirty="0" err="1"/>
              <a:t>url</a:t>
            </a:r>
            <a:r>
              <a:rPr lang="es-ES" sz="1800" dirty="0"/>
              <a:t> de conexión.</a:t>
            </a:r>
          </a:p>
          <a:p>
            <a:pPr marL="0" lvl="0" indent="0">
              <a:spcBef>
                <a:spcPts val="1600"/>
              </a:spcBef>
              <a:buNone/>
            </a:pPr>
            <a:endParaRPr lang="es-ES" sz="1800" dirty="0"/>
          </a:p>
          <a:p>
            <a:pPr marL="0" lvl="0" indent="0">
              <a:spcBef>
                <a:spcPts val="1600"/>
              </a:spcBef>
              <a:spcAft>
                <a:spcPts val="1600"/>
              </a:spcAft>
              <a:buNone/>
            </a:pPr>
            <a:r>
              <a:rPr lang="es-ES" sz="1800" dirty="0"/>
              <a:t>Spring Boot corre en un </a:t>
            </a:r>
            <a:r>
              <a:rPr lang="es-ES" sz="1800" dirty="0" err="1"/>
              <a:t>docker</a:t>
            </a:r>
            <a:r>
              <a:rPr lang="es-ES" sz="1800" dirty="0"/>
              <a:t> que apunta a localhost; sin embargo, recordemos que el </a:t>
            </a:r>
            <a:r>
              <a:rPr lang="es-ES" sz="1800" dirty="0" err="1"/>
              <a:t>docker</a:t>
            </a:r>
            <a:r>
              <a:rPr lang="es-ES" sz="1800" dirty="0"/>
              <a:t> es una red aislada y el localhost definido aquí va a ser el mismo contenedor (donde no está la BD). </a:t>
            </a:r>
          </a:p>
          <a:p>
            <a:endParaRPr lang="es-PE" sz="1800" dirty="0"/>
          </a:p>
        </p:txBody>
      </p:sp>
      <p:pic>
        <p:nvPicPr>
          <p:cNvPr id="5" name="Google Shape;204;p28">
            <a:extLst>
              <a:ext uri="{FF2B5EF4-FFF2-40B4-BE49-F238E27FC236}">
                <a16:creationId xmlns:a16="http://schemas.microsoft.com/office/drawing/2014/main" id="{8F6CAC76-8972-36E7-B049-E5A231501805}"/>
              </a:ext>
            </a:extLst>
          </p:cNvPr>
          <p:cNvPicPr preferRelativeResize="0"/>
          <p:nvPr/>
        </p:nvPicPr>
        <p:blipFill>
          <a:blip r:embed="rId2">
            <a:alphaModFix/>
          </a:blip>
          <a:stretch>
            <a:fillRect/>
          </a:stretch>
        </p:blipFill>
        <p:spPr>
          <a:xfrm>
            <a:off x="3128962" y="1914854"/>
            <a:ext cx="5934075" cy="685800"/>
          </a:xfrm>
          <a:prstGeom prst="rect">
            <a:avLst/>
          </a:prstGeom>
          <a:noFill/>
          <a:ln>
            <a:noFill/>
          </a:ln>
        </p:spPr>
      </p:pic>
      <p:sp>
        <p:nvSpPr>
          <p:cNvPr id="6" name="Google Shape;205;p28">
            <a:extLst>
              <a:ext uri="{FF2B5EF4-FFF2-40B4-BE49-F238E27FC236}">
                <a16:creationId xmlns:a16="http://schemas.microsoft.com/office/drawing/2014/main" id="{EAFD5661-0373-DC6D-E715-1546A56C2205}"/>
              </a:ext>
            </a:extLst>
          </p:cNvPr>
          <p:cNvSpPr/>
          <p:nvPr/>
        </p:nvSpPr>
        <p:spPr>
          <a:xfrm>
            <a:off x="3128962" y="3550657"/>
            <a:ext cx="5934000" cy="1851000"/>
          </a:xfrm>
          <a:prstGeom prst="roundRect">
            <a:avLst>
              <a:gd name="adj" fmla="val 11906"/>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sz="1100"/>
              <a:t>mi pc</a:t>
            </a:r>
            <a:endParaRPr sz="1100"/>
          </a:p>
        </p:txBody>
      </p:sp>
      <p:sp>
        <p:nvSpPr>
          <p:cNvPr id="7" name="Google Shape;206;p28">
            <a:extLst>
              <a:ext uri="{FF2B5EF4-FFF2-40B4-BE49-F238E27FC236}">
                <a16:creationId xmlns:a16="http://schemas.microsoft.com/office/drawing/2014/main" id="{F9EB9D2F-213C-C737-0172-CF8B1060EE05}"/>
              </a:ext>
            </a:extLst>
          </p:cNvPr>
          <p:cNvSpPr/>
          <p:nvPr/>
        </p:nvSpPr>
        <p:spPr>
          <a:xfrm>
            <a:off x="7554062" y="4026657"/>
            <a:ext cx="1172375" cy="1095250"/>
          </a:xfrm>
          <a:prstGeom prst="flowChartMagneticDisk">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s-419" sz="1100"/>
              <a:t>MySQL en 3306</a:t>
            </a:r>
            <a:endParaRPr sz="1100"/>
          </a:p>
        </p:txBody>
      </p:sp>
      <p:sp>
        <p:nvSpPr>
          <p:cNvPr id="8" name="Google Shape;207;p28">
            <a:extLst>
              <a:ext uri="{FF2B5EF4-FFF2-40B4-BE49-F238E27FC236}">
                <a16:creationId xmlns:a16="http://schemas.microsoft.com/office/drawing/2014/main" id="{6EB9D628-3964-230C-23C5-C96CF4826BAE}"/>
              </a:ext>
            </a:extLst>
          </p:cNvPr>
          <p:cNvSpPr/>
          <p:nvPr/>
        </p:nvSpPr>
        <p:spPr>
          <a:xfrm>
            <a:off x="4116237" y="3912032"/>
            <a:ext cx="2115600" cy="13245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sz="1100"/>
              <a:t>Docker</a:t>
            </a:r>
            <a:endParaRPr sz="1100"/>
          </a:p>
        </p:txBody>
      </p:sp>
      <p:sp>
        <p:nvSpPr>
          <p:cNvPr id="9" name="Google Shape;208;p28">
            <a:extLst>
              <a:ext uri="{FF2B5EF4-FFF2-40B4-BE49-F238E27FC236}">
                <a16:creationId xmlns:a16="http://schemas.microsoft.com/office/drawing/2014/main" id="{CDA3B827-E95C-7E9A-EE0A-BEC8332DE28B}"/>
              </a:ext>
            </a:extLst>
          </p:cNvPr>
          <p:cNvSpPr txBox="1"/>
          <p:nvPr/>
        </p:nvSpPr>
        <p:spPr>
          <a:xfrm>
            <a:off x="4742112" y="4652532"/>
            <a:ext cx="1022400" cy="3539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100">
                <a:latin typeface="Open Sans"/>
                <a:ea typeface="Open Sans"/>
                <a:cs typeface="Open Sans"/>
                <a:sym typeface="Open Sans"/>
              </a:rPr>
              <a:t>Localhost</a:t>
            </a:r>
            <a:endParaRPr sz="1100">
              <a:latin typeface="Open Sans"/>
              <a:ea typeface="Open Sans"/>
              <a:cs typeface="Open Sans"/>
              <a:sym typeface="Open Sans"/>
            </a:endParaRPr>
          </a:p>
        </p:txBody>
      </p:sp>
      <p:cxnSp>
        <p:nvCxnSpPr>
          <p:cNvPr id="10" name="Google Shape;209;p28">
            <a:extLst>
              <a:ext uri="{FF2B5EF4-FFF2-40B4-BE49-F238E27FC236}">
                <a16:creationId xmlns:a16="http://schemas.microsoft.com/office/drawing/2014/main" id="{2B9E05C4-8425-6333-7D6D-54248E8EC267}"/>
              </a:ext>
            </a:extLst>
          </p:cNvPr>
          <p:cNvCxnSpPr>
            <a:stCxn id="9" idx="3"/>
            <a:endCxn id="9" idx="0"/>
          </p:cNvCxnSpPr>
          <p:nvPr/>
        </p:nvCxnSpPr>
        <p:spPr>
          <a:xfrm flipH="1" flipV="1">
            <a:off x="5253312" y="4652532"/>
            <a:ext cx="511200" cy="176957"/>
          </a:xfrm>
          <a:prstGeom prst="bentConnector4">
            <a:avLst>
              <a:gd name="adj1" fmla="val -44718"/>
              <a:gd name="adj2" fmla="val 229184"/>
            </a:avLst>
          </a:prstGeom>
          <a:noFill/>
          <a:ln w="9525" cap="flat" cmpd="sng">
            <a:solidFill>
              <a:srgbClr val="FF0000"/>
            </a:solidFill>
            <a:prstDash val="solid"/>
            <a:round/>
            <a:headEnd type="none" w="med" len="med"/>
            <a:tailEnd type="triangle" w="med" len="med"/>
          </a:ln>
        </p:spPr>
      </p:cxnSp>
    </p:spTree>
    <p:extLst>
      <p:ext uri="{BB962C8B-B14F-4D97-AF65-F5344CB8AC3E}">
        <p14:creationId xmlns:p14="http://schemas.microsoft.com/office/powerpoint/2010/main" val="4090035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0A24-2A4B-A7F3-DDA3-AB36EEBCB5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592A0F-5F04-1D3E-DA08-51F757DF1243}"/>
              </a:ext>
            </a:extLst>
          </p:cNvPr>
          <p:cNvSpPr>
            <a:spLocks noGrp="1"/>
          </p:cNvSpPr>
          <p:nvPr>
            <p:ph type="title"/>
          </p:nvPr>
        </p:nvSpPr>
        <p:spPr/>
        <p:txBody>
          <a:bodyPr/>
          <a:lstStyle/>
          <a:p>
            <a:r>
              <a:rPr lang="es-ES" dirty="0" err="1"/>
              <a:t>Externalized</a:t>
            </a:r>
            <a:r>
              <a:rPr lang="es-ES" dirty="0"/>
              <a:t> </a:t>
            </a:r>
            <a:r>
              <a:rPr lang="es-ES" dirty="0" err="1"/>
              <a:t>Configuration</a:t>
            </a:r>
            <a:endParaRPr lang="es-PE" dirty="0"/>
          </a:p>
        </p:txBody>
      </p:sp>
      <p:sp>
        <p:nvSpPr>
          <p:cNvPr id="3" name="Marcador de número de diapositiva 2">
            <a:extLst>
              <a:ext uri="{FF2B5EF4-FFF2-40B4-BE49-F238E27FC236}">
                <a16:creationId xmlns:a16="http://schemas.microsoft.com/office/drawing/2014/main" id="{9C84E44F-D932-7BB7-EC84-C5872E92FA73}"/>
              </a:ext>
            </a:extLst>
          </p:cNvPr>
          <p:cNvSpPr>
            <a:spLocks noGrp="1"/>
          </p:cNvSpPr>
          <p:nvPr>
            <p:ph type="sldNum" idx="12"/>
          </p:nvPr>
        </p:nvSpPr>
        <p:spPr/>
        <p:txBody>
          <a:bodyPr/>
          <a:lstStyle/>
          <a:p>
            <a:fld id="{52A29C8B-5F70-8945-A2A6-FBD7A17156DB}" type="slidenum">
              <a:rPr lang="es-PE" smtClean="0"/>
              <a:pPr/>
              <a:t>18</a:t>
            </a:fld>
            <a:endParaRPr lang="es-PE"/>
          </a:p>
        </p:txBody>
      </p:sp>
      <p:sp>
        <p:nvSpPr>
          <p:cNvPr id="4" name="Marcador de contenido 3">
            <a:extLst>
              <a:ext uri="{FF2B5EF4-FFF2-40B4-BE49-F238E27FC236}">
                <a16:creationId xmlns:a16="http://schemas.microsoft.com/office/drawing/2014/main" id="{7395C93C-AC3A-43BE-6221-0539C1054B9E}"/>
              </a:ext>
            </a:extLst>
          </p:cNvPr>
          <p:cNvSpPr>
            <a:spLocks noGrp="1"/>
          </p:cNvSpPr>
          <p:nvPr>
            <p:ph idx="1"/>
          </p:nvPr>
        </p:nvSpPr>
        <p:spPr/>
        <p:txBody>
          <a:bodyPr>
            <a:normAutofit/>
          </a:bodyPr>
          <a:lstStyle/>
          <a:p>
            <a:pPr marL="0" lvl="0" indent="0">
              <a:spcBef>
                <a:spcPts val="0"/>
              </a:spcBef>
              <a:buNone/>
            </a:pPr>
            <a:r>
              <a:rPr lang="es-ES" sz="1800" dirty="0"/>
              <a:t>Por tal motivo, debemos indicarle al contenedor que mapee la red del host (mi pc) a su red interna.</a:t>
            </a:r>
          </a:p>
          <a:p>
            <a:pPr marL="0" lvl="0" indent="0">
              <a:spcBef>
                <a:spcPts val="1600"/>
              </a:spcBef>
              <a:buNone/>
            </a:pPr>
            <a:r>
              <a:rPr lang="es-ES" sz="1800" dirty="0"/>
              <a:t>Esto se logra </a:t>
            </a:r>
            <a:r>
              <a:rPr lang="es-ES" sz="1600" dirty="0">
                <a:solidFill>
                  <a:schemeClr val="lt1"/>
                </a:solidFill>
                <a:highlight>
                  <a:srgbClr val="2B2B2B"/>
                </a:highlight>
                <a:latin typeface="Source Code Pro"/>
                <a:ea typeface="Source Code Pro"/>
                <a:cs typeface="Source Code Pro"/>
                <a:sym typeface="Source Code Pro"/>
              </a:rPr>
              <a:t>--</a:t>
            </a:r>
            <a:r>
              <a:rPr lang="es-ES" sz="1600" dirty="0" err="1">
                <a:solidFill>
                  <a:schemeClr val="lt1"/>
                </a:solidFill>
                <a:highlight>
                  <a:srgbClr val="2B2B2B"/>
                </a:highlight>
                <a:latin typeface="Source Code Pro"/>
                <a:ea typeface="Source Code Pro"/>
                <a:cs typeface="Source Code Pro"/>
                <a:sym typeface="Source Code Pro"/>
              </a:rPr>
              <a:t>add</a:t>
            </a:r>
            <a:r>
              <a:rPr lang="es-ES" sz="1600" dirty="0">
                <a:solidFill>
                  <a:schemeClr val="lt1"/>
                </a:solidFill>
                <a:highlight>
                  <a:srgbClr val="2B2B2B"/>
                </a:highlight>
                <a:latin typeface="Source Code Pro"/>
                <a:ea typeface="Source Code Pro"/>
                <a:cs typeface="Source Code Pro"/>
                <a:sym typeface="Source Code Pro"/>
              </a:rPr>
              <a:t>-host=</a:t>
            </a:r>
            <a:r>
              <a:rPr lang="es-ES" sz="1600" dirty="0" err="1">
                <a:solidFill>
                  <a:schemeClr val="lt1"/>
                </a:solidFill>
                <a:highlight>
                  <a:srgbClr val="2B2B2B"/>
                </a:highlight>
                <a:latin typeface="Source Code Pro"/>
                <a:ea typeface="Source Code Pro"/>
                <a:cs typeface="Source Code Pro"/>
                <a:sym typeface="Source Code Pro"/>
              </a:rPr>
              <a:t>host.docker.internal:host-gateway</a:t>
            </a:r>
            <a:endParaRPr lang="es-ES" sz="1600" dirty="0">
              <a:solidFill>
                <a:schemeClr val="lt1"/>
              </a:solidFill>
              <a:highlight>
                <a:srgbClr val="2B2B2B"/>
              </a:highlight>
              <a:latin typeface="Source Code Pro"/>
              <a:ea typeface="Source Code Pro"/>
              <a:cs typeface="Source Code Pro"/>
              <a:sym typeface="Source Code Pro"/>
            </a:endParaRPr>
          </a:p>
          <a:p>
            <a:pPr marL="0" lvl="0" indent="0">
              <a:spcBef>
                <a:spcPts val="1600"/>
              </a:spcBef>
              <a:buNone/>
            </a:pPr>
            <a:r>
              <a:rPr lang="es-ES" sz="1800" dirty="0"/>
              <a:t>Así mismo, debemos usar el </a:t>
            </a:r>
            <a:r>
              <a:rPr lang="es-ES" sz="1800" dirty="0" err="1"/>
              <a:t>el</a:t>
            </a:r>
            <a:r>
              <a:rPr lang="es-ES" sz="1800" dirty="0"/>
              <a:t> nombre “</a:t>
            </a:r>
            <a:r>
              <a:rPr lang="es-ES" sz="1800" b="1" dirty="0" err="1">
                <a:latin typeface="Source Code Pro"/>
                <a:ea typeface="Source Code Pro"/>
                <a:cs typeface="Source Code Pro"/>
                <a:sym typeface="Source Code Pro"/>
              </a:rPr>
              <a:t>host.docker.internal</a:t>
            </a:r>
            <a:r>
              <a:rPr lang="es-ES" sz="1800" dirty="0"/>
              <a:t>” para referenciar un elemento en el host (mi pc) que se encuentre fuera del </a:t>
            </a:r>
            <a:r>
              <a:rPr lang="es-ES" sz="1800" dirty="0" err="1"/>
              <a:t>docker</a:t>
            </a:r>
            <a:r>
              <a:rPr lang="es-ES" sz="1800" dirty="0"/>
              <a:t>.</a:t>
            </a:r>
          </a:p>
          <a:p>
            <a:pPr marL="0" lvl="0" indent="0">
              <a:spcBef>
                <a:spcPts val="1600"/>
              </a:spcBef>
              <a:buNone/>
            </a:pPr>
            <a:r>
              <a:rPr lang="es-ES" sz="1800" dirty="0"/>
              <a:t>Entonces, corregimos la URL de conexión con:</a:t>
            </a:r>
          </a:p>
          <a:p>
            <a:pPr marL="0" lvl="0" indent="0">
              <a:spcBef>
                <a:spcPts val="1600"/>
              </a:spcBef>
              <a:buNone/>
            </a:pPr>
            <a:r>
              <a:rPr lang="es-ES" sz="1600" dirty="0">
                <a:solidFill>
                  <a:schemeClr val="lt1"/>
                </a:solidFill>
                <a:highlight>
                  <a:srgbClr val="2B2B2B"/>
                </a:highlight>
                <a:latin typeface="Source Code Pro"/>
                <a:ea typeface="Source Code Pro"/>
                <a:cs typeface="Source Code Pro"/>
                <a:sym typeface="Source Code Pro"/>
              </a:rPr>
              <a:t>-e SPRING_DATASOURCE_URL=</a:t>
            </a:r>
            <a:r>
              <a:rPr lang="es-ES" sz="1600" dirty="0" err="1">
                <a:solidFill>
                  <a:schemeClr val="lt1"/>
                </a:solidFill>
                <a:highlight>
                  <a:srgbClr val="2B2B2B"/>
                </a:highlight>
                <a:latin typeface="Source Code Pro"/>
                <a:ea typeface="Source Code Pro"/>
                <a:cs typeface="Source Code Pro"/>
                <a:sym typeface="Source Code Pro"/>
              </a:rPr>
              <a:t>jdbc:mysql</a:t>
            </a:r>
            <a:r>
              <a:rPr lang="es-ES" sz="1600" dirty="0">
                <a:solidFill>
                  <a:schemeClr val="lt1"/>
                </a:solidFill>
                <a:highlight>
                  <a:srgbClr val="2B2B2B"/>
                </a:highlight>
                <a:latin typeface="Source Code Pro"/>
                <a:ea typeface="Source Code Pro"/>
                <a:cs typeface="Source Code Pro"/>
                <a:sym typeface="Source Code Pro"/>
              </a:rPr>
              <a:t>://host.docker.internal:3306/</a:t>
            </a:r>
            <a:r>
              <a:rPr lang="es-ES" sz="1600" dirty="0" err="1">
                <a:solidFill>
                  <a:schemeClr val="lt1"/>
                </a:solidFill>
                <a:highlight>
                  <a:srgbClr val="2B2B2B"/>
                </a:highlight>
                <a:latin typeface="Source Code Pro"/>
                <a:ea typeface="Source Code Pro"/>
                <a:cs typeface="Source Code Pro"/>
                <a:sym typeface="Source Code Pro"/>
              </a:rPr>
              <a:t>northwind</a:t>
            </a:r>
            <a:endParaRPr lang="es-ES" sz="1600" dirty="0"/>
          </a:p>
          <a:p>
            <a:pPr marL="0" lvl="0" indent="0">
              <a:spcBef>
                <a:spcPts val="1600"/>
              </a:spcBef>
              <a:spcAft>
                <a:spcPts val="1600"/>
              </a:spcAft>
              <a:buNone/>
            </a:pPr>
            <a:r>
              <a:rPr lang="es-ES" sz="1800" dirty="0"/>
              <a:t>Observar que cuando se definen propiedades como variables de entorno, en vez de </a:t>
            </a:r>
            <a:r>
              <a:rPr lang="es-ES" sz="1800" b="1" dirty="0">
                <a:solidFill>
                  <a:schemeClr val="lt1"/>
                </a:solidFill>
                <a:highlight>
                  <a:srgbClr val="2B2B2B"/>
                </a:highlight>
                <a:latin typeface="Source Code Pro"/>
                <a:ea typeface="Source Code Pro"/>
                <a:cs typeface="Source Code Pro"/>
                <a:sym typeface="Source Code Pro"/>
              </a:rPr>
              <a:t>.</a:t>
            </a:r>
            <a:r>
              <a:rPr lang="es-ES" sz="1800" dirty="0"/>
              <a:t> va </a:t>
            </a:r>
            <a:r>
              <a:rPr lang="es-ES" sz="1800" b="1" dirty="0">
                <a:solidFill>
                  <a:schemeClr val="lt1"/>
                </a:solidFill>
                <a:highlight>
                  <a:srgbClr val="2B2B2B"/>
                </a:highlight>
                <a:latin typeface="Source Code Pro"/>
                <a:ea typeface="Source Code Pro"/>
                <a:cs typeface="Source Code Pro"/>
                <a:sym typeface="Source Code Pro"/>
              </a:rPr>
              <a:t>_</a:t>
            </a:r>
            <a:endParaRPr lang="es-ES" sz="1800" dirty="0"/>
          </a:p>
          <a:p>
            <a:endParaRPr lang="es-PE" sz="1800" dirty="0"/>
          </a:p>
        </p:txBody>
      </p:sp>
    </p:spTree>
    <p:extLst>
      <p:ext uri="{BB962C8B-B14F-4D97-AF65-F5344CB8AC3E}">
        <p14:creationId xmlns:p14="http://schemas.microsoft.com/office/powerpoint/2010/main" val="1515753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DAB8A-1851-1B7F-7362-429EB0A00B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7E99CE-EDCC-D71B-C9F9-4F3E752940A5}"/>
              </a:ext>
            </a:extLst>
          </p:cNvPr>
          <p:cNvSpPr>
            <a:spLocks noGrp="1"/>
          </p:cNvSpPr>
          <p:nvPr>
            <p:ph type="title"/>
          </p:nvPr>
        </p:nvSpPr>
        <p:spPr/>
        <p:txBody>
          <a:bodyPr/>
          <a:lstStyle/>
          <a:p>
            <a:r>
              <a:rPr lang="es-ES" dirty="0" err="1"/>
              <a:t>Deploy</a:t>
            </a:r>
            <a:r>
              <a:rPr lang="es-ES" dirty="0"/>
              <a:t> con IntelliJ</a:t>
            </a:r>
            <a:endParaRPr lang="es-PE" dirty="0"/>
          </a:p>
        </p:txBody>
      </p:sp>
      <p:sp>
        <p:nvSpPr>
          <p:cNvPr id="3" name="Marcador de número de diapositiva 2">
            <a:extLst>
              <a:ext uri="{FF2B5EF4-FFF2-40B4-BE49-F238E27FC236}">
                <a16:creationId xmlns:a16="http://schemas.microsoft.com/office/drawing/2014/main" id="{07AF21E8-4D44-F995-DFB3-BF66C5D912E6}"/>
              </a:ext>
            </a:extLst>
          </p:cNvPr>
          <p:cNvSpPr>
            <a:spLocks noGrp="1"/>
          </p:cNvSpPr>
          <p:nvPr>
            <p:ph type="sldNum" idx="12"/>
          </p:nvPr>
        </p:nvSpPr>
        <p:spPr/>
        <p:txBody>
          <a:bodyPr/>
          <a:lstStyle/>
          <a:p>
            <a:fld id="{52A29C8B-5F70-8945-A2A6-FBD7A17156DB}" type="slidenum">
              <a:rPr lang="es-PE" smtClean="0"/>
              <a:pPr/>
              <a:t>19</a:t>
            </a:fld>
            <a:endParaRPr lang="es-PE"/>
          </a:p>
        </p:txBody>
      </p:sp>
      <p:sp>
        <p:nvSpPr>
          <p:cNvPr id="4" name="Marcador de contenido 3">
            <a:extLst>
              <a:ext uri="{FF2B5EF4-FFF2-40B4-BE49-F238E27FC236}">
                <a16:creationId xmlns:a16="http://schemas.microsoft.com/office/drawing/2014/main" id="{97EA9C1F-583F-2EB1-1B28-335FA7804FBE}"/>
              </a:ext>
            </a:extLst>
          </p:cNvPr>
          <p:cNvSpPr>
            <a:spLocks noGrp="1"/>
          </p:cNvSpPr>
          <p:nvPr>
            <p:ph idx="1"/>
          </p:nvPr>
        </p:nvSpPr>
        <p:spPr>
          <a:xfrm>
            <a:off x="839788" y="1311648"/>
            <a:ext cx="6009247" cy="3843645"/>
          </a:xfrm>
        </p:spPr>
        <p:txBody>
          <a:bodyPr>
            <a:normAutofit/>
          </a:bodyPr>
          <a:lstStyle/>
          <a:p>
            <a:r>
              <a:rPr lang="es-419" sz="1600" dirty="0"/>
              <a:t>Abra </a:t>
            </a:r>
            <a:r>
              <a:rPr lang="es-419" sz="1600" b="1" dirty="0"/>
              <a:t>Edit </a:t>
            </a:r>
            <a:r>
              <a:rPr lang="es-419" sz="1600" b="1" dirty="0" err="1"/>
              <a:t>Configurations</a:t>
            </a:r>
            <a:r>
              <a:rPr lang="es-419" sz="1600" b="1" dirty="0"/>
              <a:t>…</a:t>
            </a:r>
            <a:endParaRPr lang="es-419" sz="1600" dirty="0"/>
          </a:p>
          <a:p>
            <a:endParaRPr lang="es-PE" sz="1600" dirty="0"/>
          </a:p>
          <a:p>
            <a:endParaRPr lang="es-PE" sz="1600" dirty="0"/>
          </a:p>
          <a:p>
            <a:endParaRPr lang="es-PE" sz="1600" dirty="0"/>
          </a:p>
          <a:p>
            <a:pPr marL="0" lvl="0" indent="0">
              <a:lnSpc>
                <a:spcPct val="115000"/>
              </a:lnSpc>
              <a:spcBef>
                <a:spcPts val="0"/>
              </a:spcBef>
              <a:buNone/>
            </a:pPr>
            <a:r>
              <a:rPr lang="es-419" sz="1600" dirty="0">
                <a:solidFill>
                  <a:schemeClr val="dk2"/>
                </a:solidFill>
                <a:latin typeface="Open Sans"/>
                <a:ea typeface="Open Sans"/>
                <a:cs typeface="Open Sans"/>
                <a:sym typeface="Open Sans"/>
              </a:rPr>
              <a:t>IntelliJ le permite correr contenedores de 3 formas: desde una imagen, desde </a:t>
            </a:r>
            <a:r>
              <a:rPr lang="es-419" sz="1600" dirty="0" err="1">
                <a:solidFill>
                  <a:schemeClr val="dk2"/>
                </a:solidFill>
                <a:latin typeface="Open Sans"/>
                <a:ea typeface="Open Sans"/>
                <a:cs typeface="Open Sans"/>
                <a:sym typeface="Open Sans"/>
              </a:rPr>
              <a:t>docker-compose</a:t>
            </a:r>
            <a:r>
              <a:rPr lang="es-419" sz="1600" dirty="0">
                <a:solidFill>
                  <a:schemeClr val="dk2"/>
                </a:solidFill>
                <a:latin typeface="Open Sans"/>
                <a:ea typeface="Open Sans"/>
                <a:cs typeface="Open Sans"/>
                <a:sym typeface="Open Sans"/>
              </a:rPr>
              <a:t> y desde </a:t>
            </a:r>
            <a:r>
              <a:rPr lang="es-419" sz="1600" dirty="0" err="1">
                <a:solidFill>
                  <a:schemeClr val="dk2"/>
                </a:solidFill>
                <a:latin typeface="Open Sans"/>
                <a:ea typeface="Open Sans"/>
                <a:cs typeface="Open Sans"/>
                <a:sym typeface="Open Sans"/>
              </a:rPr>
              <a:t>Dockerfile</a:t>
            </a:r>
            <a:r>
              <a:rPr lang="es-419" sz="1600" dirty="0">
                <a:solidFill>
                  <a:schemeClr val="dk2"/>
                </a:solidFill>
                <a:latin typeface="Open Sans"/>
                <a:ea typeface="Open Sans"/>
                <a:cs typeface="Open Sans"/>
                <a:sym typeface="Open Sans"/>
              </a:rPr>
              <a:t>.</a:t>
            </a:r>
          </a:p>
          <a:p>
            <a:pPr marL="0" lvl="0" indent="0">
              <a:lnSpc>
                <a:spcPct val="115000"/>
              </a:lnSpc>
              <a:spcBef>
                <a:spcPts val="1600"/>
              </a:spcBef>
              <a:spcAft>
                <a:spcPts val="1600"/>
              </a:spcAft>
              <a:buNone/>
            </a:pPr>
            <a:r>
              <a:rPr lang="es-419" sz="1600" dirty="0">
                <a:solidFill>
                  <a:schemeClr val="dk2"/>
                </a:solidFill>
                <a:latin typeface="Open Sans"/>
                <a:ea typeface="Open Sans"/>
                <a:cs typeface="Open Sans"/>
                <a:sym typeface="Open Sans"/>
              </a:rPr>
              <a:t>Usaremos </a:t>
            </a:r>
            <a:r>
              <a:rPr lang="es-419" sz="1600" b="1" dirty="0" err="1">
                <a:solidFill>
                  <a:schemeClr val="dk2"/>
                </a:solidFill>
                <a:latin typeface="Open Sans"/>
                <a:ea typeface="Open Sans"/>
                <a:cs typeface="Open Sans"/>
                <a:sym typeface="Open Sans"/>
              </a:rPr>
              <a:t>Dockerfile</a:t>
            </a:r>
            <a:r>
              <a:rPr lang="es-419" sz="1600" dirty="0">
                <a:solidFill>
                  <a:schemeClr val="dk2"/>
                </a:solidFill>
                <a:latin typeface="Open Sans"/>
                <a:ea typeface="Open Sans"/>
                <a:cs typeface="Open Sans"/>
                <a:sym typeface="Open Sans"/>
              </a:rPr>
              <a:t>.</a:t>
            </a:r>
          </a:p>
          <a:p>
            <a:endParaRPr lang="es-PE" sz="1600" dirty="0"/>
          </a:p>
        </p:txBody>
      </p:sp>
      <p:pic>
        <p:nvPicPr>
          <p:cNvPr id="5" name="Google Shape;229;p30">
            <a:extLst>
              <a:ext uri="{FF2B5EF4-FFF2-40B4-BE49-F238E27FC236}">
                <a16:creationId xmlns:a16="http://schemas.microsoft.com/office/drawing/2014/main" id="{40776CA5-C66D-6692-2B14-C26D13C2F4B5}"/>
              </a:ext>
            </a:extLst>
          </p:cNvPr>
          <p:cNvPicPr preferRelativeResize="0"/>
          <p:nvPr/>
        </p:nvPicPr>
        <p:blipFill>
          <a:blip r:embed="rId2">
            <a:alphaModFix/>
          </a:blip>
          <a:stretch>
            <a:fillRect/>
          </a:stretch>
        </p:blipFill>
        <p:spPr>
          <a:xfrm>
            <a:off x="4526717" y="1311648"/>
            <a:ext cx="2562239" cy="1092848"/>
          </a:xfrm>
          <a:prstGeom prst="rect">
            <a:avLst/>
          </a:prstGeom>
          <a:noFill/>
          <a:ln>
            <a:noFill/>
          </a:ln>
        </p:spPr>
      </p:pic>
      <p:grpSp>
        <p:nvGrpSpPr>
          <p:cNvPr id="6" name="Google Shape;225;p30">
            <a:extLst>
              <a:ext uri="{FF2B5EF4-FFF2-40B4-BE49-F238E27FC236}">
                <a16:creationId xmlns:a16="http://schemas.microsoft.com/office/drawing/2014/main" id="{4C4F1794-0279-2B22-29DE-B7E268E84A9B}"/>
              </a:ext>
            </a:extLst>
          </p:cNvPr>
          <p:cNvGrpSpPr/>
          <p:nvPr/>
        </p:nvGrpSpPr>
        <p:grpSpPr>
          <a:xfrm>
            <a:off x="7088956" y="2753923"/>
            <a:ext cx="2505075" cy="2593574"/>
            <a:chOff x="5967375" y="4019867"/>
            <a:chExt cx="2505075" cy="2593574"/>
          </a:xfrm>
        </p:grpSpPr>
        <p:pic>
          <p:nvPicPr>
            <p:cNvPr id="7" name="Google Shape;226;p30">
              <a:extLst>
                <a:ext uri="{FF2B5EF4-FFF2-40B4-BE49-F238E27FC236}">
                  <a16:creationId xmlns:a16="http://schemas.microsoft.com/office/drawing/2014/main" id="{EA9E41EA-B523-33A4-B78C-78D20EDC33D2}"/>
                </a:ext>
              </a:extLst>
            </p:cNvPr>
            <p:cNvPicPr preferRelativeResize="0"/>
            <p:nvPr/>
          </p:nvPicPr>
          <p:blipFill rotWithShape="1">
            <a:blip r:embed="rId3">
              <a:alphaModFix/>
            </a:blip>
            <a:srcRect b="62825"/>
            <a:stretch/>
          </p:blipFill>
          <p:spPr>
            <a:xfrm>
              <a:off x="5967375" y="4019867"/>
              <a:ext cx="2505075" cy="1405725"/>
            </a:xfrm>
            <a:prstGeom prst="rect">
              <a:avLst/>
            </a:prstGeom>
            <a:noFill/>
            <a:ln>
              <a:noFill/>
            </a:ln>
          </p:spPr>
        </p:pic>
        <p:pic>
          <p:nvPicPr>
            <p:cNvPr id="8" name="Google Shape;227;p30">
              <a:extLst>
                <a:ext uri="{FF2B5EF4-FFF2-40B4-BE49-F238E27FC236}">
                  <a16:creationId xmlns:a16="http://schemas.microsoft.com/office/drawing/2014/main" id="{13F164A4-3ECF-7B76-51A6-3707F4372A59}"/>
                </a:ext>
              </a:extLst>
            </p:cNvPr>
            <p:cNvPicPr preferRelativeResize="0"/>
            <p:nvPr/>
          </p:nvPicPr>
          <p:blipFill rotWithShape="1">
            <a:blip r:embed="rId3">
              <a:alphaModFix/>
            </a:blip>
            <a:srcRect t="68587"/>
            <a:stretch/>
          </p:blipFill>
          <p:spPr>
            <a:xfrm>
              <a:off x="5967375" y="5425592"/>
              <a:ext cx="2505075" cy="1187850"/>
            </a:xfrm>
            <a:prstGeom prst="rect">
              <a:avLst/>
            </a:prstGeom>
            <a:noFill/>
            <a:ln>
              <a:noFill/>
            </a:ln>
          </p:spPr>
        </p:pic>
      </p:grpSp>
      <p:sp>
        <p:nvSpPr>
          <p:cNvPr id="9" name="Google Shape;231;p30">
            <a:extLst>
              <a:ext uri="{FF2B5EF4-FFF2-40B4-BE49-F238E27FC236}">
                <a16:creationId xmlns:a16="http://schemas.microsoft.com/office/drawing/2014/main" id="{2701A317-94C1-8583-0800-33E86D7F3594}"/>
              </a:ext>
            </a:extLst>
          </p:cNvPr>
          <p:cNvSpPr/>
          <p:nvPr/>
        </p:nvSpPr>
        <p:spPr>
          <a:xfrm>
            <a:off x="6430381" y="5054931"/>
            <a:ext cx="1040100" cy="3576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2757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30C5-C643-7BCB-9289-7E71614093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2E4EFC-D10A-2E94-F4B6-A17E2D642A76}"/>
              </a:ext>
            </a:extLst>
          </p:cNvPr>
          <p:cNvSpPr>
            <a:spLocks noGrp="1"/>
          </p:cNvSpPr>
          <p:nvPr>
            <p:ph type="title"/>
          </p:nvPr>
        </p:nvSpPr>
        <p:spPr/>
        <p:txBody>
          <a:bodyPr/>
          <a:lstStyle/>
          <a:p>
            <a:r>
              <a:rPr lang="es-ES" dirty="0" err="1"/>
              <a:t>Deploy</a:t>
            </a:r>
            <a:r>
              <a:rPr lang="es-ES" dirty="0"/>
              <a:t> con IntelliJ</a:t>
            </a:r>
            <a:endParaRPr lang="es-PE" dirty="0"/>
          </a:p>
        </p:txBody>
      </p:sp>
      <p:sp>
        <p:nvSpPr>
          <p:cNvPr id="3" name="Marcador de número de diapositiva 2">
            <a:extLst>
              <a:ext uri="{FF2B5EF4-FFF2-40B4-BE49-F238E27FC236}">
                <a16:creationId xmlns:a16="http://schemas.microsoft.com/office/drawing/2014/main" id="{E0A84DDE-8CC2-4BE1-E0C7-B12CF65A68A0}"/>
              </a:ext>
            </a:extLst>
          </p:cNvPr>
          <p:cNvSpPr>
            <a:spLocks noGrp="1"/>
          </p:cNvSpPr>
          <p:nvPr>
            <p:ph type="sldNum" idx="12"/>
          </p:nvPr>
        </p:nvSpPr>
        <p:spPr/>
        <p:txBody>
          <a:bodyPr/>
          <a:lstStyle/>
          <a:p>
            <a:fld id="{52A29C8B-5F70-8945-A2A6-FBD7A17156DB}" type="slidenum">
              <a:rPr lang="es-PE" smtClean="0"/>
              <a:pPr/>
              <a:t>20</a:t>
            </a:fld>
            <a:endParaRPr lang="es-PE"/>
          </a:p>
        </p:txBody>
      </p:sp>
      <p:sp>
        <p:nvSpPr>
          <p:cNvPr id="4" name="Marcador de contenido 3">
            <a:extLst>
              <a:ext uri="{FF2B5EF4-FFF2-40B4-BE49-F238E27FC236}">
                <a16:creationId xmlns:a16="http://schemas.microsoft.com/office/drawing/2014/main" id="{A3551E0D-E301-1555-97C8-C3A09CD08FCA}"/>
              </a:ext>
            </a:extLst>
          </p:cNvPr>
          <p:cNvSpPr>
            <a:spLocks noGrp="1"/>
          </p:cNvSpPr>
          <p:nvPr>
            <p:ph idx="1"/>
          </p:nvPr>
        </p:nvSpPr>
        <p:spPr/>
        <p:txBody>
          <a:bodyPr>
            <a:normAutofit/>
          </a:bodyPr>
          <a:lstStyle/>
          <a:p>
            <a:r>
              <a:rPr lang="es-ES" sz="2000" dirty="0"/>
              <a:t>Por defecto aparecen pocas opciones, con </a:t>
            </a:r>
            <a:r>
              <a:rPr lang="es-ES" sz="2000" b="1" dirty="0" err="1"/>
              <a:t>Modify</a:t>
            </a:r>
            <a:r>
              <a:rPr lang="es-ES" sz="2000" b="1" dirty="0"/>
              <a:t> </a:t>
            </a:r>
            <a:r>
              <a:rPr lang="es-ES" sz="2000" dirty="0"/>
              <a:t>puede encontrar las restantes.</a:t>
            </a:r>
          </a:p>
          <a:p>
            <a:r>
              <a:rPr lang="es-ES" sz="2000" dirty="0"/>
              <a:t>Coloque los parámetros definidos en la diapositiva 17.</a:t>
            </a:r>
          </a:p>
          <a:p>
            <a:endParaRPr lang="es-PE" sz="2000" dirty="0"/>
          </a:p>
        </p:txBody>
      </p:sp>
      <p:pic>
        <p:nvPicPr>
          <p:cNvPr id="5" name="Google Shape;240;p31">
            <a:extLst>
              <a:ext uri="{FF2B5EF4-FFF2-40B4-BE49-F238E27FC236}">
                <a16:creationId xmlns:a16="http://schemas.microsoft.com/office/drawing/2014/main" id="{342BE39A-13C7-F8C5-84A1-9A88FD8E5F2F}"/>
              </a:ext>
            </a:extLst>
          </p:cNvPr>
          <p:cNvPicPr preferRelativeResize="0"/>
          <p:nvPr/>
        </p:nvPicPr>
        <p:blipFill>
          <a:blip r:embed="rId3">
            <a:alphaModFix/>
          </a:blip>
          <a:stretch>
            <a:fillRect/>
          </a:stretch>
        </p:blipFill>
        <p:spPr>
          <a:xfrm>
            <a:off x="3245344" y="2402065"/>
            <a:ext cx="5701312" cy="3053431"/>
          </a:xfrm>
          <a:prstGeom prst="rect">
            <a:avLst/>
          </a:prstGeom>
          <a:noFill/>
          <a:ln>
            <a:noFill/>
          </a:ln>
        </p:spPr>
      </p:pic>
    </p:spTree>
    <p:extLst>
      <p:ext uri="{BB962C8B-B14F-4D97-AF65-F5344CB8AC3E}">
        <p14:creationId xmlns:p14="http://schemas.microsoft.com/office/powerpoint/2010/main" val="4263489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A2AF6-C975-876A-B085-385592CE42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3A928B-7DFA-9A69-78C9-1C6D3CC8DA9C}"/>
              </a:ext>
            </a:extLst>
          </p:cNvPr>
          <p:cNvSpPr>
            <a:spLocks noGrp="1"/>
          </p:cNvSpPr>
          <p:nvPr>
            <p:ph type="title"/>
          </p:nvPr>
        </p:nvSpPr>
        <p:spPr/>
        <p:txBody>
          <a:bodyPr/>
          <a:lstStyle/>
          <a:p>
            <a:r>
              <a:rPr lang="es-ES" dirty="0" err="1"/>
              <a:t>Deploy</a:t>
            </a:r>
            <a:r>
              <a:rPr lang="es-ES" dirty="0"/>
              <a:t> con IntelliJ</a:t>
            </a:r>
            <a:endParaRPr lang="es-PE" dirty="0"/>
          </a:p>
        </p:txBody>
      </p:sp>
      <p:sp>
        <p:nvSpPr>
          <p:cNvPr id="3" name="Marcador de número de diapositiva 2">
            <a:extLst>
              <a:ext uri="{FF2B5EF4-FFF2-40B4-BE49-F238E27FC236}">
                <a16:creationId xmlns:a16="http://schemas.microsoft.com/office/drawing/2014/main" id="{933116D7-5A2B-3EDF-0A43-1EE132E34F6E}"/>
              </a:ext>
            </a:extLst>
          </p:cNvPr>
          <p:cNvSpPr>
            <a:spLocks noGrp="1"/>
          </p:cNvSpPr>
          <p:nvPr>
            <p:ph type="sldNum" idx="12"/>
          </p:nvPr>
        </p:nvSpPr>
        <p:spPr/>
        <p:txBody>
          <a:bodyPr/>
          <a:lstStyle/>
          <a:p>
            <a:fld id="{52A29C8B-5F70-8945-A2A6-FBD7A17156DB}" type="slidenum">
              <a:rPr lang="es-PE" smtClean="0"/>
              <a:pPr/>
              <a:t>21</a:t>
            </a:fld>
            <a:endParaRPr lang="es-PE"/>
          </a:p>
        </p:txBody>
      </p:sp>
      <p:sp>
        <p:nvSpPr>
          <p:cNvPr id="4" name="Marcador de contenido 3">
            <a:extLst>
              <a:ext uri="{FF2B5EF4-FFF2-40B4-BE49-F238E27FC236}">
                <a16:creationId xmlns:a16="http://schemas.microsoft.com/office/drawing/2014/main" id="{8ABDD560-BEB0-3A5A-5518-FD52EA7AF91B}"/>
              </a:ext>
            </a:extLst>
          </p:cNvPr>
          <p:cNvSpPr>
            <a:spLocks noGrp="1"/>
          </p:cNvSpPr>
          <p:nvPr>
            <p:ph idx="1"/>
          </p:nvPr>
        </p:nvSpPr>
        <p:spPr/>
        <p:txBody>
          <a:bodyPr>
            <a:normAutofit/>
          </a:bodyPr>
          <a:lstStyle/>
          <a:p>
            <a:r>
              <a:rPr lang="es-ES" sz="2000" dirty="0"/>
              <a:t>Puede correr el </a:t>
            </a:r>
            <a:r>
              <a:rPr lang="es-ES" sz="2000" dirty="0" err="1"/>
              <a:t>docker</a:t>
            </a:r>
            <a:r>
              <a:rPr lang="es-ES" sz="2000" dirty="0"/>
              <a:t> (que internamente ejecutará un </a:t>
            </a:r>
            <a:r>
              <a:rPr lang="es-ES" sz="2000" dirty="0" err="1"/>
              <a:t>docker</a:t>
            </a:r>
            <a:r>
              <a:rPr lang="es-ES" sz="2000" dirty="0"/>
              <a:t> </a:t>
            </a:r>
            <a:r>
              <a:rPr lang="es-ES" sz="2000" dirty="0" err="1"/>
              <a:t>build</a:t>
            </a:r>
            <a:r>
              <a:rPr lang="es-ES" sz="2000" dirty="0"/>
              <a:t>). </a:t>
            </a:r>
          </a:p>
          <a:p>
            <a:endParaRPr lang="es-PE" sz="2000" dirty="0"/>
          </a:p>
        </p:txBody>
      </p:sp>
      <p:pic>
        <p:nvPicPr>
          <p:cNvPr id="5" name="Google Shape;248;p32">
            <a:extLst>
              <a:ext uri="{FF2B5EF4-FFF2-40B4-BE49-F238E27FC236}">
                <a16:creationId xmlns:a16="http://schemas.microsoft.com/office/drawing/2014/main" id="{922C3259-AB49-6C7F-61E4-53C4E8ACA8BC}"/>
              </a:ext>
            </a:extLst>
          </p:cNvPr>
          <p:cNvPicPr preferRelativeResize="0"/>
          <p:nvPr/>
        </p:nvPicPr>
        <p:blipFill>
          <a:blip r:embed="rId2">
            <a:alphaModFix/>
          </a:blip>
          <a:stretch>
            <a:fillRect/>
          </a:stretch>
        </p:blipFill>
        <p:spPr>
          <a:xfrm>
            <a:off x="4154292" y="1984052"/>
            <a:ext cx="3356675" cy="1096725"/>
          </a:xfrm>
          <a:prstGeom prst="rect">
            <a:avLst/>
          </a:prstGeom>
          <a:noFill/>
          <a:ln>
            <a:noFill/>
          </a:ln>
        </p:spPr>
      </p:pic>
      <p:sp>
        <p:nvSpPr>
          <p:cNvPr id="6" name="Google Shape;249;p32">
            <a:extLst>
              <a:ext uri="{FF2B5EF4-FFF2-40B4-BE49-F238E27FC236}">
                <a16:creationId xmlns:a16="http://schemas.microsoft.com/office/drawing/2014/main" id="{ED5EB4BE-4E33-A2B2-E514-E614F7EE2927}"/>
              </a:ext>
            </a:extLst>
          </p:cNvPr>
          <p:cNvSpPr/>
          <p:nvPr/>
        </p:nvSpPr>
        <p:spPr>
          <a:xfrm>
            <a:off x="6815479" y="2251500"/>
            <a:ext cx="355500" cy="3687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250;p32">
            <a:extLst>
              <a:ext uri="{FF2B5EF4-FFF2-40B4-BE49-F238E27FC236}">
                <a16:creationId xmlns:a16="http://schemas.microsoft.com/office/drawing/2014/main" id="{D44AC42E-3E79-C860-4151-9B54D4A45AF1}"/>
              </a:ext>
            </a:extLst>
          </p:cNvPr>
          <p:cNvPicPr preferRelativeResize="0"/>
          <p:nvPr/>
        </p:nvPicPr>
        <p:blipFill>
          <a:blip r:embed="rId3">
            <a:alphaModFix/>
          </a:blip>
          <a:stretch>
            <a:fillRect/>
          </a:stretch>
        </p:blipFill>
        <p:spPr>
          <a:xfrm>
            <a:off x="1260629" y="3883047"/>
            <a:ext cx="9143999" cy="1663305"/>
          </a:xfrm>
          <a:prstGeom prst="rect">
            <a:avLst/>
          </a:prstGeom>
          <a:noFill/>
          <a:ln>
            <a:noFill/>
          </a:ln>
        </p:spPr>
      </p:pic>
    </p:spTree>
    <p:extLst>
      <p:ext uri="{BB962C8B-B14F-4D97-AF65-F5344CB8AC3E}">
        <p14:creationId xmlns:p14="http://schemas.microsoft.com/office/powerpoint/2010/main" val="4062183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051AD-F7CF-1AB8-91D2-AE33A791FE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8D72CA-C6A3-D94C-91CE-9C749543A7B1}"/>
              </a:ext>
            </a:extLst>
          </p:cNvPr>
          <p:cNvSpPr>
            <a:spLocks noGrp="1"/>
          </p:cNvSpPr>
          <p:nvPr>
            <p:ph type="title"/>
          </p:nvPr>
        </p:nvSpPr>
        <p:spPr/>
        <p:txBody>
          <a:bodyPr/>
          <a:lstStyle/>
          <a:p>
            <a:r>
              <a:rPr lang="es-ES" dirty="0" err="1"/>
              <a:t>Deploy</a:t>
            </a:r>
            <a:r>
              <a:rPr lang="es-ES" dirty="0"/>
              <a:t> con IntelliJ</a:t>
            </a:r>
            <a:endParaRPr lang="es-PE" dirty="0"/>
          </a:p>
        </p:txBody>
      </p:sp>
      <p:sp>
        <p:nvSpPr>
          <p:cNvPr id="3" name="Marcador de número de diapositiva 2">
            <a:extLst>
              <a:ext uri="{FF2B5EF4-FFF2-40B4-BE49-F238E27FC236}">
                <a16:creationId xmlns:a16="http://schemas.microsoft.com/office/drawing/2014/main" id="{C2806069-7E6E-13A3-1FF7-8BF2EDC04EF1}"/>
              </a:ext>
            </a:extLst>
          </p:cNvPr>
          <p:cNvSpPr>
            <a:spLocks noGrp="1"/>
          </p:cNvSpPr>
          <p:nvPr>
            <p:ph type="sldNum" idx="12"/>
          </p:nvPr>
        </p:nvSpPr>
        <p:spPr/>
        <p:txBody>
          <a:bodyPr/>
          <a:lstStyle/>
          <a:p>
            <a:fld id="{52A29C8B-5F70-8945-A2A6-FBD7A17156DB}" type="slidenum">
              <a:rPr lang="es-PE" smtClean="0"/>
              <a:pPr/>
              <a:t>22</a:t>
            </a:fld>
            <a:endParaRPr lang="es-PE"/>
          </a:p>
        </p:txBody>
      </p:sp>
      <p:sp>
        <p:nvSpPr>
          <p:cNvPr id="4" name="Marcador de contenido 3">
            <a:extLst>
              <a:ext uri="{FF2B5EF4-FFF2-40B4-BE49-F238E27FC236}">
                <a16:creationId xmlns:a16="http://schemas.microsoft.com/office/drawing/2014/main" id="{71502694-0E8A-4D74-B3C9-F17CF848FE5B}"/>
              </a:ext>
            </a:extLst>
          </p:cNvPr>
          <p:cNvSpPr>
            <a:spLocks noGrp="1"/>
          </p:cNvSpPr>
          <p:nvPr>
            <p:ph idx="1"/>
          </p:nvPr>
        </p:nvSpPr>
        <p:spPr/>
        <p:txBody>
          <a:bodyPr/>
          <a:lstStyle/>
          <a:p>
            <a:r>
              <a:rPr lang="es-ES" dirty="0"/>
              <a:t>También puede visualizar el log del </a:t>
            </a:r>
            <a:r>
              <a:rPr lang="es-ES" dirty="0" err="1"/>
              <a:t>docker</a:t>
            </a:r>
            <a:r>
              <a:rPr lang="es-ES" dirty="0"/>
              <a:t>.</a:t>
            </a:r>
          </a:p>
          <a:p>
            <a:endParaRPr lang="es-PE" dirty="0"/>
          </a:p>
        </p:txBody>
      </p:sp>
      <p:pic>
        <p:nvPicPr>
          <p:cNvPr id="5" name="Imagen 4">
            <a:extLst>
              <a:ext uri="{FF2B5EF4-FFF2-40B4-BE49-F238E27FC236}">
                <a16:creationId xmlns:a16="http://schemas.microsoft.com/office/drawing/2014/main" id="{9E51057D-0C8F-65B2-A027-AE21909A10AA}"/>
              </a:ext>
            </a:extLst>
          </p:cNvPr>
          <p:cNvPicPr>
            <a:picLocks noChangeAspect="1"/>
          </p:cNvPicPr>
          <p:nvPr/>
        </p:nvPicPr>
        <p:blipFill>
          <a:blip r:embed="rId2"/>
          <a:stretch>
            <a:fillRect/>
          </a:stretch>
        </p:blipFill>
        <p:spPr>
          <a:xfrm>
            <a:off x="1232866" y="2525353"/>
            <a:ext cx="9726268" cy="1968225"/>
          </a:xfrm>
          <a:prstGeom prst="rect">
            <a:avLst/>
          </a:prstGeom>
        </p:spPr>
      </p:pic>
      <p:sp>
        <p:nvSpPr>
          <p:cNvPr id="6" name="Google Shape;259;p33">
            <a:extLst>
              <a:ext uri="{FF2B5EF4-FFF2-40B4-BE49-F238E27FC236}">
                <a16:creationId xmlns:a16="http://schemas.microsoft.com/office/drawing/2014/main" id="{552E5175-A03F-6578-314D-551400786653}"/>
              </a:ext>
            </a:extLst>
          </p:cNvPr>
          <p:cNvSpPr/>
          <p:nvPr/>
        </p:nvSpPr>
        <p:spPr>
          <a:xfrm>
            <a:off x="4863951" y="2321353"/>
            <a:ext cx="421200" cy="4080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6818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85C00-BABB-B792-8F04-480AADB574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1AACFF-53A3-C2CF-2371-1264B00A46B8}"/>
              </a:ext>
            </a:extLst>
          </p:cNvPr>
          <p:cNvSpPr>
            <a:spLocks noGrp="1"/>
          </p:cNvSpPr>
          <p:nvPr>
            <p:ph type="title"/>
          </p:nvPr>
        </p:nvSpPr>
        <p:spPr/>
        <p:txBody>
          <a:bodyPr/>
          <a:lstStyle/>
          <a:p>
            <a:r>
              <a:rPr lang="es-ES" dirty="0"/>
              <a:t>Observación 1 - </a:t>
            </a:r>
            <a:r>
              <a:rPr lang="es-ES" dirty="0" err="1"/>
              <a:t>redeploy</a:t>
            </a:r>
            <a:endParaRPr lang="es-PE" dirty="0"/>
          </a:p>
        </p:txBody>
      </p:sp>
      <p:sp>
        <p:nvSpPr>
          <p:cNvPr id="3" name="Marcador de número de diapositiva 2">
            <a:extLst>
              <a:ext uri="{FF2B5EF4-FFF2-40B4-BE49-F238E27FC236}">
                <a16:creationId xmlns:a16="http://schemas.microsoft.com/office/drawing/2014/main" id="{EBD635D4-854A-7F4F-A538-192812B4B6D8}"/>
              </a:ext>
            </a:extLst>
          </p:cNvPr>
          <p:cNvSpPr>
            <a:spLocks noGrp="1"/>
          </p:cNvSpPr>
          <p:nvPr>
            <p:ph type="sldNum" idx="12"/>
          </p:nvPr>
        </p:nvSpPr>
        <p:spPr/>
        <p:txBody>
          <a:bodyPr/>
          <a:lstStyle/>
          <a:p>
            <a:fld id="{52A29C8B-5F70-8945-A2A6-FBD7A17156DB}" type="slidenum">
              <a:rPr lang="es-PE" smtClean="0"/>
              <a:pPr/>
              <a:t>23</a:t>
            </a:fld>
            <a:endParaRPr lang="es-PE"/>
          </a:p>
        </p:txBody>
      </p:sp>
      <p:sp>
        <p:nvSpPr>
          <p:cNvPr id="4" name="Marcador de contenido 3">
            <a:extLst>
              <a:ext uri="{FF2B5EF4-FFF2-40B4-BE49-F238E27FC236}">
                <a16:creationId xmlns:a16="http://schemas.microsoft.com/office/drawing/2014/main" id="{C078B2FD-1A1B-17E2-D945-5B9C024239E5}"/>
              </a:ext>
            </a:extLst>
          </p:cNvPr>
          <p:cNvSpPr>
            <a:spLocks noGrp="1"/>
          </p:cNvSpPr>
          <p:nvPr>
            <p:ph idx="1"/>
          </p:nvPr>
        </p:nvSpPr>
        <p:spPr/>
        <p:txBody>
          <a:bodyPr>
            <a:normAutofit/>
          </a:bodyPr>
          <a:lstStyle/>
          <a:p>
            <a:pPr marL="0" lvl="0" indent="0">
              <a:spcBef>
                <a:spcPts val="0"/>
              </a:spcBef>
              <a:buNone/>
            </a:pPr>
            <a:r>
              <a:rPr lang="es-ES" sz="1800" dirty="0"/>
              <a:t>La imagen que acaba de crear tiene la versión actual de su proyecto. Si luego cambia el proyecto, estos cambios no se verán reflejados en su contenedor.</a:t>
            </a:r>
          </a:p>
          <a:p>
            <a:pPr marL="0" lvl="0" indent="0">
              <a:spcBef>
                <a:spcPts val="1600"/>
              </a:spcBef>
              <a:spcAft>
                <a:spcPts val="1600"/>
              </a:spcAft>
              <a:buNone/>
            </a:pPr>
            <a:r>
              <a:rPr lang="es-ES" sz="1800" dirty="0"/>
              <a:t>Para que se cree un nuevo empaquetado es necesario agregar la configuración “</a:t>
            </a:r>
            <a:r>
              <a:rPr lang="es-ES" sz="1800" dirty="0" err="1"/>
              <a:t>before</a:t>
            </a:r>
            <a:r>
              <a:rPr lang="es-ES" sz="1800" dirty="0"/>
              <a:t> </a:t>
            </a:r>
            <a:r>
              <a:rPr lang="es-ES" sz="1800" dirty="0" err="1"/>
              <a:t>launch</a:t>
            </a:r>
            <a:r>
              <a:rPr lang="es-ES" sz="1800" dirty="0"/>
              <a:t>”.</a:t>
            </a:r>
            <a:endParaRPr lang="es-ES" sz="1400" b="1" i="1" dirty="0">
              <a:solidFill>
                <a:srgbClr val="FF0000"/>
              </a:solidFill>
            </a:endParaRPr>
          </a:p>
          <a:p>
            <a:endParaRPr lang="es-PE" sz="1800" dirty="0"/>
          </a:p>
        </p:txBody>
      </p:sp>
      <p:pic>
        <p:nvPicPr>
          <p:cNvPr id="5" name="Google Shape;267;p34">
            <a:extLst>
              <a:ext uri="{FF2B5EF4-FFF2-40B4-BE49-F238E27FC236}">
                <a16:creationId xmlns:a16="http://schemas.microsoft.com/office/drawing/2014/main" id="{018A54CC-AB26-FADD-B3DD-DAB6ADB73761}"/>
              </a:ext>
            </a:extLst>
          </p:cNvPr>
          <p:cNvPicPr preferRelativeResize="0"/>
          <p:nvPr/>
        </p:nvPicPr>
        <p:blipFill>
          <a:blip r:embed="rId2">
            <a:alphaModFix/>
          </a:blip>
          <a:stretch>
            <a:fillRect/>
          </a:stretch>
        </p:blipFill>
        <p:spPr>
          <a:xfrm>
            <a:off x="2645429" y="2500293"/>
            <a:ext cx="6743700" cy="2790825"/>
          </a:xfrm>
          <a:prstGeom prst="rect">
            <a:avLst/>
          </a:prstGeom>
          <a:noFill/>
          <a:ln>
            <a:noFill/>
          </a:ln>
        </p:spPr>
      </p:pic>
    </p:spTree>
    <p:extLst>
      <p:ext uri="{BB962C8B-B14F-4D97-AF65-F5344CB8AC3E}">
        <p14:creationId xmlns:p14="http://schemas.microsoft.com/office/powerpoint/2010/main" val="3013983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27B7E-7A33-3F33-D7D7-EECFCE836D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890179-8AE7-4266-61BA-9127A5DEC20D}"/>
              </a:ext>
            </a:extLst>
          </p:cNvPr>
          <p:cNvSpPr>
            <a:spLocks noGrp="1"/>
          </p:cNvSpPr>
          <p:nvPr>
            <p:ph type="title"/>
          </p:nvPr>
        </p:nvSpPr>
        <p:spPr/>
        <p:txBody>
          <a:bodyPr/>
          <a:lstStyle/>
          <a:p>
            <a:r>
              <a:rPr lang="es-ES" dirty="0"/>
              <a:t>Observación 2 - </a:t>
            </a:r>
            <a:r>
              <a:rPr lang="es-ES" dirty="0" err="1"/>
              <a:t>redeploy</a:t>
            </a:r>
            <a:endParaRPr lang="es-PE" dirty="0"/>
          </a:p>
        </p:txBody>
      </p:sp>
      <p:sp>
        <p:nvSpPr>
          <p:cNvPr id="3" name="Marcador de número de diapositiva 2">
            <a:extLst>
              <a:ext uri="{FF2B5EF4-FFF2-40B4-BE49-F238E27FC236}">
                <a16:creationId xmlns:a16="http://schemas.microsoft.com/office/drawing/2014/main" id="{A2837FF7-16AC-EC2F-893F-0A9F399C150B}"/>
              </a:ext>
            </a:extLst>
          </p:cNvPr>
          <p:cNvSpPr>
            <a:spLocks noGrp="1"/>
          </p:cNvSpPr>
          <p:nvPr>
            <p:ph type="sldNum" idx="12"/>
          </p:nvPr>
        </p:nvSpPr>
        <p:spPr/>
        <p:txBody>
          <a:bodyPr/>
          <a:lstStyle/>
          <a:p>
            <a:fld id="{52A29C8B-5F70-8945-A2A6-FBD7A17156DB}" type="slidenum">
              <a:rPr lang="es-PE" smtClean="0"/>
              <a:pPr/>
              <a:t>24</a:t>
            </a:fld>
            <a:endParaRPr lang="es-PE"/>
          </a:p>
        </p:txBody>
      </p:sp>
      <p:sp>
        <p:nvSpPr>
          <p:cNvPr id="4" name="Marcador de contenido 3">
            <a:extLst>
              <a:ext uri="{FF2B5EF4-FFF2-40B4-BE49-F238E27FC236}">
                <a16:creationId xmlns:a16="http://schemas.microsoft.com/office/drawing/2014/main" id="{F5079718-6C11-19B6-361F-1F4CB758DEA6}"/>
              </a:ext>
            </a:extLst>
          </p:cNvPr>
          <p:cNvSpPr>
            <a:spLocks noGrp="1"/>
          </p:cNvSpPr>
          <p:nvPr>
            <p:ph idx="1"/>
          </p:nvPr>
        </p:nvSpPr>
        <p:spPr/>
        <p:txBody>
          <a:bodyPr/>
          <a:lstStyle/>
          <a:p>
            <a:pPr marL="0" lvl="0" indent="0">
              <a:spcBef>
                <a:spcPts val="0"/>
              </a:spcBef>
              <a:buNone/>
            </a:pPr>
            <a:r>
              <a:rPr lang="es-ES" sz="2000" b="1" dirty="0">
                <a:highlight>
                  <a:srgbClr val="FFFF00"/>
                </a:highlight>
              </a:rPr>
              <a:t>→ Tenga cuidado que cada vez que se crea un contenedor, los archivos locales se pierden. Si va a subir archivo y desea guardarlo, cuenta con diversas opciones:</a:t>
            </a:r>
          </a:p>
          <a:p>
            <a:pPr lvl="0" indent="-317500">
              <a:spcBef>
                <a:spcPts val="0"/>
              </a:spcBef>
              <a:buClr>
                <a:srgbClr val="FF0000"/>
              </a:buClr>
              <a:buSzPts val="1400"/>
              <a:buChar char="●"/>
            </a:pPr>
            <a:r>
              <a:rPr lang="es-ES" sz="2000" b="1" i="1" dirty="0">
                <a:highlight>
                  <a:srgbClr val="FFFF00"/>
                </a:highlight>
              </a:rPr>
              <a:t>Utilizar un servicio como AWS S3 o Azure Blob, guardando y leyendo los archivos desde Spring </a:t>
            </a:r>
            <a:r>
              <a:rPr lang="es-ES" sz="2000" b="1" i="1" dirty="0" err="1">
                <a:highlight>
                  <a:srgbClr val="FFFF00"/>
                </a:highlight>
              </a:rPr>
              <a:t>boot</a:t>
            </a:r>
            <a:endParaRPr lang="es-ES" sz="2000" b="1" i="1" dirty="0">
              <a:highlight>
                <a:srgbClr val="FFFF00"/>
              </a:highlight>
            </a:endParaRPr>
          </a:p>
          <a:p>
            <a:pPr lvl="0" indent="-317500">
              <a:spcBef>
                <a:spcPts val="0"/>
              </a:spcBef>
              <a:buClr>
                <a:srgbClr val="FF0000"/>
              </a:buClr>
              <a:buSzPts val="1400"/>
              <a:buChar char="●"/>
            </a:pPr>
            <a:r>
              <a:rPr lang="es-ES" sz="2000" b="1" i="1" dirty="0">
                <a:highlight>
                  <a:srgbClr val="FFFF00"/>
                </a:highlight>
              </a:rPr>
              <a:t>Montando la carpeta del contenedor a una carpeta local que persista (-v ruta) o a una externa (-v /ruta/del/host:/ruta/del/contendor)</a:t>
            </a:r>
            <a:endParaRPr lang="es-ES" sz="2000" dirty="0">
              <a:highlight>
                <a:srgbClr val="FFFF00"/>
              </a:highlight>
            </a:endParaRPr>
          </a:p>
          <a:p>
            <a:endParaRPr lang="es-PE" dirty="0"/>
          </a:p>
        </p:txBody>
      </p:sp>
    </p:spTree>
    <p:extLst>
      <p:ext uri="{BB962C8B-B14F-4D97-AF65-F5344CB8AC3E}">
        <p14:creationId xmlns:p14="http://schemas.microsoft.com/office/powerpoint/2010/main" val="4149297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DE6078D-D036-560F-1944-2385ADC10A36}"/>
              </a:ext>
            </a:extLst>
          </p:cNvPr>
          <p:cNvSpPr>
            <a:spLocks noGrp="1"/>
          </p:cNvSpPr>
          <p:nvPr>
            <p:ph type="title"/>
          </p:nvPr>
        </p:nvSpPr>
        <p:spPr/>
        <p:txBody>
          <a:bodyPr/>
          <a:lstStyle/>
          <a:p>
            <a:r>
              <a:rPr lang="es-ES" sz="4800" dirty="0"/>
              <a:t>Despliegue en la nube</a:t>
            </a:r>
            <a:endParaRPr lang="es-PE" sz="4800" dirty="0"/>
          </a:p>
        </p:txBody>
      </p:sp>
    </p:spTree>
    <p:extLst>
      <p:ext uri="{BB962C8B-B14F-4D97-AF65-F5344CB8AC3E}">
        <p14:creationId xmlns:p14="http://schemas.microsoft.com/office/powerpoint/2010/main" val="2800295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36182-D776-C616-6BBD-FE1628453E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ED3137-8DC7-A9DE-B7A9-590CC150BF33}"/>
              </a:ext>
            </a:extLst>
          </p:cNvPr>
          <p:cNvSpPr>
            <a:spLocks noGrp="1"/>
          </p:cNvSpPr>
          <p:nvPr>
            <p:ph type="title"/>
          </p:nvPr>
        </p:nvSpPr>
        <p:spPr/>
        <p:txBody>
          <a:bodyPr/>
          <a:lstStyle/>
          <a:p>
            <a:r>
              <a:rPr lang="es-ES" dirty="0"/>
              <a:t>Instalar Docker en la nube</a:t>
            </a:r>
            <a:endParaRPr lang="es-PE" dirty="0"/>
          </a:p>
        </p:txBody>
      </p:sp>
      <p:sp>
        <p:nvSpPr>
          <p:cNvPr id="3" name="Marcador de número de diapositiva 2">
            <a:extLst>
              <a:ext uri="{FF2B5EF4-FFF2-40B4-BE49-F238E27FC236}">
                <a16:creationId xmlns:a16="http://schemas.microsoft.com/office/drawing/2014/main" id="{146ED969-928F-5CB8-5F88-845DF3329DE8}"/>
              </a:ext>
            </a:extLst>
          </p:cNvPr>
          <p:cNvSpPr>
            <a:spLocks noGrp="1"/>
          </p:cNvSpPr>
          <p:nvPr>
            <p:ph type="sldNum" idx="12"/>
          </p:nvPr>
        </p:nvSpPr>
        <p:spPr/>
        <p:txBody>
          <a:bodyPr/>
          <a:lstStyle/>
          <a:p>
            <a:fld id="{52A29C8B-5F70-8945-A2A6-FBD7A17156DB}" type="slidenum">
              <a:rPr lang="es-PE" smtClean="0"/>
              <a:pPr/>
              <a:t>26</a:t>
            </a:fld>
            <a:endParaRPr lang="es-PE"/>
          </a:p>
        </p:txBody>
      </p:sp>
      <p:sp>
        <p:nvSpPr>
          <p:cNvPr id="4" name="Marcador de contenido 3">
            <a:extLst>
              <a:ext uri="{FF2B5EF4-FFF2-40B4-BE49-F238E27FC236}">
                <a16:creationId xmlns:a16="http://schemas.microsoft.com/office/drawing/2014/main" id="{E8961004-A149-3F64-5111-283FCEFD9F09}"/>
              </a:ext>
            </a:extLst>
          </p:cNvPr>
          <p:cNvSpPr>
            <a:spLocks noGrp="1"/>
          </p:cNvSpPr>
          <p:nvPr>
            <p:ph idx="1"/>
          </p:nvPr>
        </p:nvSpPr>
        <p:spPr/>
        <p:txBody>
          <a:bodyPr>
            <a:normAutofit fontScale="92500" lnSpcReduction="20000"/>
          </a:bodyPr>
          <a:lstStyle/>
          <a:p>
            <a:pPr marL="0" lvl="0" indent="0">
              <a:spcBef>
                <a:spcPts val="0"/>
              </a:spcBef>
              <a:buNone/>
            </a:pPr>
            <a:r>
              <a:rPr lang="es-419" sz="1900" dirty="0"/>
              <a:t>Instale Docker:</a:t>
            </a:r>
          </a:p>
          <a:p>
            <a:pPr lvl="0" indent="-342900">
              <a:spcBef>
                <a:spcPts val="0"/>
              </a:spcBef>
              <a:buSzPts val="1800"/>
              <a:buChar char="●"/>
            </a:pPr>
            <a:r>
              <a:rPr lang="es-419" sz="1900" dirty="0"/>
              <a:t> </a:t>
            </a:r>
            <a:r>
              <a:rPr lang="es-419" sz="1900" u="sng" dirty="0">
                <a:solidFill>
                  <a:schemeClr val="hlink"/>
                </a:solidFill>
                <a:hlinkClick r:id="rId2"/>
              </a:rPr>
              <a:t>AWS</a:t>
            </a:r>
            <a:r>
              <a:rPr lang="es-419" sz="1900" dirty="0"/>
              <a:t>: con AMI </a:t>
            </a:r>
            <a:r>
              <a:rPr lang="es-419" sz="1900" dirty="0" err="1"/>
              <a:t>linux</a:t>
            </a:r>
            <a:r>
              <a:rPr lang="es-419" sz="1900" dirty="0"/>
              <a:t> 2</a:t>
            </a:r>
          </a:p>
          <a:p>
            <a:pPr lvl="1" indent="-317500">
              <a:spcBef>
                <a:spcPts val="0"/>
              </a:spcBef>
              <a:buSzPts val="1400"/>
              <a:buChar char="○"/>
            </a:pPr>
            <a:r>
              <a:rPr lang="es-419" sz="1900" dirty="0"/>
              <a:t>sudo </a:t>
            </a:r>
            <a:r>
              <a:rPr lang="es-419" sz="1900" dirty="0" err="1"/>
              <a:t>yum</a:t>
            </a:r>
            <a:r>
              <a:rPr lang="es-419" sz="1900" dirty="0"/>
              <a:t> </a:t>
            </a:r>
            <a:r>
              <a:rPr lang="es-419" sz="1900" dirty="0" err="1"/>
              <a:t>update</a:t>
            </a:r>
            <a:r>
              <a:rPr lang="es-419" sz="1900" dirty="0"/>
              <a:t> -y</a:t>
            </a:r>
          </a:p>
          <a:p>
            <a:pPr lvl="1" indent="-317500">
              <a:spcBef>
                <a:spcPts val="0"/>
              </a:spcBef>
              <a:buSzPts val="1400"/>
              <a:buChar char="○"/>
            </a:pPr>
            <a:r>
              <a:rPr lang="es-419" sz="1900" dirty="0"/>
              <a:t>sudo </a:t>
            </a:r>
            <a:r>
              <a:rPr lang="es-419" sz="1900" dirty="0" err="1"/>
              <a:t>amazon</a:t>
            </a:r>
            <a:r>
              <a:rPr lang="es-419" sz="1900" dirty="0"/>
              <a:t>-</a:t>
            </a:r>
            <a:r>
              <a:rPr lang="es-419" sz="1900" dirty="0" err="1"/>
              <a:t>linux</a:t>
            </a:r>
            <a:r>
              <a:rPr lang="es-419" sz="1900" dirty="0"/>
              <a:t>-extras </a:t>
            </a:r>
            <a:r>
              <a:rPr lang="es-419" sz="1900" dirty="0" err="1"/>
              <a:t>install</a:t>
            </a:r>
            <a:r>
              <a:rPr lang="es-419" sz="1900" dirty="0"/>
              <a:t> </a:t>
            </a:r>
            <a:r>
              <a:rPr lang="es-419" sz="1900" dirty="0" err="1"/>
              <a:t>docker</a:t>
            </a:r>
            <a:endParaRPr lang="es-419" sz="1900" dirty="0"/>
          </a:p>
          <a:p>
            <a:pPr lvl="1" indent="-317500">
              <a:spcBef>
                <a:spcPts val="0"/>
              </a:spcBef>
              <a:buSzPts val="1400"/>
              <a:buChar char="○"/>
            </a:pPr>
            <a:r>
              <a:rPr lang="es-419" sz="1900" dirty="0"/>
              <a:t>sudo </a:t>
            </a:r>
            <a:r>
              <a:rPr lang="es-419" sz="1900" dirty="0" err="1"/>
              <a:t>service</a:t>
            </a:r>
            <a:r>
              <a:rPr lang="es-419" sz="1900" dirty="0"/>
              <a:t> </a:t>
            </a:r>
            <a:r>
              <a:rPr lang="es-419" sz="1900" dirty="0" err="1"/>
              <a:t>docker</a:t>
            </a:r>
            <a:r>
              <a:rPr lang="es-419" sz="1900" dirty="0"/>
              <a:t> </a:t>
            </a:r>
            <a:r>
              <a:rPr lang="es-419" sz="1900" dirty="0" err="1"/>
              <a:t>start</a:t>
            </a:r>
            <a:endParaRPr lang="es-419" sz="1900" dirty="0"/>
          </a:p>
          <a:p>
            <a:pPr lvl="1" indent="-317500">
              <a:spcBef>
                <a:spcPts val="0"/>
              </a:spcBef>
              <a:buSzPts val="1400"/>
              <a:buChar char="○"/>
            </a:pPr>
            <a:r>
              <a:rPr lang="es-419" sz="1900" dirty="0"/>
              <a:t>sudo </a:t>
            </a:r>
            <a:r>
              <a:rPr lang="es-419" sz="1900" dirty="0" err="1"/>
              <a:t>systemctl</a:t>
            </a:r>
            <a:r>
              <a:rPr lang="es-419" sz="1900" dirty="0"/>
              <a:t> </a:t>
            </a:r>
            <a:r>
              <a:rPr lang="es-419" sz="1900" dirty="0" err="1"/>
              <a:t>enable</a:t>
            </a:r>
            <a:r>
              <a:rPr lang="es-419" sz="1900" dirty="0"/>
              <a:t> </a:t>
            </a:r>
            <a:r>
              <a:rPr lang="es-419" sz="1900" dirty="0" err="1"/>
              <a:t>docker</a:t>
            </a:r>
            <a:endParaRPr lang="es-419" sz="1900" dirty="0"/>
          </a:p>
          <a:p>
            <a:pPr lvl="1" indent="-317500">
              <a:spcBef>
                <a:spcPts val="0"/>
              </a:spcBef>
              <a:buSzPts val="1400"/>
              <a:buChar char="○"/>
            </a:pPr>
            <a:r>
              <a:rPr lang="es-419" sz="1900" dirty="0"/>
              <a:t>sudo </a:t>
            </a:r>
            <a:r>
              <a:rPr lang="es-419" sz="1900" dirty="0" err="1"/>
              <a:t>usermod</a:t>
            </a:r>
            <a:r>
              <a:rPr lang="es-419" sz="1900" dirty="0"/>
              <a:t> -a -G </a:t>
            </a:r>
            <a:r>
              <a:rPr lang="es-419" sz="1900" dirty="0" err="1"/>
              <a:t>docker</a:t>
            </a:r>
            <a:r>
              <a:rPr lang="es-419" sz="1900" dirty="0"/>
              <a:t> ec2-user</a:t>
            </a:r>
          </a:p>
          <a:p>
            <a:pPr lvl="1" indent="-317500">
              <a:spcBef>
                <a:spcPts val="0"/>
              </a:spcBef>
              <a:buSzPts val="1400"/>
              <a:buChar char="○"/>
            </a:pPr>
            <a:r>
              <a:rPr lang="es-419" sz="1900" dirty="0"/>
              <a:t>Cierre el terminal y vuelva a abrir para cargar los permisos	</a:t>
            </a:r>
          </a:p>
          <a:p>
            <a:pPr lvl="1" indent="-317500">
              <a:spcBef>
                <a:spcPts val="0"/>
              </a:spcBef>
              <a:buSzPts val="1400"/>
              <a:buChar char="○"/>
            </a:pPr>
            <a:r>
              <a:rPr lang="es-419" sz="1900" dirty="0"/>
              <a:t>Pruebe con: </a:t>
            </a:r>
            <a:r>
              <a:rPr lang="es-419" sz="1900" dirty="0" err="1"/>
              <a:t>docker</a:t>
            </a:r>
            <a:r>
              <a:rPr lang="es-419" sz="1900" dirty="0"/>
              <a:t> info</a:t>
            </a:r>
          </a:p>
          <a:p>
            <a:pPr lvl="0" indent="-342900">
              <a:buSzPts val="1800"/>
              <a:buChar char="●"/>
            </a:pPr>
            <a:r>
              <a:rPr lang="es-419" sz="1900" dirty="0"/>
              <a:t>Azure y GCP:</a:t>
            </a:r>
          </a:p>
          <a:p>
            <a:pPr lvl="1" indent="-317500">
              <a:spcBef>
                <a:spcPts val="0"/>
              </a:spcBef>
              <a:buSzPts val="1400"/>
              <a:buChar char="○"/>
            </a:pPr>
            <a:r>
              <a:rPr lang="es-419" sz="1900" dirty="0"/>
              <a:t>sudo </a:t>
            </a:r>
            <a:r>
              <a:rPr lang="es-419" sz="1900" dirty="0" err="1"/>
              <a:t>apt-get</a:t>
            </a:r>
            <a:r>
              <a:rPr lang="es-419" sz="1900" dirty="0"/>
              <a:t> </a:t>
            </a:r>
            <a:r>
              <a:rPr lang="es-419" sz="1900" dirty="0" err="1"/>
              <a:t>update</a:t>
            </a:r>
            <a:endParaRPr lang="es-419" sz="1900" dirty="0"/>
          </a:p>
          <a:p>
            <a:pPr lvl="1" indent="-317500">
              <a:spcBef>
                <a:spcPts val="0"/>
              </a:spcBef>
              <a:buSzPts val="1400"/>
              <a:buChar char="○"/>
            </a:pPr>
            <a:r>
              <a:rPr lang="es-419" sz="1900" dirty="0"/>
              <a:t>sudo </a:t>
            </a:r>
            <a:r>
              <a:rPr lang="es-419" sz="1900" dirty="0" err="1"/>
              <a:t>apt</a:t>
            </a:r>
            <a:r>
              <a:rPr lang="es-419" sz="1900" dirty="0"/>
              <a:t> </a:t>
            </a:r>
            <a:r>
              <a:rPr lang="es-419" sz="1900" dirty="0" err="1"/>
              <a:t>install</a:t>
            </a:r>
            <a:r>
              <a:rPr lang="es-419" sz="1900" dirty="0"/>
              <a:t> docker.io</a:t>
            </a:r>
          </a:p>
          <a:p>
            <a:pPr lvl="1" indent="-317500">
              <a:spcBef>
                <a:spcPts val="0"/>
              </a:spcBef>
              <a:buSzPts val="1400"/>
              <a:buChar char="○"/>
            </a:pPr>
            <a:r>
              <a:rPr lang="es-419" sz="1900" dirty="0"/>
              <a:t>sudo </a:t>
            </a:r>
            <a:r>
              <a:rPr lang="es-419" sz="1900" dirty="0" err="1"/>
              <a:t>systemctl</a:t>
            </a:r>
            <a:r>
              <a:rPr lang="es-419" sz="1900" dirty="0"/>
              <a:t> </a:t>
            </a:r>
            <a:r>
              <a:rPr lang="es-419" sz="1900" dirty="0" err="1"/>
              <a:t>start</a:t>
            </a:r>
            <a:r>
              <a:rPr lang="es-419" sz="1900" dirty="0"/>
              <a:t> </a:t>
            </a:r>
            <a:r>
              <a:rPr lang="es-419" sz="1900" dirty="0" err="1"/>
              <a:t>docker</a:t>
            </a:r>
            <a:endParaRPr lang="es-419" sz="1900" dirty="0"/>
          </a:p>
          <a:p>
            <a:pPr lvl="1" indent="-317500">
              <a:spcBef>
                <a:spcPts val="0"/>
              </a:spcBef>
              <a:buSzPts val="1400"/>
              <a:buChar char="○"/>
            </a:pPr>
            <a:r>
              <a:rPr lang="es-419" sz="1900" dirty="0"/>
              <a:t>sudo </a:t>
            </a:r>
            <a:r>
              <a:rPr lang="es-419" sz="1900" dirty="0" err="1"/>
              <a:t>systemctl</a:t>
            </a:r>
            <a:r>
              <a:rPr lang="es-419" sz="1900" dirty="0"/>
              <a:t> </a:t>
            </a:r>
            <a:r>
              <a:rPr lang="es-419" sz="1900" dirty="0" err="1"/>
              <a:t>enable</a:t>
            </a:r>
            <a:r>
              <a:rPr lang="es-419" sz="1900" dirty="0"/>
              <a:t> </a:t>
            </a:r>
            <a:r>
              <a:rPr lang="es-419" sz="1900" dirty="0" err="1"/>
              <a:t>docker</a:t>
            </a:r>
            <a:endParaRPr lang="es-419" sz="1900" dirty="0"/>
          </a:p>
          <a:p>
            <a:pPr lvl="1" indent="-317500">
              <a:spcBef>
                <a:spcPts val="0"/>
              </a:spcBef>
              <a:buSzPts val="1400"/>
              <a:buChar char="○"/>
            </a:pPr>
            <a:r>
              <a:rPr lang="es-419" sz="1900" dirty="0"/>
              <a:t>sudo </a:t>
            </a:r>
            <a:r>
              <a:rPr lang="es-419" sz="1900" dirty="0" err="1"/>
              <a:t>usermod</a:t>
            </a:r>
            <a:r>
              <a:rPr lang="es-419" sz="1900" dirty="0"/>
              <a:t> -a -G </a:t>
            </a:r>
            <a:r>
              <a:rPr lang="es-419" sz="1900" dirty="0" err="1"/>
              <a:t>docker</a:t>
            </a:r>
            <a:r>
              <a:rPr lang="es-419" sz="1900" dirty="0"/>
              <a:t> </a:t>
            </a:r>
            <a:r>
              <a:rPr lang="es-419" sz="1900" dirty="0" err="1"/>
              <a:t>azureuser</a:t>
            </a:r>
            <a:endParaRPr lang="es-419" sz="1900" dirty="0"/>
          </a:p>
          <a:p>
            <a:pPr lvl="1" indent="-317500">
              <a:spcBef>
                <a:spcPts val="0"/>
              </a:spcBef>
              <a:buSzPts val="1400"/>
              <a:buChar char="○"/>
            </a:pPr>
            <a:r>
              <a:rPr lang="es-419" sz="1900" dirty="0"/>
              <a:t>Cierre el terminal y vuelva a abrir para cargar los permisos	</a:t>
            </a:r>
          </a:p>
          <a:p>
            <a:pPr lvl="1" indent="-317500">
              <a:spcBef>
                <a:spcPts val="0"/>
              </a:spcBef>
              <a:buSzPts val="1400"/>
              <a:buChar char="○"/>
            </a:pPr>
            <a:r>
              <a:rPr lang="es-419" sz="1900" dirty="0"/>
              <a:t>Pruebe con: </a:t>
            </a:r>
            <a:r>
              <a:rPr lang="es-419" sz="1900" dirty="0" err="1"/>
              <a:t>docker</a:t>
            </a:r>
            <a:r>
              <a:rPr lang="es-419" sz="1900" dirty="0"/>
              <a:t> info</a:t>
            </a:r>
          </a:p>
          <a:p>
            <a:endParaRPr lang="es-PE" dirty="0"/>
          </a:p>
        </p:txBody>
      </p:sp>
      <p:sp>
        <p:nvSpPr>
          <p:cNvPr id="5" name="Google Shape;290;p37">
            <a:extLst>
              <a:ext uri="{FF2B5EF4-FFF2-40B4-BE49-F238E27FC236}">
                <a16:creationId xmlns:a16="http://schemas.microsoft.com/office/drawing/2014/main" id="{9B9752C6-D08F-7AEF-C842-A188BE6EFCB0}"/>
              </a:ext>
            </a:extLst>
          </p:cNvPr>
          <p:cNvSpPr/>
          <p:nvPr/>
        </p:nvSpPr>
        <p:spPr>
          <a:xfrm>
            <a:off x="7142670" y="1922992"/>
            <a:ext cx="4052100" cy="29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419" sz="1400" dirty="0">
                <a:latin typeface="Open Sans"/>
                <a:ea typeface="Open Sans"/>
                <a:cs typeface="Open Sans"/>
                <a:sym typeface="Open Sans"/>
              </a:rPr>
              <a:t>Para </a:t>
            </a:r>
            <a:r>
              <a:rPr lang="es-419" sz="1400" dirty="0" err="1">
                <a:latin typeface="Open Sans"/>
                <a:ea typeface="Open Sans"/>
                <a:cs typeface="Open Sans"/>
                <a:sym typeface="Open Sans"/>
              </a:rPr>
              <a:t>ami</a:t>
            </a:r>
            <a:r>
              <a:rPr lang="es-419" sz="1400" dirty="0">
                <a:latin typeface="Open Sans"/>
                <a:ea typeface="Open Sans"/>
                <a:cs typeface="Open Sans"/>
                <a:sym typeface="Open Sans"/>
              </a:rPr>
              <a:t> </a:t>
            </a:r>
            <a:r>
              <a:rPr lang="es-419" sz="1400" dirty="0" err="1">
                <a:latin typeface="Open Sans"/>
                <a:ea typeface="Open Sans"/>
                <a:cs typeface="Open Sans"/>
                <a:sym typeface="Open Sans"/>
              </a:rPr>
              <a:t>linux</a:t>
            </a:r>
            <a:r>
              <a:rPr lang="es-419" sz="1400" dirty="0">
                <a:latin typeface="Open Sans"/>
                <a:ea typeface="Open Sans"/>
                <a:cs typeface="Open Sans"/>
                <a:sym typeface="Open Sans"/>
              </a:rPr>
              <a:t> 2023: </a:t>
            </a:r>
            <a:r>
              <a:rPr lang="es-419" sz="1400" i="1" dirty="0" err="1">
                <a:latin typeface="Open Sans"/>
                <a:ea typeface="Open Sans"/>
                <a:cs typeface="Open Sans"/>
                <a:sym typeface="Open Sans"/>
              </a:rPr>
              <a:t>yum</a:t>
            </a:r>
            <a:r>
              <a:rPr lang="es-419" sz="1400" i="1" dirty="0">
                <a:latin typeface="Open Sans"/>
                <a:ea typeface="Open Sans"/>
                <a:cs typeface="Open Sans"/>
                <a:sym typeface="Open Sans"/>
              </a:rPr>
              <a:t> </a:t>
            </a:r>
            <a:r>
              <a:rPr lang="es-419" sz="1400" i="1" dirty="0" err="1">
                <a:latin typeface="Open Sans"/>
                <a:ea typeface="Open Sans"/>
                <a:cs typeface="Open Sans"/>
                <a:sym typeface="Open Sans"/>
              </a:rPr>
              <a:t>install</a:t>
            </a:r>
            <a:r>
              <a:rPr lang="es-419" sz="1400" i="1" dirty="0">
                <a:latin typeface="Open Sans"/>
                <a:ea typeface="Open Sans"/>
                <a:cs typeface="Open Sans"/>
                <a:sym typeface="Open Sans"/>
              </a:rPr>
              <a:t> -y </a:t>
            </a:r>
            <a:r>
              <a:rPr lang="es-419" sz="1400" i="1" dirty="0" err="1">
                <a:latin typeface="Open Sans"/>
                <a:ea typeface="Open Sans"/>
                <a:cs typeface="Open Sans"/>
                <a:sym typeface="Open Sans"/>
              </a:rPr>
              <a:t>docker</a:t>
            </a:r>
            <a:endParaRPr sz="1400" i="1" dirty="0">
              <a:latin typeface="Open Sans"/>
              <a:ea typeface="Open Sans"/>
              <a:cs typeface="Open Sans"/>
              <a:sym typeface="Open Sans"/>
            </a:endParaRPr>
          </a:p>
        </p:txBody>
      </p:sp>
      <p:sp>
        <p:nvSpPr>
          <p:cNvPr id="6" name="Google Shape;288;p37">
            <a:extLst>
              <a:ext uri="{FF2B5EF4-FFF2-40B4-BE49-F238E27FC236}">
                <a16:creationId xmlns:a16="http://schemas.microsoft.com/office/drawing/2014/main" id="{112ACE0D-86BA-361B-5990-CABE2EFF1DF8}"/>
              </a:ext>
            </a:extLst>
          </p:cNvPr>
          <p:cNvSpPr/>
          <p:nvPr/>
        </p:nvSpPr>
        <p:spPr>
          <a:xfrm>
            <a:off x="8189433" y="3362004"/>
            <a:ext cx="2703600" cy="6009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419" sz="1100" dirty="0">
                <a:solidFill>
                  <a:schemeClr val="bg1"/>
                </a:solidFill>
              </a:rPr>
              <a:t>Para GCP en vez de </a:t>
            </a:r>
            <a:r>
              <a:rPr lang="es-419" sz="1100" dirty="0" err="1">
                <a:solidFill>
                  <a:schemeClr val="bg1"/>
                </a:solidFill>
              </a:rPr>
              <a:t>azureuser</a:t>
            </a:r>
            <a:r>
              <a:rPr lang="es-419" sz="1100" dirty="0">
                <a:solidFill>
                  <a:schemeClr val="bg1"/>
                </a:solidFill>
              </a:rPr>
              <a:t>, utilizar su usuario de la VM</a:t>
            </a:r>
            <a:endParaRPr sz="1100" dirty="0">
              <a:solidFill>
                <a:schemeClr val="bg1"/>
              </a:solidFill>
            </a:endParaRPr>
          </a:p>
        </p:txBody>
      </p:sp>
      <p:cxnSp>
        <p:nvCxnSpPr>
          <p:cNvPr id="7" name="Google Shape;289;p37">
            <a:extLst>
              <a:ext uri="{FF2B5EF4-FFF2-40B4-BE49-F238E27FC236}">
                <a16:creationId xmlns:a16="http://schemas.microsoft.com/office/drawing/2014/main" id="{A0EADC3D-E998-5319-1A45-4208C3E0BF80}"/>
              </a:ext>
            </a:extLst>
          </p:cNvPr>
          <p:cNvCxnSpPr>
            <a:cxnSpLocks/>
            <a:stCxn id="6" idx="1"/>
          </p:cNvCxnSpPr>
          <p:nvPr/>
        </p:nvCxnSpPr>
        <p:spPr>
          <a:xfrm flipH="1">
            <a:off x="6521481" y="3662454"/>
            <a:ext cx="1667952" cy="557688"/>
          </a:xfrm>
          <a:prstGeom prst="straightConnector1">
            <a:avLst/>
          </a:prstGeom>
          <a:noFill/>
          <a:ln w="9525" cap="flat" cmpd="sng">
            <a:solidFill>
              <a:srgbClr val="FF0000"/>
            </a:solidFill>
            <a:prstDash val="solid"/>
            <a:round/>
            <a:headEnd type="none" w="med" len="med"/>
            <a:tailEnd type="triangle" w="med" len="med"/>
          </a:ln>
        </p:spPr>
      </p:cxnSp>
    </p:spTree>
    <p:extLst>
      <p:ext uri="{BB962C8B-B14F-4D97-AF65-F5344CB8AC3E}">
        <p14:creationId xmlns:p14="http://schemas.microsoft.com/office/powerpoint/2010/main" val="1257613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437CF-0123-651C-2D8C-E836BCF12F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CF8D6F-60E9-70B4-A3FA-814DA1C884D6}"/>
              </a:ext>
            </a:extLst>
          </p:cNvPr>
          <p:cNvSpPr>
            <a:spLocks noGrp="1"/>
          </p:cNvSpPr>
          <p:nvPr>
            <p:ph type="title"/>
          </p:nvPr>
        </p:nvSpPr>
        <p:spPr/>
        <p:txBody>
          <a:bodyPr/>
          <a:lstStyle/>
          <a:p>
            <a:r>
              <a:rPr lang="es-ES" dirty="0"/>
              <a:t>Despliegue con IntelliJ</a:t>
            </a:r>
            <a:endParaRPr lang="es-PE" dirty="0"/>
          </a:p>
        </p:txBody>
      </p:sp>
      <p:sp>
        <p:nvSpPr>
          <p:cNvPr id="3" name="Marcador de número de diapositiva 2">
            <a:extLst>
              <a:ext uri="{FF2B5EF4-FFF2-40B4-BE49-F238E27FC236}">
                <a16:creationId xmlns:a16="http://schemas.microsoft.com/office/drawing/2014/main" id="{7EC05869-C8DC-A934-1DEB-D8F59946CE31}"/>
              </a:ext>
            </a:extLst>
          </p:cNvPr>
          <p:cNvSpPr>
            <a:spLocks noGrp="1"/>
          </p:cNvSpPr>
          <p:nvPr>
            <p:ph type="sldNum" idx="12"/>
          </p:nvPr>
        </p:nvSpPr>
        <p:spPr/>
        <p:txBody>
          <a:bodyPr/>
          <a:lstStyle/>
          <a:p>
            <a:fld id="{52A29C8B-5F70-8945-A2A6-FBD7A17156DB}" type="slidenum">
              <a:rPr lang="es-PE" smtClean="0"/>
              <a:pPr/>
              <a:t>27</a:t>
            </a:fld>
            <a:endParaRPr lang="es-PE"/>
          </a:p>
        </p:txBody>
      </p:sp>
      <p:sp>
        <p:nvSpPr>
          <p:cNvPr id="4" name="Marcador de contenido 3">
            <a:extLst>
              <a:ext uri="{FF2B5EF4-FFF2-40B4-BE49-F238E27FC236}">
                <a16:creationId xmlns:a16="http://schemas.microsoft.com/office/drawing/2014/main" id="{ED6D027A-E7E1-AA32-C99F-BFD64492E195}"/>
              </a:ext>
            </a:extLst>
          </p:cNvPr>
          <p:cNvSpPr>
            <a:spLocks noGrp="1"/>
          </p:cNvSpPr>
          <p:nvPr>
            <p:ph idx="1"/>
          </p:nvPr>
        </p:nvSpPr>
        <p:spPr/>
        <p:txBody>
          <a:bodyPr>
            <a:normAutofit/>
          </a:bodyPr>
          <a:lstStyle/>
          <a:p>
            <a:pPr marL="0" lvl="0" indent="0">
              <a:spcBef>
                <a:spcPts val="0"/>
              </a:spcBef>
              <a:buNone/>
            </a:pPr>
            <a:r>
              <a:rPr lang="es-ES" sz="2000" dirty="0"/>
              <a:t>Abra las configuraciones Spring Boot con </a:t>
            </a:r>
            <a:r>
              <a:rPr lang="es-ES" sz="2000" dirty="0" err="1"/>
              <a:t>docker</a:t>
            </a:r>
            <a:r>
              <a:rPr lang="es-ES" sz="2000" dirty="0"/>
              <a:t>.</a:t>
            </a:r>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400" dirty="0"/>
          </a:p>
          <a:p>
            <a:pPr marL="0" lvl="0" indent="0">
              <a:spcBef>
                <a:spcPts val="1600"/>
              </a:spcBef>
              <a:spcAft>
                <a:spcPts val="1600"/>
              </a:spcAft>
              <a:buNone/>
            </a:pPr>
            <a:r>
              <a:rPr lang="es-ES" sz="2000" dirty="0"/>
              <a:t>Duplique la configuración de </a:t>
            </a:r>
            <a:r>
              <a:rPr lang="es-ES" sz="2000" dirty="0" err="1"/>
              <a:t>SpringOnDocker</a:t>
            </a:r>
            <a:r>
              <a:rPr lang="es-ES" sz="2000" dirty="0"/>
              <a:t> (para mantener los despliegues locales y los remotos por separado).</a:t>
            </a:r>
          </a:p>
          <a:p>
            <a:endParaRPr lang="es-PE" sz="2000" dirty="0"/>
          </a:p>
        </p:txBody>
      </p:sp>
      <p:pic>
        <p:nvPicPr>
          <p:cNvPr id="5" name="Google Shape;302;p38">
            <a:extLst>
              <a:ext uri="{FF2B5EF4-FFF2-40B4-BE49-F238E27FC236}">
                <a16:creationId xmlns:a16="http://schemas.microsoft.com/office/drawing/2014/main" id="{A24A8751-21A0-5330-6224-17476B7193D7}"/>
              </a:ext>
            </a:extLst>
          </p:cNvPr>
          <p:cNvPicPr preferRelativeResize="0"/>
          <p:nvPr/>
        </p:nvPicPr>
        <p:blipFill>
          <a:blip r:embed="rId2">
            <a:alphaModFix/>
          </a:blip>
          <a:stretch>
            <a:fillRect/>
          </a:stretch>
        </p:blipFill>
        <p:spPr>
          <a:xfrm>
            <a:off x="2730896" y="1762060"/>
            <a:ext cx="2653843" cy="1499319"/>
          </a:xfrm>
          <a:prstGeom prst="rect">
            <a:avLst/>
          </a:prstGeom>
          <a:noFill/>
          <a:ln>
            <a:noFill/>
          </a:ln>
        </p:spPr>
      </p:pic>
      <p:sp>
        <p:nvSpPr>
          <p:cNvPr id="6" name="Google Shape;298;p38">
            <a:extLst>
              <a:ext uri="{FF2B5EF4-FFF2-40B4-BE49-F238E27FC236}">
                <a16:creationId xmlns:a16="http://schemas.microsoft.com/office/drawing/2014/main" id="{FD31C9F3-FE69-C945-5BB0-AC98C90E249D}"/>
              </a:ext>
            </a:extLst>
          </p:cNvPr>
          <p:cNvSpPr/>
          <p:nvPr/>
        </p:nvSpPr>
        <p:spPr>
          <a:xfrm rot="16200000">
            <a:off x="4778173" y="4757825"/>
            <a:ext cx="502200" cy="4848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299;p38">
            <a:extLst>
              <a:ext uri="{FF2B5EF4-FFF2-40B4-BE49-F238E27FC236}">
                <a16:creationId xmlns:a16="http://schemas.microsoft.com/office/drawing/2014/main" id="{915BAF77-90B3-0201-963D-84DA7577AC9D}"/>
              </a:ext>
            </a:extLst>
          </p:cNvPr>
          <p:cNvPicPr preferRelativeResize="0"/>
          <p:nvPr/>
        </p:nvPicPr>
        <p:blipFill>
          <a:blip r:embed="rId3">
            <a:alphaModFix/>
          </a:blip>
          <a:stretch>
            <a:fillRect/>
          </a:stretch>
        </p:blipFill>
        <p:spPr>
          <a:xfrm>
            <a:off x="2410385" y="4363676"/>
            <a:ext cx="1988638" cy="1273100"/>
          </a:xfrm>
          <a:prstGeom prst="rect">
            <a:avLst/>
          </a:prstGeom>
          <a:noFill/>
          <a:ln>
            <a:noFill/>
          </a:ln>
        </p:spPr>
      </p:pic>
      <p:sp>
        <p:nvSpPr>
          <p:cNvPr id="8" name="Google Shape;300;p38">
            <a:extLst>
              <a:ext uri="{FF2B5EF4-FFF2-40B4-BE49-F238E27FC236}">
                <a16:creationId xmlns:a16="http://schemas.microsoft.com/office/drawing/2014/main" id="{6701809A-FFE0-C614-4DBC-799C7528FBC9}"/>
              </a:ext>
            </a:extLst>
          </p:cNvPr>
          <p:cNvSpPr/>
          <p:nvPr/>
        </p:nvSpPr>
        <p:spPr>
          <a:xfrm>
            <a:off x="2873535" y="4164476"/>
            <a:ext cx="282000" cy="4848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301;p38">
            <a:extLst>
              <a:ext uri="{FF2B5EF4-FFF2-40B4-BE49-F238E27FC236}">
                <a16:creationId xmlns:a16="http://schemas.microsoft.com/office/drawing/2014/main" id="{98589FDD-991C-B3DF-5B38-EC9685734D1E}"/>
              </a:ext>
            </a:extLst>
          </p:cNvPr>
          <p:cNvPicPr preferRelativeResize="0"/>
          <p:nvPr/>
        </p:nvPicPr>
        <p:blipFill>
          <a:blip r:embed="rId4">
            <a:alphaModFix/>
          </a:blip>
          <a:stretch>
            <a:fillRect/>
          </a:stretch>
        </p:blipFill>
        <p:spPr>
          <a:xfrm>
            <a:off x="5659523" y="4160401"/>
            <a:ext cx="2057400" cy="1476375"/>
          </a:xfrm>
          <a:prstGeom prst="rect">
            <a:avLst/>
          </a:prstGeom>
          <a:noFill/>
          <a:ln>
            <a:noFill/>
          </a:ln>
        </p:spPr>
      </p:pic>
    </p:spTree>
    <p:extLst>
      <p:ext uri="{BB962C8B-B14F-4D97-AF65-F5344CB8AC3E}">
        <p14:creationId xmlns:p14="http://schemas.microsoft.com/office/powerpoint/2010/main" val="2863648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D5648-9356-23A5-89D8-487200D587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1CB2BF-7B40-134E-B169-FF5E5B037DE1}"/>
              </a:ext>
            </a:extLst>
          </p:cNvPr>
          <p:cNvSpPr>
            <a:spLocks noGrp="1"/>
          </p:cNvSpPr>
          <p:nvPr>
            <p:ph type="title"/>
          </p:nvPr>
        </p:nvSpPr>
        <p:spPr/>
        <p:txBody>
          <a:bodyPr/>
          <a:lstStyle/>
          <a:p>
            <a:r>
              <a:rPr lang="es-ES" dirty="0"/>
              <a:t>Despliegue con IntelliJ</a:t>
            </a:r>
            <a:endParaRPr lang="es-PE" dirty="0"/>
          </a:p>
        </p:txBody>
      </p:sp>
      <p:sp>
        <p:nvSpPr>
          <p:cNvPr id="3" name="Marcador de número de diapositiva 2">
            <a:extLst>
              <a:ext uri="{FF2B5EF4-FFF2-40B4-BE49-F238E27FC236}">
                <a16:creationId xmlns:a16="http://schemas.microsoft.com/office/drawing/2014/main" id="{515ABD80-68AA-AB99-5EEE-9C38DD5736C1}"/>
              </a:ext>
            </a:extLst>
          </p:cNvPr>
          <p:cNvSpPr>
            <a:spLocks noGrp="1"/>
          </p:cNvSpPr>
          <p:nvPr>
            <p:ph type="sldNum" idx="12"/>
          </p:nvPr>
        </p:nvSpPr>
        <p:spPr/>
        <p:txBody>
          <a:bodyPr/>
          <a:lstStyle/>
          <a:p>
            <a:fld id="{52A29C8B-5F70-8945-A2A6-FBD7A17156DB}" type="slidenum">
              <a:rPr lang="es-PE" smtClean="0"/>
              <a:pPr/>
              <a:t>28</a:t>
            </a:fld>
            <a:endParaRPr lang="es-PE"/>
          </a:p>
        </p:txBody>
      </p:sp>
      <p:sp>
        <p:nvSpPr>
          <p:cNvPr id="4" name="Marcador de contenido 3">
            <a:extLst>
              <a:ext uri="{FF2B5EF4-FFF2-40B4-BE49-F238E27FC236}">
                <a16:creationId xmlns:a16="http://schemas.microsoft.com/office/drawing/2014/main" id="{D1B7C5BB-B84F-4648-B563-0684EC521B0C}"/>
              </a:ext>
            </a:extLst>
          </p:cNvPr>
          <p:cNvSpPr>
            <a:spLocks noGrp="1"/>
          </p:cNvSpPr>
          <p:nvPr>
            <p:ph idx="1"/>
          </p:nvPr>
        </p:nvSpPr>
        <p:spPr/>
        <p:txBody>
          <a:bodyPr>
            <a:normAutofit/>
          </a:bodyPr>
          <a:lstStyle/>
          <a:p>
            <a:pPr marL="0" lvl="0" indent="0">
              <a:spcBef>
                <a:spcPts val="0"/>
              </a:spcBef>
              <a:buNone/>
            </a:pPr>
            <a:r>
              <a:rPr lang="es-ES" sz="1800" dirty="0"/>
              <a:t>Cambie de nombre “</a:t>
            </a:r>
            <a:r>
              <a:rPr lang="es-ES" sz="1800" b="1" dirty="0" err="1"/>
              <a:t>SpringOnDocker</a:t>
            </a:r>
            <a:r>
              <a:rPr lang="es-ES" sz="1800" b="1" dirty="0"/>
              <a:t> (1)</a:t>
            </a:r>
            <a:r>
              <a:rPr lang="es-ES" sz="1800" dirty="0"/>
              <a:t>” a “</a:t>
            </a:r>
            <a:r>
              <a:rPr lang="es-ES" sz="1800" b="1" dirty="0" err="1"/>
              <a:t>SpringOnDocker</a:t>
            </a:r>
            <a:r>
              <a:rPr lang="es-ES" sz="1800" b="1" dirty="0"/>
              <a:t>-Remoto</a:t>
            </a:r>
            <a:r>
              <a:rPr lang="es-ES" sz="1800" dirty="0"/>
              <a:t>”.</a:t>
            </a:r>
          </a:p>
          <a:p>
            <a:pPr marL="0" lvl="0" indent="0">
              <a:spcBef>
                <a:spcPts val="1600"/>
              </a:spcBef>
              <a:buNone/>
            </a:pPr>
            <a:endParaRPr lang="es-ES" sz="2800" dirty="0"/>
          </a:p>
          <a:p>
            <a:pPr marL="0" lvl="0" indent="0">
              <a:spcBef>
                <a:spcPts val="1600"/>
              </a:spcBef>
              <a:buNone/>
            </a:pPr>
            <a:endParaRPr lang="es-ES" sz="1800" dirty="0"/>
          </a:p>
          <a:p>
            <a:pPr marL="0" lvl="0" indent="0">
              <a:spcBef>
                <a:spcPts val="1600"/>
              </a:spcBef>
              <a:spcAft>
                <a:spcPts val="1600"/>
              </a:spcAft>
              <a:buNone/>
            </a:pPr>
            <a:r>
              <a:rPr lang="es-ES" sz="1800" dirty="0"/>
              <a:t>Así mismo, donde dice </a:t>
            </a:r>
            <a:r>
              <a:rPr lang="es-ES" sz="1800" b="1" dirty="0"/>
              <a:t>Server </a:t>
            </a:r>
            <a:r>
              <a:rPr lang="es-ES" sz="1800" dirty="0"/>
              <a:t>“Docker”, seleccione “</a:t>
            </a:r>
            <a:r>
              <a:rPr lang="es-ES" sz="1800" b="1" dirty="0" err="1"/>
              <a:t>Create</a:t>
            </a:r>
            <a:r>
              <a:rPr lang="es-ES" sz="1800" b="1" dirty="0"/>
              <a:t> new</a:t>
            </a:r>
            <a:r>
              <a:rPr lang="es-ES" sz="1800" dirty="0"/>
              <a:t>”, para elegir un </a:t>
            </a:r>
            <a:r>
              <a:rPr lang="es-ES" sz="1800" dirty="0" err="1"/>
              <a:t>docker</a:t>
            </a:r>
            <a:r>
              <a:rPr lang="es-ES" sz="1800" dirty="0"/>
              <a:t> remoto.</a:t>
            </a:r>
          </a:p>
          <a:p>
            <a:endParaRPr lang="es-PE" sz="1800" dirty="0"/>
          </a:p>
        </p:txBody>
      </p:sp>
      <p:pic>
        <p:nvPicPr>
          <p:cNvPr id="5" name="Google Shape;310;p39">
            <a:extLst>
              <a:ext uri="{FF2B5EF4-FFF2-40B4-BE49-F238E27FC236}">
                <a16:creationId xmlns:a16="http://schemas.microsoft.com/office/drawing/2014/main" id="{A1193B4F-2CC9-60F3-9E63-B943F1977A1F}"/>
              </a:ext>
            </a:extLst>
          </p:cNvPr>
          <p:cNvPicPr preferRelativeResize="0"/>
          <p:nvPr/>
        </p:nvPicPr>
        <p:blipFill>
          <a:blip r:embed="rId2">
            <a:alphaModFix/>
          </a:blip>
          <a:stretch>
            <a:fillRect/>
          </a:stretch>
        </p:blipFill>
        <p:spPr>
          <a:xfrm>
            <a:off x="2734744" y="1702708"/>
            <a:ext cx="6509498" cy="977722"/>
          </a:xfrm>
          <a:prstGeom prst="rect">
            <a:avLst/>
          </a:prstGeom>
          <a:noFill/>
          <a:ln>
            <a:noFill/>
          </a:ln>
        </p:spPr>
      </p:pic>
      <p:pic>
        <p:nvPicPr>
          <p:cNvPr id="6" name="Google Shape;311;p39">
            <a:extLst>
              <a:ext uri="{FF2B5EF4-FFF2-40B4-BE49-F238E27FC236}">
                <a16:creationId xmlns:a16="http://schemas.microsoft.com/office/drawing/2014/main" id="{9BFABE7C-88C9-16D7-20B7-49C190B5E833}"/>
              </a:ext>
            </a:extLst>
          </p:cNvPr>
          <p:cNvPicPr preferRelativeResize="0"/>
          <p:nvPr/>
        </p:nvPicPr>
        <p:blipFill>
          <a:blip r:embed="rId3">
            <a:alphaModFix/>
          </a:blip>
          <a:stretch>
            <a:fillRect/>
          </a:stretch>
        </p:blipFill>
        <p:spPr>
          <a:xfrm>
            <a:off x="2446243" y="3529223"/>
            <a:ext cx="6867525" cy="1771650"/>
          </a:xfrm>
          <a:prstGeom prst="rect">
            <a:avLst/>
          </a:prstGeom>
          <a:noFill/>
          <a:ln>
            <a:noFill/>
          </a:ln>
        </p:spPr>
      </p:pic>
      <p:sp>
        <p:nvSpPr>
          <p:cNvPr id="7" name="Google Shape;312;p39">
            <a:extLst>
              <a:ext uri="{FF2B5EF4-FFF2-40B4-BE49-F238E27FC236}">
                <a16:creationId xmlns:a16="http://schemas.microsoft.com/office/drawing/2014/main" id="{CBD180DB-EC22-C414-A5D1-EB34BD6EAF8A}"/>
              </a:ext>
            </a:extLst>
          </p:cNvPr>
          <p:cNvSpPr/>
          <p:nvPr/>
        </p:nvSpPr>
        <p:spPr>
          <a:xfrm rot="16200000">
            <a:off x="5495993" y="4807372"/>
            <a:ext cx="502200" cy="4848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8435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24C93-BB5E-EFDE-99B0-9A5E30AB1FC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B30865-083E-B566-B76E-CC0CEE1E6A2B}"/>
              </a:ext>
            </a:extLst>
          </p:cNvPr>
          <p:cNvSpPr>
            <a:spLocks noGrp="1"/>
          </p:cNvSpPr>
          <p:nvPr>
            <p:ph type="title"/>
          </p:nvPr>
        </p:nvSpPr>
        <p:spPr/>
        <p:txBody>
          <a:bodyPr/>
          <a:lstStyle/>
          <a:p>
            <a:r>
              <a:rPr lang="es-ES" dirty="0"/>
              <a:t>Configuración de un Docker </a:t>
            </a:r>
            <a:r>
              <a:rPr lang="es-ES" dirty="0" err="1"/>
              <a:t>daemon</a:t>
            </a:r>
            <a:endParaRPr lang="es-PE" dirty="0"/>
          </a:p>
        </p:txBody>
      </p:sp>
      <p:sp>
        <p:nvSpPr>
          <p:cNvPr id="3" name="Marcador de número de diapositiva 2">
            <a:extLst>
              <a:ext uri="{FF2B5EF4-FFF2-40B4-BE49-F238E27FC236}">
                <a16:creationId xmlns:a16="http://schemas.microsoft.com/office/drawing/2014/main" id="{EB85996D-9C32-4635-EE24-DDCA5D913340}"/>
              </a:ext>
            </a:extLst>
          </p:cNvPr>
          <p:cNvSpPr>
            <a:spLocks noGrp="1"/>
          </p:cNvSpPr>
          <p:nvPr>
            <p:ph type="sldNum" idx="12"/>
          </p:nvPr>
        </p:nvSpPr>
        <p:spPr/>
        <p:txBody>
          <a:bodyPr/>
          <a:lstStyle/>
          <a:p>
            <a:fld id="{52A29C8B-5F70-8945-A2A6-FBD7A17156DB}" type="slidenum">
              <a:rPr lang="es-PE" smtClean="0"/>
              <a:pPr/>
              <a:t>29</a:t>
            </a:fld>
            <a:endParaRPr lang="es-PE"/>
          </a:p>
        </p:txBody>
      </p:sp>
      <p:sp>
        <p:nvSpPr>
          <p:cNvPr id="4" name="Marcador de contenido 3">
            <a:extLst>
              <a:ext uri="{FF2B5EF4-FFF2-40B4-BE49-F238E27FC236}">
                <a16:creationId xmlns:a16="http://schemas.microsoft.com/office/drawing/2014/main" id="{3C9DEA5A-6256-BF58-9BBF-BF9471EAC72A}"/>
              </a:ext>
            </a:extLst>
          </p:cNvPr>
          <p:cNvSpPr>
            <a:spLocks noGrp="1"/>
          </p:cNvSpPr>
          <p:nvPr>
            <p:ph idx="1"/>
          </p:nvPr>
        </p:nvSpPr>
        <p:spPr/>
        <p:txBody>
          <a:bodyPr/>
          <a:lstStyle/>
          <a:p>
            <a:r>
              <a:rPr lang="es-ES" dirty="0"/>
              <a:t>Aquí configurará un </a:t>
            </a:r>
            <a:r>
              <a:rPr lang="es-ES" dirty="0" err="1"/>
              <a:t>docker</a:t>
            </a:r>
            <a:r>
              <a:rPr lang="es-ES" dirty="0"/>
              <a:t> </a:t>
            </a:r>
            <a:r>
              <a:rPr lang="es-ES" dirty="0" err="1"/>
              <a:t>daemon</a:t>
            </a:r>
            <a:r>
              <a:rPr lang="es-ES" dirty="0"/>
              <a:t> remoto. Coloque un nombre distintivo, </a:t>
            </a:r>
            <a:r>
              <a:rPr lang="es-ES" b="1" dirty="0"/>
              <a:t>seleccione SSH</a:t>
            </a:r>
            <a:r>
              <a:rPr lang="es-ES" dirty="0"/>
              <a:t> y </a:t>
            </a:r>
            <a:r>
              <a:rPr lang="es-ES" b="1" dirty="0"/>
              <a:t>luego los 3 puntos</a:t>
            </a:r>
            <a:r>
              <a:rPr lang="es-ES" dirty="0"/>
              <a:t>.</a:t>
            </a:r>
          </a:p>
          <a:p>
            <a:endParaRPr lang="es-PE" dirty="0"/>
          </a:p>
        </p:txBody>
      </p:sp>
      <p:pic>
        <p:nvPicPr>
          <p:cNvPr id="5" name="Google Shape;320;p40">
            <a:extLst>
              <a:ext uri="{FF2B5EF4-FFF2-40B4-BE49-F238E27FC236}">
                <a16:creationId xmlns:a16="http://schemas.microsoft.com/office/drawing/2014/main" id="{9A6204A8-6852-B423-D527-2AF5D4A799CF}"/>
              </a:ext>
            </a:extLst>
          </p:cNvPr>
          <p:cNvPicPr preferRelativeResize="0"/>
          <p:nvPr/>
        </p:nvPicPr>
        <p:blipFill>
          <a:blip r:embed="rId2">
            <a:alphaModFix/>
          </a:blip>
          <a:stretch>
            <a:fillRect/>
          </a:stretch>
        </p:blipFill>
        <p:spPr>
          <a:xfrm>
            <a:off x="2850204" y="2345967"/>
            <a:ext cx="5788704" cy="3046776"/>
          </a:xfrm>
          <a:prstGeom prst="rect">
            <a:avLst/>
          </a:prstGeom>
          <a:noFill/>
          <a:ln>
            <a:noFill/>
          </a:ln>
        </p:spPr>
      </p:pic>
    </p:spTree>
    <p:extLst>
      <p:ext uri="{BB962C8B-B14F-4D97-AF65-F5344CB8AC3E}">
        <p14:creationId xmlns:p14="http://schemas.microsoft.com/office/powerpoint/2010/main" val="3747476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91AB-1C53-4B5A-14C2-697B36B58B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8B5309-2999-D5AD-9A63-B9726B109445}"/>
              </a:ext>
            </a:extLst>
          </p:cNvPr>
          <p:cNvSpPr>
            <a:spLocks noGrp="1"/>
          </p:cNvSpPr>
          <p:nvPr>
            <p:ph type="title"/>
          </p:nvPr>
        </p:nvSpPr>
        <p:spPr/>
        <p:txBody>
          <a:bodyPr/>
          <a:lstStyle/>
          <a:p>
            <a:r>
              <a:rPr lang="es-ES" dirty="0"/>
              <a:t>Configuración de un Docker </a:t>
            </a:r>
            <a:r>
              <a:rPr lang="es-ES" dirty="0" err="1"/>
              <a:t>daemon</a:t>
            </a:r>
            <a:endParaRPr lang="es-PE" dirty="0"/>
          </a:p>
        </p:txBody>
      </p:sp>
      <p:sp>
        <p:nvSpPr>
          <p:cNvPr id="3" name="Marcador de número de diapositiva 2">
            <a:extLst>
              <a:ext uri="{FF2B5EF4-FFF2-40B4-BE49-F238E27FC236}">
                <a16:creationId xmlns:a16="http://schemas.microsoft.com/office/drawing/2014/main" id="{EFE9F00F-CC47-FB6D-6BAD-25D3C2A319CD}"/>
              </a:ext>
            </a:extLst>
          </p:cNvPr>
          <p:cNvSpPr>
            <a:spLocks noGrp="1"/>
          </p:cNvSpPr>
          <p:nvPr>
            <p:ph type="sldNum" idx="12"/>
          </p:nvPr>
        </p:nvSpPr>
        <p:spPr/>
        <p:txBody>
          <a:bodyPr/>
          <a:lstStyle/>
          <a:p>
            <a:fld id="{52A29C8B-5F70-8945-A2A6-FBD7A17156DB}" type="slidenum">
              <a:rPr lang="es-PE" smtClean="0"/>
              <a:pPr/>
              <a:t>30</a:t>
            </a:fld>
            <a:endParaRPr lang="es-PE"/>
          </a:p>
        </p:txBody>
      </p:sp>
      <p:sp>
        <p:nvSpPr>
          <p:cNvPr id="4" name="Marcador de contenido 3">
            <a:extLst>
              <a:ext uri="{FF2B5EF4-FFF2-40B4-BE49-F238E27FC236}">
                <a16:creationId xmlns:a16="http://schemas.microsoft.com/office/drawing/2014/main" id="{7AD6A0BA-EC1D-6944-FAB4-0AF8AF5E5FD0}"/>
              </a:ext>
            </a:extLst>
          </p:cNvPr>
          <p:cNvSpPr>
            <a:spLocks noGrp="1"/>
          </p:cNvSpPr>
          <p:nvPr>
            <p:ph idx="1"/>
          </p:nvPr>
        </p:nvSpPr>
        <p:spPr/>
        <p:txBody>
          <a:bodyPr/>
          <a:lstStyle/>
          <a:p>
            <a:r>
              <a:rPr lang="es-ES" dirty="0"/>
              <a:t>Presione el </a:t>
            </a:r>
            <a:r>
              <a:rPr lang="es-ES" b="1" dirty="0">
                <a:solidFill>
                  <a:schemeClr val="lt1"/>
                </a:solidFill>
                <a:highlight>
                  <a:srgbClr val="2B2B2B"/>
                </a:highlight>
                <a:latin typeface="Source Code Pro"/>
                <a:ea typeface="Source Code Pro"/>
                <a:cs typeface="Source Code Pro"/>
                <a:sym typeface="Source Code Pro"/>
              </a:rPr>
              <a:t>+</a:t>
            </a:r>
            <a:r>
              <a:rPr lang="es-ES" dirty="0"/>
              <a:t> y adicione la configuración SSH, la que usa para conectarse a su instancia (</a:t>
            </a:r>
            <a:r>
              <a:rPr lang="es-ES" dirty="0" err="1"/>
              <a:t>aws</a:t>
            </a:r>
            <a:r>
              <a:rPr lang="es-ES" dirty="0"/>
              <a:t> o </a:t>
            </a:r>
            <a:r>
              <a:rPr lang="es-ES" dirty="0" err="1"/>
              <a:t>azure</a:t>
            </a:r>
            <a:r>
              <a:rPr lang="es-ES" dirty="0"/>
              <a:t>).</a:t>
            </a:r>
          </a:p>
          <a:p>
            <a:endParaRPr lang="es-PE" dirty="0"/>
          </a:p>
        </p:txBody>
      </p:sp>
      <p:cxnSp>
        <p:nvCxnSpPr>
          <p:cNvPr id="7" name="Google Shape;330;p41">
            <a:extLst>
              <a:ext uri="{FF2B5EF4-FFF2-40B4-BE49-F238E27FC236}">
                <a16:creationId xmlns:a16="http://schemas.microsoft.com/office/drawing/2014/main" id="{4F9AF9A4-9B64-76B9-4074-939D4975CD89}"/>
              </a:ext>
            </a:extLst>
          </p:cNvPr>
          <p:cNvCxnSpPr/>
          <p:nvPr/>
        </p:nvCxnSpPr>
        <p:spPr>
          <a:xfrm>
            <a:off x="4980636" y="4834257"/>
            <a:ext cx="1040100" cy="440700"/>
          </a:xfrm>
          <a:prstGeom prst="straightConnector1">
            <a:avLst/>
          </a:prstGeom>
          <a:noFill/>
          <a:ln w="9525" cap="flat" cmpd="sng">
            <a:solidFill>
              <a:srgbClr val="FF0000"/>
            </a:solidFill>
            <a:prstDash val="solid"/>
            <a:round/>
            <a:headEnd type="none" w="med" len="med"/>
            <a:tailEnd type="triangle" w="med" len="med"/>
          </a:ln>
        </p:spPr>
      </p:cxnSp>
      <p:sp>
        <p:nvSpPr>
          <p:cNvPr id="8" name="Google Shape;331;p41">
            <a:extLst>
              <a:ext uri="{FF2B5EF4-FFF2-40B4-BE49-F238E27FC236}">
                <a16:creationId xmlns:a16="http://schemas.microsoft.com/office/drawing/2014/main" id="{0C76BA49-D749-DD51-C808-F89F95193648}"/>
              </a:ext>
            </a:extLst>
          </p:cNvPr>
          <p:cNvSpPr txBox="1"/>
          <p:nvPr/>
        </p:nvSpPr>
        <p:spPr>
          <a:xfrm>
            <a:off x="7893186" y="3806082"/>
            <a:ext cx="2186100"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200" dirty="0">
                <a:latin typeface="Open Sans"/>
                <a:ea typeface="Open Sans"/>
                <a:cs typeface="Open Sans"/>
                <a:sym typeface="Open Sans"/>
              </a:rPr>
              <a:t>guarde y regrese a la configuración principal</a:t>
            </a:r>
            <a:endParaRPr sz="1200" dirty="0">
              <a:latin typeface="Open Sans"/>
              <a:ea typeface="Open Sans"/>
              <a:cs typeface="Open Sans"/>
              <a:sym typeface="Open Sans"/>
            </a:endParaRPr>
          </a:p>
        </p:txBody>
      </p:sp>
      <p:pic>
        <p:nvPicPr>
          <p:cNvPr id="12" name="Imagen 11">
            <a:extLst>
              <a:ext uri="{FF2B5EF4-FFF2-40B4-BE49-F238E27FC236}">
                <a16:creationId xmlns:a16="http://schemas.microsoft.com/office/drawing/2014/main" id="{B5C54A29-A4DA-C7E4-CDAD-0A4EECAD72C4}"/>
              </a:ext>
            </a:extLst>
          </p:cNvPr>
          <p:cNvPicPr>
            <a:picLocks noChangeAspect="1"/>
          </p:cNvPicPr>
          <p:nvPr/>
        </p:nvPicPr>
        <p:blipFill>
          <a:blip r:embed="rId2"/>
          <a:stretch>
            <a:fillRect/>
          </a:stretch>
        </p:blipFill>
        <p:spPr>
          <a:xfrm>
            <a:off x="997230" y="2170074"/>
            <a:ext cx="5639289" cy="2664183"/>
          </a:xfrm>
          <a:prstGeom prst="rect">
            <a:avLst/>
          </a:prstGeom>
        </p:spPr>
      </p:pic>
      <p:pic>
        <p:nvPicPr>
          <p:cNvPr id="6" name="Google Shape;329;p41">
            <a:extLst>
              <a:ext uri="{FF2B5EF4-FFF2-40B4-BE49-F238E27FC236}">
                <a16:creationId xmlns:a16="http://schemas.microsoft.com/office/drawing/2014/main" id="{77ADC9D8-C271-9096-B0A1-8282B33BCEA0}"/>
              </a:ext>
            </a:extLst>
          </p:cNvPr>
          <p:cNvPicPr preferRelativeResize="0"/>
          <p:nvPr/>
        </p:nvPicPr>
        <p:blipFill>
          <a:blip r:embed="rId3">
            <a:alphaModFix/>
          </a:blip>
          <a:stretch>
            <a:fillRect/>
          </a:stretch>
        </p:blipFill>
        <p:spPr>
          <a:xfrm>
            <a:off x="6017279" y="4320516"/>
            <a:ext cx="4305300" cy="1476375"/>
          </a:xfrm>
          <a:prstGeom prst="rect">
            <a:avLst/>
          </a:prstGeom>
          <a:noFill/>
          <a:ln>
            <a:noFill/>
          </a:ln>
        </p:spPr>
      </p:pic>
    </p:spTree>
    <p:extLst>
      <p:ext uri="{BB962C8B-B14F-4D97-AF65-F5344CB8AC3E}">
        <p14:creationId xmlns:p14="http://schemas.microsoft.com/office/powerpoint/2010/main" val="4135837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BFE4-AA4F-D985-27B0-577BC9BBC3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272C92-F60A-1556-6EAA-92FF575FD785}"/>
              </a:ext>
            </a:extLst>
          </p:cNvPr>
          <p:cNvSpPr>
            <a:spLocks noGrp="1"/>
          </p:cNvSpPr>
          <p:nvPr>
            <p:ph type="title"/>
          </p:nvPr>
        </p:nvSpPr>
        <p:spPr/>
        <p:txBody>
          <a:bodyPr/>
          <a:lstStyle/>
          <a:p>
            <a:r>
              <a:rPr lang="es-ES" dirty="0"/>
              <a:t>URL de la base de datos</a:t>
            </a:r>
            <a:endParaRPr lang="es-PE" dirty="0"/>
          </a:p>
        </p:txBody>
      </p:sp>
      <p:sp>
        <p:nvSpPr>
          <p:cNvPr id="3" name="Marcador de número de diapositiva 2">
            <a:extLst>
              <a:ext uri="{FF2B5EF4-FFF2-40B4-BE49-F238E27FC236}">
                <a16:creationId xmlns:a16="http://schemas.microsoft.com/office/drawing/2014/main" id="{C316E4B5-353F-8943-0BEE-BA6A820D771B}"/>
              </a:ext>
            </a:extLst>
          </p:cNvPr>
          <p:cNvSpPr>
            <a:spLocks noGrp="1"/>
          </p:cNvSpPr>
          <p:nvPr>
            <p:ph type="sldNum" idx="12"/>
          </p:nvPr>
        </p:nvSpPr>
        <p:spPr/>
        <p:txBody>
          <a:bodyPr/>
          <a:lstStyle/>
          <a:p>
            <a:fld id="{52A29C8B-5F70-8945-A2A6-FBD7A17156DB}" type="slidenum">
              <a:rPr lang="es-PE" smtClean="0"/>
              <a:pPr/>
              <a:t>31</a:t>
            </a:fld>
            <a:endParaRPr lang="es-PE"/>
          </a:p>
        </p:txBody>
      </p:sp>
      <p:sp>
        <p:nvSpPr>
          <p:cNvPr id="4" name="Marcador de contenido 3">
            <a:extLst>
              <a:ext uri="{FF2B5EF4-FFF2-40B4-BE49-F238E27FC236}">
                <a16:creationId xmlns:a16="http://schemas.microsoft.com/office/drawing/2014/main" id="{EC5F7765-4FFA-0303-2877-BFDBB983288E}"/>
              </a:ext>
            </a:extLst>
          </p:cNvPr>
          <p:cNvSpPr>
            <a:spLocks noGrp="1"/>
          </p:cNvSpPr>
          <p:nvPr>
            <p:ph idx="1"/>
          </p:nvPr>
        </p:nvSpPr>
        <p:spPr/>
        <p:txBody>
          <a:bodyPr>
            <a:normAutofit/>
          </a:bodyPr>
          <a:lstStyle/>
          <a:p>
            <a:r>
              <a:rPr lang="es-ES" sz="1800" dirty="0"/>
              <a:t>En las variables de entorno, debemos indicar la URL del servicio donde corre nuestra base de datos administrada (AWS, Azure o GCP), así como el usuario y </a:t>
            </a:r>
            <a:r>
              <a:rPr lang="es-ES" sz="1800" dirty="0" err="1"/>
              <a:t>password</a:t>
            </a:r>
            <a:r>
              <a:rPr lang="es-ES" sz="1800" dirty="0"/>
              <a:t>.</a:t>
            </a:r>
          </a:p>
          <a:p>
            <a:endParaRPr lang="es-PE" sz="1800" dirty="0"/>
          </a:p>
        </p:txBody>
      </p:sp>
      <p:pic>
        <p:nvPicPr>
          <p:cNvPr id="5" name="Google Shape;339;p42">
            <a:extLst>
              <a:ext uri="{FF2B5EF4-FFF2-40B4-BE49-F238E27FC236}">
                <a16:creationId xmlns:a16="http://schemas.microsoft.com/office/drawing/2014/main" id="{B5ADE775-DCF8-068C-6FD1-14C3983DDB48}"/>
              </a:ext>
            </a:extLst>
          </p:cNvPr>
          <p:cNvPicPr preferRelativeResize="0"/>
          <p:nvPr/>
        </p:nvPicPr>
        <p:blipFill rotWithShape="1">
          <a:blip r:embed="rId2">
            <a:alphaModFix/>
          </a:blip>
          <a:srcRect b="27844"/>
          <a:stretch/>
        </p:blipFill>
        <p:spPr>
          <a:xfrm>
            <a:off x="3040575" y="2132900"/>
            <a:ext cx="6110850" cy="1296100"/>
          </a:xfrm>
          <a:prstGeom prst="rect">
            <a:avLst/>
          </a:prstGeom>
          <a:noFill/>
          <a:ln>
            <a:noFill/>
          </a:ln>
        </p:spPr>
      </p:pic>
      <p:sp>
        <p:nvSpPr>
          <p:cNvPr id="6" name="Google Shape;340;p42">
            <a:extLst>
              <a:ext uri="{FF2B5EF4-FFF2-40B4-BE49-F238E27FC236}">
                <a16:creationId xmlns:a16="http://schemas.microsoft.com/office/drawing/2014/main" id="{A55880B4-57CE-3FB8-9596-F0B669BB4C3E}"/>
              </a:ext>
            </a:extLst>
          </p:cNvPr>
          <p:cNvSpPr/>
          <p:nvPr/>
        </p:nvSpPr>
        <p:spPr>
          <a:xfrm>
            <a:off x="8395900" y="3129150"/>
            <a:ext cx="1261800" cy="3624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342;p42">
            <a:extLst>
              <a:ext uri="{FF2B5EF4-FFF2-40B4-BE49-F238E27FC236}">
                <a16:creationId xmlns:a16="http://schemas.microsoft.com/office/drawing/2014/main" id="{F100C4EE-ACC5-8F8F-D0D2-4A54F7916D47}"/>
              </a:ext>
            </a:extLst>
          </p:cNvPr>
          <p:cNvPicPr preferRelativeResize="0"/>
          <p:nvPr/>
        </p:nvPicPr>
        <p:blipFill>
          <a:blip r:embed="rId3">
            <a:alphaModFix/>
          </a:blip>
          <a:stretch>
            <a:fillRect/>
          </a:stretch>
        </p:blipFill>
        <p:spPr>
          <a:xfrm>
            <a:off x="2581275" y="3661126"/>
            <a:ext cx="7029450" cy="2047875"/>
          </a:xfrm>
          <a:prstGeom prst="rect">
            <a:avLst/>
          </a:prstGeom>
          <a:noFill/>
          <a:ln>
            <a:noFill/>
          </a:ln>
        </p:spPr>
      </p:pic>
    </p:spTree>
    <p:extLst>
      <p:ext uri="{BB962C8B-B14F-4D97-AF65-F5344CB8AC3E}">
        <p14:creationId xmlns:p14="http://schemas.microsoft.com/office/powerpoint/2010/main" val="4243326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0A41A-5C91-4CDF-D9C9-1FF352F168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0D32D8-66B8-489B-3591-C013ACBDB456}"/>
              </a:ext>
            </a:extLst>
          </p:cNvPr>
          <p:cNvSpPr>
            <a:spLocks noGrp="1"/>
          </p:cNvSpPr>
          <p:nvPr>
            <p:ph type="title"/>
          </p:nvPr>
        </p:nvSpPr>
        <p:spPr/>
        <p:txBody>
          <a:bodyPr/>
          <a:lstStyle/>
          <a:p>
            <a:r>
              <a:rPr lang="es-ES" dirty="0"/>
              <a:t>Mapeo de red </a:t>
            </a:r>
            <a:r>
              <a:rPr lang="es-ES" dirty="0" err="1"/>
              <a:t>docker</a:t>
            </a:r>
            <a:r>
              <a:rPr lang="es-ES" dirty="0"/>
              <a:t> </a:t>
            </a:r>
            <a:endParaRPr lang="es-PE" dirty="0"/>
          </a:p>
        </p:txBody>
      </p:sp>
      <p:sp>
        <p:nvSpPr>
          <p:cNvPr id="3" name="Marcador de número de diapositiva 2">
            <a:extLst>
              <a:ext uri="{FF2B5EF4-FFF2-40B4-BE49-F238E27FC236}">
                <a16:creationId xmlns:a16="http://schemas.microsoft.com/office/drawing/2014/main" id="{6B7D3D3D-A9A2-4E13-307C-4AD323D435B0}"/>
              </a:ext>
            </a:extLst>
          </p:cNvPr>
          <p:cNvSpPr>
            <a:spLocks noGrp="1"/>
          </p:cNvSpPr>
          <p:nvPr>
            <p:ph type="sldNum" idx="12"/>
          </p:nvPr>
        </p:nvSpPr>
        <p:spPr/>
        <p:txBody>
          <a:bodyPr/>
          <a:lstStyle/>
          <a:p>
            <a:fld id="{52A29C8B-5F70-8945-A2A6-FBD7A17156DB}" type="slidenum">
              <a:rPr lang="es-PE" smtClean="0"/>
              <a:pPr/>
              <a:t>32</a:t>
            </a:fld>
            <a:endParaRPr lang="es-PE"/>
          </a:p>
        </p:txBody>
      </p:sp>
      <p:sp>
        <p:nvSpPr>
          <p:cNvPr id="4" name="Marcador de contenido 3">
            <a:extLst>
              <a:ext uri="{FF2B5EF4-FFF2-40B4-BE49-F238E27FC236}">
                <a16:creationId xmlns:a16="http://schemas.microsoft.com/office/drawing/2014/main" id="{42A429B5-1111-0988-3342-A553DB376906}"/>
              </a:ext>
            </a:extLst>
          </p:cNvPr>
          <p:cNvSpPr>
            <a:spLocks noGrp="1"/>
          </p:cNvSpPr>
          <p:nvPr>
            <p:ph idx="1"/>
          </p:nvPr>
        </p:nvSpPr>
        <p:spPr/>
        <p:txBody>
          <a:bodyPr>
            <a:normAutofit/>
          </a:bodyPr>
          <a:lstStyle/>
          <a:p>
            <a:r>
              <a:rPr lang="es-ES" sz="2000" dirty="0"/>
              <a:t>Por otro lado,  ya no se necesita el mapeo de la red del </a:t>
            </a:r>
            <a:r>
              <a:rPr lang="es-ES" sz="2000" dirty="0" err="1"/>
              <a:t>docker</a:t>
            </a:r>
            <a:r>
              <a:rPr lang="es-ES" sz="2000" dirty="0"/>
              <a:t> con el host.</a:t>
            </a:r>
          </a:p>
          <a:p>
            <a:endParaRPr lang="es-PE" sz="2000" dirty="0"/>
          </a:p>
        </p:txBody>
      </p:sp>
      <p:pic>
        <p:nvPicPr>
          <p:cNvPr id="5" name="Google Shape;350;p43">
            <a:extLst>
              <a:ext uri="{FF2B5EF4-FFF2-40B4-BE49-F238E27FC236}">
                <a16:creationId xmlns:a16="http://schemas.microsoft.com/office/drawing/2014/main" id="{2440D9AA-6CEA-CBB7-5AD0-DEA9EB3566AC}"/>
              </a:ext>
            </a:extLst>
          </p:cNvPr>
          <p:cNvPicPr preferRelativeResize="0"/>
          <p:nvPr/>
        </p:nvPicPr>
        <p:blipFill>
          <a:blip r:embed="rId2">
            <a:alphaModFix/>
          </a:blip>
          <a:stretch>
            <a:fillRect/>
          </a:stretch>
        </p:blipFill>
        <p:spPr>
          <a:xfrm>
            <a:off x="1954845" y="2458132"/>
            <a:ext cx="7862125" cy="463825"/>
          </a:xfrm>
          <a:prstGeom prst="rect">
            <a:avLst/>
          </a:prstGeom>
          <a:noFill/>
          <a:ln>
            <a:noFill/>
          </a:ln>
        </p:spPr>
      </p:pic>
      <p:sp>
        <p:nvSpPr>
          <p:cNvPr id="6" name="Google Shape;351;p43">
            <a:extLst>
              <a:ext uri="{FF2B5EF4-FFF2-40B4-BE49-F238E27FC236}">
                <a16:creationId xmlns:a16="http://schemas.microsoft.com/office/drawing/2014/main" id="{502B2072-9190-128A-2273-C2342D340E25}"/>
              </a:ext>
            </a:extLst>
          </p:cNvPr>
          <p:cNvSpPr/>
          <p:nvPr/>
        </p:nvSpPr>
        <p:spPr>
          <a:xfrm>
            <a:off x="6635782" y="2508845"/>
            <a:ext cx="1261800" cy="3624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352;p43">
            <a:extLst>
              <a:ext uri="{FF2B5EF4-FFF2-40B4-BE49-F238E27FC236}">
                <a16:creationId xmlns:a16="http://schemas.microsoft.com/office/drawing/2014/main" id="{D503A37F-73BB-F7A1-7097-E246A56E0153}"/>
              </a:ext>
            </a:extLst>
          </p:cNvPr>
          <p:cNvPicPr preferRelativeResize="0"/>
          <p:nvPr/>
        </p:nvPicPr>
        <p:blipFill>
          <a:blip r:embed="rId3">
            <a:alphaModFix/>
          </a:blip>
          <a:stretch>
            <a:fillRect/>
          </a:stretch>
        </p:blipFill>
        <p:spPr>
          <a:xfrm>
            <a:off x="1954857" y="3083993"/>
            <a:ext cx="7862101" cy="690014"/>
          </a:xfrm>
          <a:prstGeom prst="rect">
            <a:avLst/>
          </a:prstGeom>
          <a:noFill/>
          <a:ln>
            <a:noFill/>
          </a:ln>
        </p:spPr>
      </p:pic>
    </p:spTree>
    <p:extLst>
      <p:ext uri="{BB962C8B-B14F-4D97-AF65-F5344CB8AC3E}">
        <p14:creationId xmlns:p14="http://schemas.microsoft.com/office/powerpoint/2010/main" val="1619790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F06D9-A260-63F0-A32C-C5BBD91B8E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D4B8BD-FA2B-A883-4AA2-53A751227A6E}"/>
              </a:ext>
            </a:extLst>
          </p:cNvPr>
          <p:cNvSpPr>
            <a:spLocks noGrp="1"/>
          </p:cNvSpPr>
          <p:nvPr>
            <p:ph type="title"/>
          </p:nvPr>
        </p:nvSpPr>
        <p:spPr/>
        <p:txBody>
          <a:bodyPr/>
          <a:lstStyle/>
          <a:p>
            <a:r>
              <a:rPr lang="es-ES" dirty="0"/>
              <a:t>Quedando</a:t>
            </a:r>
            <a:endParaRPr lang="es-PE" dirty="0"/>
          </a:p>
        </p:txBody>
      </p:sp>
      <p:sp>
        <p:nvSpPr>
          <p:cNvPr id="3" name="Marcador de número de diapositiva 2">
            <a:extLst>
              <a:ext uri="{FF2B5EF4-FFF2-40B4-BE49-F238E27FC236}">
                <a16:creationId xmlns:a16="http://schemas.microsoft.com/office/drawing/2014/main" id="{5CEC6614-6F0C-CDB7-59B8-CEFB4EB209FF}"/>
              </a:ext>
            </a:extLst>
          </p:cNvPr>
          <p:cNvSpPr>
            <a:spLocks noGrp="1"/>
          </p:cNvSpPr>
          <p:nvPr>
            <p:ph type="sldNum" idx="12"/>
          </p:nvPr>
        </p:nvSpPr>
        <p:spPr/>
        <p:txBody>
          <a:bodyPr/>
          <a:lstStyle/>
          <a:p>
            <a:fld id="{52A29C8B-5F70-8945-A2A6-FBD7A17156DB}" type="slidenum">
              <a:rPr lang="es-PE" smtClean="0"/>
              <a:pPr/>
              <a:t>33</a:t>
            </a:fld>
            <a:endParaRPr lang="es-PE"/>
          </a:p>
        </p:txBody>
      </p:sp>
      <p:pic>
        <p:nvPicPr>
          <p:cNvPr id="5" name="Google Shape;359;p44">
            <a:extLst>
              <a:ext uri="{FF2B5EF4-FFF2-40B4-BE49-F238E27FC236}">
                <a16:creationId xmlns:a16="http://schemas.microsoft.com/office/drawing/2014/main" id="{012AD412-1667-50B2-8923-9033B1B4A52D}"/>
              </a:ext>
            </a:extLst>
          </p:cNvPr>
          <p:cNvPicPr preferRelativeResize="0"/>
          <p:nvPr/>
        </p:nvPicPr>
        <p:blipFill>
          <a:blip r:embed="rId2">
            <a:alphaModFix/>
          </a:blip>
          <a:stretch>
            <a:fillRect/>
          </a:stretch>
        </p:blipFill>
        <p:spPr>
          <a:xfrm>
            <a:off x="3570755" y="765699"/>
            <a:ext cx="6656404" cy="4674418"/>
          </a:xfrm>
          <a:prstGeom prst="rect">
            <a:avLst/>
          </a:prstGeom>
          <a:noFill/>
          <a:ln>
            <a:noFill/>
          </a:ln>
        </p:spPr>
      </p:pic>
    </p:spTree>
    <p:extLst>
      <p:ext uri="{BB962C8B-B14F-4D97-AF65-F5344CB8AC3E}">
        <p14:creationId xmlns:p14="http://schemas.microsoft.com/office/powerpoint/2010/main" val="3526379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18C6-215C-E6B9-B05E-AA9F1E0010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9839D0-0CE9-E231-51F5-7EB7BFA2DFCC}"/>
              </a:ext>
            </a:extLst>
          </p:cNvPr>
          <p:cNvSpPr>
            <a:spLocks noGrp="1"/>
          </p:cNvSpPr>
          <p:nvPr>
            <p:ph type="title"/>
          </p:nvPr>
        </p:nvSpPr>
        <p:spPr/>
        <p:txBody>
          <a:bodyPr/>
          <a:lstStyle/>
          <a:p>
            <a:r>
              <a:rPr lang="es-ES" dirty="0"/>
              <a:t>Configuración de un Docker </a:t>
            </a:r>
            <a:r>
              <a:rPr lang="es-ES" dirty="0" err="1"/>
              <a:t>daemon</a:t>
            </a:r>
            <a:endParaRPr lang="es-PE" dirty="0"/>
          </a:p>
        </p:txBody>
      </p:sp>
      <p:sp>
        <p:nvSpPr>
          <p:cNvPr id="3" name="Marcador de número de diapositiva 2">
            <a:extLst>
              <a:ext uri="{FF2B5EF4-FFF2-40B4-BE49-F238E27FC236}">
                <a16:creationId xmlns:a16="http://schemas.microsoft.com/office/drawing/2014/main" id="{5F26776C-877E-4EE4-A841-032E3B6C405D}"/>
              </a:ext>
            </a:extLst>
          </p:cNvPr>
          <p:cNvSpPr>
            <a:spLocks noGrp="1"/>
          </p:cNvSpPr>
          <p:nvPr>
            <p:ph type="sldNum" idx="12"/>
          </p:nvPr>
        </p:nvSpPr>
        <p:spPr/>
        <p:txBody>
          <a:bodyPr/>
          <a:lstStyle/>
          <a:p>
            <a:fld id="{52A29C8B-5F70-8945-A2A6-FBD7A17156DB}" type="slidenum">
              <a:rPr lang="es-PE" smtClean="0"/>
              <a:pPr/>
              <a:t>34</a:t>
            </a:fld>
            <a:endParaRPr lang="es-PE"/>
          </a:p>
        </p:txBody>
      </p:sp>
      <p:sp>
        <p:nvSpPr>
          <p:cNvPr id="4" name="Marcador de contenido 3">
            <a:extLst>
              <a:ext uri="{FF2B5EF4-FFF2-40B4-BE49-F238E27FC236}">
                <a16:creationId xmlns:a16="http://schemas.microsoft.com/office/drawing/2014/main" id="{6CAAE1DD-FE60-BAD5-5A9E-68479DB8F007}"/>
              </a:ext>
            </a:extLst>
          </p:cNvPr>
          <p:cNvSpPr>
            <a:spLocks noGrp="1"/>
          </p:cNvSpPr>
          <p:nvPr>
            <p:ph idx="1"/>
          </p:nvPr>
        </p:nvSpPr>
        <p:spPr/>
        <p:txBody>
          <a:bodyPr>
            <a:normAutofit/>
          </a:bodyPr>
          <a:lstStyle/>
          <a:p>
            <a:r>
              <a:rPr lang="es-ES" sz="2000" dirty="0"/>
              <a:t>Guarde las configuraciones y si tiene su máquina virtual encendida, despliegue su servicio.</a:t>
            </a:r>
          </a:p>
          <a:p>
            <a:endParaRPr lang="es-PE" sz="2000" dirty="0"/>
          </a:p>
        </p:txBody>
      </p:sp>
      <p:pic>
        <p:nvPicPr>
          <p:cNvPr id="5" name="Google Shape;367;p45">
            <a:extLst>
              <a:ext uri="{FF2B5EF4-FFF2-40B4-BE49-F238E27FC236}">
                <a16:creationId xmlns:a16="http://schemas.microsoft.com/office/drawing/2014/main" id="{D331311F-9B4F-E339-F39C-D8151CC03D45}"/>
              </a:ext>
            </a:extLst>
          </p:cNvPr>
          <p:cNvPicPr preferRelativeResize="0"/>
          <p:nvPr/>
        </p:nvPicPr>
        <p:blipFill>
          <a:blip r:embed="rId2">
            <a:alphaModFix/>
          </a:blip>
          <a:stretch>
            <a:fillRect/>
          </a:stretch>
        </p:blipFill>
        <p:spPr>
          <a:xfrm>
            <a:off x="3782415" y="2005955"/>
            <a:ext cx="4027719" cy="943200"/>
          </a:xfrm>
          <a:prstGeom prst="rect">
            <a:avLst/>
          </a:prstGeom>
          <a:noFill/>
          <a:ln>
            <a:noFill/>
          </a:ln>
        </p:spPr>
      </p:pic>
      <p:pic>
        <p:nvPicPr>
          <p:cNvPr id="6" name="Imagen 5">
            <a:extLst>
              <a:ext uri="{FF2B5EF4-FFF2-40B4-BE49-F238E27FC236}">
                <a16:creationId xmlns:a16="http://schemas.microsoft.com/office/drawing/2014/main" id="{2DAA01EB-136E-DBA1-33D7-5DB687CF628F}"/>
              </a:ext>
            </a:extLst>
          </p:cNvPr>
          <p:cNvPicPr>
            <a:picLocks noChangeAspect="1"/>
          </p:cNvPicPr>
          <p:nvPr/>
        </p:nvPicPr>
        <p:blipFill>
          <a:blip r:embed="rId3"/>
          <a:stretch>
            <a:fillRect/>
          </a:stretch>
        </p:blipFill>
        <p:spPr>
          <a:xfrm>
            <a:off x="2813865" y="3174854"/>
            <a:ext cx="7613042" cy="2135761"/>
          </a:xfrm>
          <a:prstGeom prst="rect">
            <a:avLst/>
          </a:prstGeom>
        </p:spPr>
      </p:pic>
      <p:sp>
        <p:nvSpPr>
          <p:cNvPr id="7" name="Google Shape;369;p45">
            <a:extLst>
              <a:ext uri="{FF2B5EF4-FFF2-40B4-BE49-F238E27FC236}">
                <a16:creationId xmlns:a16="http://schemas.microsoft.com/office/drawing/2014/main" id="{A8129A9C-1A8F-C64B-5CD6-827A2868A96D}"/>
              </a:ext>
            </a:extLst>
          </p:cNvPr>
          <p:cNvSpPr/>
          <p:nvPr/>
        </p:nvSpPr>
        <p:spPr>
          <a:xfrm>
            <a:off x="2361233" y="4999384"/>
            <a:ext cx="649500" cy="2748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0796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B9646-2044-E523-9751-B753B2030F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28ECF1-83B8-A1AB-206F-BDB347CB759E}"/>
              </a:ext>
            </a:extLst>
          </p:cNvPr>
          <p:cNvSpPr>
            <a:spLocks noGrp="1"/>
          </p:cNvSpPr>
          <p:nvPr>
            <p:ph type="title"/>
          </p:nvPr>
        </p:nvSpPr>
        <p:spPr/>
        <p:txBody>
          <a:bodyPr/>
          <a:lstStyle/>
          <a:p>
            <a:r>
              <a:rPr lang="es-ES" dirty="0"/>
              <a:t>Probar el Docker remoto</a:t>
            </a:r>
            <a:endParaRPr lang="es-PE" dirty="0"/>
          </a:p>
        </p:txBody>
      </p:sp>
      <p:sp>
        <p:nvSpPr>
          <p:cNvPr id="3" name="Marcador de número de diapositiva 2">
            <a:extLst>
              <a:ext uri="{FF2B5EF4-FFF2-40B4-BE49-F238E27FC236}">
                <a16:creationId xmlns:a16="http://schemas.microsoft.com/office/drawing/2014/main" id="{6ADF6665-4962-0832-1ED5-5B0DB87C171B}"/>
              </a:ext>
            </a:extLst>
          </p:cNvPr>
          <p:cNvSpPr>
            <a:spLocks noGrp="1"/>
          </p:cNvSpPr>
          <p:nvPr>
            <p:ph type="sldNum" idx="12"/>
          </p:nvPr>
        </p:nvSpPr>
        <p:spPr/>
        <p:txBody>
          <a:bodyPr/>
          <a:lstStyle/>
          <a:p>
            <a:fld id="{52A29C8B-5F70-8945-A2A6-FBD7A17156DB}" type="slidenum">
              <a:rPr lang="es-PE" smtClean="0"/>
              <a:pPr/>
              <a:t>35</a:t>
            </a:fld>
            <a:endParaRPr lang="es-PE"/>
          </a:p>
        </p:txBody>
      </p:sp>
      <p:sp>
        <p:nvSpPr>
          <p:cNvPr id="4" name="Marcador de contenido 3">
            <a:extLst>
              <a:ext uri="{FF2B5EF4-FFF2-40B4-BE49-F238E27FC236}">
                <a16:creationId xmlns:a16="http://schemas.microsoft.com/office/drawing/2014/main" id="{AEDCCB6F-EC73-75D3-5942-5ED632188EB1}"/>
              </a:ext>
            </a:extLst>
          </p:cNvPr>
          <p:cNvSpPr>
            <a:spLocks noGrp="1"/>
          </p:cNvSpPr>
          <p:nvPr>
            <p:ph idx="1"/>
          </p:nvPr>
        </p:nvSpPr>
        <p:spPr/>
        <p:txBody>
          <a:bodyPr>
            <a:normAutofit/>
          </a:bodyPr>
          <a:lstStyle/>
          <a:p>
            <a:r>
              <a:rPr lang="es-ES" sz="2000" dirty="0"/>
              <a:t>En los logs, puede visualizar la consola de la App.</a:t>
            </a:r>
          </a:p>
          <a:p>
            <a:endParaRPr lang="es-PE" sz="2000" dirty="0"/>
          </a:p>
        </p:txBody>
      </p:sp>
      <p:pic>
        <p:nvPicPr>
          <p:cNvPr id="5" name="Google Shape;377;p46">
            <a:extLst>
              <a:ext uri="{FF2B5EF4-FFF2-40B4-BE49-F238E27FC236}">
                <a16:creationId xmlns:a16="http://schemas.microsoft.com/office/drawing/2014/main" id="{3330BE44-B428-9C6D-715B-8980A316BE38}"/>
              </a:ext>
            </a:extLst>
          </p:cNvPr>
          <p:cNvPicPr preferRelativeResize="0"/>
          <p:nvPr/>
        </p:nvPicPr>
        <p:blipFill>
          <a:blip r:embed="rId2">
            <a:alphaModFix/>
          </a:blip>
          <a:stretch>
            <a:fillRect/>
          </a:stretch>
        </p:blipFill>
        <p:spPr>
          <a:xfrm>
            <a:off x="2315349" y="2232527"/>
            <a:ext cx="8105775" cy="2657475"/>
          </a:xfrm>
          <a:prstGeom prst="rect">
            <a:avLst/>
          </a:prstGeom>
          <a:noFill/>
          <a:ln>
            <a:noFill/>
          </a:ln>
        </p:spPr>
      </p:pic>
      <p:sp>
        <p:nvSpPr>
          <p:cNvPr id="6" name="Google Shape;378;p46">
            <a:extLst>
              <a:ext uri="{FF2B5EF4-FFF2-40B4-BE49-F238E27FC236}">
                <a16:creationId xmlns:a16="http://schemas.microsoft.com/office/drawing/2014/main" id="{D5C40001-9934-E6E7-D4F6-620044A45483}"/>
              </a:ext>
            </a:extLst>
          </p:cNvPr>
          <p:cNvSpPr/>
          <p:nvPr/>
        </p:nvSpPr>
        <p:spPr>
          <a:xfrm>
            <a:off x="2107949" y="3842339"/>
            <a:ext cx="649500" cy="2748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7167078"/>
      </p:ext>
    </p:extLst>
  </p:cSld>
  <p:clrMapOvr>
    <a:masterClrMapping/>
  </p:clrMapOvr>
</p:sld>
</file>

<file path=ppt/theme/theme1.xml><?xml version="1.0" encoding="utf-8"?>
<a:theme xmlns:a="http://schemas.openxmlformats.org/drawingml/2006/main" name="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1CEE12FC-EFE8-427F-AFDD-10E13BDA9816}"/>
    </a:ext>
  </a:extLst>
</a:theme>
</file>

<file path=ppt/theme/theme2.xml><?xml version="1.0" encoding="utf-8"?>
<a:theme xmlns:a="http://schemas.openxmlformats.org/drawingml/2006/main" name="1_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2968A79A-DB5B-4965-B275-611A9275D097}"/>
    </a:ext>
  </a:extLst>
</a:theme>
</file>

<file path=ppt/theme/theme3.xml><?xml version="1.0" encoding="utf-8"?>
<a:theme xmlns:a="http://schemas.openxmlformats.org/drawingml/2006/main" name="Diseño personalizado">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Montserrat">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5F575593-E9A2-4645-ABE1-5BD8C9BF19B9}"/>
    </a:ext>
  </a:extLst>
</a:theme>
</file>

<file path=ppt/theme/theme4.xml><?xml version="1.0" encoding="utf-8"?>
<a:theme xmlns:a="http://schemas.openxmlformats.org/drawingml/2006/main" name="Telecom Pucp">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lecom Pucp" id="{04A4479E-36D6-4C66-807A-9F4E8318654E}" vid="{A438D0C6-9502-4DA2-8DE8-05B87C02855A}"/>
    </a:ext>
  </a:extLst>
</a:theme>
</file>

<file path=ppt/theme/theme5.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Plantilla_Telecomunicaciones (1)</Template>
  <TotalTime>1446</TotalTime>
  <Words>1419</Words>
  <Application>Microsoft Office PowerPoint</Application>
  <PresentationFormat>Panorámica</PresentationFormat>
  <Paragraphs>179</Paragraphs>
  <Slides>35</Slides>
  <Notes>2</Notes>
  <HiddenSlides>0</HiddenSlides>
  <MMClips>0</MMClips>
  <ScaleCrop>false</ScaleCrop>
  <HeadingPairs>
    <vt:vector size="6" baseType="variant">
      <vt:variant>
        <vt:lpstr>Fuentes usadas</vt:lpstr>
      </vt:variant>
      <vt:variant>
        <vt:i4>6</vt:i4>
      </vt:variant>
      <vt:variant>
        <vt:lpstr>Tema</vt:lpstr>
      </vt:variant>
      <vt:variant>
        <vt:i4>4</vt:i4>
      </vt:variant>
      <vt:variant>
        <vt:lpstr>Títulos de diapositiva</vt:lpstr>
      </vt:variant>
      <vt:variant>
        <vt:i4>35</vt:i4>
      </vt:variant>
    </vt:vector>
  </HeadingPairs>
  <TitlesOfParts>
    <vt:vector size="45" baseType="lpstr">
      <vt:lpstr>Arial</vt:lpstr>
      <vt:lpstr>Montserrat</vt:lpstr>
      <vt:lpstr>Montserrat Medium</vt:lpstr>
      <vt:lpstr>Open Sans</vt:lpstr>
      <vt:lpstr>Source Code Pro</vt:lpstr>
      <vt:lpstr>Wingdings</vt:lpstr>
      <vt:lpstr>Tema de Office</vt:lpstr>
      <vt:lpstr>1_Tema de Office</vt:lpstr>
      <vt:lpstr>Diseño personalizado</vt:lpstr>
      <vt:lpstr>Telecom Pucp</vt:lpstr>
      <vt:lpstr>Presentación de PowerPoint</vt:lpstr>
      <vt:lpstr>Despliegue de Spring Boot con Docker y DB administradas</vt:lpstr>
      <vt:lpstr>Arquitectura para el despliegue</vt:lpstr>
      <vt:lpstr>Contenedor para Spring Boot LOCAL</vt:lpstr>
      <vt:lpstr>Crear nuestras imágenes</vt:lpstr>
      <vt:lpstr>Dockerfile</vt:lpstr>
      <vt:lpstr>Creando un Dockerfile</vt:lpstr>
      <vt:lpstr>Imagen base</vt:lpstr>
      <vt:lpstr>Openjdk Image</vt:lpstr>
      <vt:lpstr>Openjdk Image</vt:lpstr>
      <vt:lpstr>Openjdk 17 Image</vt:lpstr>
      <vt:lpstr>Dockerfile</vt:lpstr>
      <vt:lpstr>Dockerfile</vt:lpstr>
      <vt:lpstr>Dockerfile</vt:lpstr>
      <vt:lpstr>Docker build</vt:lpstr>
      <vt:lpstr>Externalized Configuration</vt:lpstr>
      <vt:lpstr>¿Qué opciones debemos cambiar?</vt:lpstr>
      <vt:lpstr>Externalized Configuration</vt:lpstr>
      <vt:lpstr>Deploy con IntelliJ</vt:lpstr>
      <vt:lpstr>Deploy con IntelliJ</vt:lpstr>
      <vt:lpstr>Deploy con IntelliJ</vt:lpstr>
      <vt:lpstr>Deploy con IntelliJ</vt:lpstr>
      <vt:lpstr>Observación 1 - redeploy</vt:lpstr>
      <vt:lpstr>Observación 2 - redeploy</vt:lpstr>
      <vt:lpstr>Despliegue en la nube</vt:lpstr>
      <vt:lpstr>Instalar Docker en la nube</vt:lpstr>
      <vt:lpstr>Despliegue con IntelliJ</vt:lpstr>
      <vt:lpstr>Despliegue con IntelliJ</vt:lpstr>
      <vt:lpstr>Configuración de un Docker daemon</vt:lpstr>
      <vt:lpstr>Configuración de un Docker daemon</vt:lpstr>
      <vt:lpstr>URL de la base de datos</vt:lpstr>
      <vt:lpstr>Mapeo de red docker </vt:lpstr>
      <vt:lpstr>Quedando</vt:lpstr>
      <vt:lpstr>Configuración de un Docker daemon</vt:lpstr>
      <vt:lpstr>Probar el Docker remoto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Orientada a Objetos &amp; Introducción a Java</dc:title>
  <dc:creator>Brenda Tumbalobos</dc:creator>
  <cp:lastModifiedBy>Brenda Tumbalobos Cubas</cp:lastModifiedBy>
  <cp:revision>38</cp:revision>
  <dcterms:created xsi:type="dcterms:W3CDTF">2023-10-28T21:43:03Z</dcterms:created>
  <dcterms:modified xsi:type="dcterms:W3CDTF">2026-05-07T02:24:10Z</dcterms:modified>
</cp:coreProperties>
</file>