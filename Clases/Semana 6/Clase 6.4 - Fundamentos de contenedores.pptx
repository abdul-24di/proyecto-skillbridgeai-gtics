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8"/>
  </p:notesMasterIdLst>
  <p:handoutMasterIdLst>
    <p:handoutMasterId r:id="rId29"/>
  </p:handoutMasterIdLst>
  <p:sldIdLst>
    <p:sldId id="381" r:id="rId5"/>
    <p:sldId id="382" r:id="rId6"/>
    <p:sldId id="361" r:id="rId7"/>
    <p:sldId id="383" r:id="rId8"/>
    <p:sldId id="384" r:id="rId9"/>
    <p:sldId id="385" r:id="rId10"/>
    <p:sldId id="386" r:id="rId11"/>
    <p:sldId id="387" r:id="rId12"/>
    <p:sldId id="378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3792" autoAdjust="0"/>
  </p:normalViewPr>
  <p:slideViewPr>
    <p:cSldViewPr snapToGrid="0" snapToObjects="1">
      <p:cViewPr varScale="1">
        <p:scale>
          <a:sx n="107" d="100"/>
          <a:sy n="107" d="100"/>
        </p:scale>
        <p:origin x="4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6/05/2026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6/05/2026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Mayo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454719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9550340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505874" cy="696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AD455E10-EDB5-365C-2F6B-62494668E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391547"/>
            <a:ext cx="10505874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9606036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131505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6742380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644495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9691726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1607147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70996071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1793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365975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1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55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0A24B-3880-D820-E6B6-5C0DBB0F8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Contenedores y despliegues en nube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215FEB-4D98-AC26-92B8-08E9FBAAEB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193240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77C387D-D6CA-E990-6B2C-DC502113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Contenedores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237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52AF1-F5A6-C220-F80A-DE40F33C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Definición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0DB5F2A-FD7D-4117-C4BB-75AD52F33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CD6DE4-E4CB-AEA9-3891-2899B66CC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Los contenedores son paquetes de software que contienen todos los elementos necesarios para ejecutarse en cualquier entorno</a:t>
            </a:r>
            <a:r>
              <a:rPr lang="es-ES" sz="2000" baseline="30000" dirty="0"/>
              <a:t>1</a:t>
            </a:r>
            <a:r>
              <a:rPr lang="es-ES" sz="2000" dirty="0"/>
              <a:t>.</a:t>
            </a:r>
          </a:p>
          <a:p>
            <a:pPr lvl="0" indent="-342900">
              <a:buSzPts val="1800"/>
              <a:buChar char="●"/>
            </a:pPr>
            <a:r>
              <a:rPr lang="es-ES" sz="2000" dirty="0"/>
              <a:t>Los contenedores virtualizan recursos de red, almacenamiento, memoria y CPU a nivel del sistema operativo, lo que permite a los desarrolladores tener una vista del SO aislado de forma lógica de otras aplicaciones.</a:t>
            </a:r>
          </a:p>
          <a:p>
            <a:endParaRPr lang="es-PE" sz="2000" dirty="0"/>
          </a:p>
        </p:txBody>
      </p:sp>
      <p:pic>
        <p:nvPicPr>
          <p:cNvPr id="5" name="Google Shape;85;p15">
            <a:extLst>
              <a:ext uri="{FF2B5EF4-FFF2-40B4-BE49-F238E27FC236}">
                <a16:creationId xmlns:a16="http://schemas.microsoft.com/office/drawing/2014/main" id="{A2E5F7E4-E028-2DC5-DF5C-0096A381B24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1659" y="3102826"/>
            <a:ext cx="3019100" cy="162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6;p15">
            <a:extLst>
              <a:ext uri="{FF2B5EF4-FFF2-40B4-BE49-F238E27FC236}">
                <a16:creationId xmlns:a16="http://schemas.microsoft.com/office/drawing/2014/main" id="{F7032769-7D63-90F1-DB7D-49C9E6FEF5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634" y="3010640"/>
            <a:ext cx="2181725" cy="18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4;p15">
            <a:extLst>
              <a:ext uri="{FF2B5EF4-FFF2-40B4-BE49-F238E27FC236}">
                <a16:creationId xmlns:a16="http://schemas.microsoft.com/office/drawing/2014/main" id="{D97D4CE2-C6E1-69EB-5149-CC363CC56E06}"/>
              </a:ext>
            </a:extLst>
          </p:cNvPr>
          <p:cNvSpPr txBox="1"/>
          <p:nvPr/>
        </p:nvSpPr>
        <p:spPr>
          <a:xfrm>
            <a:off x="401347" y="5230501"/>
            <a:ext cx="713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aseline="30000" dirty="0"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s-419" dirty="0">
                <a:latin typeface="Open Sans"/>
                <a:ea typeface="Open Sans"/>
                <a:cs typeface="Open Sans"/>
                <a:sym typeface="Open Sans"/>
              </a:rPr>
              <a:t> https://cloud.google.com/learn/what-are-containers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6159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0C7D-0AEE-B8EE-DF62-89EFE951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DEF7C-158B-ECAF-730B-9E5DD692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Contenedores vs. Máquinas Virtuales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FF08CDE-2869-4B69-0A25-4D245327C5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3FD7A2-2753-6E02-343F-156E1647E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429423"/>
            <a:ext cx="10505874" cy="3843645"/>
          </a:xfrm>
        </p:spPr>
        <p:txBody>
          <a:bodyPr>
            <a:normAutofit/>
          </a:bodyPr>
          <a:lstStyle/>
          <a:p>
            <a:r>
              <a:rPr lang="es-ES" sz="2000" dirty="0"/>
              <a:t>Ambos son enfoquen buenos, pero en el mundo del software, se utiliza cada vez más contenedores para los entornos de prueba y de producción.</a:t>
            </a:r>
          </a:p>
          <a:p>
            <a:endParaRPr lang="es-PE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D87018-9E2E-5A17-120F-A304BDB05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080" y="2257866"/>
            <a:ext cx="7279929" cy="329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4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B3E1-ABD9-7BF5-A26D-FA9538C35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62E1B-C42D-6F59-BA49-55FF167A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8BBF082-B2DD-01C3-4B65-5A64A34D2D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3F16D3-EE24-8157-5E9A-501D9C655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El sistema de software de TI llamado "Docker" es la tecnología de organización en contenedores que posibilita la creación y el uso de los contenedores de Linux.</a:t>
            </a:r>
          </a:p>
          <a:p>
            <a:pPr lvl="0" indent="-342900">
              <a:buSzPts val="1800"/>
              <a:buChar char="●"/>
            </a:pPr>
            <a:r>
              <a:rPr lang="es-ES" sz="2000" dirty="0"/>
              <a:t>La comunidad open </a:t>
            </a:r>
            <a:r>
              <a:rPr lang="es-ES" sz="2000" dirty="0" err="1"/>
              <a:t>source</a:t>
            </a:r>
            <a:r>
              <a:rPr lang="es-ES" sz="2000" dirty="0"/>
              <a:t> Docker se encarga de mejorar estas tecnologías para beneficiar a todos los usuarios.</a:t>
            </a:r>
          </a:p>
          <a:p>
            <a:endParaRPr lang="es-PE" sz="2000" dirty="0"/>
          </a:p>
        </p:txBody>
      </p:sp>
      <p:pic>
        <p:nvPicPr>
          <p:cNvPr id="5" name="Google Shape;105;p17">
            <a:extLst>
              <a:ext uri="{FF2B5EF4-FFF2-40B4-BE49-F238E27FC236}">
                <a16:creationId xmlns:a16="http://schemas.microsoft.com/office/drawing/2014/main" id="{356F9D14-DCC3-A5B0-4A3E-FE294BCD7B9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20575" y="4364464"/>
            <a:ext cx="1516809" cy="1255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379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81CD1-DCF2-468B-7B3E-14564DDC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55298-6247-B106-994C-5E3D13B9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42A24BF-278C-3F82-33C7-1FBBA402FF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CD097C-4F3E-F8D7-DE25-10CDCAA97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La empresa Docker brinda soporte a las tecnologías mejoradas y reforzadas para los clientes empresariales.</a:t>
            </a:r>
          </a:p>
          <a:p>
            <a:pPr lvl="0" indent="-342900">
              <a:buSzPts val="1800"/>
              <a:buChar char="●"/>
            </a:pPr>
            <a:r>
              <a:rPr lang="es-ES" dirty="0"/>
              <a:t>Con Docker, podrá utilizar los contenedores como máquinas virtuales muy livianas y modulares, y obtendrá la flexibilidad necesaria para crearlos, implementarlos, copiarlos y trasladarlos de un entorno a otro, lo cual le permite optimizar sus aplicaciones para la nube.</a:t>
            </a:r>
          </a:p>
          <a:p>
            <a:endParaRPr lang="es-PE" dirty="0"/>
          </a:p>
        </p:txBody>
      </p:sp>
      <p:pic>
        <p:nvPicPr>
          <p:cNvPr id="5" name="Google Shape;113;p18">
            <a:extLst>
              <a:ext uri="{FF2B5EF4-FFF2-40B4-BE49-F238E27FC236}">
                <a16:creationId xmlns:a16="http://schemas.microsoft.com/office/drawing/2014/main" id="{16EF2229-7A8F-D429-42AF-8B1FB7771BD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8853" y="4271355"/>
            <a:ext cx="1516809" cy="1255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681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D28D-7901-C7A3-9D3B-68C8634E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2E4FA-6D95-E521-582E-9A2562F4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Desktop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00533C5-1DFB-4081-A94B-F3691C0C52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329139-3255-F59E-7290-999DBD314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Docker posee diferentes planes para el uso personal, académico, empresarial, entre otros.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En el curso se usará Docker Desktop, el cual es un cliente que permite descargar e instalar contenedores en nuestra computadora local.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→ El objetivo es probar con </a:t>
            </a:r>
            <a:r>
              <a:rPr lang="es-ES" sz="1800" dirty="0" err="1"/>
              <a:t>docker</a:t>
            </a:r>
            <a:r>
              <a:rPr lang="es-ES" sz="1800" dirty="0"/>
              <a:t> locales, y si todo funciona bien, desplegar la aplicación con </a:t>
            </a:r>
            <a:r>
              <a:rPr lang="es-ES" sz="1800" dirty="0" err="1"/>
              <a:t>dockers</a:t>
            </a:r>
            <a:r>
              <a:rPr lang="es-ES" sz="1800" dirty="0"/>
              <a:t> en la nube, con las mismas configuraciones locales.</a:t>
            </a:r>
            <a:endParaRPr lang="es-PE" sz="1800" dirty="0"/>
          </a:p>
          <a:p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417621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8EF14B2-60B9-4CE6-3B32-FBA8A7DE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5400" dirty="0"/>
              <a:t>Pruebas con Docker</a:t>
            </a:r>
            <a:endParaRPr lang="es-PE" sz="5400" dirty="0"/>
          </a:p>
        </p:txBody>
      </p:sp>
    </p:spTree>
    <p:extLst>
      <p:ext uri="{BB962C8B-B14F-4D97-AF65-F5344CB8AC3E}">
        <p14:creationId xmlns:p14="http://schemas.microsoft.com/office/powerpoint/2010/main" val="3105637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56B13-19B4-9E25-C3CE-47F931F5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Correr un contenedor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1E6F4DE-9DDE-8BD0-5F00-45C9C01D00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812B7C-0FB6-575F-E7E3-6436D0AAC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Abra una terminal y corra: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Observará de igual forma que en Docker Desktop aparece:</a:t>
            </a:r>
            <a:endParaRPr lang="es-PE" dirty="0"/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6FB915-29F3-132A-96C4-A6BDFFA30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77" y="1955661"/>
            <a:ext cx="6515100" cy="11049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6BF25A1-DE62-8390-301D-E57FE1297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052" y="3971028"/>
            <a:ext cx="47053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0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0792-71AC-6BF1-4DD0-88C9C630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7F36D-ECC4-C4F7-EC64-2C98BF6E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Flujo Docker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F826042-9576-B2F1-9AC4-2C01F6C95F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C15FE5-AC2B-3C6F-9604-F7984A23A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900" dirty="0"/>
              <a:t>Al correr la imagen de un contenedor suceden los siguientes pasos:</a:t>
            </a:r>
          </a:p>
          <a:p>
            <a:pPr lvl="0" indent="-342900">
              <a:buSzPts val="1800"/>
              <a:buChar char="●"/>
            </a:pPr>
            <a:r>
              <a:rPr lang="es-ES" sz="1900" dirty="0"/>
              <a:t>El cliente (</a:t>
            </a:r>
            <a:r>
              <a:rPr lang="es-ES" sz="1900" dirty="0" err="1"/>
              <a:t>docker</a:t>
            </a:r>
            <a:r>
              <a:rPr lang="es-ES" sz="1900" dirty="0"/>
              <a:t>) se conecta con el </a:t>
            </a:r>
            <a:r>
              <a:rPr lang="es-ES" sz="1900" b="1" dirty="0"/>
              <a:t>Docker </a:t>
            </a:r>
            <a:r>
              <a:rPr lang="es-ES" sz="1900" b="1" dirty="0" err="1"/>
              <a:t>daemon</a:t>
            </a:r>
            <a:endParaRPr lang="es-ES" sz="1900" b="1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900" b="1" dirty="0"/>
              <a:t>Docker Daemon</a:t>
            </a:r>
            <a:r>
              <a:rPr lang="es-ES" sz="1900" dirty="0"/>
              <a:t>: proceso que se encarga de gestionar, construir, correr y distribuir las imágenes de contenedores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900" b="1" dirty="0"/>
              <a:t>Imagen</a:t>
            </a:r>
            <a:r>
              <a:rPr lang="es-ES" sz="1900" dirty="0"/>
              <a:t>: Los planos de nuestra aplicación. En la demostración anterior, la imagen es </a:t>
            </a:r>
            <a:r>
              <a:rPr lang="es-ES" sz="1900" dirty="0" err="1"/>
              <a:t>hello-world</a:t>
            </a:r>
            <a:endParaRPr lang="es-ES" sz="19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900" b="1" dirty="0"/>
              <a:t>Docker </a:t>
            </a:r>
            <a:r>
              <a:rPr lang="es-ES" sz="1900" b="1" dirty="0" err="1"/>
              <a:t>daemon</a:t>
            </a:r>
            <a:r>
              <a:rPr lang="es-ES" sz="1900" dirty="0"/>
              <a:t> hace “</a:t>
            </a:r>
            <a:r>
              <a:rPr lang="es-ES" sz="1900" b="1" dirty="0" err="1"/>
              <a:t>pull</a:t>
            </a:r>
            <a:r>
              <a:rPr lang="es-ES" sz="1900" dirty="0"/>
              <a:t>” de la imagen de nuestro repositorio local (</a:t>
            </a:r>
            <a:r>
              <a:rPr lang="es-ES" sz="1900" b="1" dirty="0"/>
              <a:t>Docker </a:t>
            </a:r>
            <a:r>
              <a:rPr lang="es-ES" sz="1900" b="1" dirty="0" err="1"/>
              <a:t>Registry</a:t>
            </a:r>
            <a:r>
              <a:rPr lang="es-ES" sz="1900" dirty="0"/>
              <a:t>). Si no la encuentra lo descarga de </a:t>
            </a:r>
            <a:r>
              <a:rPr lang="es-ES" sz="1900" b="1" dirty="0"/>
              <a:t>Docker Hub</a:t>
            </a:r>
            <a:r>
              <a:rPr lang="es-ES" sz="1900" dirty="0"/>
              <a:t>.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900" dirty="0"/>
              <a:t>Docker Hub: Un registro con las imágenes de Dockers. Cada cliente Docker tiene uno local y existe uno en la nube: </a:t>
            </a:r>
            <a:r>
              <a:rPr lang="es-ES" sz="1900" u="sng" dirty="0">
                <a:solidFill>
                  <a:schemeClr val="hlink"/>
                </a:solidFill>
                <a:hlinkClick r:id="rId2"/>
              </a:rPr>
              <a:t>https://hub.docker.com/</a:t>
            </a:r>
            <a:endParaRPr lang="es-ES" sz="19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900" dirty="0">
                <a:solidFill>
                  <a:srgbClr val="000000"/>
                </a:solidFill>
              </a:rPr>
              <a:t>Con la imagen descargada (o obtenida del repo local) esta se ejecuta.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34775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0F792-9B7F-B46B-41B3-E8EE9D1B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67871-FEA9-D0F8-4CB3-261467A57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Flujo Docker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D004FF-A278-DACF-92B4-C6A9048ED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pic>
        <p:nvPicPr>
          <p:cNvPr id="5" name="Google Shape;149;p23">
            <a:extLst>
              <a:ext uri="{FF2B5EF4-FFF2-40B4-BE49-F238E27FC236}">
                <a16:creationId xmlns:a16="http://schemas.microsoft.com/office/drawing/2014/main" id="{EF43B5C4-1B63-557C-E235-C2282D5B43A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1468" y="1243003"/>
            <a:ext cx="8402513" cy="43719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3517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F96D-9DDC-B2DD-73E9-820E07D6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4DC65-2887-4D19-78A7-3D23673D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Otra prueba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D366B97-C46D-469E-F542-DCA107D0CE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708170-9388-4775-03B0-976240470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el terminal y corra:</a:t>
            </a:r>
            <a:endParaRPr lang="es-PE" dirty="0"/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F4C63D-8152-B9EE-3C0B-8212E486BA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37"/>
          <a:stretch/>
        </p:blipFill>
        <p:spPr>
          <a:xfrm>
            <a:off x="3098266" y="1978170"/>
            <a:ext cx="6156832" cy="23717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0796920-6E12-2721-AE05-05B3C642A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22" y="4697948"/>
            <a:ext cx="8749549" cy="92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0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F054-30DD-9476-B0C8-182F9332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84314-C680-71C6-B865-A3D8C8489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Explicación del comando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F94D85B-F0AB-3193-BBDE-3A7C78BF95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ED1AE2-05F2-06BD-E0EA-93E88C3F1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En el comando ingresado: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6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run -d -p 80:80 </a:t>
            </a: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6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/</a:t>
            </a: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getting-started</a:t>
            </a:r>
            <a:endParaRPr lang="es-ES" sz="1600" dirty="0">
              <a:solidFill>
                <a:schemeClr val="lt1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6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-d</a:t>
            </a:r>
            <a:r>
              <a:rPr lang="es-ES" sz="1600" dirty="0"/>
              <a:t>: </a:t>
            </a:r>
            <a:r>
              <a:rPr lang="es-ES" sz="1600" dirty="0" err="1"/>
              <a:t>detached</a:t>
            </a:r>
            <a:r>
              <a:rPr lang="es-ES" sz="1600" dirty="0"/>
              <a:t> → para no mantener enganchada la consola (como </a:t>
            </a:r>
            <a:r>
              <a:rPr lang="es-ES" sz="1600" dirty="0" err="1"/>
              <a:t>nohup</a:t>
            </a:r>
            <a:r>
              <a:rPr lang="es-ES" sz="1600" dirty="0"/>
              <a:t>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6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-p X:Y</a:t>
            </a:r>
            <a:r>
              <a:rPr lang="es-ES" sz="1600" dirty="0"/>
              <a:t>: mapea el puerto X del host (su computadora) con el puerto Y del contenedor.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6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/</a:t>
            </a: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getting-started</a:t>
            </a:r>
            <a:r>
              <a:rPr lang="es-ES" sz="1600" dirty="0"/>
              <a:t>: imagen utilizada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→ A diferente de la imagen </a:t>
            </a:r>
            <a:r>
              <a:rPr lang="es-ES" sz="1600" dirty="0" err="1"/>
              <a:t>hello-world</a:t>
            </a:r>
            <a:r>
              <a:rPr lang="es-ES" sz="1600" dirty="0"/>
              <a:t>, </a:t>
            </a:r>
            <a:r>
              <a:rPr lang="es-ES" sz="1600" dirty="0" err="1"/>
              <a:t>getting-started</a:t>
            </a:r>
            <a:r>
              <a:rPr lang="es-ES" sz="1600" dirty="0"/>
              <a:t> se queda prendida ofreciendo un servicio en el puerto 80.</a:t>
            </a:r>
          </a:p>
          <a:p>
            <a:endParaRPr lang="es-PE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FBC2E9-C5B0-41FA-2E7B-6FAFC34DB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795" y="3399345"/>
            <a:ext cx="5219859" cy="20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84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769E-FDCD-78A9-4E8D-965869CE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4A4D3-90FA-05C0-3E57-840033F3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Pull de imagen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58FE79D-BDB9-2C55-49CE-D6C05A4DE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F55233-1227-CEAE-2EDD-701B77E35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vez de correr una imagen, podemos descargar primero.</a:t>
            </a:r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buNone/>
            </a:pPr>
            <a:r>
              <a:rPr lang="es-ES" sz="1800" dirty="0"/>
              <a:t>Corra: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8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pull</a:t>
            </a:r>
            <a:r>
              <a:rPr lang="es-ES" sz="18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busybox</a:t>
            </a:r>
            <a:endParaRPr lang="es-ES" sz="1800" dirty="0">
              <a:solidFill>
                <a:schemeClr val="lt1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Observará en Docker Desktop que no se ha iniciado ningún contenedor (siguen los 2 iniciales):</a:t>
            </a:r>
          </a:p>
          <a:p>
            <a:endParaRPr lang="es-PE" sz="1800" dirty="0"/>
          </a:p>
        </p:txBody>
      </p:sp>
      <p:pic>
        <p:nvPicPr>
          <p:cNvPr id="5" name="Google Shape;176;p26">
            <a:extLst>
              <a:ext uri="{FF2B5EF4-FFF2-40B4-BE49-F238E27FC236}">
                <a16:creationId xmlns:a16="http://schemas.microsoft.com/office/drawing/2014/main" id="{FCC973B3-8354-E2A2-7AEF-BD18F71081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00350" y="3787905"/>
            <a:ext cx="5958168" cy="18060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7;p26">
            <a:extLst>
              <a:ext uri="{FF2B5EF4-FFF2-40B4-BE49-F238E27FC236}">
                <a16:creationId xmlns:a16="http://schemas.microsoft.com/office/drawing/2014/main" id="{0301340D-D300-8495-8E5C-ABA3F5832311}"/>
              </a:ext>
            </a:extLst>
          </p:cNvPr>
          <p:cNvSpPr/>
          <p:nvPr/>
        </p:nvSpPr>
        <p:spPr>
          <a:xfrm>
            <a:off x="2503350" y="3872804"/>
            <a:ext cx="297000" cy="29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ED21C8-4DC2-DF51-0615-B243D393E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2245441"/>
            <a:ext cx="65913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95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1EC5-B95C-9838-7C12-D276899A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557AF-57BA-2872-25B0-29DE3C8A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Imágenes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17B5E73-0114-62E8-0379-FAAB0B2B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2ACC9E-1463-2076-40E3-C2F800D4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Si va a Imágenes, podrá observar la imagen descargada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De igual forma, puede probar en línea de comandos listar sus imágenes descargadas con: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8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images</a:t>
            </a:r>
            <a:endParaRPr lang="es-ES" sz="1800" dirty="0"/>
          </a:p>
          <a:p>
            <a:endParaRPr lang="es-PE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946B3A-F801-5ED3-6F2B-8DF10C22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647" y="1713660"/>
            <a:ext cx="3723132" cy="210622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8DF13DF-A83B-A908-4985-3D353552B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387" y="4640223"/>
            <a:ext cx="5791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5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7373F-A493-6E44-32BD-36567627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67E0-CF9F-E85C-CDA3-B9762350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Correr imagen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538A334-98A7-7124-967E-F91ECBB12A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387B0C-1431-22DA-7F74-F43899577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Ahorra correremos la imagen descargada con Docker run. No olvide que si una imagen no existe en su repo local, </a:t>
            </a:r>
            <a:r>
              <a:rPr lang="es-ES" sz="1800" dirty="0" err="1"/>
              <a:t>docker</a:t>
            </a:r>
            <a:r>
              <a:rPr lang="es-ES" sz="1800" dirty="0"/>
              <a:t> tratará de descargarla de </a:t>
            </a:r>
            <a:r>
              <a:rPr lang="es-ES" sz="1800" dirty="0" err="1"/>
              <a:t>docker</a:t>
            </a:r>
            <a:r>
              <a:rPr lang="es-ES" sz="1800" dirty="0"/>
              <a:t> </a:t>
            </a:r>
            <a:r>
              <a:rPr lang="es-ES" sz="1800" dirty="0" err="1"/>
              <a:t>hub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Corra: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8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run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busybox</a:t>
            </a:r>
            <a:endParaRPr lang="es-ES" sz="1800" dirty="0">
              <a:solidFill>
                <a:schemeClr val="lt1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buNone/>
            </a:pPr>
            <a:endParaRPr lang="es-ES" sz="1200" dirty="0"/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buNone/>
            </a:pPr>
            <a:r>
              <a:rPr lang="es-ES" sz="1800" dirty="0"/>
              <a:t>No pasa nada… pero en realidad el </a:t>
            </a:r>
            <a:r>
              <a:rPr lang="es-ES" sz="1800" dirty="0" err="1"/>
              <a:t>docker</a:t>
            </a:r>
            <a:r>
              <a:rPr lang="es-ES" sz="1800" dirty="0"/>
              <a:t> inició, ejecutó las aplicaciones que tenía configuradas y se apagó.</a:t>
            </a:r>
          </a:p>
          <a:p>
            <a:endParaRPr lang="es-PE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9E89212-41B2-53A7-6CB0-6F3148747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448" y="2213617"/>
            <a:ext cx="2931904" cy="588521"/>
          </a:xfrm>
          <a:prstGeom prst="rect">
            <a:avLst/>
          </a:prstGeom>
        </p:spPr>
      </p:pic>
      <p:pic>
        <p:nvPicPr>
          <p:cNvPr id="8" name="Google Shape;196;p28">
            <a:extLst>
              <a:ext uri="{FF2B5EF4-FFF2-40B4-BE49-F238E27FC236}">
                <a16:creationId xmlns:a16="http://schemas.microsoft.com/office/drawing/2014/main" id="{D92AF932-63A3-65A6-75A8-49E8AD9965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2288"/>
          <a:stretch/>
        </p:blipFill>
        <p:spPr>
          <a:xfrm>
            <a:off x="2975652" y="3456378"/>
            <a:ext cx="5395750" cy="2010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4504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5F6E3-E111-FB78-5CB1-8597E1D5B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Iniciar contenedores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ACDE2C1-AFA3-63DF-E552-EAABB06601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11FAB9-BA21-D53F-CABD-DF2061F2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Al hacer </a:t>
            </a:r>
            <a:r>
              <a:rPr lang="es-ES" dirty="0" err="1"/>
              <a:t>docker</a:t>
            </a:r>
            <a:r>
              <a:rPr lang="es-ES" dirty="0"/>
              <a:t> run usted crea un nuevo contenedor en cada comando.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Para levantar un contenedor ya existente utilice: </a:t>
            </a:r>
            <a:r>
              <a:rPr lang="es-ES" dirty="0" err="1"/>
              <a:t>docker</a:t>
            </a:r>
            <a:r>
              <a:rPr lang="es-ES" dirty="0"/>
              <a:t> </a:t>
            </a:r>
            <a:r>
              <a:rPr lang="es-ES" dirty="0" err="1"/>
              <a:t>start</a:t>
            </a:r>
            <a:r>
              <a:rPr lang="es-ES" dirty="0"/>
              <a:t> ID.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45529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A8130-B687-6A76-915E-A54245A99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65ECD-A1AB-5D99-D26B-6F32032C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Lista de contenedores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ED2C928-E64C-14CE-B861-6AE0447859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31E3FF-D76C-3EF4-E1C6-B24BD718A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Para ver los contenedores que está corriendo (aparte del </a:t>
            </a:r>
            <a:r>
              <a:rPr lang="es-ES" sz="1600" dirty="0" err="1"/>
              <a:t>docker</a:t>
            </a:r>
            <a:r>
              <a:rPr lang="es-ES" sz="1600" dirty="0"/>
              <a:t> desktop), puede ingresar el comando: </a:t>
            </a: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6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ps</a:t>
            </a:r>
            <a:endParaRPr lang="es-ES" sz="1600" dirty="0">
              <a:solidFill>
                <a:schemeClr val="lt1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buNone/>
            </a:pPr>
            <a:r>
              <a:rPr lang="es-ES" sz="1600" dirty="0"/>
              <a:t>En este caso, se observa que cada </a:t>
            </a:r>
            <a:r>
              <a:rPr lang="es-ES" sz="1600" dirty="0" err="1"/>
              <a:t>docker</a:t>
            </a:r>
            <a:r>
              <a:rPr lang="es-ES" sz="1600" dirty="0"/>
              <a:t> tiene un “</a:t>
            </a:r>
            <a:r>
              <a:rPr lang="es-ES" sz="1600" dirty="0" err="1"/>
              <a:t>Container_ID</a:t>
            </a:r>
            <a:r>
              <a:rPr lang="es-ES" sz="1600" dirty="0"/>
              <a:t>”, el cual permite identificarlo, así como su estado y el mapeo de puertos.</a:t>
            </a:r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buNone/>
            </a:pPr>
            <a:r>
              <a:rPr lang="es-ES" sz="1600" dirty="0"/>
              <a:t>Si desea ver todos los </a:t>
            </a:r>
            <a:r>
              <a:rPr lang="es-ES" sz="1600" dirty="0" err="1"/>
              <a:t>dockers</a:t>
            </a:r>
            <a:r>
              <a:rPr lang="es-ES" sz="1600" dirty="0"/>
              <a:t> que están desplegados, están corriendo o no, correr: </a:t>
            </a: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6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sz="16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ps</a:t>
            </a:r>
            <a:r>
              <a:rPr lang="es-ES" sz="16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-a</a:t>
            </a:r>
          </a:p>
          <a:p>
            <a:endParaRPr lang="es-PE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E9F0BD-0A50-FA8C-829E-8E94A3BE5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43" y="1922992"/>
            <a:ext cx="10344150" cy="571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29C5347-FE71-7D08-9515-574CAF8A1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60" y="4122112"/>
            <a:ext cx="1057811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96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C39D-16E2-00B6-700F-02EC04F3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F8C50-38E3-26ED-9700-92B6B1B8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Borrar contenedores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037A2BD-329A-0995-73DC-1B28D74972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C46675-8F77-E5C5-1446-B1807BF8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Al ser desplegado, un contenedor ocupa un espacio en disco, por tal motivo, es bueno siempre borrar los contenedores que no utiliza.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Puede utilizar el comando: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8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rm</a:t>
            </a:r>
            <a:r>
              <a:rPr lang="es-ES" sz="18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&lt;container ID&gt;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→ Puede utilizar el comando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18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container </a:t>
            </a:r>
            <a:r>
              <a:rPr lang="es-ES" sz="18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prune</a:t>
            </a:r>
            <a:r>
              <a:rPr lang="es-ES" sz="2000" dirty="0"/>
              <a:t> para borrar todos los contenedores que estén apagados.</a:t>
            </a:r>
            <a:endParaRPr lang="es-ES" sz="4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También es posible borrar contenedores en el Docker Desktop:</a:t>
            </a:r>
          </a:p>
          <a:p>
            <a:endParaRPr lang="es-PE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FC5E3B-7B16-A65A-36E5-2FA16C246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593" y="1803677"/>
            <a:ext cx="3007634" cy="1470609"/>
          </a:xfrm>
          <a:prstGeom prst="rect">
            <a:avLst/>
          </a:prstGeom>
        </p:spPr>
      </p:pic>
      <p:pic>
        <p:nvPicPr>
          <p:cNvPr id="6" name="Google Shape;221;p31">
            <a:extLst>
              <a:ext uri="{FF2B5EF4-FFF2-40B4-BE49-F238E27FC236}">
                <a16:creationId xmlns:a16="http://schemas.microsoft.com/office/drawing/2014/main" id="{EFE961AF-5FCD-89B1-CB36-1156F4131B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9749"/>
          <a:stretch/>
        </p:blipFill>
        <p:spPr>
          <a:xfrm>
            <a:off x="3256155" y="4654267"/>
            <a:ext cx="5857875" cy="1161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5489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B5C6E-7C05-3A5B-B882-11D5B5F1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8F115-A353-313C-C1F3-B6BB74060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Borrar imágenes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71C60D-EEFE-B49B-342E-F2737ACE4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30F98C-400D-DBF9-22AE-B351866D3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Las imágenes que se descarga también ocupan un espacio en disco. Se recomienda borrar las imágenes que no utilice para liberar memoria.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En Docker Desktop puede observar la lista de imágenes y borrar las que no use</a:t>
            </a:r>
          </a:p>
          <a:p>
            <a:endParaRPr lang="es-PE" sz="1800" dirty="0"/>
          </a:p>
        </p:txBody>
      </p:sp>
      <p:pic>
        <p:nvPicPr>
          <p:cNvPr id="5" name="Google Shape;229;p32">
            <a:extLst>
              <a:ext uri="{FF2B5EF4-FFF2-40B4-BE49-F238E27FC236}">
                <a16:creationId xmlns:a16="http://schemas.microsoft.com/office/drawing/2014/main" id="{BD423F2F-1CC4-E824-EAB7-B5EF4EA2F8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1551"/>
          <a:stretch/>
        </p:blipFill>
        <p:spPr>
          <a:xfrm>
            <a:off x="1832707" y="2480853"/>
            <a:ext cx="8189836" cy="2985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6307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F3A9-113F-7DC1-2C0A-DB059C36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CBEB9-36B4-E2B9-85F1-9E910A6A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Puertos aleatorios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A04739B-9EEC-1F64-25BB-E86F81FE02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DB70BC-F2A9-7D42-5848-C4E7BA7D3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Si desea que </a:t>
            </a:r>
            <a:r>
              <a:rPr lang="es-ES" sz="2000" dirty="0" err="1"/>
              <a:t>docker</a:t>
            </a:r>
            <a:r>
              <a:rPr lang="es-ES" sz="2000" dirty="0"/>
              <a:t> asigne puertos aleatorios del host a los puertos del contenedor, debe incluir el comando -P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Por ejemplo corra la siguiente aplicación web: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→ </a:t>
            </a:r>
            <a:r>
              <a:rPr lang="es-ES" sz="20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20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run -d -P prakhar1989/</a:t>
            </a:r>
            <a:r>
              <a:rPr lang="es-ES" sz="20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static</a:t>
            </a:r>
            <a:r>
              <a:rPr lang="es-ES" sz="20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-site</a:t>
            </a: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Busque el ID del </a:t>
            </a:r>
            <a:r>
              <a:rPr lang="es-ES" sz="2000" dirty="0" err="1"/>
              <a:t>docker</a:t>
            </a:r>
            <a:r>
              <a:rPr lang="es-ES" sz="20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5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Busque los puertos asignados con:  </a:t>
            </a:r>
            <a:r>
              <a:rPr lang="es-ES" sz="20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docker</a:t>
            </a:r>
            <a:r>
              <a:rPr lang="es-ES" sz="20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sz="20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port</a:t>
            </a:r>
            <a:r>
              <a:rPr lang="es-ES" sz="20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&lt;</a:t>
            </a:r>
            <a:r>
              <a:rPr lang="es-ES" sz="2000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container_id</a:t>
            </a:r>
            <a:r>
              <a:rPr lang="es-ES" sz="2000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endParaRPr lang="es-ES" sz="2000" dirty="0"/>
          </a:p>
          <a:p>
            <a:endParaRPr lang="es-PE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519498-4429-3889-1D30-3BF2A1689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312" y="3161312"/>
            <a:ext cx="3105150" cy="10191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FC0BC7C-712D-78CF-1D7C-CF80E46D3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542" y="5009604"/>
            <a:ext cx="32670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52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E976-969A-DA7C-33E8-1DBB76EE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DDA07-F30A-F81D-2C0C-0CA6046A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Puertos aleatorios - 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531F02-3A76-7586-AD4C-498607F864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89F572-F462-FFA1-DE5C-243FB2DAD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Abra la página con el puerto asignado: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57C3D8-5896-32B2-08F9-068F1D5C9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534" y="1391547"/>
            <a:ext cx="4962108" cy="395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29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690</TotalTime>
  <Words>965</Words>
  <Application>Microsoft Office PowerPoint</Application>
  <PresentationFormat>Panorámica</PresentationFormat>
  <Paragraphs>111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Montserrat</vt:lpstr>
      <vt:lpstr>Montserrat Medium</vt:lpstr>
      <vt:lpstr>Open Sans</vt:lpstr>
      <vt:lpstr>Source Code Pro</vt:lpstr>
      <vt:lpstr>Tema de Office</vt:lpstr>
      <vt:lpstr>1_Tema de Office</vt:lpstr>
      <vt:lpstr>Diseño personalizado</vt:lpstr>
      <vt:lpstr>Telecom Pucp</vt:lpstr>
      <vt:lpstr>Presentación de PowerPoint</vt:lpstr>
      <vt:lpstr>Contenedores y despliegues en nube</vt:lpstr>
      <vt:lpstr>Contenedores</vt:lpstr>
      <vt:lpstr>Definición</vt:lpstr>
      <vt:lpstr>Contenedores vs. Máquinas Virtuales</vt:lpstr>
      <vt:lpstr>Docker</vt:lpstr>
      <vt:lpstr>Docker</vt:lpstr>
      <vt:lpstr>Docker Desktop</vt:lpstr>
      <vt:lpstr>Pruebas con Docker</vt:lpstr>
      <vt:lpstr>Correr un contenedor</vt:lpstr>
      <vt:lpstr>Flujo Docker</vt:lpstr>
      <vt:lpstr>Flujo Docker</vt:lpstr>
      <vt:lpstr>Otra prueba</vt:lpstr>
      <vt:lpstr>Explicación del comando</vt:lpstr>
      <vt:lpstr>Pull de imagen</vt:lpstr>
      <vt:lpstr>Imágenes</vt:lpstr>
      <vt:lpstr>Correr imagen</vt:lpstr>
      <vt:lpstr>Iniciar contenedores</vt:lpstr>
      <vt:lpstr>Lista de contenedores</vt:lpstr>
      <vt:lpstr>Borrar contenedores</vt:lpstr>
      <vt:lpstr>Borrar imágenes</vt:lpstr>
      <vt:lpstr>Puertos aleatorios</vt:lpstr>
      <vt:lpstr>Puertos aleatorios - probando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33</cp:revision>
  <dcterms:created xsi:type="dcterms:W3CDTF">2023-10-28T21:43:03Z</dcterms:created>
  <dcterms:modified xsi:type="dcterms:W3CDTF">2026-05-06T21:18:53Z</dcterms:modified>
</cp:coreProperties>
</file>