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0"/>
  </p:notesMasterIdLst>
  <p:handoutMasterIdLst>
    <p:handoutMasterId r:id="rId21"/>
  </p:handoutMasterIdLst>
  <p:sldIdLst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59" r:id="rId1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79" d="100"/>
          <a:sy n="79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6/05/2026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6/05/2026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“usuario” -</a:t>
            </a:r>
            <a:r>
              <a:rPr lang="es-PE" dirty="0">
                <a:sym typeface="Wingdings" panose="05000000000000000000" pitchFamily="2" charset="2"/>
              </a:rPr>
              <a:t> en la vista HTML</a:t>
            </a:r>
          </a:p>
          <a:p>
            <a:r>
              <a:rPr lang="es-PE" dirty="0">
                <a:sym typeface="Wingdings" panose="05000000000000000000" pitchFamily="2" charset="2"/>
              </a:rPr>
              <a:t>Para el authentication, el </a:t>
            </a:r>
            <a:r>
              <a:rPr lang="es-PE" dirty="0" err="1">
                <a:sym typeface="Wingdings" panose="05000000000000000000" pitchFamily="2" charset="2"/>
              </a:rPr>
              <a:t>getName</a:t>
            </a:r>
            <a:r>
              <a:rPr lang="es-PE" dirty="0">
                <a:sym typeface="Wingdings" panose="05000000000000000000" pitchFamily="2" charset="2"/>
              </a:rPr>
              <a:t> sería el email con el cual se hará el método </a:t>
            </a:r>
            <a:r>
              <a:rPr lang="es-PE" dirty="0" err="1">
                <a:sym typeface="Wingdings" panose="05000000000000000000" pitchFamily="2" charset="2"/>
              </a:rPr>
              <a:t>predefinidio</a:t>
            </a:r>
            <a:r>
              <a:rPr lang="es-PE" dirty="0">
                <a:sym typeface="Wingdings" panose="05000000000000000000" pitchFamily="2" charset="2"/>
              </a:rPr>
              <a:t> de manera local: </a:t>
            </a:r>
            <a:r>
              <a:rPr lang="es-PE" dirty="0" err="1">
                <a:sym typeface="Wingdings" panose="05000000000000000000" pitchFamily="2" charset="2"/>
              </a:rPr>
              <a:t>findByEmail</a:t>
            </a:r>
            <a:r>
              <a:rPr lang="es-PE" dirty="0">
                <a:sym typeface="Wingdings" panose="05000000000000000000" pitchFamily="2" charset="2"/>
              </a:rPr>
              <a:t>.}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6821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Mayo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33907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8131587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496996" cy="62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CC163489-AFB8-D0F0-79B5-66CCFA3FF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526"/>
            <a:ext cx="10496996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294461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5982406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09602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568081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8329190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1912753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543047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71267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session" TargetMode="External"/><Relationship Id="rId2" Type="http://schemas.openxmlformats.org/officeDocument/2006/relationships/hyperlink" Target="https://docs.spring.io/spring-session/docs/current/reference/html5/#httpsession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168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FA4C8-71CE-C72D-639E-090FF82DA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Spring Session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06B35F-9C99-D9B8-6148-40DF6B7CC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268650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63F49-890F-8B2C-483F-1E58B6E7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Sesiones </a:t>
            </a:r>
            <a:r>
              <a:rPr lang="es-ES" dirty="0" err="1"/>
              <a:t>HttpSession</a:t>
            </a:r>
            <a:r>
              <a:rPr lang="es-ES" dirty="0"/>
              <a:t> tradicionales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30ACF8-E1A5-F552-7B0D-50F1159E0D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7BCD59-99CF-CB69-7FEF-F9B147C56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un proyecto Java web como los desarrollados en sw1, con un esquema de 3 capas, se podría acceder a la sesión mediante el objeto </a:t>
            </a:r>
            <a:r>
              <a:rPr lang="es-ES" sz="1800" dirty="0" err="1"/>
              <a:t>HttpSession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En la sesión se podía guardar cualquier tipo de información, desde variables primitivas hasta objetos. Cada sesión en el navegador era almacenada en el servidor identificándose por el JSESSIONID.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Se tenía un esquema similar a: </a:t>
            </a:r>
          </a:p>
          <a:p>
            <a:endParaRPr lang="es-PE" sz="1800" dirty="0"/>
          </a:p>
        </p:txBody>
      </p:sp>
      <p:grpSp>
        <p:nvGrpSpPr>
          <p:cNvPr id="5" name="Google Shape;78;p14">
            <a:extLst>
              <a:ext uri="{FF2B5EF4-FFF2-40B4-BE49-F238E27FC236}">
                <a16:creationId xmlns:a16="http://schemas.microsoft.com/office/drawing/2014/main" id="{DFC908CB-7258-84CD-6C7C-FE2A24E66A4D}"/>
              </a:ext>
            </a:extLst>
          </p:cNvPr>
          <p:cNvGrpSpPr/>
          <p:nvPr/>
        </p:nvGrpSpPr>
        <p:grpSpPr>
          <a:xfrm>
            <a:off x="4448532" y="3008010"/>
            <a:ext cx="5780198" cy="2393611"/>
            <a:chOff x="411850" y="3670725"/>
            <a:chExt cx="6660975" cy="2811300"/>
          </a:xfrm>
        </p:grpSpPr>
        <p:sp>
          <p:nvSpPr>
            <p:cNvPr id="6" name="Google Shape;79;p14">
              <a:extLst>
                <a:ext uri="{FF2B5EF4-FFF2-40B4-BE49-F238E27FC236}">
                  <a16:creationId xmlns:a16="http://schemas.microsoft.com/office/drawing/2014/main" id="{1FF15BF8-2AEA-A429-3CEB-BE6789788BDD}"/>
                </a:ext>
              </a:extLst>
            </p:cNvPr>
            <p:cNvSpPr/>
            <p:nvPr/>
          </p:nvSpPr>
          <p:spPr>
            <a:xfrm>
              <a:off x="411850" y="3831875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F9CB9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1</a:t>
              </a:r>
              <a:endParaRPr sz="1200"/>
            </a:p>
          </p:txBody>
        </p:sp>
        <p:sp>
          <p:nvSpPr>
            <p:cNvPr id="7" name="Google Shape;80;p14">
              <a:extLst>
                <a:ext uri="{FF2B5EF4-FFF2-40B4-BE49-F238E27FC236}">
                  <a16:creationId xmlns:a16="http://schemas.microsoft.com/office/drawing/2014/main" id="{CA9E9F78-4E74-BA48-1B0B-EE28BD80CCDB}"/>
                </a:ext>
              </a:extLst>
            </p:cNvPr>
            <p:cNvSpPr/>
            <p:nvPr/>
          </p:nvSpPr>
          <p:spPr>
            <a:xfrm>
              <a:off x="411850" y="4701988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2</a:t>
              </a:r>
              <a:endParaRPr sz="1200"/>
            </a:p>
          </p:txBody>
        </p:sp>
        <p:sp>
          <p:nvSpPr>
            <p:cNvPr id="8" name="Google Shape;81;p14">
              <a:extLst>
                <a:ext uri="{FF2B5EF4-FFF2-40B4-BE49-F238E27FC236}">
                  <a16:creationId xmlns:a16="http://schemas.microsoft.com/office/drawing/2014/main" id="{32F0F6F6-6139-E4AE-298E-BABE26DDF3B9}"/>
                </a:ext>
              </a:extLst>
            </p:cNvPr>
            <p:cNvSpPr/>
            <p:nvPr/>
          </p:nvSpPr>
          <p:spPr>
            <a:xfrm>
              <a:off x="411850" y="5607913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9FC5E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3</a:t>
              </a:r>
              <a:endParaRPr sz="1200"/>
            </a:p>
          </p:txBody>
        </p:sp>
        <p:sp>
          <p:nvSpPr>
            <p:cNvPr id="9" name="Google Shape;82;p14">
              <a:extLst>
                <a:ext uri="{FF2B5EF4-FFF2-40B4-BE49-F238E27FC236}">
                  <a16:creationId xmlns:a16="http://schemas.microsoft.com/office/drawing/2014/main" id="{B2D9F365-E0F3-2CB9-C28C-BFD75C8E7BEE}"/>
                </a:ext>
              </a:extLst>
            </p:cNvPr>
            <p:cNvSpPr/>
            <p:nvPr/>
          </p:nvSpPr>
          <p:spPr>
            <a:xfrm>
              <a:off x="3053725" y="3670725"/>
              <a:ext cx="4019100" cy="2811300"/>
            </a:xfrm>
            <a:prstGeom prst="rect">
              <a:avLst/>
            </a:prstGeom>
            <a:noFill/>
            <a:ln w="1143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600" b="1"/>
                <a:t>Server</a:t>
              </a:r>
              <a:endParaRPr sz="1600" b="1"/>
            </a:p>
          </p:txBody>
        </p:sp>
        <p:sp>
          <p:nvSpPr>
            <p:cNvPr id="10" name="Google Shape;83;p14">
              <a:extLst>
                <a:ext uri="{FF2B5EF4-FFF2-40B4-BE49-F238E27FC236}">
                  <a16:creationId xmlns:a16="http://schemas.microsoft.com/office/drawing/2014/main" id="{CE0A8170-EE00-0269-E934-EDCBE0B4CE01}"/>
                </a:ext>
              </a:extLst>
            </p:cNvPr>
            <p:cNvSpPr/>
            <p:nvPr/>
          </p:nvSpPr>
          <p:spPr>
            <a:xfrm>
              <a:off x="5488975" y="4119925"/>
              <a:ext cx="1368900" cy="767700"/>
            </a:xfrm>
            <a:prstGeom prst="ellipse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1</a:t>
              </a:r>
              <a:endParaRPr sz="1200"/>
            </a:p>
          </p:txBody>
        </p:sp>
        <p:sp>
          <p:nvSpPr>
            <p:cNvPr id="11" name="Google Shape;84;p14">
              <a:extLst>
                <a:ext uri="{FF2B5EF4-FFF2-40B4-BE49-F238E27FC236}">
                  <a16:creationId xmlns:a16="http://schemas.microsoft.com/office/drawing/2014/main" id="{49A87FD3-13BA-5FF7-07D6-B83F17239BD1}"/>
                </a:ext>
              </a:extLst>
            </p:cNvPr>
            <p:cNvSpPr/>
            <p:nvPr/>
          </p:nvSpPr>
          <p:spPr>
            <a:xfrm>
              <a:off x="4415025" y="4840150"/>
              <a:ext cx="1368900" cy="767700"/>
            </a:xfrm>
            <a:prstGeom prst="ellipse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 dirty="0" err="1"/>
                <a:t>HttpSession</a:t>
              </a:r>
              <a:r>
                <a:rPr lang="es-419" sz="1200" dirty="0"/>
                <a:t> 2</a:t>
              </a:r>
              <a:endParaRPr sz="1200" dirty="0"/>
            </a:p>
          </p:txBody>
        </p:sp>
        <p:sp>
          <p:nvSpPr>
            <p:cNvPr id="12" name="Google Shape;85;p14">
              <a:extLst>
                <a:ext uri="{FF2B5EF4-FFF2-40B4-BE49-F238E27FC236}">
                  <a16:creationId xmlns:a16="http://schemas.microsoft.com/office/drawing/2014/main" id="{66172B94-37C0-AABF-F211-63DCB047CAF5}"/>
                </a:ext>
              </a:extLst>
            </p:cNvPr>
            <p:cNvSpPr/>
            <p:nvPr/>
          </p:nvSpPr>
          <p:spPr>
            <a:xfrm>
              <a:off x="5490163" y="5514325"/>
              <a:ext cx="1368900" cy="767700"/>
            </a:xfrm>
            <a:prstGeom prst="ellipse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3</a:t>
              </a:r>
              <a:endParaRPr sz="1200"/>
            </a:p>
          </p:txBody>
        </p:sp>
        <p:cxnSp>
          <p:nvCxnSpPr>
            <p:cNvPr id="13" name="Google Shape;86;p14">
              <a:extLst>
                <a:ext uri="{FF2B5EF4-FFF2-40B4-BE49-F238E27FC236}">
                  <a16:creationId xmlns:a16="http://schemas.microsoft.com/office/drawing/2014/main" id="{5D7587E3-B33E-6167-05B1-70544D8CCA74}"/>
                </a:ext>
              </a:extLst>
            </p:cNvPr>
            <p:cNvCxnSpPr>
              <a:stCxn id="14" idx="3"/>
              <a:endCxn id="10" idx="2"/>
            </p:cNvCxnSpPr>
            <p:nvPr/>
          </p:nvCxnSpPr>
          <p:spPr>
            <a:xfrm>
              <a:off x="3114775" y="4411925"/>
              <a:ext cx="23742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87;p14">
              <a:extLst>
                <a:ext uri="{FF2B5EF4-FFF2-40B4-BE49-F238E27FC236}">
                  <a16:creationId xmlns:a16="http://schemas.microsoft.com/office/drawing/2014/main" id="{9410E873-F008-88EB-C1DF-C42A3B7A6B91}"/>
                </a:ext>
              </a:extLst>
            </p:cNvPr>
            <p:cNvSpPr/>
            <p:nvPr/>
          </p:nvSpPr>
          <p:spPr>
            <a:xfrm>
              <a:off x="2993275" y="4200875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" name="Google Shape;88;p14">
              <a:extLst>
                <a:ext uri="{FF2B5EF4-FFF2-40B4-BE49-F238E27FC236}">
                  <a16:creationId xmlns:a16="http://schemas.microsoft.com/office/drawing/2014/main" id="{205D9912-5224-1F0F-578E-ACC3E190F231}"/>
                </a:ext>
              </a:extLst>
            </p:cNvPr>
            <p:cNvCxnSpPr>
              <a:stCxn id="6" idx="3"/>
              <a:endCxn id="14" idx="1"/>
            </p:cNvCxnSpPr>
            <p:nvPr/>
          </p:nvCxnSpPr>
          <p:spPr>
            <a:xfrm>
              <a:off x="1611550" y="4181075"/>
              <a:ext cx="1381800" cy="2310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89;p14">
              <a:extLst>
                <a:ext uri="{FF2B5EF4-FFF2-40B4-BE49-F238E27FC236}">
                  <a16:creationId xmlns:a16="http://schemas.microsoft.com/office/drawing/2014/main" id="{ED22A791-DF5E-D446-FC87-23277F11EEC9}"/>
                </a:ext>
              </a:extLst>
            </p:cNvPr>
            <p:cNvSpPr/>
            <p:nvPr/>
          </p:nvSpPr>
          <p:spPr>
            <a:xfrm>
              <a:off x="2993275" y="4840150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0;p14">
              <a:extLst>
                <a:ext uri="{FF2B5EF4-FFF2-40B4-BE49-F238E27FC236}">
                  <a16:creationId xmlns:a16="http://schemas.microsoft.com/office/drawing/2014/main" id="{9F166C55-CBC0-BA30-2660-C94105B9185F}"/>
                </a:ext>
              </a:extLst>
            </p:cNvPr>
            <p:cNvSpPr/>
            <p:nvPr/>
          </p:nvSpPr>
          <p:spPr>
            <a:xfrm>
              <a:off x="2993275" y="5479425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91;p14">
              <a:extLst>
                <a:ext uri="{FF2B5EF4-FFF2-40B4-BE49-F238E27FC236}">
                  <a16:creationId xmlns:a16="http://schemas.microsoft.com/office/drawing/2014/main" id="{609D34ED-37FC-C7AA-B02A-3886AFE6C321}"/>
                </a:ext>
              </a:extLst>
            </p:cNvPr>
            <p:cNvCxnSpPr>
              <a:stCxn id="7" idx="3"/>
              <a:endCxn id="16" idx="1"/>
            </p:cNvCxnSpPr>
            <p:nvPr/>
          </p:nvCxnSpPr>
          <p:spPr>
            <a:xfrm>
              <a:off x="1611550" y="5051188"/>
              <a:ext cx="13818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92;p14">
              <a:extLst>
                <a:ext uri="{FF2B5EF4-FFF2-40B4-BE49-F238E27FC236}">
                  <a16:creationId xmlns:a16="http://schemas.microsoft.com/office/drawing/2014/main" id="{3782EA3D-B682-0B86-4576-084BEE040984}"/>
                </a:ext>
              </a:extLst>
            </p:cNvPr>
            <p:cNvCxnSpPr>
              <a:stCxn id="8" idx="3"/>
              <a:endCxn id="17" idx="1"/>
            </p:cNvCxnSpPr>
            <p:nvPr/>
          </p:nvCxnSpPr>
          <p:spPr>
            <a:xfrm rot="10800000" flipH="1">
              <a:off x="1611550" y="5690413"/>
              <a:ext cx="1381800" cy="2667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93;p14">
              <a:extLst>
                <a:ext uri="{FF2B5EF4-FFF2-40B4-BE49-F238E27FC236}">
                  <a16:creationId xmlns:a16="http://schemas.microsoft.com/office/drawing/2014/main" id="{80FB5E6D-387D-4E2C-18BF-4731825BB4FC}"/>
                </a:ext>
              </a:extLst>
            </p:cNvPr>
            <p:cNvCxnSpPr>
              <a:stCxn id="17" idx="3"/>
              <a:endCxn id="12" idx="2"/>
            </p:cNvCxnSpPr>
            <p:nvPr/>
          </p:nvCxnSpPr>
          <p:spPr>
            <a:xfrm>
              <a:off x="3114775" y="5690475"/>
              <a:ext cx="2375400" cy="207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94;p14">
              <a:extLst>
                <a:ext uri="{FF2B5EF4-FFF2-40B4-BE49-F238E27FC236}">
                  <a16:creationId xmlns:a16="http://schemas.microsoft.com/office/drawing/2014/main" id="{B1870E58-3163-63E1-F048-B026E0807B3C}"/>
                </a:ext>
              </a:extLst>
            </p:cNvPr>
            <p:cNvCxnSpPr>
              <a:stCxn id="16" idx="3"/>
              <a:endCxn id="11" idx="2"/>
            </p:cNvCxnSpPr>
            <p:nvPr/>
          </p:nvCxnSpPr>
          <p:spPr>
            <a:xfrm>
              <a:off x="3114775" y="5051200"/>
              <a:ext cx="1300200" cy="172800"/>
            </a:xfrm>
            <a:prstGeom prst="bentConnector3">
              <a:avLst>
                <a:gd name="adj1" fmla="val 50002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0992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FF19-AED4-8BC1-365D-71BAB1D7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DF686-4364-4A84-BBDB-4DF4EFB8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Sesiones </a:t>
            </a:r>
            <a:r>
              <a:rPr lang="es-ES" dirty="0" err="1"/>
              <a:t>HttpSession</a:t>
            </a:r>
            <a:r>
              <a:rPr lang="es-ES" dirty="0"/>
              <a:t> problema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0788799-8125-CAD1-ACFF-ADF26CC77A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6488D7-1AA3-700D-C925-06B6568A1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Esta arquitectura funciona bien; sin embargo, si el servidor web se apaga o sucede algún problema, todas las variables de sesión creadas se perderían y por ende, todas las sesiones de los usuarios también.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Para sobrellevar este problema, Spring provee una forma diferente de gestionar las sesiones.</a:t>
            </a:r>
            <a:endParaRPr lang="es-PE" sz="1800" dirty="0"/>
          </a:p>
        </p:txBody>
      </p:sp>
      <p:grpSp>
        <p:nvGrpSpPr>
          <p:cNvPr id="5" name="Google Shape;102;p15">
            <a:extLst>
              <a:ext uri="{FF2B5EF4-FFF2-40B4-BE49-F238E27FC236}">
                <a16:creationId xmlns:a16="http://schemas.microsoft.com/office/drawing/2014/main" id="{29316708-D5E3-4500-C2EC-325AD97DC412}"/>
              </a:ext>
            </a:extLst>
          </p:cNvPr>
          <p:cNvGrpSpPr/>
          <p:nvPr/>
        </p:nvGrpSpPr>
        <p:grpSpPr>
          <a:xfrm>
            <a:off x="2530369" y="2772829"/>
            <a:ext cx="6660975" cy="2811300"/>
            <a:chOff x="411850" y="3670725"/>
            <a:chExt cx="6660975" cy="2811300"/>
          </a:xfrm>
        </p:grpSpPr>
        <p:sp>
          <p:nvSpPr>
            <p:cNvPr id="6" name="Google Shape;103;p15">
              <a:extLst>
                <a:ext uri="{FF2B5EF4-FFF2-40B4-BE49-F238E27FC236}">
                  <a16:creationId xmlns:a16="http://schemas.microsoft.com/office/drawing/2014/main" id="{CFE66494-F958-A569-D609-5310B0C02D73}"/>
                </a:ext>
              </a:extLst>
            </p:cNvPr>
            <p:cNvSpPr/>
            <p:nvPr/>
          </p:nvSpPr>
          <p:spPr>
            <a:xfrm>
              <a:off x="411850" y="3831875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F9CB9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1</a:t>
              </a:r>
              <a:endParaRPr sz="1200"/>
            </a:p>
          </p:txBody>
        </p:sp>
        <p:sp>
          <p:nvSpPr>
            <p:cNvPr id="7" name="Google Shape;104;p15">
              <a:extLst>
                <a:ext uri="{FF2B5EF4-FFF2-40B4-BE49-F238E27FC236}">
                  <a16:creationId xmlns:a16="http://schemas.microsoft.com/office/drawing/2014/main" id="{D6B6E585-1CE1-CE89-46CE-2BC0BDDA3645}"/>
                </a:ext>
              </a:extLst>
            </p:cNvPr>
            <p:cNvSpPr/>
            <p:nvPr/>
          </p:nvSpPr>
          <p:spPr>
            <a:xfrm>
              <a:off x="411850" y="4701988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2</a:t>
              </a:r>
              <a:endParaRPr sz="1200"/>
            </a:p>
          </p:txBody>
        </p:sp>
        <p:sp>
          <p:nvSpPr>
            <p:cNvPr id="8" name="Google Shape;105;p15">
              <a:extLst>
                <a:ext uri="{FF2B5EF4-FFF2-40B4-BE49-F238E27FC236}">
                  <a16:creationId xmlns:a16="http://schemas.microsoft.com/office/drawing/2014/main" id="{77578800-8202-D21F-616D-A6CF8A2013BB}"/>
                </a:ext>
              </a:extLst>
            </p:cNvPr>
            <p:cNvSpPr/>
            <p:nvPr/>
          </p:nvSpPr>
          <p:spPr>
            <a:xfrm>
              <a:off x="411850" y="5607913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9FC5E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3</a:t>
              </a:r>
              <a:endParaRPr sz="1200"/>
            </a:p>
          </p:txBody>
        </p:sp>
        <p:sp>
          <p:nvSpPr>
            <p:cNvPr id="9" name="Google Shape;106;p15">
              <a:extLst>
                <a:ext uri="{FF2B5EF4-FFF2-40B4-BE49-F238E27FC236}">
                  <a16:creationId xmlns:a16="http://schemas.microsoft.com/office/drawing/2014/main" id="{39F76B28-7C60-24AB-8686-0FAE8DA80114}"/>
                </a:ext>
              </a:extLst>
            </p:cNvPr>
            <p:cNvSpPr/>
            <p:nvPr/>
          </p:nvSpPr>
          <p:spPr>
            <a:xfrm>
              <a:off x="3053725" y="3670725"/>
              <a:ext cx="4019100" cy="2811300"/>
            </a:xfrm>
            <a:prstGeom prst="rect">
              <a:avLst/>
            </a:prstGeom>
            <a:noFill/>
            <a:ln w="1143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b="1"/>
                <a:t>Server</a:t>
              </a:r>
              <a:endParaRPr b="1"/>
            </a:p>
          </p:txBody>
        </p:sp>
        <p:sp>
          <p:nvSpPr>
            <p:cNvPr id="10" name="Google Shape;107;p15">
              <a:extLst>
                <a:ext uri="{FF2B5EF4-FFF2-40B4-BE49-F238E27FC236}">
                  <a16:creationId xmlns:a16="http://schemas.microsoft.com/office/drawing/2014/main" id="{55163A39-6507-87E4-0335-4987FD62DC60}"/>
                </a:ext>
              </a:extLst>
            </p:cNvPr>
            <p:cNvSpPr/>
            <p:nvPr/>
          </p:nvSpPr>
          <p:spPr>
            <a:xfrm>
              <a:off x="5488975" y="4119925"/>
              <a:ext cx="1368900" cy="767700"/>
            </a:xfrm>
            <a:prstGeom prst="ellipse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1</a:t>
              </a:r>
              <a:endParaRPr sz="1200"/>
            </a:p>
          </p:txBody>
        </p:sp>
        <p:sp>
          <p:nvSpPr>
            <p:cNvPr id="11" name="Google Shape;108;p15">
              <a:extLst>
                <a:ext uri="{FF2B5EF4-FFF2-40B4-BE49-F238E27FC236}">
                  <a16:creationId xmlns:a16="http://schemas.microsoft.com/office/drawing/2014/main" id="{5FC84BD2-B67D-FFC2-BB71-CCA73CADA588}"/>
                </a:ext>
              </a:extLst>
            </p:cNvPr>
            <p:cNvSpPr/>
            <p:nvPr/>
          </p:nvSpPr>
          <p:spPr>
            <a:xfrm>
              <a:off x="4415025" y="4840150"/>
              <a:ext cx="1368900" cy="767700"/>
            </a:xfrm>
            <a:prstGeom prst="ellipse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2</a:t>
              </a:r>
              <a:endParaRPr sz="1200"/>
            </a:p>
          </p:txBody>
        </p:sp>
        <p:sp>
          <p:nvSpPr>
            <p:cNvPr id="12" name="Google Shape;109;p15">
              <a:extLst>
                <a:ext uri="{FF2B5EF4-FFF2-40B4-BE49-F238E27FC236}">
                  <a16:creationId xmlns:a16="http://schemas.microsoft.com/office/drawing/2014/main" id="{3B929D60-684A-6F1B-8F08-43C4B895F97D}"/>
                </a:ext>
              </a:extLst>
            </p:cNvPr>
            <p:cNvSpPr/>
            <p:nvPr/>
          </p:nvSpPr>
          <p:spPr>
            <a:xfrm>
              <a:off x="5490163" y="5514325"/>
              <a:ext cx="1368900" cy="767700"/>
            </a:xfrm>
            <a:prstGeom prst="ellipse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3</a:t>
              </a:r>
              <a:endParaRPr sz="1200"/>
            </a:p>
          </p:txBody>
        </p:sp>
        <p:cxnSp>
          <p:nvCxnSpPr>
            <p:cNvPr id="13" name="Google Shape;110;p15">
              <a:extLst>
                <a:ext uri="{FF2B5EF4-FFF2-40B4-BE49-F238E27FC236}">
                  <a16:creationId xmlns:a16="http://schemas.microsoft.com/office/drawing/2014/main" id="{A261BA93-3E41-EFA5-AD92-F57DB19B0773}"/>
                </a:ext>
              </a:extLst>
            </p:cNvPr>
            <p:cNvCxnSpPr>
              <a:stCxn id="14" idx="3"/>
              <a:endCxn id="10" idx="2"/>
            </p:cNvCxnSpPr>
            <p:nvPr/>
          </p:nvCxnSpPr>
          <p:spPr>
            <a:xfrm>
              <a:off x="3114775" y="4411925"/>
              <a:ext cx="23742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111;p15">
              <a:extLst>
                <a:ext uri="{FF2B5EF4-FFF2-40B4-BE49-F238E27FC236}">
                  <a16:creationId xmlns:a16="http://schemas.microsoft.com/office/drawing/2014/main" id="{1E75F84F-3C1A-FA12-ED1A-77F67C0D5134}"/>
                </a:ext>
              </a:extLst>
            </p:cNvPr>
            <p:cNvSpPr/>
            <p:nvPr/>
          </p:nvSpPr>
          <p:spPr>
            <a:xfrm>
              <a:off x="2993275" y="4200875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" name="Google Shape;112;p15">
              <a:extLst>
                <a:ext uri="{FF2B5EF4-FFF2-40B4-BE49-F238E27FC236}">
                  <a16:creationId xmlns:a16="http://schemas.microsoft.com/office/drawing/2014/main" id="{A093F14D-CC39-8F47-C094-A0F1F3A54DF1}"/>
                </a:ext>
              </a:extLst>
            </p:cNvPr>
            <p:cNvCxnSpPr>
              <a:stCxn id="6" idx="3"/>
              <a:endCxn id="14" idx="1"/>
            </p:cNvCxnSpPr>
            <p:nvPr/>
          </p:nvCxnSpPr>
          <p:spPr>
            <a:xfrm>
              <a:off x="1611550" y="4181075"/>
              <a:ext cx="1381800" cy="2310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113;p15">
              <a:extLst>
                <a:ext uri="{FF2B5EF4-FFF2-40B4-BE49-F238E27FC236}">
                  <a16:creationId xmlns:a16="http://schemas.microsoft.com/office/drawing/2014/main" id="{3CC77754-B90B-F5B9-248F-7D14A4386B42}"/>
                </a:ext>
              </a:extLst>
            </p:cNvPr>
            <p:cNvSpPr/>
            <p:nvPr/>
          </p:nvSpPr>
          <p:spPr>
            <a:xfrm>
              <a:off x="2993275" y="4840150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4;p15">
              <a:extLst>
                <a:ext uri="{FF2B5EF4-FFF2-40B4-BE49-F238E27FC236}">
                  <a16:creationId xmlns:a16="http://schemas.microsoft.com/office/drawing/2014/main" id="{795E9E2C-8AAE-DBFD-6490-F7DCC03275BA}"/>
                </a:ext>
              </a:extLst>
            </p:cNvPr>
            <p:cNvSpPr/>
            <p:nvPr/>
          </p:nvSpPr>
          <p:spPr>
            <a:xfrm>
              <a:off x="2993275" y="5479425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15;p15">
              <a:extLst>
                <a:ext uri="{FF2B5EF4-FFF2-40B4-BE49-F238E27FC236}">
                  <a16:creationId xmlns:a16="http://schemas.microsoft.com/office/drawing/2014/main" id="{557B3E8F-8B44-7881-1C6D-0678EF64B296}"/>
                </a:ext>
              </a:extLst>
            </p:cNvPr>
            <p:cNvCxnSpPr>
              <a:stCxn id="7" idx="3"/>
              <a:endCxn id="16" idx="1"/>
            </p:cNvCxnSpPr>
            <p:nvPr/>
          </p:nvCxnSpPr>
          <p:spPr>
            <a:xfrm>
              <a:off x="1611550" y="5051188"/>
              <a:ext cx="1381800" cy="6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116;p15">
              <a:extLst>
                <a:ext uri="{FF2B5EF4-FFF2-40B4-BE49-F238E27FC236}">
                  <a16:creationId xmlns:a16="http://schemas.microsoft.com/office/drawing/2014/main" id="{1D9691A4-DE00-60E7-4273-F780F6C7C508}"/>
                </a:ext>
              </a:extLst>
            </p:cNvPr>
            <p:cNvCxnSpPr>
              <a:stCxn id="8" idx="3"/>
              <a:endCxn id="17" idx="1"/>
            </p:cNvCxnSpPr>
            <p:nvPr/>
          </p:nvCxnSpPr>
          <p:spPr>
            <a:xfrm rot="10800000" flipH="1">
              <a:off x="1611550" y="5690413"/>
              <a:ext cx="1381800" cy="266700"/>
            </a:xfrm>
            <a:prstGeom prst="bentConnector3">
              <a:avLst>
                <a:gd name="adj1" fmla="val 4999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117;p15">
              <a:extLst>
                <a:ext uri="{FF2B5EF4-FFF2-40B4-BE49-F238E27FC236}">
                  <a16:creationId xmlns:a16="http://schemas.microsoft.com/office/drawing/2014/main" id="{A358CD10-6F90-50F7-4A1E-BCF1500514C9}"/>
                </a:ext>
              </a:extLst>
            </p:cNvPr>
            <p:cNvCxnSpPr>
              <a:stCxn id="17" idx="3"/>
              <a:endCxn id="12" idx="2"/>
            </p:cNvCxnSpPr>
            <p:nvPr/>
          </p:nvCxnSpPr>
          <p:spPr>
            <a:xfrm>
              <a:off x="3114775" y="5690475"/>
              <a:ext cx="2375400" cy="207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118;p15">
              <a:extLst>
                <a:ext uri="{FF2B5EF4-FFF2-40B4-BE49-F238E27FC236}">
                  <a16:creationId xmlns:a16="http://schemas.microsoft.com/office/drawing/2014/main" id="{A1EED393-4020-D3CB-A8C1-9EDEFF7B3CCE}"/>
                </a:ext>
              </a:extLst>
            </p:cNvPr>
            <p:cNvCxnSpPr>
              <a:stCxn id="16" idx="3"/>
              <a:endCxn id="11" idx="2"/>
            </p:cNvCxnSpPr>
            <p:nvPr/>
          </p:nvCxnSpPr>
          <p:spPr>
            <a:xfrm>
              <a:off x="3114775" y="5051200"/>
              <a:ext cx="1300200" cy="172800"/>
            </a:xfrm>
            <a:prstGeom prst="bentConnector3">
              <a:avLst>
                <a:gd name="adj1" fmla="val 50002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8643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073B-E56A-C578-085C-8B41330F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F1534-1E5B-D5DD-BD8E-EDBB0747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Session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12D050-DFD2-714C-93FE-7C622886A6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D5C808-21B7-8CC2-BF54-5600A360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La arquitectura que sigue Spring para gestionar las sesiones consiste en colocar la información en una capa de persistencia externa y no en la memoria del servidor. De esta forma, las sesiones persisten independientemente del estado del servidor.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La capa de persistencia que utiliza Spring puede almacenarse en: Redis, JDBC, </a:t>
            </a:r>
            <a:r>
              <a:rPr lang="es-ES" sz="1600" dirty="0" err="1"/>
              <a:t>Gemfire</a:t>
            </a:r>
            <a:r>
              <a:rPr lang="es-ES" sz="1600" dirty="0"/>
              <a:t>, o MongoDB</a:t>
            </a:r>
          </a:p>
          <a:p>
            <a:endParaRPr lang="es-PE" sz="1600" dirty="0"/>
          </a:p>
        </p:txBody>
      </p:sp>
      <p:grpSp>
        <p:nvGrpSpPr>
          <p:cNvPr id="5" name="Google Shape;126;p16">
            <a:extLst>
              <a:ext uri="{FF2B5EF4-FFF2-40B4-BE49-F238E27FC236}">
                <a16:creationId xmlns:a16="http://schemas.microsoft.com/office/drawing/2014/main" id="{18D15E41-4AAC-B984-4402-FE9F94B0E419}"/>
              </a:ext>
            </a:extLst>
          </p:cNvPr>
          <p:cNvGrpSpPr/>
          <p:nvPr/>
        </p:nvGrpSpPr>
        <p:grpSpPr>
          <a:xfrm>
            <a:off x="1511705" y="2726174"/>
            <a:ext cx="5987263" cy="2811300"/>
            <a:chOff x="411850" y="3670725"/>
            <a:chExt cx="5987263" cy="2811300"/>
          </a:xfrm>
        </p:grpSpPr>
        <p:sp>
          <p:nvSpPr>
            <p:cNvPr id="6" name="Google Shape;127;p16">
              <a:extLst>
                <a:ext uri="{FF2B5EF4-FFF2-40B4-BE49-F238E27FC236}">
                  <a16:creationId xmlns:a16="http://schemas.microsoft.com/office/drawing/2014/main" id="{77723F9D-B206-D0B4-9370-0F4333A1DB06}"/>
                </a:ext>
              </a:extLst>
            </p:cNvPr>
            <p:cNvSpPr/>
            <p:nvPr/>
          </p:nvSpPr>
          <p:spPr>
            <a:xfrm>
              <a:off x="411850" y="3831875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F9CB9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1</a:t>
              </a:r>
              <a:endParaRPr sz="1200"/>
            </a:p>
          </p:txBody>
        </p:sp>
        <p:sp>
          <p:nvSpPr>
            <p:cNvPr id="7" name="Google Shape;128;p16">
              <a:extLst>
                <a:ext uri="{FF2B5EF4-FFF2-40B4-BE49-F238E27FC236}">
                  <a16:creationId xmlns:a16="http://schemas.microsoft.com/office/drawing/2014/main" id="{278603BB-A393-1B15-7DBD-5D906A0F1476}"/>
                </a:ext>
              </a:extLst>
            </p:cNvPr>
            <p:cNvSpPr/>
            <p:nvPr/>
          </p:nvSpPr>
          <p:spPr>
            <a:xfrm>
              <a:off x="411850" y="4701988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2</a:t>
              </a:r>
              <a:endParaRPr sz="1200"/>
            </a:p>
          </p:txBody>
        </p:sp>
        <p:sp>
          <p:nvSpPr>
            <p:cNvPr id="8" name="Google Shape;129;p16">
              <a:extLst>
                <a:ext uri="{FF2B5EF4-FFF2-40B4-BE49-F238E27FC236}">
                  <a16:creationId xmlns:a16="http://schemas.microsoft.com/office/drawing/2014/main" id="{8F072CBC-EA6D-DF8A-E4B8-11815938D030}"/>
                </a:ext>
              </a:extLst>
            </p:cNvPr>
            <p:cNvSpPr/>
            <p:nvPr/>
          </p:nvSpPr>
          <p:spPr>
            <a:xfrm>
              <a:off x="411850" y="5607913"/>
              <a:ext cx="1199700" cy="698400"/>
            </a:xfrm>
            <a:prstGeom prst="roundRect">
              <a:avLst>
                <a:gd name="adj" fmla="val 16667"/>
              </a:avLst>
            </a:prstGeom>
            <a:solidFill>
              <a:srgbClr val="9FC5E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Browser 3</a:t>
              </a:r>
              <a:endParaRPr sz="1200"/>
            </a:p>
          </p:txBody>
        </p:sp>
        <p:sp>
          <p:nvSpPr>
            <p:cNvPr id="9" name="Google Shape;130;p16">
              <a:extLst>
                <a:ext uri="{FF2B5EF4-FFF2-40B4-BE49-F238E27FC236}">
                  <a16:creationId xmlns:a16="http://schemas.microsoft.com/office/drawing/2014/main" id="{F6CCFD04-A7C0-0684-DE84-9831B4C74928}"/>
                </a:ext>
              </a:extLst>
            </p:cNvPr>
            <p:cNvSpPr/>
            <p:nvPr/>
          </p:nvSpPr>
          <p:spPr>
            <a:xfrm>
              <a:off x="2652713" y="3670725"/>
              <a:ext cx="3746400" cy="2811300"/>
            </a:xfrm>
            <a:prstGeom prst="rect">
              <a:avLst/>
            </a:prstGeom>
            <a:noFill/>
            <a:ln w="1143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b="1"/>
                <a:t>Server</a:t>
              </a:r>
              <a:endParaRPr b="1"/>
            </a:p>
          </p:txBody>
        </p:sp>
        <p:sp>
          <p:nvSpPr>
            <p:cNvPr id="10" name="Google Shape;131;p16">
              <a:extLst>
                <a:ext uri="{FF2B5EF4-FFF2-40B4-BE49-F238E27FC236}">
                  <a16:creationId xmlns:a16="http://schemas.microsoft.com/office/drawing/2014/main" id="{E54D058B-54AD-8A79-2F1D-CDA79284D094}"/>
                </a:ext>
              </a:extLst>
            </p:cNvPr>
            <p:cNvSpPr/>
            <p:nvPr/>
          </p:nvSpPr>
          <p:spPr>
            <a:xfrm>
              <a:off x="4574575" y="4119925"/>
              <a:ext cx="1368900" cy="767700"/>
            </a:xfrm>
            <a:prstGeom prst="ellipse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1</a:t>
              </a:r>
              <a:endParaRPr sz="1200"/>
            </a:p>
          </p:txBody>
        </p:sp>
        <p:sp>
          <p:nvSpPr>
            <p:cNvPr id="11" name="Google Shape;132;p16">
              <a:extLst>
                <a:ext uri="{FF2B5EF4-FFF2-40B4-BE49-F238E27FC236}">
                  <a16:creationId xmlns:a16="http://schemas.microsoft.com/office/drawing/2014/main" id="{061D6B67-5EF4-AF4D-6B23-9D1CC0818C3D}"/>
                </a:ext>
              </a:extLst>
            </p:cNvPr>
            <p:cNvSpPr/>
            <p:nvPr/>
          </p:nvSpPr>
          <p:spPr>
            <a:xfrm>
              <a:off x="3500625" y="4840150"/>
              <a:ext cx="1368900" cy="767700"/>
            </a:xfrm>
            <a:prstGeom prst="ellipse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2</a:t>
              </a:r>
              <a:endParaRPr sz="1200"/>
            </a:p>
          </p:txBody>
        </p:sp>
        <p:sp>
          <p:nvSpPr>
            <p:cNvPr id="12" name="Google Shape;133;p16">
              <a:extLst>
                <a:ext uri="{FF2B5EF4-FFF2-40B4-BE49-F238E27FC236}">
                  <a16:creationId xmlns:a16="http://schemas.microsoft.com/office/drawing/2014/main" id="{2DC0F0BC-A753-C0A1-0DA7-D9C44DC52BEB}"/>
                </a:ext>
              </a:extLst>
            </p:cNvPr>
            <p:cNvSpPr/>
            <p:nvPr/>
          </p:nvSpPr>
          <p:spPr>
            <a:xfrm>
              <a:off x="4575763" y="5514325"/>
              <a:ext cx="1368900" cy="767700"/>
            </a:xfrm>
            <a:prstGeom prst="ellipse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/>
                <a:t>HttpSession 3</a:t>
              </a:r>
              <a:endParaRPr sz="1200"/>
            </a:p>
          </p:txBody>
        </p:sp>
        <p:cxnSp>
          <p:nvCxnSpPr>
            <p:cNvPr id="13" name="Google Shape;134;p16">
              <a:extLst>
                <a:ext uri="{FF2B5EF4-FFF2-40B4-BE49-F238E27FC236}">
                  <a16:creationId xmlns:a16="http://schemas.microsoft.com/office/drawing/2014/main" id="{BE6A9ED7-627B-5A5F-C45D-71A73A897DF2}"/>
                </a:ext>
              </a:extLst>
            </p:cNvPr>
            <p:cNvCxnSpPr>
              <a:stCxn id="14" idx="3"/>
              <a:endCxn id="10" idx="2"/>
            </p:cNvCxnSpPr>
            <p:nvPr/>
          </p:nvCxnSpPr>
          <p:spPr>
            <a:xfrm>
              <a:off x="2733775" y="4411925"/>
              <a:ext cx="18408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135;p16">
              <a:extLst>
                <a:ext uri="{FF2B5EF4-FFF2-40B4-BE49-F238E27FC236}">
                  <a16:creationId xmlns:a16="http://schemas.microsoft.com/office/drawing/2014/main" id="{6CE4ED78-D3FD-CCAA-0A29-DBB45E3B1219}"/>
                </a:ext>
              </a:extLst>
            </p:cNvPr>
            <p:cNvSpPr/>
            <p:nvPr/>
          </p:nvSpPr>
          <p:spPr>
            <a:xfrm>
              <a:off x="2612275" y="4200875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" name="Google Shape;136;p16">
              <a:extLst>
                <a:ext uri="{FF2B5EF4-FFF2-40B4-BE49-F238E27FC236}">
                  <a16:creationId xmlns:a16="http://schemas.microsoft.com/office/drawing/2014/main" id="{B2ECE714-B535-8254-0013-8FF798C555F7}"/>
                </a:ext>
              </a:extLst>
            </p:cNvPr>
            <p:cNvCxnSpPr>
              <a:stCxn id="6" idx="3"/>
              <a:endCxn id="14" idx="1"/>
            </p:cNvCxnSpPr>
            <p:nvPr/>
          </p:nvCxnSpPr>
          <p:spPr>
            <a:xfrm>
              <a:off x="1611550" y="4181075"/>
              <a:ext cx="1000800" cy="2310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137;p16">
              <a:extLst>
                <a:ext uri="{FF2B5EF4-FFF2-40B4-BE49-F238E27FC236}">
                  <a16:creationId xmlns:a16="http://schemas.microsoft.com/office/drawing/2014/main" id="{407018EA-F10A-CCC0-54DD-3010AA1EC530}"/>
                </a:ext>
              </a:extLst>
            </p:cNvPr>
            <p:cNvSpPr/>
            <p:nvPr/>
          </p:nvSpPr>
          <p:spPr>
            <a:xfrm>
              <a:off x="2612275" y="4840150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8;p16">
              <a:extLst>
                <a:ext uri="{FF2B5EF4-FFF2-40B4-BE49-F238E27FC236}">
                  <a16:creationId xmlns:a16="http://schemas.microsoft.com/office/drawing/2014/main" id="{B6165C66-31A8-825E-9328-C0EC6F2401A3}"/>
                </a:ext>
              </a:extLst>
            </p:cNvPr>
            <p:cNvSpPr/>
            <p:nvPr/>
          </p:nvSpPr>
          <p:spPr>
            <a:xfrm>
              <a:off x="2612275" y="5479425"/>
              <a:ext cx="121500" cy="422100"/>
            </a:xfrm>
            <a:prstGeom prst="diamond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39;p16">
              <a:extLst>
                <a:ext uri="{FF2B5EF4-FFF2-40B4-BE49-F238E27FC236}">
                  <a16:creationId xmlns:a16="http://schemas.microsoft.com/office/drawing/2014/main" id="{EFE110FD-A2C3-59D9-C3DC-CFAC0E9DFA10}"/>
                </a:ext>
              </a:extLst>
            </p:cNvPr>
            <p:cNvCxnSpPr>
              <a:stCxn id="7" idx="3"/>
              <a:endCxn id="16" idx="1"/>
            </p:cNvCxnSpPr>
            <p:nvPr/>
          </p:nvCxnSpPr>
          <p:spPr>
            <a:xfrm>
              <a:off x="1611550" y="5051188"/>
              <a:ext cx="1000800" cy="6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140;p16">
              <a:extLst>
                <a:ext uri="{FF2B5EF4-FFF2-40B4-BE49-F238E27FC236}">
                  <a16:creationId xmlns:a16="http://schemas.microsoft.com/office/drawing/2014/main" id="{F4FDD276-BE70-B083-7629-C739152A40A2}"/>
                </a:ext>
              </a:extLst>
            </p:cNvPr>
            <p:cNvCxnSpPr>
              <a:stCxn id="8" idx="3"/>
              <a:endCxn id="17" idx="1"/>
            </p:cNvCxnSpPr>
            <p:nvPr/>
          </p:nvCxnSpPr>
          <p:spPr>
            <a:xfrm rot="10800000" flipH="1">
              <a:off x="1611550" y="5690413"/>
              <a:ext cx="1000800" cy="266700"/>
            </a:xfrm>
            <a:prstGeom prst="bentConnector3">
              <a:avLst>
                <a:gd name="adj1" fmla="val 49996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141;p16">
              <a:extLst>
                <a:ext uri="{FF2B5EF4-FFF2-40B4-BE49-F238E27FC236}">
                  <a16:creationId xmlns:a16="http://schemas.microsoft.com/office/drawing/2014/main" id="{2C024510-669B-542C-5071-4A3413EC9CE4}"/>
                </a:ext>
              </a:extLst>
            </p:cNvPr>
            <p:cNvCxnSpPr>
              <a:stCxn id="17" idx="3"/>
              <a:endCxn id="12" idx="2"/>
            </p:cNvCxnSpPr>
            <p:nvPr/>
          </p:nvCxnSpPr>
          <p:spPr>
            <a:xfrm>
              <a:off x="2733775" y="5690475"/>
              <a:ext cx="1842000" cy="207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142;p16">
              <a:extLst>
                <a:ext uri="{FF2B5EF4-FFF2-40B4-BE49-F238E27FC236}">
                  <a16:creationId xmlns:a16="http://schemas.microsoft.com/office/drawing/2014/main" id="{67E58377-7AA6-98E6-AE9C-1B25293C2645}"/>
                </a:ext>
              </a:extLst>
            </p:cNvPr>
            <p:cNvCxnSpPr>
              <a:stCxn id="16" idx="3"/>
              <a:endCxn id="11" idx="2"/>
            </p:cNvCxnSpPr>
            <p:nvPr/>
          </p:nvCxnSpPr>
          <p:spPr>
            <a:xfrm>
              <a:off x="2733775" y="5051200"/>
              <a:ext cx="766800" cy="172800"/>
            </a:xfrm>
            <a:prstGeom prst="bentConnector3">
              <a:avLst>
                <a:gd name="adj1" fmla="val 50003"/>
              </a:avLst>
            </a:prstGeom>
            <a:noFill/>
            <a:ln w="19050" cap="flat" cmpd="sng">
              <a:solidFill>
                <a:srgbClr val="000000"/>
              </a:solidFill>
              <a:prstDash val="dot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2" name="Google Shape;143;p16">
            <a:extLst>
              <a:ext uri="{FF2B5EF4-FFF2-40B4-BE49-F238E27FC236}">
                <a16:creationId xmlns:a16="http://schemas.microsoft.com/office/drawing/2014/main" id="{8CC398DA-8EE0-9183-6CB8-F7BCE916B2CA}"/>
              </a:ext>
            </a:extLst>
          </p:cNvPr>
          <p:cNvGrpSpPr/>
          <p:nvPr/>
        </p:nvGrpSpPr>
        <p:grpSpPr>
          <a:xfrm>
            <a:off x="8301117" y="3155724"/>
            <a:ext cx="1804075" cy="1952200"/>
            <a:chOff x="7101100" y="4209475"/>
            <a:chExt cx="1804075" cy="1952200"/>
          </a:xfrm>
        </p:grpSpPr>
        <p:sp>
          <p:nvSpPr>
            <p:cNvPr id="23" name="Google Shape;144;p16">
              <a:extLst>
                <a:ext uri="{FF2B5EF4-FFF2-40B4-BE49-F238E27FC236}">
                  <a16:creationId xmlns:a16="http://schemas.microsoft.com/office/drawing/2014/main" id="{8E10152D-3788-D542-F32B-1797E2E8E1DA}"/>
                </a:ext>
              </a:extLst>
            </p:cNvPr>
            <p:cNvSpPr/>
            <p:nvPr/>
          </p:nvSpPr>
          <p:spPr>
            <a:xfrm>
              <a:off x="7101100" y="4209475"/>
              <a:ext cx="1804075" cy="1952200"/>
            </a:xfrm>
            <a:prstGeom prst="flowChartMagneticDisk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5;p16">
              <a:extLst>
                <a:ext uri="{FF2B5EF4-FFF2-40B4-BE49-F238E27FC236}">
                  <a16:creationId xmlns:a16="http://schemas.microsoft.com/office/drawing/2014/main" id="{0FD75DA4-82D2-FAF7-0395-23A62C6A8A53}"/>
                </a:ext>
              </a:extLst>
            </p:cNvPr>
            <p:cNvSpPr txBox="1"/>
            <p:nvPr/>
          </p:nvSpPr>
          <p:spPr>
            <a:xfrm>
              <a:off x="7465675" y="4375250"/>
              <a:ext cx="10749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 dirty="0" err="1">
                  <a:latin typeface="Open Sans"/>
                  <a:ea typeface="Open Sans"/>
                  <a:cs typeface="Open Sans"/>
                  <a:sym typeface="Open Sans"/>
                </a:rPr>
                <a:t>DataStore</a:t>
              </a:r>
              <a:endParaRPr sz="140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" name="Google Shape;146;p16">
              <a:extLst>
                <a:ext uri="{FF2B5EF4-FFF2-40B4-BE49-F238E27FC236}">
                  <a16:creationId xmlns:a16="http://schemas.microsoft.com/office/drawing/2014/main" id="{EE385BB8-A3AE-57A2-B158-AFD488BEDEA9}"/>
                </a:ext>
              </a:extLst>
            </p:cNvPr>
            <p:cNvSpPr/>
            <p:nvPr/>
          </p:nvSpPr>
          <p:spPr>
            <a:xfrm>
              <a:off x="7389588" y="4947800"/>
              <a:ext cx="1305000" cy="324000"/>
            </a:xfrm>
            <a:prstGeom prst="rect">
              <a:avLst/>
            </a:prstGeom>
            <a:solidFill>
              <a:srgbClr val="F9CB9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/>
                <a:t>Session 1 Data</a:t>
              </a:r>
              <a:endParaRPr sz="1100"/>
            </a:p>
          </p:txBody>
        </p:sp>
        <p:sp>
          <p:nvSpPr>
            <p:cNvPr id="26" name="Google Shape;147;p16">
              <a:extLst>
                <a:ext uri="{FF2B5EF4-FFF2-40B4-BE49-F238E27FC236}">
                  <a16:creationId xmlns:a16="http://schemas.microsoft.com/office/drawing/2014/main" id="{9A8A66C1-E55D-EF09-B676-CC677EED2263}"/>
                </a:ext>
              </a:extLst>
            </p:cNvPr>
            <p:cNvSpPr/>
            <p:nvPr/>
          </p:nvSpPr>
          <p:spPr>
            <a:xfrm>
              <a:off x="7389588" y="5271800"/>
              <a:ext cx="1305000" cy="3240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dirty="0" err="1"/>
                <a:t>Session</a:t>
              </a:r>
              <a:r>
                <a:rPr lang="es-419" sz="1100" dirty="0"/>
                <a:t> 2 Data</a:t>
              </a:r>
              <a:endParaRPr sz="1100" dirty="0"/>
            </a:p>
          </p:txBody>
        </p:sp>
        <p:sp>
          <p:nvSpPr>
            <p:cNvPr id="27" name="Google Shape;148;p16">
              <a:extLst>
                <a:ext uri="{FF2B5EF4-FFF2-40B4-BE49-F238E27FC236}">
                  <a16:creationId xmlns:a16="http://schemas.microsoft.com/office/drawing/2014/main" id="{42248ABD-36F3-6C42-FE8C-5B7EFD22E9EA}"/>
                </a:ext>
              </a:extLst>
            </p:cNvPr>
            <p:cNvSpPr/>
            <p:nvPr/>
          </p:nvSpPr>
          <p:spPr>
            <a:xfrm>
              <a:off x="7389588" y="5595800"/>
              <a:ext cx="1305000" cy="324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/>
                <a:t>Session 3 Data</a:t>
              </a:r>
              <a:endParaRPr sz="1100"/>
            </a:p>
          </p:txBody>
        </p:sp>
      </p:grpSp>
      <p:cxnSp>
        <p:nvCxnSpPr>
          <p:cNvPr id="28" name="Google Shape;149;p16">
            <a:extLst>
              <a:ext uri="{FF2B5EF4-FFF2-40B4-BE49-F238E27FC236}">
                <a16:creationId xmlns:a16="http://schemas.microsoft.com/office/drawing/2014/main" id="{480C75FC-61C8-29EB-0BE8-CC57B7E2DFF8}"/>
              </a:ext>
            </a:extLst>
          </p:cNvPr>
          <p:cNvCxnSpPr>
            <a:stCxn id="10" idx="6"/>
            <a:endCxn id="25" idx="1"/>
          </p:cNvCxnSpPr>
          <p:nvPr/>
        </p:nvCxnSpPr>
        <p:spPr>
          <a:xfrm>
            <a:off x="7043330" y="3559224"/>
            <a:ext cx="1546200" cy="4968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29" name="Google Shape;150;p16">
            <a:extLst>
              <a:ext uri="{FF2B5EF4-FFF2-40B4-BE49-F238E27FC236}">
                <a16:creationId xmlns:a16="http://schemas.microsoft.com/office/drawing/2014/main" id="{E9D052EA-CBF4-D7E5-3119-1D7DD51255DE}"/>
              </a:ext>
            </a:extLst>
          </p:cNvPr>
          <p:cNvCxnSpPr>
            <a:stCxn id="11" idx="6"/>
            <a:endCxn id="26" idx="1"/>
          </p:cNvCxnSpPr>
          <p:nvPr/>
        </p:nvCxnSpPr>
        <p:spPr>
          <a:xfrm>
            <a:off x="5969380" y="4279449"/>
            <a:ext cx="2620200" cy="100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0" name="Google Shape;151;p16">
            <a:extLst>
              <a:ext uri="{FF2B5EF4-FFF2-40B4-BE49-F238E27FC236}">
                <a16:creationId xmlns:a16="http://schemas.microsoft.com/office/drawing/2014/main" id="{A9F31E95-7170-8E6B-A049-42E6D318DED7}"/>
              </a:ext>
            </a:extLst>
          </p:cNvPr>
          <p:cNvCxnSpPr>
            <a:stCxn id="12" idx="6"/>
            <a:endCxn id="27" idx="1"/>
          </p:cNvCxnSpPr>
          <p:nvPr/>
        </p:nvCxnSpPr>
        <p:spPr>
          <a:xfrm rot="10800000" flipH="1">
            <a:off x="7044517" y="4704024"/>
            <a:ext cx="1545000" cy="249600"/>
          </a:xfrm>
          <a:prstGeom prst="bentConnector3">
            <a:avLst>
              <a:gd name="adj1" fmla="val 50003"/>
            </a:avLst>
          </a:prstGeom>
          <a:noFill/>
          <a:ln w="19050" cap="flat" cmpd="sng">
            <a:solidFill>
              <a:srgbClr val="000000"/>
            </a:solidFill>
            <a:prstDash val="dot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7396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1994-01E8-D1B1-DFE1-DDA2E581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53653-5638-2495-6BAB-62002CA2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Session JDBC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C8E4947-708A-0E36-9185-0D07B59D2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E5EB77-7AC5-D61B-14D1-0D3378A84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el curso se usará la capa de persistencia JDBC para Spring Session, de esta forma, Spring almacenará toda la información de las sesiones en una base de datos MySQL.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b="1" dirty="0"/>
              <a:t>Consideración: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b="1" dirty="0">
                <a:highlight>
                  <a:srgbClr val="FFFF00"/>
                </a:highlight>
              </a:rPr>
              <a:t>Para usar Spring Session es recomendable tener configurado Spring Boot o Spring Security (si no usa </a:t>
            </a:r>
            <a:r>
              <a:rPr lang="es-ES" sz="2000" b="1" dirty="0" err="1">
                <a:highlight>
                  <a:srgbClr val="FFFF00"/>
                </a:highlight>
              </a:rPr>
              <a:t>spring</a:t>
            </a:r>
            <a:r>
              <a:rPr lang="es-ES" sz="2000" b="1" dirty="0">
                <a:highlight>
                  <a:srgbClr val="FFFF00"/>
                </a:highlight>
              </a:rPr>
              <a:t> </a:t>
            </a:r>
            <a:r>
              <a:rPr lang="es-ES" sz="2000" b="1" dirty="0" err="1">
                <a:highlight>
                  <a:srgbClr val="FFFF00"/>
                </a:highlight>
              </a:rPr>
              <a:t>boot</a:t>
            </a:r>
            <a:r>
              <a:rPr lang="es-ES" sz="2000" b="1" dirty="0">
                <a:highlight>
                  <a:srgbClr val="FFFF00"/>
                </a:highlight>
              </a:rPr>
              <a:t>).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61032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80E8-6D68-3C56-5FB6-D7CEE7BF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981AA-DFB0-26DF-B21C-68C1DDCB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Dependencias en pom.xml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0F0CF63-4631-44BB-88BC-C1030A84E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ACA4E2-449A-A4B9-B1C1-5600B888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Adicionar la siguiente dependencia</a:t>
            </a:r>
          </a:p>
          <a:p>
            <a:endParaRPr lang="es-PE" dirty="0"/>
          </a:p>
        </p:txBody>
      </p:sp>
      <p:pic>
        <p:nvPicPr>
          <p:cNvPr id="5" name="Google Shape;166;p18">
            <a:extLst>
              <a:ext uri="{FF2B5EF4-FFF2-40B4-BE49-F238E27FC236}">
                <a16:creationId xmlns:a16="http://schemas.microsoft.com/office/drawing/2014/main" id="{C4A95E80-36F4-DFF9-E1A5-24ED3E3C7D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27636" y="2486306"/>
            <a:ext cx="4933950" cy="1057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984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A3B0-8CCA-B1D5-3F79-65C7DB30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A98FA-0D93-1172-F518-EECE4CE1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Spring Session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CC3523A-3AA8-BB7B-943E-F4B51B5234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F7223F-AAF4-AC97-5A04-00341C850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419" sz="2000" dirty="0"/>
              <a:t>En el archivo </a:t>
            </a:r>
            <a:r>
              <a:rPr lang="es-419" sz="2000" b="1" dirty="0" err="1"/>
              <a:t>application.properties</a:t>
            </a:r>
            <a:r>
              <a:rPr lang="es-419" sz="2000" dirty="0"/>
              <a:t> adicionar: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419" sz="2000" b="1" dirty="0" err="1"/>
              <a:t>spring.session.store-type</a:t>
            </a:r>
            <a:r>
              <a:rPr lang="es-419" sz="2000" b="1" dirty="0"/>
              <a:t>=</a:t>
            </a:r>
            <a:r>
              <a:rPr lang="es-419" sz="2000" b="1" dirty="0" err="1"/>
              <a:t>jdbc</a:t>
            </a:r>
            <a:r>
              <a:rPr lang="es-419" sz="2000" dirty="0"/>
              <a:t> → le indica a Spring Boot que se usará </a:t>
            </a:r>
            <a:r>
              <a:rPr lang="es-419" sz="2000" dirty="0" err="1"/>
              <a:t>jdbc</a:t>
            </a:r>
            <a:r>
              <a:rPr lang="es-419" sz="2000" dirty="0"/>
              <a:t> para el manejo de la sesión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b="1" dirty="0" err="1"/>
              <a:t>spring.session.jdbc.initialize-schema</a:t>
            </a:r>
            <a:r>
              <a:rPr lang="es-419" sz="2000" b="1" dirty="0"/>
              <a:t>=</a:t>
            </a:r>
            <a:r>
              <a:rPr lang="es-419" sz="2000" b="1" dirty="0" err="1"/>
              <a:t>always</a:t>
            </a:r>
            <a:r>
              <a:rPr lang="es-419" sz="2000" dirty="0"/>
              <a:t> → le indica a Spring Session que cree automáticamente las tablas necesarias para gestionar las sesiones</a:t>
            </a:r>
          </a:p>
          <a:p>
            <a:endParaRPr lang="es-PE" sz="2000" dirty="0"/>
          </a:p>
        </p:txBody>
      </p:sp>
      <p:pic>
        <p:nvPicPr>
          <p:cNvPr id="5" name="Google Shape;171;p19">
            <a:extLst>
              <a:ext uri="{FF2B5EF4-FFF2-40B4-BE49-F238E27FC236}">
                <a16:creationId xmlns:a16="http://schemas.microsoft.com/office/drawing/2014/main" id="{1FA82B8C-8061-32F0-7E83-9F08BDC6CD1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47707" y="3229921"/>
            <a:ext cx="64579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5;p19">
            <a:extLst>
              <a:ext uri="{FF2B5EF4-FFF2-40B4-BE49-F238E27FC236}">
                <a16:creationId xmlns:a16="http://schemas.microsoft.com/office/drawing/2014/main" id="{D39E3D95-5DD4-5B1B-F6FC-455EF65D7848}"/>
              </a:ext>
            </a:extLst>
          </p:cNvPr>
          <p:cNvSpPr/>
          <p:nvPr/>
        </p:nvSpPr>
        <p:spPr>
          <a:xfrm>
            <a:off x="2441157" y="4914096"/>
            <a:ext cx="1067100" cy="16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76;p19">
            <a:extLst>
              <a:ext uri="{FF2B5EF4-FFF2-40B4-BE49-F238E27FC236}">
                <a16:creationId xmlns:a16="http://schemas.microsoft.com/office/drawing/2014/main" id="{8C09735E-6B54-EEC5-5E2B-6D7E92FA0675}"/>
              </a:ext>
            </a:extLst>
          </p:cNvPr>
          <p:cNvSpPr/>
          <p:nvPr/>
        </p:nvSpPr>
        <p:spPr>
          <a:xfrm>
            <a:off x="2441157" y="5163871"/>
            <a:ext cx="1067100" cy="16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09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CCE5-8EEA-E9C4-AA7A-DA2FA630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AC5F9-5FA9-CCB6-5FE3-049C8419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en Spring Session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5D6AE2-A536-7B27-7ABF-168AB4000F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6FDB99-21EA-E00D-9EB9-976F98A51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gestionar las sesiones Spring necesita tener dos tablas en base de datos: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Ambas tablas serán creadas automáticamente por Spring Session según la configuración del archivo </a:t>
            </a:r>
            <a:r>
              <a:rPr lang="es-ES" sz="2000" dirty="0" err="1"/>
              <a:t>application.properties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b="1" dirty="0"/>
              <a:t>Observación</a:t>
            </a:r>
            <a:r>
              <a:rPr lang="es-ES" sz="2000" dirty="0"/>
              <a:t>: el usuario de </a:t>
            </a:r>
            <a:r>
              <a:rPr lang="es-ES" sz="2000" dirty="0" err="1"/>
              <a:t>bd</a:t>
            </a:r>
            <a:r>
              <a:rPr lang="es-ES" sz="2000" dirty="0"/>
              <a:t> debe tener </a:t>
            </a:r>
            <a:r>
              <a:rPr lang="es-ES" sz="2000" b="1" dirty="0"/>
              <a:t>permisos </a:t>
            </a:r>
            <a:r>
              <a:rPr lang="es-ES" sz="2000" dirty="0"/>
              <a:t>de </a:t>
            </a:r>
            <a:r>
              <a:rPr lang="es-ES" sz="2000" b="1" dirty="0"/>
              <a:t>CREATE TABLE</a:t>
            </a:r>
            <a:r>
              <a:rPr lang="es-ES" sz="2000" dirty="0"/>
              <a:t>.</a:t>
            </a:r>
          </a:p>
          <a:p>
            <a:endParaRPr lang="es-PE" sz="2000" dirty="0"/>
          </a:p>
        </p:txBody>
      </p:sp>
      <p:pic>
        <p:nvPicPr>
          <p:cNvPr id="5" name="Google Shape;184;p20">
            <a:extLst>
              <a:ext uri="{FF2B5EF4-FFF2-40B4-BE49-F238E27FC236}">
                <a16:creationId xmlns:a16="http://schemas.microsoft.com/office/drawing/2014/main" id="{019EDDA8-2A96-ED21-4D17-5A32753B68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06053" y="1783477"/>
            <a:ext cx="4193241" cy="2026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33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A465-A057-30E4-6507-69858F7E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763EB-3904-7963-1FB4-FD49308C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Integración con Spring Security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FDF46F5-67F5-A8D6-AB0C-3DF1572B16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F14233-8DBA-2D1D-854B-ECB38449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419" sz="1800" dirty="0"/>
              <a:t>Debido a que ahora se está usando Spring Session, se debe configurar que Spring Security invalide la sesión gestionada por Spring Session.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419" sz="1800" dirty="0"/>
              <a:t>En la clase de configuración de Spring Security adicione: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419" sz="1800" dirty="0"/>
          </a:p>
          <a:p>
            <a:pPr marL="0" lvl="0" indent="0">
              <a:spcBef>
                <a:spcPts val="1600"/>
              </a:spcBef>
              <a:buNone/>
            </a:pPr>
            <a:endParaRPr lang="es-419" sz="1800" dirty="0"/>
          </a:p>
          <a:p>
            <a:pPr marL="0" lvl="0" indent="0">
              <a:spcBef>
                <a:spcPts val="1600"/>
              </a:spcBef>
              <a:buNone/>
            </a:pPr>
            <a:endParaRPr lang="es-419" sz="1800" dirty="0"/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419" sz="1800" b="1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800" b="1" dirty="0" err="1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deleteCookies</a:t>
            </a:r>
            <a:r>
              <a:rPr lang="es-419" sz="1800" b="1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800" b="1" dirty="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"JSESSIONID"</a:t>
            </a:r>
            <a:r>
              <a:rPr lang="es-419" sz="1800" b="1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800" dirty="0"/>
              <a:t> → cookie asociada a Spring Session</a:t>
            </a:r>
          </a:p>
          <a:p>
            <a:pPr lvl="0" indent="-342900">
              <a:buSzPts val="1800"/>
              <a:buChar char="●"/>
            </a:pPr>
            <a:r>
              <a:rPr lang="es-419" sz="1800" b="1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800" b="1" dirty="0" err="1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invalidateHttpSession</a:t>
            </a:r>
            <a:r>
              <a:rPr lang="es-419" sz="1800" b="1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800" b="1" dirty="0">
                <a:solidFill>
                  <a:srgbClr val="000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s-419" sz="1800" b="1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100" dirty="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800" dirty="0"/>
              <a:t>→ para que borre todos los objetos</a:t>
            </a:r>
          </a:p>
          <a:p>
            <a:pPr marL="4114800" lvl="0" indent="457200">
              <a:spcBef>
                <a:spcPts val="0"/>
              </a:spcBef>
              <a:buNone/>
            </a:pPr>
            <a:r>
              <a:rPr lang="es-419" sz="1800" dirty="0"/>
              <a:t>  vinculados con la sesión.</a:t>
            </a:r>
          </a:p>
          <a:p>
            <a:endParaRPr lang="es-PE" sz="1800" dirty="0"/>
          </a:p>
        </p:txBody>
      </p:sp>
      <p:pic>
        <p:nvPicPr>
          <p:cNvPr id="5" name="Google Shape;194;p21">
            <a:extLst>
              <a:ext uri="{FF2B5EF4-FFF2-40B4-BE49-F238E27FC236}">
                <a16:creationId xmlns:a16="http://schemas.microsoft.com/office/drawing/2014/main" id="{B1FE1533-2718-41BE-E330-CA705EFF3EB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54264" y="2530149"/>
            <a:ext cx="3218750" cy="9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95;p21">
            <a:extLst>
              <a:ext uri="{FF2B5EF4-FFF2-40B4-BE49-F238E27FC236}">
                <a16:creationId xmlns:a16="http://schemas.microsoft.com/office/drawing/2014/main" id="{FF2C25DA-DA2B-CC55-35A8-EEB8D915343D}"/>
              </a:ext>
            </a:extLst>
          </p:cNvPr>
          <p:cNvSpPr/>
          <p:nvPr/>
        </p:nvSpPr>
        <p:spPr>
          <a:xfrm>
            <a:off x="7203214" y="3028011"/>
            <a:ext cx="169800" cy="421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192;p21">
            <a:extLst>
              <a:ext uri="{FF2B5EF4-FFF2-40B4-BE49-F238E27FC236}">
                <a16:creationId xmlns:a16="http://schemas.microsoft.com/office/drawing/2014/main" id="{8A735582-4F88-04AA-111C-B7DCDC4885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0468" y="4784649"/>
            <a:ext cx="943199" cy="9432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3;p21">
            <a:extLst>
              <a:ext uri="{FF2B5EF4-FFF2-40B4-BE49-F238E27FC236}">
                <a16:creationId xmlns:a16="http://schemas.microsoft.com/office/drawing/2014/main" id="{E5C6CC44-0EBF-CB2B-DC26-8FBF115ED572}"/>
              </a:ext>
            </a:extLst>
          </p:cNvPr>
          <p:cNvSpPr txBox="1"/>
          <p:nvPr/>
        </p:nvSpPr>
        <p:spPr>
          <a:xfrm>
            <a:off x="7448568" y="4993899"/>
            <a:ext cx="801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latin typeface="Open Sans"/>
                <a:ea typeface="Open Sans"/>
                <a:cs typeface="Open Sans"/>
                <a:sym typeface="Open Sans"/>
              </a:rPr>
              <a:t>Listo!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4930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038A-234A-1041-435B-F75E2F71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5665C-CC15-0E24-0647-B96BC3C6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Entidad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909C4A6-5840-725E-7212-D65853B428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8EAB38-C4D0-CC7B-2D96-CBA9D6BB0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Se debe crear una entidad para gestionar los usuarios </a:t>
            </a:r>
            <a:r>
              <a:rPr lang="es-ES" dirty="0" err="1"/>
              <a:t>logueados</a:t>
            </a:r>
            <a:r>
              <a:rPr lang="es-ES" dirty="0"/>
              <a:t> en el sistema. Se le llamará Usuario (debe tener los campos de la tabla creada para </a:t>
            </a:r>
            <a:r>
              <a:rPr lang="es-ES" b="1" dirty="0"/>
              <a:t>Spring Security</a:t>
            </a:r>
            <a:r>
              <a:rPr lang="es-ES" dirty="0"/>
              <a:t>, no los de Spring Session).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b="1" dirty="0"/>
              <a:t>Observación</a:t>
            </a:r>
            <a:r>
              <a:rPr lang="es-ES" dirty="0"/>
              <a:t>:</a:t>
            </a:r>
          </a:p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b="1" dirty="0">
                <a:highlight>
                  <a:srgbClr val="FFFF00"/>
                </a:highlight>
              </a:rPr>
              <a:t>Todo objeto que se desee guardar en sesión con java Spring, debe ser </a:t>
            </a:r>
            <a:r>
              <a:rPr lang="es-ES" b="1" dirty="0" err="1">
                <a:highlight>
                  <a:srgbClr val="FFFF00"/>
                </a:highlight>
              </a:rPr>
              <a:t>serializable</a:t>
            </a:r>
            <a:r>
              <a:rPr lang="es-ES" b="1" dirty="0">
                <a:highlight>
                  <a:srgbClr val="FFFF00"/>
                </a:highlight>
              </a:rPr>
              <a:t>, es decir, implementar la interfaz </a:t>
            </a:r>
            <a:r>
              <a:rPr lang="es-ES" b="1" dirty="0" err="1">
                <a:highlight>
                  <a:srgbClr val="FFFF00"/>
                </a:highlight>
              </a:rPr>
              <a:t>Serializable</a:t>
            </a:r>
            <a:r>
              <a:rPr lang="es-ES" b="1" dirty="0">
                <a:highlight>
                  <a:srgbClr val="FFFF00"/>
                </a:highlight>
              </a:rPr>
              <a:t> (</a:t>
            </a:r>
            <a:r>
              <a:rPr lang="es-ES" b="1" dirty="0" err="1">
                <a:highlight>
                  <a:srgbClr val="FFFF00"/>
                </a:highlight>
              </a:rPr>
              <a:t>java.io.Serializable</a:t>
            </a:r>
            <a:r>
              <a:rPr lang="es-ES" b="1" dirty="0">
                <a:highlight>
                  <a:srgbClr val="FFFF00"/>
                </a:highlight>
              </a:rPr>
              <a:t>)</a:t>
            </a:r>
          </a:p>
          <a:p>
            <a:endParaRPr lang="es-PE" dirty="0"/>
          </a:p>
        </p:txBody>
      </p:sp>
      <p:pic>
        <p:nvPicPr>
          <p:cNvPr id="5" name="Google Shape;216;p24">
            <a:extLst>
              <a:ext uri="{FF2B5EF4-FFF2-40B4-BE49-F238E27FC236}">
                <a16:creationId xmlns:a16="http://schemas.microsoft.com/office/drawing/2014/main" id="{E55077D3-A567-9347-DC22-B287B85958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62"/>
          <a:stretch/>
        </p:blipFill>
        <p:spPr>
          <a:xfrm>
            <a:off x="4168882" y="1782782"/>
            <a:ext cx="3835632" cy="24255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5804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9E1A-3670-EA77-A560-2CD5BE29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325ED-1356-9E1C-732A-FC2A4445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Repositorio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0B45E66-ED69-5389-C2C4-8414DEBC74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771E1E-6717-F921-0E30-D203A4F4B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crea el repositorio </a:t>
            </a:r>
            <a:r>
              <a:rPr lang="es-ES" b="1" dirty="0" err="1"/>
              <a:t>UsuarioRepository</a:t>
            </a:r>
            <a:r>
              <a:rPr lang="es-ES" b="1" dirty="0"/>
              <a:t> </a:t>
            </a:r>
            <a:r>
              <a:rPr lang="es-ES" dirty="0"/>
              <a:t>para gestionar la entidad Usuario</a:t>
            </a:r>
            <a:r>
              <a:rPr lang="es-ES" b="1" dirty="0"/>
              <a:t> </a:t>
            </a:r>
            <a:r>
              <a:rPr lang="es-ES" dirty="0"/>
              <a:t>y se define un </a:t>
            </a:r>
            <a:r>
              <a:rPr lang="es-ES" dirty="0" err="1"/>
              <a:t>query</a:t>
            </a:r>
            <a:r>
              <a:rPr lang="es-ES" dirty="0"/>
              <a:t> </a:t>
            </a:r>
            <a:r>
              <a:rPr lang="es-ES" dirty="0" err="1"/>
              <a:t>method</a:t>
            </a:r>
            <a:r>
              <a:rPr lang="es-ES" dirty="0"/>
              <a:t> para buscar por email, debido a que el usuario </a:t>
            </a:r>
            <a:r>
              <a:rPr lang="es-ES" dirty="0" err="1"/>
              <a:t>logueado</a:t>
            </a:r>
            <a:r>
              <a:rPr lang="es-ES" dirty="0"/>
              <a:t> es identificado en Spring Security por el email.</a:t>
            </a:r>
          </a:p>
          <a:p>
            <a:endParaRPr lang="es-PE" dirty="0"/>
          </a:p>
        </p:txBody>
      </p:sp>
      <p:pic>
        <p:nvPicPr>
          <p:cNvPr id="5" name="Google Shape;224;p25">
            <a:extLst>
              <a:ext uri="{FF2B5EF4-FFF2-40B4-BE49-F238E27FC236}">
                <a16:creationId xmlns:a16="http://schemas.microsoft.com/office/drawing/2014/main" id="{65A54DCC-026D-C0DB-D439-E1C5162F572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90775" y="3242348"/>
            <a:ext cx="7410450" cy="122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046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9EDD-3AF6-DEE3-7DB2-C4366727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2F80E-1E11-916A-3B9D-6328672E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Usando la sesión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B36C5F7-4D97-C808-B30E-F567E811FA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EE8390-4A54-BEB2-646B-7151E3496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En este ejemplo, en </a:t>
            </a:r>
            <a:r>
              <a:rPr lang="es-ES" sz="2000" b="1" dirty="0" err="1"/>
              <a:t>LoginController</a:t>
            </a:r>
            <a:r>
              <a:rPr lang="es-ES" sz="2000" dirty="0"/>
              <a:t>, luego que el usuario se autentique exitosamente, se guardará en sesión toda su información.</a:t>
            </a:r>
          </a:p>
          <a:p>
            <a:endParaRPr lang="es-PE" sz="2000" dirty="0"/>
          </a:p>
        </p:txBody>
      </p:sp>
      <p:sp>
        <p:nvSpPr>
          <p:cNvPr id="5" name="Google Shape;233;p26">
            <a:extLst>
              <a:ext uri="{FF2B5EF4-FFF2-40B4-BE49-F238E27FC236}">
                <a16:creationId xmlns:a16="http://schemas.microsoft.com/office/drawing/2014/main" id="{3586EC71-3FC1-A2E9-D78A-E316FACE89C0}"/>
              </a:ext>
            </a:extLst>
          </p:cNvPr>
          <p:cNvSpPr txBox="1"/>
          <p:nvPr/>
        </p:nvSpPr>
        <p:spPr>
          <a:xfrm>
            <a:off x="1589850" y="2998186"/>
            <a:ext cx="8640000" cy="20472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successHandler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-&gt; {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DefaultSavedRequest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defaultSavedRequest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(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DefaultSavedRequest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request.getSession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getAttribute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"SPRING_SECURITY_SAVED_REQUEST"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HttpSession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request.getSession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session.setAttribute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"usuario"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100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usuarioRepository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.findByEmail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authentication.getName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()))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defaultSavedRequest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lang="es-419" sz="11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targetURL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defaultSavedRequest.getRedirectUrl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100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redirectStrategy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.sendRedirect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1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targetURL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s-419" sz="11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s-419" sz="11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1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" name="Google Shape;235;p26">
            <a:extLst>
              <a:ext uri="{FF2B5EF4-FFF2-40B4-BE49-F238E27FC236}">
                <a16:creationId xmlns:a16="http://schemas.microsoft.com/office/drawing/2014/main" id="{2BBD4EF0-E150-4C28-5986-23CE3010BBE3}"/>
              </a:ext>
            </a:extLst>
          </p:cNvPr>
          <p:cNvCxnSpPr>
            <a:stCxn id="7" idx="0"/>
          </p:cNvCxnSpPr>
          <p:nvPr/>
        </p:nvCxnSpPr>
        <p:spPr>
          <a:xfrm rot="10800000">
            <a:off x="7807350" y="4149587"/>
            <a:ext cx="1185000" cy="57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236;p26">
            <a:extLst>
              <a:ext uri="{FF2B5EF4-FFF2-40B4-BE49-F238E27FC236}">
                <a16:creationId xmlns:a16="http://schemas.microsoft.com/office/drawing/2014/main" id="{50D9CBC5-9B39-05D3-2C19-AC934582C44C}"/>
              </a:ext>
            </a:extLst>
          </p:cNvPr>
          <p:cNvSpPr/>
          <p:nvPr/>
        </p:nvSpPr>
        <p:spPr>
          <a:xfrm>
            <a:off x="7941000" y="4727087"/>
            <a:ext cx="2102700" cy="815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FFFFFF"/>
                </a:solidFill>
              </a:rPr>
              <a:t>auth.getName() </a:t>
            </a:r>
            <a:r>
              <a:rPr lang="es-419" sz="1200">
                <a:solidFill>
                  <a:srgbClr val="FFFFFF"/>
                </a:solidFill>
              </a:rPr>
              <a:t>devuelve el username del usuario autenticado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8" name="Google Shape;232;p26">
            <a:extLst>
              <a:ext uri="{FF2B5EF4-FFF2-40B4-BE49-F238E27FC236}">
                <a16:creationId xmlns:a16="http://schemas.microsoft.com/office/drawing/2014/main" id="{FAE8654A-8357-122E-2F5F-035A534B0D32}"/>
              </a:ext>
            </a:extLst>
          </p:cNvPr>
          <p:cNvSpPr/>
          <p:nvPr/>
        </p:nvSpPr>
        <p:spPr>
          <a:xfrm>
            <a:off x="6866769" y="2062487"/>
            <a:ext cx="3725100" cy="8151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Si se quisiera obtener un valor almacenado en sesión desde el controlador, utilice session.getAttribute(nombre).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2690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2387-A830-F8C8-2A44-9C9E289F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7F3F8-F112-5773-8E49-2C9AB918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Usando la sesión - 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1B00FD-AD92-4AE0-93C0-E527D9AAB9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BBCA03-EFAA-D4B9-6138-7A5F6710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usar algún valor almacenado en sesión en la vista, usamos el objeto ${</a:t>
            </a:r>
            <a:r>
              <a:rPr lang="es-ES" sz="2000" dirty="0" err="1"/>
              <a:t>session</a:t>
            </a:r>
            <a:r>
              <a:rPr lang="es-ES" sz="2000" dirty="0"/>
              <a:t>}, accediendo a los objetos almacenados mediante “.” (como cualquier otra variable en </a:t>
            </a:r>
            <a:r>
              <a:rPr lang="es-ES" sz="2000" dirty="0" err="1"/>
              <a:t>Thymeleaf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En navbar.html:</a:t>
            </a:r>
          </a:p>
          <a:p>
            <a:endParaRPr lang="es-PE" sz="2000" dirty="0"/>
          </a:p>
        </p:txBody>
      </p:sp>
      <p:sp>
        <p:nvSpPr>
          <p:cNvPr id="5" name="Google Shape;245;p27">
            <a:extLst>
              <a:ext uri="{FF2B5EF4-FFF2-40B4-BE49-F238E27FC236}">
                <a16:creationId xmlns:a16="http://schemas.microsoft.com/office/drawing/2014/main" id="{3FC7CF7E-736F-AC94-F2F2-58B28B33D776}"/>
              </a:ext>
            </a:extLst>
          </p:cNvPr>
          <p:cNvSpPr txBox="1"/>
          <p:nvPr/>
        </p:nvSpPr>
        <p:spPr>
          <a:xfrm>
            <a:off x="1538250" y="2897416"/>
            <a:ext cx="9115500" cy="1293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sec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:authorize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isAuthenticated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()"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="d-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align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-center"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:text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="|Bienvenido </a:t>
            </a:r>
            <a:r>
              <a:rPr lang="es-419" sz="1200" dirty="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session.usuario.nombre</a:t>
            </a:r>
            <a:r>
              <a:rPr lang="es-419" sz="1200" dirty="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session.usuario.apellido</a:t>
            </a:r>
            <a:r>
              <a:rPr lang="es-419" sz="1200" dirty="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|"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:action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@{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logout</a:t>
            </a:r>
            <a:r>
              <a:rPr lang="es-419" sz="1200" dirty="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method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="post"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      &lt;input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btn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btn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-link"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submit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="(Cerrar Sesión)"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-419" sz="12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" name="Google Shape;244;p27">
            <a:extLst>
              <a:ext uri="{FF2B5EF4-FFF2-40B4-BE49-F238E27FC236}">
                <a16:creationId xmlns:a16="http://schemas.microsoft.com/office/drawing/2014/main" id="{A8701B8A-FB00-F29D-B54A-A92A1B85777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11883" y="5106531"/>
            <a:ext cx="7695299" cy="4354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6;p27">
            <a:extLst>
              <a:ext uri="{FF2B5EF4-FFF2-40B4-BE49-F238E27FC236}">
                <a16:creationId xmlns:a16="http://schemas.microsoft.com/office/drawing/2014/main" id="{A43C3DA5-7B93-6970-5085-2A05BDA4B07E}"/>
              </a:ext>
            </a:extLst>
          </p:cNvPr>
          <p:cNvSpPr/>
          <p:nvPr/>
        </p:nvSpPr>
        <p:spPr>
          <a:xfrm>
            <a:off x="5485183" y="4384294"/>
            <a:ext cx="548700" cy="435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296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306961C-71A3-3ED1-F77F-487BE4C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496996" cy="625876"/>
          </a:xfrm>
        </p:spPr>
        <p:txBody>
          <a:bodyPr wrap="square" anchor="b">
            <a:normAutofit/>
          </a:bodyPr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C192D6-8E78-CB43-8F7E-38A14C3D3D8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2A29C8B-5F70-8945-A2A6-FBD7A17156DB}" type="slidenum">
              <a:rPr lang="es-PE" sz="140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s-PE" sz="140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5E59523-9F14-85CB-E725-D9E5A277F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526"/>
            <a:ext cx="10496996" cy="3843645"/>
          </a:xfrm>
        </p:spPr>
        <p:txBody>
          <a:bodyPr wrap="square" anchor="t">
            <a:norm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Spring </a:t>
            </a:r>
            <a:r>
              <a:rPr lang="es-419" err="1"/>
              <a:t>session</a:t>
            </a:r>
            <a:endParaRPr lang="es-419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sz="2400" u="sng">
                <a:hlinkClick r:id="rId2"/>
              </a:rPr>
              <a:t>https://docs.spring.io/spring-session/docs/current/reference/html5/#httpsession</a:t>
            </a:r>
            <a:endParaRPr lang="es-419" sz="2400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sz="2400" u="sng">
                <a:hlinkClick r:id="rId3"/>
              </a:rPr>
              <a:t>https://spring.io/projects/spring-session</a:t>
            </a:r>
            <a:endParaRPr lang="es-419" sz="2400"/>
          </a:p>
          <a:p>
            <a:endParaRPr lang="es-PE" dirty="0"/>
          </a:p>
        </p:txBody>
      </p:sp>
      <p:sp>
        <p:nvSpPr>
          <p:cNvPr id="2" name="Marcador de fecha 1" hidden="1">
            <a:extLst>
              <a:ext uri="{FF2B5EF4-FFF2-40B4-BE49-F238E27FC236}">
                <a16:creationId xmlns:a16="http://schemas.microsoft.com/office/drawing/2014/main" id="{C166931F-D58A-491A-05F7-6552A015311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t>2025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020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650</TotalTime>
  <Words>932</Words>
  <Application>Microsoft Office PowerPoint</Application>
  <PresentationFormat>Panorámica</PresentationFormat>
  <Paragraphs>123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Arial</vt:lpstr>
      <vt:lpstr>Courier New</vt:lpstr>
      <vt:lpstr>Montserrat</vt:lpstr>
      <vt:lpstr>Montserrat Medium</vt:lpstr>
      <vt:lpstr>Open Sans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Spring Session</vt:lpstr>
      <vt:lpstr>Sesiones HttpSession tradicionales</vt:lpstr>
      <vt:lpstr>Sesiones HttpSession problema</vt:lpstr>
      <vt:lpstr>Spring Session</vt:lpstr>
      <vt:lpstr>Spring Session JDBC</vt:lpstr>
      <vt:lpstr>Dependencias en pom.xml</vt:lpstr>
      <vt:lpstr>Configuración Spring Session</vt:lpstr>
      <vt:lpstr>Tablas en Spring Session</vt:lpstr>
      <vt:lpstr>Integración con Spring Security</vt:lpstr>
      <vt:lpstr>Entidad</vt:lpstr>
      <vt:lpstr>Repositorio</vt:lpstr>
      <vt:lpstr>Usando la sesión</vt:lpstr>
      <vt:lpstr>Usando la sesión - Vista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29</cp:revision>
  <dcterms:created xsi:type="dcterms:W3CDTF">2023-10-28T21:43:03Z</dcterms:created>
  <dcterms:modified xsi:type="dcterms:W3CDTF">2026-05-07T01:13:56Z</dcterms:modified>
</cp:coreProperties>
</file>