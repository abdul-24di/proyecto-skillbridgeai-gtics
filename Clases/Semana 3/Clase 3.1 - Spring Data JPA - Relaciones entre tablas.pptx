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3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4" r:id="rId2"/>
    <p:sldMasterId id="2147483660" r:id="rId3"/>
    <p:sldMasterId id="2147483680" r:id="rId4"/>
  </p:sldMasterIdLst>
  <p:notesMasterIdLst>
    <p:notesMasterId r:id="rId29"/>
  </p:notesMasterIdLst>
  <p:handoutMasterIdLst>
    <p:handoutMasterId r:id="rId30"/>
  </p:handoutMasterIdLst>
  <p:sldIdLst>
    <p:sldId id="379" r:id="rId5"/>
    <p:sldId id="380" r:id="rId6"/>
    <p:sldId id="381" r:id="rId7"/>
    <p:sldId id="382" r:id="rId8"/>
    <p:sldId id="383" r:id="rId9"/>
    <p:sldId id="384" r:id="rId10"/>
    <p:sldId id="385" r:id="rId11"/>
    <p:sldId id="386" r:id="rId12"/>
    <p:sldId id="387" r:id="rId13"/>
    <p:sldId id="388" r:id="rId14"/>
    <p:sldId id="389" r:id="rId15"/>
    <p:sldId id="390" r:id="rId16"/>
    <p:sldId id="391" r:id="rId17"/>
    <p:sldId id="392" r:id="rId18"/>
    <p:sldId id="393" r:id="rId19"/>
    <p:sldId id="394" r:id="rId20"/>
    <p:sldId id="367" r:id="rId21"/>
    <p:sldId id="396" r:id="rId22"/>
    <p:sldId id="397" r:id="rId23"/>
    <p:sldId id="398" r:id="rId24"/>
    <p:sldId id="399" r:id="rId25"/>
    <p:sldId id="400" r:id="rId26"/>
    <p:sldId id="378" r:id="rId27"/>
    <p:sldId id="401" r:id="rId28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E32C8"/>
    <a:srgbClr val="0A2451"/>
    <a:srgbClr val="7F32C8"/>
    <a:srgbClr val="0096C8"/>
    <a:srgbClr val="009A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891" autoAdjust="0"/>
    <p:restoredTop sz="94643"/>
  </p:normalViewPr>
  <p:slideViewPr>
    <p:cSldViewPr snapToGrid="0" snapToObjects="1">
      <p:cViewPr varScale="1">
        <p:scale>
          <a:sx n="99" d="100"/>
          <a:sy n="99" d="100"/>
        </p:scale>
        <p:origin x="954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62" d="100"/>
          <a:sy n="62" d="100"/>
        </p:scale>
        <p:origin x="3226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DF0BF7D0-ACCD-45E0-9075-7974351BA6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 dirty="0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3B6A517-4C1F-40CC-B607-62B10860738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40BD7-4B38-4A99-A6E7-5E1A97DAF11B}" type="datetimeFigureOut">
              <a:rPr lang="es-PE" smtClean="0"/>
              <a:t>7/04/2026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DE1014B-0959-4D3A-8DC3-99369C91072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A5F80A8-C49B-4372-B96A-23231D58BE2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3D7DB4-D5A9-475B-BF72-4B93DC046C5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26361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42EFC3-66C1-4423-B1B2-E7C9DCCB5C75}" type="datetimeFigureOut">
              <a:rPr lang="es-PE" smtClean="0"/>
              <a:t>7/04/2026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575E41-3A85-45FC-A38E-3ABB827C81B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53762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D9D2A5-97BD-8444-B300-CB3EF7767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295BA6D-368F-2A4C-86C6-7C5248238B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BBDFEDA-4707-4FCF-B728-8770DE811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1C491-E0CA-4324-AB99-27795370E731}" type="datetime6">
              <a:rPr lang="es-PE" smtClean="0"/>
              <a:t>Abril de 2026</a:t>
            </a:fld>
            <a:endParaRPr lang="es-PE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FEC6C11-5534-41C2-AE3F-23A2E42B2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  <a:endParaRPr lang="es-PE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596F09D-DC31-489D-B4ED-C366F8894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691036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88CE456-0DBE-1C40-8524-031B3877F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98E25-E046-416A-8AD2-E2EA35E0D47B}" type="datetime6">
              <a:rPr lang="es-PE" smtClean="0"/>
              <a:t>Abril de 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5D13C97-DAF6-0446-9B12-00C44E4E9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4EB1898-D756-124E-BD1B-9A75D2250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0280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88CE456-0DBE-1C40-8524-031B3877F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F8130-A112-4F15-AFC2-368CC75448B6}" type="datetime6">
              <a:rPr lang="es-PE" smtClean="0"/>
              <a:t>Abril de 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5D13C97-DAF6-0446-9B12-00C44E4E9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4EB1898-D756-124E-BD1B-9A75D2250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996BDD-8036-732D-98BA-0F2E37352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308758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D79D8E-AB04-8E45-9319-348AC3CB4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2DBA0DE-A445-C046-811D-A0A00D5D96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20B3-8E4D-AF4A-B2D9-03D2C4768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9A28C-F211-4BC4-A82C-550C2815AB6D}" type="datetime6">
              <a:rPr lang="es-PE" smtClean="0"/>
              <a:t>Abril de 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3B548EA-F76C-FF4F-8B46-8E2BF1373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97A3063-101A-4748-9BF4-BDCEAD74E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816545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159745-E305-7640-B460-DDD95C890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75B0667-94AD-7042-9167-6A1B455E68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067D8BB-0B6A-2240-A623-F66BAB2A5D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68EE1D5-EF01-AC4E-AA18-52153E6F0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1ED01-9170-4915-AD68-3CC34DFA2DBD}" type="datetime6">
              <a:rPr lang="es-PE" smtClean="0"/>
              <a:t>Abril de 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2359DB5-DA05-4B4B-BD9E-D3BDC005A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  <a:endParaRPr lang="es-PE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38F1C9D-46B9-3A4E-AB57-99CFCB4F8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95061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ACC2AA-33EE-AB44-B80C-3D1773A3A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8B08598-2ACB-2B45-9E0E-D98A56EE56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6B67032-A5C9-324F-A584-06E700EE01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F4544B5-4120-574B-B4E0-401F5F83C6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44BB40B-E345-D441-8AFF-88629E4AA6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CC541E4-0910-6C4F-BD18-90C1769A8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0DE35-9A49-4AAC-8B2C-BA4A347498EB}" type="datetime6">
              <a:rPr lang="es-PE" smtClean="0"/>
              <a:t>Abril de 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CF8149B-1A8E-3A44-9444-BDD313C7D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C83630D-DB33-894E-A6FB-7C886A314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310180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CB7F1-07EB-464F-AC5E-D3E6B18BF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1075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AD70BCF-77E2-F94E-848B-F5F2FE15DF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A71899D-560A-7148-BA0D-597063A7BC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81275"/>
            <a:ext cx="3932237" cy="328771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443E003-7994-0246-9291-9317E3410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BB3AF-5458-4635-87B4-F9A9B12C5458}" type="datetime6">
              <a:rPr lang="es-PE" smtClean="0"/>
              <a:t>Abril de 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7AA6F9B-E2F3-2A4E-98F0-37C47639A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C40BCAD-F69B-D846-B7D1-F816049E4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115200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435587-6FE6-EA45-9836-90381FE25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1075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1751ABA-EF72-4841-94BA-E12B7647E5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37D36B7-A3A2-304B-9C5E-E94151CF59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81275"/>
            <a:ext cx="3932237" cy="328771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53CB4C2-2F2B-A841-B84D-E620C8AA5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94354-6BA5-49FF-BF43-87C4B22E98B4}" type="datetime6">
              <a:rPr lang="es-PE" smtClean="0"/>
              <a:t>Abril de 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89CDFF5-81F8-2740-AEB1-0FB32A90A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D665C2B-C547-9D48-897C-C27108ED3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56347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087A71-69DB-854D-AF4D-5695ABE4D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2FD9AA9-791D-D640-AF5D-87DF3914DC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BEA8E4A-2B4B-7A44-8E86-46F69B8D6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70608-F1FB-45F6-860F-922B6EF37ED4}" type="datetime6">
              <a:rPr lang="es-PE" smtClean="0"/>
              <a:t>Abril de 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BB04C96-1676-754C-9A8B-159B005BA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09B5093-2547-5848-96C5-63FA5D8AC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19299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5A8B670-B2A5-5048-888C-B345BD663E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DFF0EDD-FEAB-C845-87C0-40EC9D572C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C253251-F540-0244-AF80-037E0E2FD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078BD-AB8A-4345-9035-53D22F2B3257}" type="datetime6">
              <a:rPr lang="es-PE" smtClean="0"/>
              <a:t>Abril de 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A51A4D8-F0DD-F843-9B64-8E56FBB91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F95E045-43DC-F64F-8427-01C4927DE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39382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2DBA0DE-A445-C046-811D-A0A00D5D96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98617"/>
            <a:ext cx="10515600" cy="3304903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20B3-8E4D-AF4A-B2D9-03D2C4768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51771-42A4-45B0-9E2A-31E6848B072B}" type="datetime6">
              <a:rPr lang="es-PE" smtClean="0"/>
              <a:t>Abril de 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3B548EA-F76C-FF4F-8B46-8E2BF1373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título 1">
            <a:extLst>
              <a:ext uri="{FF2B5EF4-FFF2-40B4-BE49-F238E27FC236}">
                <a16:creationId xmlns:a16="http://schemas.microsoft.com/office/drawing/2014/main" id="{A687CBB4-B26D-433C-982F-3DCCCFE5C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8824"/>
            <a:ext cx="10515600" cy="6852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2" name="Marcador de número de diapositiva 5">
            <a:extLst>
              <a:ext uri="{FF2B5EF4-FFF2-40B4-BE49-F238E27FC236}">
                <a16:creationId xmlns:a16="http://schemas.microsoft.com/office/drawing/2014/main" id="{D43F6072-5465-F57A-EF21-56204254D9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6428459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fecha 5">
            <a:extLst>
              <a:ext uri="{FF2B5EF4-FFF2-40B4-BE49-F238E27FC236}">
                <a16:creationId xmlns:a16="http://schemas.microsoft.com/office/drawing/2014/main" id="{5F0A72E7-2671-47A4-AF35-66459EA16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0D25D-3002-4A58-8B13-21BD8EE61204}" type="datetime6">
              <a:rPr lang="es-PE" smtClean="0"/>
              <a:t>Abril de 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486C3314-7415-4B69-9C72-28C2155C4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2" name="Marcador de número de diapositiva 5">
            <a:extLst>
              <a:ext uri="{FF2B5EF4-FFF2-40B4-BE49-F238E27FC236}">
                <a16:creationId xmlns:a16="http://schemas.microsoft.com/office/drawing/2014/main" id="{07477A4A-ECCB-8B69-A47C-30FB4783A4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555170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88CE456-0DBE-1C40-8524-031B3877F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1DECC-10B9-4F40-90A9-2F5BE622FB80}" type="datetime6">
              <a:rPr lang="es-PE" smtClean="0"/>
              <a:t>Abril de 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5D13C97-DAF6-0446-9B12-00C44E4E9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3278E2-83A6-F38B-4712-926F3DB9B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E5A0FF8-286D-9381-1F09-B452629821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561495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D9D2A5-97BD-8444-B300-CB3EF7767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295BA6D-368F-2A4C-86C6-7C5248238B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0" name="Marcador de fecha 9">
            <a:extLst>
              <a:ext uri="{FF2B5EF4-FFF2-40B4-BE49-F238E27FC236}">
                <a16:creationId xmlns:a16="http://schemas.microsoft.com/office/drawing/2014/main" id="{F008D962-BEC4-402A-A407-79C9AD9F2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C0233-ABB9-4EC0-9B00-FB2CD5E81D0A}" type="datetime6">
              <a:rPr lang="es-PE" smtClean="0"/>
              <a:t>Abril de 2026</a:t>
            </a:fld>
            <a:endParaRPr lang="es-PE"/>
          </a:p>
        </p:txBody>
      </p:sp>
      <p:sp>
        <p:nvSpPr>
          <p:cNvPr id="11" name="Marcador de pie de página 10">
            <a:extLst>
              <a:ext uri="{FF2B5EF4-FFF2-40B4-BE49-F238E27FC236}">
                <a16:creationId xmlns:a16="http://schemas.microsoft.com/office/drawing/2014/main" id="{3750F3DD-81E0-4125-8E5B-E0A1E3048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4" name="Marcador de número de diapositiva 5">
            <a:extLst>
              <a:ext uri="{FF2B5EF4-FFF2-40B4-BE49-F238E27FC236}">
                <a16:creationId xmlns:a16="http://schemas.microsoft.com/office/drawing/2014/main" id="{9B72A45B-A8B6-53D1-D299-D8D234C35C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330049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159745-E305-7640-B460-DDD95C890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60424"/>
            <a:ext cx="10515600" cy="779463"/>
          </a:xfrm>
          <a:prstGeom prst="rect">
            <a:avLst/>
          </a:prstGeom>
        </p:spPr>
        <p:txBody>
          <a:bodyPr/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75B0667-94AD-7042-9167-6A1B455E68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067D8BB-0B6A-2240-A623-F66BAB2A5D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68EE1D5-EF01-AC4E-AA18-52153E6F0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32517-B618-4C30-966E-4CE57A9A4AD9}" type="datetime6">
              <a:rPr lang="es-PE" smtClean="0"/>
              <a:t>Abril de 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2359DB5-DA05-4B4B-BD9E-D3BDC005A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8" name="Marcador de número de diapositiva 5">
            <a:extLst>
              <a:ext uri="{FF2B5EF4-FFF2-40B4-BE49-F238E27FC236}">
                <a16:creationId xmlns:a16="http://schemas.microsoft.com/office/drawing/2014/main" id="{975A041E-5422-B9D8-43AC-BC8E8410A5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551904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ACC2AA-33EE-AB44-B80C-3D1773A3A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8B08598-2ACB-2B45-9E0E-D98A56EE56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6B67032-A5C9-324F-A584-06E700EE01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F4544B5-4120-574B-B4E0-401F5F83C6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44BB40B-E345-D441-8AFF-88629E4AA6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CC541E4-0910-6C4F-BD18-90C1769A8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6572F-C44F-4ECE-A2FB-0C63931A9A8E}" type="datetime6">
              <a:rPr lang="es-PE" smtClean="0"/>
              <a:t>Abril de 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CF8149B-1A8E-3A44-9444-BDD313C7D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024E81AF-5ACD-3527-83DB-C9AD4CA08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1080790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CB7F1-07EB-464F-AC5E-D3E6B18BF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1075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AD70BCF-77E2-F94E-848B-F5F2FE15DF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A71899D-560A-7148-BA0D-597063A7BC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81275"/>
            <a:ext cx="3932237" cy="32877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443E003-7994-0246-9291-9317E3410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65C4A-DDA2-4FA4-84CD-631E9785E0C4}" type="datetime6">
              <a:rPr lang="es-PE" smtClean="0"/>
              <a:t>Abril de 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7AA6F9B-E2F3-2A4E-98F0-37C47639A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8" name="Marcador de número de diapositiva 5">
            <a:extLst>
              <a:ext uri="{FF2B5EF4-FFF2-40B4-BE49-F238E27FC236}">
                <a16:creationId xmlns:a16="http://schemas.microsoft.com/office/drawing/2014/main" id="{59D5B90D-729B-0333-8733-D407F44413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4872645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435587-6FE6-EA45-9836-90381FE25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1075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1751ABA-EF72-4841-94BA-E12B7647E5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37D36B7-A3A2-304B-9C5E-E94151CF59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81275"/>
            <a:ext cx="3932237" cy="32877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53CB4C2-2F2B-A841-B84D-E620C8AA5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76157-6C99-4927-8D4B-5792D6D36C68}" type="datetime6">
              <a:rPr lang="es-PE" smtClean="0"/>
              <a:t>Abril de 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89CDFF5-81F8-2740-AEB1-0FB32A90A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8" name="Marcador de número de diapositiva 5">
            <a:extLst>
              <a:ext uri="{FF2B5EF4-FFF2-40B4-BE49-F238E27FC236}">
                <a16:creationId xmlns:a16="http://schemas.microsoft.com/office/drawing/2014/main" id="{C8F8A8AE-3D1C-5104-BD49-852FD075A3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91895360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087A71-69DB-854D-AF4D-5695ABE4D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01711"/>
            <a:ext cx="10515600" cy="779463"/>
          </a:xfrm>
          <a:prstGeom prst="rect">
            <a:avLst/>
          </a:prstGeom>
        </p:spPr>
        <p:txBody>
          <a:bodyPr/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2FD9AA9-791D-D640-AF5D-87DF3914DC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2108197"/>
            <a:ext cx="10515600" cy="406876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BEA8E4A-2B4B-7A44-8E86-46F69B8D6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CE1B8-50E8-41AE-B289-DDEF242637E2}" type="datetime6">
              <a:rPr lang="es-PE" smtClean="0"/>
              <a:t>Abril de 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BB04C96-1676-754C-9A8B-159B005BA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E4FC7515-E45E-EA9E-AB33-84FFF36BD2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2249377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5A8B670-B2A5-5048-888C-B345BD663E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DFF0EDD-FEAB-C845-87C0-40EC9D572C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C253251-F540-0244-AF80-037E0E2FD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82286-761A-4DF9-BC80-ED7ACDE5A868}" type="datetime6">
              <a:rPr lang="es-PE" smtClean="0"/>
              <a:t>Abril de 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A51A4D8-F0DD-F843-9B64-8E56FBB91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9245C2B-EA67-6FB3-B251-E41C031854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32446948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E40041-0AC9-F54A-8CD6-2C6E25C0043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628900" y="2314574"/>
            <a:ext cx="7181850" cy="2224781"/>
          </a:xfrm>
        </p:spPr>
        <p:txBody>
          <a:bodyPr anchor="b"/>
          <a:lstStyle>
            <a:lvl1pPr algn="ctr">
              <a:defRPr sz="600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s-ES" dirty="0"/>
              <a:t>Título de clase</a:t>
            </a:r>
            <a:endParaRPr lang="es-PE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F940FCB-6F03-EA41-B8CA-B38BB6401CE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810750" y="4539355"/>
            <a:ext cx="2131452" cy="651770"/>
          </a:xfrm>
        </p:spPr>
        <p:txBody>
          <a:bodyPr anchor="ctr">
            <a:normAutofit/>
          </a:bodyPr>
          <a:lstStyle>
            <a:lvl1pPr marL="0" indent="0" algn="ctr">
              <a:buNone/>
              <a:defRPr sz="4000" b="1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2023</a:t>
            </a:r>
            <a:endParaRPr lang="es-PE" dirty="0"/>
          </a:p>
        </p:txBody>
      </p:sp>
      <p:sp>
        <p:nvSpPr>
          <p:cNvPr id="11" name="Marcador de pie de página 4">
            <a:extLst>
              <a:ext uri="{FF2B5EF4-FFF2-40B4-BE49-F238E27FC236}">
                <a16:creationId xmlns:a16="http://schemas.microsoft.com/office/drawing/2014/main" id="{409037FA-8AD4-46E6-D14A-A0B5918A9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28900" y="326688"/>
            <a:ext cx="4114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sz="80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1CC77DF-7156-87EC-5584-40C3F628613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4057" y="6089066"/>
            <a:ext cx="4100513" cy="440147"/>
          </a:xfrm>
        </p:spPr>
        <p:txBody>
          <a:bodyPr/>
          <a:lstStyle>
            <a:lvl1pPr marL="0" indent="0">
              <a:buClr>
                <a:schemeClr val="accent6"/>
              </a:buClr>
              <a:buNone/>
              <a:defRPr>
                <a:solidFill>
                  <a:schemeClr val="bg1"/>
                </a:solidFill>
              </a:defRPr>
            </a:lvl1pPr>
            <a:lvl2pPr>
              <a:buClr>
                <a:schemeClr val="accent6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6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6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6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Profesor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8100300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607FC2-94B4-4F66-9C36-9A4A2A84EF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3893" y="4999970"/>
            <a:ext cx="3339907" cy="717550"/>
          </a:xfrm>
        </p:spPr>
        <p:txBody>
          <a:bodyPr>
            <a:noAutofit/>
          </a:bodyPr>
          <a:lstStyle>
            <a:lvl1pPr algn="ctr">
              <a:defRPr sz="28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Título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E333C54-732D-4A5F-8493-6279F2718C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2993" y="1285875"/>
            <a:ext cx="6851456" cy="4072870"/>
          </a:xfrm>
        </p:spPr>
        <p:txBody>
          <a:bodyPr/>
          <a:lstStyle>
            <a:lvl1pPr marL="228600" indent="-228600">
              <a:buClr>
                <a:schemeClr val="accent1"/>
              </a:buClr>
              <a:buFontTx/>
              <a:buChar char="•"/>
              <a:defRPr>
                <a:solidFill>
                  <a:schemeClr val="tx1"/>
                </a:solidFill>
              </a:defRPr>
            </a:lvl1pPr>
            <a:lvl2pPr marL="685800" indent="-228600">
              <a:buClr>
                <a:schemeClr val="accent1"/>
              </a:buClr>
              <a:buFontTx/>
              <a:buChar char="•"/>
              <a:defRPr>
                <a:solidFill>
                  <a:schemeClr val="tx1"/>
                </a:solidFill>
              </a:defRPr>
            </a:lvl2pPr>
            <a:lvl3pPr marL="1143000" indent="-228600">
              <a:buClr>
                <a:schemeClr val="accent1"/>
              </a:buClr>
              <a:buFontTx/>
              <a:buChar char="•"/>
              <a:defRPr>
                <a:solidFill>
                  <a:schemeClr val="tx1"/>
                </a:solidFill>
              </a:defRPr>
            </a:lvl3pPr>
            <a:lvl4pPr marL="1600200" indent="-228600">
              <a:buClr>
                <a:schemeClr val="accent1"/>
              </a:buClr>
              <a:buSzPct val="70000"/>
              <a:buFontTx/>
              <a:buChar char="•"/>
              <a:defRPr>
                <a:solidFill>
                  <a:schemeClr val="tx1"/>
                </a:solidFill>
              </a:defRPr>
            </a:lvl4pPr>
            <a:lvl5pPr marL="2057400" indent="-228600">
              <a:buClr>
                <a:schemeClr val="accent1"/>
              </a:buClr>
              <a:buSzPct val="50000"/>
              <a:buFontTx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A10338-E359-4104-958A-07CBECCB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79024" y="326687"/>
            <a:ext cx="1495425" cy="365125"/>
          </a:xfrm>
        </p:spPr>
        <p:txBody>
          <a:bodyPr/>
          <a:lstStyle/>
          <a:p>
            <a:fld id="{F12D76C1-E4EF-42D1-88E3-B3E1BE457EF7}" type="datetime6">
              <a:rPr lang="es-PE" smtClean="0"/>
              <a:t>Abril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78FF56-2834-4191-AFE2-248F69DA3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22993" y="326688"/>
            <a:ext cx="4114800" cy="36512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E9CFF7E-0186-9C3C-3611-452A2DDD1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3701422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A10338-E359-4104-958A-07CBECCB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79024" y="326687"/>
            <a:ext cx="1495425" cy="365125"/>
          </a:xfrm>
        </p:spPr>
        <p:txBody>
          <a:bodyPr/>
          <a:lstStyle/>
          <a:p>
            <a:fld id="{936BE4A0-0EF9-4513-98D7-49E1F009126F}" type="datetime6">
              <a:rPr lang="es-PE" smtClean="0"/>
              <a:t>Abril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78FF56-2834-4191-AFE2-248F69DA3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22993" y="326688"/>
            <a:ext cx="4114800" cy="365125"/>
          </a:xfrm>
        </p:spPr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E9CFF7E-0186-9C3C-3611-452A2DDD1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5722D55-BD67-C2D0-8DB9-2255495858E9}"/>
              </a:ext>
            </a:extLst>
          </p:cNvPr>
          <p:cNvSpPr/>
          <p:nvPr userDrawn="1"/>
        </p:nvSpPr>
        <p:spPr>
          <a:xfrm>
            <a:off x="-1" y="1888177"/>
            <a:ext cx="8737793" cy="224443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4607FC2-94B4-4F66-9C36-9A4A2A84EF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49" y="2162175"/>
            <a:ext cx="8067675" cy="1695450"/>
          </a:xfrm>
        </p:spPr>
        <p:txBody>
          <a:bodyPr>
            <a:noAutofit/>
          </a:bodyPr>
          <a:lstStyle>
            <a:lvl1pPr>
              <a:defRPr sz="60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s-ES" dirty="0"/>
              <a:t>Nueva Sección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15054110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A10338-E359-4104-958A-07CBECCB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79024" y="326687"/>
            <a:ext cx="1495425" cy="365125"/>
          </a:xfrm>
        </p:spPr>
        <p:txBody>
          <a:bodyPr/>
          <a:lstStyle/>
          <a:p>
            <a:fld id="{CFF21E75-C2F6-4021-B002-DFF0EB1C555C}" type="datetime6">
              <a:rPr lang="es-PE" smtClean="0"/>
              <a:t>Abril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78FF56-2834-4191-AFE2-248F69DA3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22993" y="326688"/>
            <a:ext cx="4114800" cy="365125"/>
          </a:xfrm>
        </p:spPr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E9CFF7E-0186-9C3C-3611-452A2DDD1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678D8027-D79A-9215-CD71-ED709E6E6D29}"/>
              </a:ext>
            </a:extLst>
          </p:cNvPr>
          <p:cNvGrpSpPr/>
          <p:nvPr userDrawn="1"/>
        </p:nvGrpSpPr>
        <p:grpSpPr>
          <a:xfrm>
            <a:off x="2054677" y="1061023"/>
            <a:ext cx="8380368" cy="826560"/>
            <a:chOff x="525780" y="30308"/>
            <a:chExt cx="7360920" cy="826560"/>
          </a:xfrm>
        </p:grpSpPr>
        <p:sp>
          <p:nvSpPr>
            <p:cNvPr id="9" name="Rectángulo redondeado 10">
              <a:extLst>
                <a:ext uri="{FF2B5EF4-FFF2-40B4-BE49-F238E27FC236}">
                  <a16:creationId xmlns:a16="http://schemas.microsoft.com/office/drawing/2014/main" id="{5606DA9B-0E94-3A3B-E636-525E5B21DFA1}"/>
                </a:ext>
              </a:extLst>
            </p:cNvPr>
            <p:cNvSpPr/>
            <p:nvPr/>
          </p:nvSpPr>
          <p:spPr>
            <a:xfrm>
              <a:off x="525780" y="30308"/>
              <a:ext cx="7360920" cy="82656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PE"/>
            </a:p>
          </p:txBody>
        </p:sp>
        <p:sp>
          <p:nvSpPr>
            <p:cNvPr id="10" name="CuadroTexto 11">
              <a:extLst>
                <a:ext uri="{FF2B5EF4-FFF2-40B4-BE49-F238E27FC236}">
                  <a16:creationId xmlns:a16="http://schemas.microsoft.com/office/drawing/2014/main" id="{F6B0EDBA-571B-DA14-0704-7AAC68D5B3D2}"/>
                </a:ext>
              </a:extLst>
            </p:cNvPr>
            <p:cNvSpPr txBox="1"/>
            <p:nvPr/>
          </p:nvSpPr>
          <p:spPr>
            <a:xfrm>
              <a:off x="566129" y="70657"/>
              <a:ext cx="7280222" cy="74586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78225" tIns="0" rIns="278225" bIns="0" numCol="1" spcCol="1270" anchor="ctr" anchorCtr="0">
              <a:noAutofit/>
            </a:bodyPr>
            <a:lstStyle/>
            <a:p>
              <a:pPr marL="0" lvl="0" indent="0" algn="l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s-PE" sz="2800" kern="120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94607FC2-94B4-4F66-9C36-9A4A2A84EF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66949" y="1167430"/>
            <a:ext cx="7962901" cy="600075"/>
          </a:xfrm>
        </p:spPr>
        <p:txBody>
          <a:bodyPr>
            <a:noAutofit/>
          </a:bodyPr>
          <a:lstStyle>
            <a:lvl1pPr>
              <a:defRPr sz="28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Temas o </a:t>
            </a:r>
            <a:r>
              <a:rPr lang="en-US" dirty="0" err="1"/>
              <a:t>Subtemas</a:t>
            </a:r>
            <a:endParaRPr lang="es-PE" dirty="0"/>
          </a:p>
        </p:txBody>
      </p:sp>
      <p:sp>
        <p:nvSpPr>
          <p:cNvPr id="11" name="Marcador de contenido 2">
            <a:extLst>
              <a:ext uri="{FF2B5EF4-FFF2-40B4-BE49-F238E27FC236}">
                <a16:creationId xmlns:a16="http://schemas.microsoft.com/office/drawing/2014/main" id="{3BC47F6C-D2DF-A0B0-4948-6B5D78DBA1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24743"/>
            <a:ext cx="9716589" cy="3843645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94323242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ítulo y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A10338-E359-4104-958A-07CBECCB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79024" y="326687"/>
            <a:ext cx="1495425" cy="365125"/>
          </a:xfrm>
        </p:spPr>
        <p:txBody>
          <a:bodyPr/>
          <a:lstStyle/>
          <a:p>
            <a:fld id="{7B0539C0-0715-4FF5-A23B-AA722BAB028B}" type="datetime6">
              <a:rPr lang="es-PE" smtClean="0"/>
              <a:t>Abril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78FF56-2834-4191-AFE2-248F69DA3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22993" y="326688"/>
            <a:ext cx="4114800" cy="365125"/>
          </a:xfrm>
        </p:spPr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E9CFF7E-0186-9C3C-3611-452A2DDD1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678D8027-D79A-9215-CD71-ED709E6E6D29}"/>
              </a:ext>
            </a:extLst>
          </p:cNvPr>
          <p:cNvGrpSpPr/>
          <p:nvPr userDrawn="1"/>
        </p:nvGrpSpPr>
        <p:grpSpPr>
          <a:xfrm>
            <a:off x="2054677" y="1061023"/>
            <a:ext cx="8380368" cy="826560"/>
            <a:chOff x="525780" y="30308"/>
            <a:chExt cx="7360920" cy="826560"/>
          </a:xfrm>
        </p:grpSpPr>
        <p:sp>
          <p:nvSpPr>
            <p:cNvPr id="9" name="Rectángulo redondeado 10">
              <a:extLst>
                <a:ext uri="{FF2B5EF4-FFF2-40B4-BE49-F238E27FC236}">
                  <a16:creationId xmlns:a16="http://schemas.microsoft.com/office/drawing/2014/main" id="{5606DA9B-0E94-3A3B-E636-525E5B21DFA1}"/>
                </a:ext>
              </a:extLst>
            </p:cNvPr>
            <p:cNvSpPr/>
            <p:nvPr/>
          </p:nvSpPr>
          <p:spPr>
            <a:xfrm>
              <a:off x="525780" y="30308"/>
              <a:ext cx="7360920" cy="82656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PE"/>
            </a:p>
          </p:txBody>
        </p:sp>
        <p:sp>
          <p:nvSpPr>
            <p:cNvPr id="10" name="CuadroTexto 11">
              <a:extLst>
                <a:ext uri="{FF2B5EF4-FFF2-40B4-BE49-F238E27FC236}">
                  <a16:creationId xmlns:a16="http://schemas.microsoft.com/office/drawing/2014/main" id="{F6B0EDBA-571B-DA14-0704-7AAC68D5B3D2}"/>
                </a:ext>
              </a:extLst>
            </p:cNvPr>
            <p:cNvSpPr txBox="1"/>
            <p:nvPr/>
          </p:nvSpPr>
          <p:spPr>
            <a:xfrm>
              <a:off x="566129" y="70657"/>
              <a:ext cx="7280222" cy="74586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78225" tIns="0" rIns="278225" bIns="0" numCol="1" spcCol="1270" anchor="ctr" anchorCtr="0">
              <a:noAutofit/>
            </a:bodyPr>
            <a:lstStyle/>
            <a:p>
              <a:pPr marL="0" lvl="0" indent="0" algn="l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s-PE" sz="2800" kern="120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94607FC2-94B4-4F66-9C36-9A4A2A84EF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66949" y="1167430"/>
            <a:ext cx="7962901" cy="600075"/>
          </a:xfrm>
        </p:spPr>
        <p:txBody>
          <a:bodyPr>
            <a:noAutofit/>
          </a:bodyPr>
          <a:lstStyle>
            <a:lvl1pPr>
              <a:defRPr sz="28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Temas o </a:t>
            </a:r>
            <a:r>
              <a:rPr lang="en-US" dirty="0" err="1"/>
              <a:t>Subtemas</a:t>
            </a:r>
            <a:endParaRPr lang="es-PE" dirty="0"/>
          </a:p>
        </p:txBody>
      </p:sp>
      <p:sp>
        <p:nvSpPr>
          <p:cNvPr id="11" name="Marcador de contenido 2">
            <a:extLst>
              <a:ext uri="{FF2B5EF4-FFF2-40B4-BE49-F238E27FC236}">
                <a16:creationId xmlns:a16="http://schemas.microsoft.com/office/drawing/2014/main" id="{3BC47F6C-D2DF-A0B0-4948-6B5D78DBA1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24743"/>
            <a:ext cx="9716589" cy="3843645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944908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ítulo y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ángulo redondeado 9">
            <a:extLst>
              <a:ext uri="{FF2B5EF4-FFF2-40B4-BE49-F238E27FC236}">
                <a16:creationId xmlns:a16="http://schemas.microsoft.com/office/drawing/2014/main" id="{24F721D9-3A4E-DA31-4304-76691E23E80D}"/>
              </a:ext>
            </a:extLst>
          </p:cNvPr>
          <p:cNvSpPr/>
          <p:nvPr userDrawn="1"/>
        </p:nvSpPr>
        <p:spPr>
          <a:xfrm>
            <a:off x="838200" y="2024743"/>
            <a:ext cx="9716589" cy="3843644"/>
          </a:xfrm>
          <a:prstGeom prst="roundRect">
            <a:avLst>
              <a:gd name="adj" fmla="val 6011"/>
            </a:avLst>
          </a:prstGeom>
          <a:solidFill>
            <a:srgbClr val="0A2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altLang="es-PE" sz="2000" b="1" dirty="0">
              <a:solidFill>
                <a:schemeClr val="bg1"/>
              </a:solidFill>
              <a:latin typeface="Montserrat" pitchFamily="2" charset="77"/>
            </a:endParaRP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A10338-E359-4104-958A-07CBECCB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79024" y="326687"/>
            <a:ext cx="1495425" cy="365125"/>
          </a:xfrm>
        </p:spPr>
        <p:txBody>
          <a:bodyPr/>
          <a:lstStyle/>
          <a:p>
            <a:fld id="{7B0539C0-0715-4FF5-A23B-AA722BAB028B}" type="datetime6">
              <a:rPr lang="es-PE" smtClean="0"/>
              <a:t>Abril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78FF56-2834-4191-AFE2-248F69DA3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22993" y="326688"/>
            <a:ext cx="4114800" cy="365125"/>
          </a:xfrm>
        </p:spPr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E9CFF7E-0186-9C3C-3611-452A2DDD1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678D8027-D79A-9215-CD71-ED709E6E6D29}"/>
              </a:ext>
            </a:extLst>
          </p:cNvPr>
          <p:cNvGrpSpPr/>
          <p:nvPr userDrawn="1"/>
        </p:nvGrpSpPr>
        <p:grpSpPr>
          <a:xfrm>
            <a:off x="2054677" y="1061023"/>
            <a:ext cx="8380368" cy="826560"/>
            <a:chOff x="525780" y="30308"/>
            <a:chExt cx="7360920" cy="826560"/>
          </a:xfrm>
        </p:grpSpPr>
        <p:sp>
          <p:nvSpPr>
            <p:cNvPr id="9" name="Rectángulo redondeado 10">
              <a:extLst>
                <a:ext uri="{FF2B5EF4-FFF2-40B4-BE49-F238E27FC236}">
                  <a16:creationId xmlns:a16="http://schemas.microsoft.com/office/drawing/2014/main" id="{5606DA9B-0E94-3A3B-E636-525E5B21DFA1}"/>
                </a:ext>
              </a:extLst>
            </p:cNvPr>
            <p:cNvSpPr/>
            <p:nvPr/>
          </p:nvSpPr>
          <p:spPr>
            <a:xfrm>
              <a:off x="525780" y="30308"/>
              <a:ext cx="7360920" cy="82656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PE"/>
            </a:p>
          </p:txBody>
        </p:sp>
        <p:sp>
          <p:nvSpPr>
            <p:cNvPr id="10" name="CuadroTexto 11">
              <a:extLst>
                <a:ext uri="{FF2B5EF4-FFF2-40B4-BE49-F238E27FC236}">
                  <a16:creationId xmlns:a16="http://schemas.microsoft.com/office/drawing/2014/main" id="{F6B0EDBA-571B-DA14-0704-7AAC68D5B3D2}"/>
                </a:ext>
              </a:extLst>
            </p:cNvPr>
            <p:cNvSpPr txBox="1"/>
            <p:nvPr/>
          </p:nvSpPr>
          <p:spPr>
            <a:xfrm>
              <a:off x="566129" y="70657"/>
              <a:ext cx="7280222" cy="74586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78225" tIns="0" rIns="278225" bIns="0" numCol="1" spcCol="1270" anchor="ctr" anchorCtr="0">
              <a:noAutofit/>
            </a:bodyPr>
            <a:lstStyle/>
            <a:p>
              <a:pPr marL="0" lvl="0" indent="0" algn="l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s-PE" sz="2800" kern="120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94607FC2-94B4-4F66-9C36-9A4A2A84EF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66949" y="1167430"/>
            <a:ext cx="7962901" cy="600075"/>
          </a:xfrm>
        </p:spPr>
        <p:txBody>
          <a:bodyPr>
            <a:noAutofit/>
          </a:bodyPr>
          <a:lstStyle>
            <a:lvl1pPr>
              <a:defRPr sz="28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Temas o </a:t>
            </a:r>
            <a:r>
              <a:rPr lang="en-US" dirty="0" err="1"/>
              <a:t>Subtemas</a:t>
            </a:r>
            <a:endParaRPr lang="es-PE" dirty="0"/>
          </a:p>
        </p:txBody>
      </p:sp>
      <p:sp>
        <p:nvSpPr>
          <p:cNvPr id="11" name="Marcador de contenido 2">
            <a:extLst>
              <a:ext uri="{FF2B5EF4-FFF2-40B4-BE49-F238E27FC236}">
                <a16:creationId xmlns:a16="http://schemas.microsoft.com/office/drawing/2014/main" id="{3BC47F6C-D2DF-A0B0-4948-6B5D78DBA1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24743"/>
            <a:ext cx="9716589" cy="3843645"/>
          </a:xfrm>
        </p:spPr>
        <p:txBody>
          <a:bodyPr/>
          <a:lstStyle>
            <a:lvl1pPr>
              <a:buClr>
                <a:schemeClr val="accent6"/>
              </a:buClr>
              <a:defRPr sz="2400">
                <a:solidFill>
                  <a:schemeClr val="bg1"/>
                </a:solidFill>
              </a:defRPr>
            </a:lvl1pPr>
            <a:lvl2pPr>
              <a:buClr>
                <a:schemeClr val="accent6"/>
              </a:buClr>
              <a:defRPr sz="2200">
                <a:solidFill>
                  <a:schemeClr val="bg1"/>
                </a:solidFill>
              </a:defRPr>
            </a:lvl2pPr>
            <a:lvl3pPr>
              <a:buClr>
                <a:schemeClr val="accent6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6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6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9527865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5DD91A-522C-4964-BCF9-313C2CCF5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95525" y="2549525"/>
            <a:ext cx="5162550" cy="1555750"/>
          </a:xfrm>
        </p:spPr>
        <p:txBody>
          <a:bodyPr anchor="b">
            <a:normAutofit/>
          </a:bodyPr>
          <a:lstStyle>
            <a:lvl1pPr algn="ctr">
              <a:defRPr sz="36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D79D4C0-AA8A-45B0-85A5-1FD89F1DDE6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03038" y="2635960"/>
            <a:ext cx="131409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836436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5DD91A-522C-4964-BCF9-313C2CCF5DA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514724" y="663575"/>
            <a:ext cx="7762875" cy="1079500"/>
          </a:xfrm>
        </p:spPr>
        <p:txBody>
          <a:bodyPr anchor="ctr">
            <a:normAutofit/>
          </a:bodyPr>
          <a:lstStyle>
            <a:lvl1pPr algn="ctr">
              <a:defRPr sz="28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76472764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trada" type="blank">
  <p:cSld name="entrada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/>
          <p:nvPr/>
        </p:nvSpPr>
        <p:spPr>
          <a:xfrm>
            <a:off x="0" y="-17314"/>
            <a:ext cx="12192000" cy="68580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" name="Google Shape;17;p2"/>
          <p:cNvPicPr preferRelativeResize="0"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672059" y="2777043"/>
            <a:ext cx="4686308" cy="138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C63A0B1C-38C6-4A94-BC53-9378BD6F4196}"/>
              </a:ext>
            </a:extLst>
          </p:cNvPr>
          <p:cNvSpPr/>
          <p:nvPr/>
        </p:nvSpPr>
        <p:spPr>
          <a:xfrm>
            <a:off x="604699" y="5047662"/>
            <a:ext cx="1476000" cy="147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709FF01B-D296-4FC4-86C6-18C1AA1F0700}"/>
              </a:ext>
            </a:extLst>
          </p:cNvPr>
          <p:cNvSpPr>
            <a:spLocks noChangeAspect="1"/>
          </p:cNvSpPr>
          <p:nvPr/>
        </p:nvSpPr>
        <p:spPr>
          <a:xfrm>
            <a:off x="2087026" y="5059599"/>
            <a:ext cx="1476000" cy="1475999"/>
          </a:xfrm>
          <a:prstGeom prst="ellipse">
            <a:avLst/>
          </a:prstGeom>
          <a:solidFill>
            <a:srgbClr val="009B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iagrama de flujo: retraso 3">
            <a:extLst>
              <a:ext uri="{FF2B5EF4-FFF2-40B4-BE49-F238E27FC236}">
                <a16:creationId xmlns:a16="http://schemas.microsoft.com/office/drawing/2014/main" id="{F33AB0F3-5E83-4F73-B1B3-E7FFB7FAC1CF}"/>
              </a:ext>
            </a:extLst>
          </p:cNvPr>
          <p:cNvSpPr>
            <a:spLocks/>
          </p:cNvSpPr>
          <p:nvPr/>
        </p:nvSpPr>
        <p:spPr>
          <a:xfrm>
            <a:off x="604699" y="3568509"/>
            <a:ext cx="1476000" cy="1476000"/>
          </a:xfrm>
          <a:prstGeom prst="flowChartDelay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Círculo parcial 4">
            <a:extLst>
              <a:ext uri="{FF2B5EF4-FFF2-40B4-BE49-F238E27FC236}">
                <a16:creationId xmlns:a16="http://schemas.microsoft.com/office/drawing/2014/main" id="{E01F752C-EAF0-4FBF-B895-7C40EAE76E6B}"/>
              </a:ext>
            </a:extLst>
          </p:cNvPr>
          <p:cNvSpPr>
            <a:spLocks noChangeAspect="1"/>
          </p:cNvSpPr>
          <p:nvPr/>
        </p:nvSpPr>
        <p:spPr>
          <a:xfrm>
            <a:off x="2080320" y="3578476"/>
            <a:ext cx="2934000" cy="2934000"/>
          </a:xfrm>
          <a:prstGeom prst="pie">
            <a:avLst>
              <a:gd name="adj1" fmla="val 16194402"/>
              <a:gd name="adj2" fmla="val 695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7508BC26-9C42-409E-A296-12A08043B847}"/>
              </a:ext>
            </a:extLst>
          </p:cNvPr>
          <p:cNvSpPr/>
          <p:nvPr/>
        </p:nvSpPr>
        <p:spPr>
          <a:xfrm>
            <a:off x="2072388" y="3577936"/>
            <a:ext cx="1476000" cy="147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írculo parcial 5">
            <a:extLst>
              <a:ext uri="{FF2B5EF4-FFF2-40B4-BE49-F238E27FC236}">
                <a16:creationId xmlns:a16="http://schemas.microsoft.com/office/drawing/2014/main" id="{A6B1ED3D-FC35-4A2C-AEA0-527CA60D93D8}"/>
              </a:ext>
            </a:extLst>
          </p:cNvPr>
          <p:cNvSpPr>
            <a:spLocks noChangeAspect="1"/>
          </p:cNvSpPr>
          <p:nvPr/>
        </p:nvSpPr>
        <p:spPr>
          <a:xfrm rot="10800000">
            <a:off x="-821269" y="574219"/>
            <a:ext cx="2857435" cy="2995143"/>
          </a:xfrm>
          <a:prstGeom prst="pie">
            <a:avLst>
              <a:gd name="adj1" fmla="val 5387486"/>
              <a:gd name="adj2" fmla="val 16200000"/>
            </a:avLst>
          </a:prstGeom>
          <a:solidFill>
            <a:srgbClr val="009B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1EFD23FD-AE29-404D-8F53-1FD009AE807B}"/>
              </a:ext>
            </a:extLst>
          </p:cNvPr>
          <p:cNvGrpSpPr/>
          <p:nvPr/>
        </p:nvGrpSpPr>
        <p:grpSpPr>
          <a:xfrm>
            <a:off x="2087136" y="2123409"/>
            <a:ext cx="1448999" cy="1443249"/>
            <a:chOff x="2118675" y="2004020"/>
            <a:chExt cx="1448999" cy="1443249"/>
          </a:xfrm>
        </p:grpSpPr>
        <p:sp>
          <p:nvSpPr>
            <p:cNvPr id="7" name="Elipse 6">
              <a:extLst>
                <a:ext uri="{FF2B5EF4-FFF2-40B4-BE49-F238E27FC236}">
                  <a16:creationId xmlns:a16="http://schemas.microsoft.com/office/drawing/2014/main" id="{ECAC50A2-CB41-4C53-93C3-5260E20DE2E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47674" y="2004020"/>
              <a:ext cx="720000" cy="720000"/>
            </a:xfrm>
            <a:prstGeom prst="ellipse">
              <a:avLst/>
            </a:prstGeom>
            <a:solidFill>
              <a:srgbClr val="009B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Elipse 11">
              <a:extLst>
                <a:ext uri="{FF2B5EF4-FFF2-40B4-BE49-F238E27FC236}">
                  <a16:creationId xmlns:a16="http://schemas.microsoft.com/office/drawing/2014/main" id="{CE6D1487-82A4-4496-B087-91DD796DE7F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118675" y="2727269"/>
              <a:ext cx="720000" cy="720000"/>
            </a:xfrm>
            <a:prstGeom prst="ellipse">
              <a:avLst/>
            </a:prstGeom>
            <a:solidFill>
              <a:srgbClr val="009B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C95F40AB-463C-4C6E-915C-5D6DF55A451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47674" y="2727269"/>
              <a:ext cx="720000" cy="720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A7CDF41D-9C35-41E7-8E2B-2AA7C91BEC0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118675" y="2004020"/>
              <a:ext cx="720000" cy="720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ángulo 17">
            <a:extLst>
              <a:ext uri="{FF2B5EF4-FFF2-40B4-BE49-F238E27FC236}">
                <a16:creationId xmlns:a16="http://schemas.microsoft.com/office/drawing/2014/main" id="{03FA7743-AFB1-4869-99F7-BBBF6B5081B5}"/>
              </a:ext>
            </a:extLst>
          </p:cNvPr>
          <p:cNvSpPr/>
          <p:nvPr/>
        </p:nvSpPr>
        <p:spPr>
          <a:xfrm>
            <a:off x="3540368" y="5047662"/>
            <a:ext cx="1476000" cy="147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írculo parcial 18">
            <a:extLst>
              <a:ext uri="{FF2B5EF4-FFF2-40B4-BE49-F238E27FC236}">
                <a16:creationId xmlns:a16="http://schemas.microsoft.com/office/drawing/2014/main" id="{9EEB8DCE-7E2B-489A-B839-B10110611D97}"/>
              </a:ext>
            </a:extLst>
          </p:cNvPr>
          <p:cNvSpPr>
            <a:spLocks noChangeAspect="1"/>
          </p:cNvSpPr>
          <p:nvPr/>
        </p:nvSpPr>
        <p:spPr>
          <a:xfrm>
            <a:off x="3552087" y="5048742"/>
            <a:ext cx="2934000" cy="2934000"/>
          </a:xfrm>
          <a:prstGeom prst="pie">
            <a:avLst>
              <a:gd name="adj1" fmla="val 16202562"/>
              <a:gd name="adj2" fmla="val 16442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6943919"/>
      </p:ext>
    </p:extLst>
  </p:cSld>
  <p:clrMapOvr>
    <a:masterClrMapping/>
  </p:clrMapOvr>
  <p:hf hdr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Diapositiva de título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"/>
          <p:cNvPicPr preferRelativeResize="0"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853671" y="5579102"/>
            <a:ext cx="4484658" cy="8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sz="4800" b="1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 dirty="0"/>
          </a:p>
        </p:txBody>
      </p:sp>
      <p:sp>
        <p:nvSpPr>
          <p:cNvPr id="21" name="Google Shape;21;p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648585"/>
              </a:buClr>
              <a:buSzPts val="2400"/>
              <a:buNone/>
              <a:defRPr sz="2400" i="1">
                <a:solidFill>
                  <a:srgbClr val="648585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89462729"/>
      </p:ext>
    </p:extLst>
  </p:cSld>
  <p:clrMapOvr>
    <a:masterClrMapping/>
  </p:clrMapOvr>
  <p:hf hdr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userDrawn="1">
  <p:cSld name="Contenido con título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10275055" cy="679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 dirty="0"/>
              <a:t>Haga clic para modificar el estilo de título del patrón</a:t>
            </a:r>
            <a:endParaRPr dirty="0"/>
          </a:p>
        </p:txBody>
      </p:sp>
      <p:sp>
        <p:nvSpPr>
          <p:cNvPr id="26" name="Google Shape;26;p4"/>
          <p:cNvSpPr/>
          <p:nvPr/>
        </p:nvSpPr>
        <p:spPr>
          <a:xfrm>
            <a:off x="-44525" y="5717000"/>
            <a:ext cx="10127400" cy="9393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8753475" y="5717000"/>
            <a:ext cx="2266600" cy="9393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11020286" y="5716955"/>
            <a:ext cx="939300" cy="9393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970058A-F152-4A93-A50A-BC853F5A460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5217"/>
          <a:stretch/>
        </p:blipFill>
        <p:spPr>
          <a:xfrm>
            <a:off x="8929708" y="5954450"/>
            <a:ext cx="1856985" cy="464401"/>
          </a:xfrm>
          <a:prstGeom prst="rect">
            <a:avLst/>
          </a:prstGeom>
        </p:spPr>
      </p:pic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31" name="Google Shape;31;p4"/>
          <p:cNvSpPr/>
          <p:nvPr/>
        </p:nvSpPr>
        <p:spPr>
          <a:xfrm>
            <a:off x="237434" y="6013093"/>
            <a:ext cx="56808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6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Gestión de Servicios TICS</a:t>
            </a:r>
            <a:endParaRPr sz="16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A2396329-D7D9-4B93-942B-A183A1B92BE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74783"/>
          <a:stretch/>
        </p:blipFill>
        <p:spPr>
          <a:xfrm>
            <a:off x="7975126" y="5954450"/>
            <a:ext cx="626177" cy="464401"/>
          </a:xfrm>
          <a:prstGeom prst="rect">
            <a:avLst/>
          </a:prstGeom>
        </p:spPr>
      </p:pic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77500143-5951-9FD7-D0C0-C59A48FD69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9788" y="1432435"/>
            <a:ext cx="10275055" cy="3843645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7894443"/>
      </p:ext>
    </p:extLst>
  </p:cSld>
  <p:clrMapOvr>
    <a:masterClrMapping/>
  </p:clrMapOvr>
  <p:hf hdr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Dos objetos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330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330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5" name="Google Shape;45;p6"/>
          <p:cNvSpPr/>
          <p:nvPr/>
        </p:nvSpPr>
        <p:spPr>
          <a:xfrm>
            <a:off x="-44525" y="5717000"/>
            <a:ext cx="10127400" cy="93930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6"/>
          <p:cNvSpPr/>
          <p:nvPr/>
        </p:nvSpPr>
        <p:spPr>
          <a:xfrm>
            <a:off x="8761675" y="5717000"/>
            <a:ext cx="2258400" cy="9393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6"/>
          <p:cNvSpPr/>
          <p:nvPr/>
        </p:nvSpPr>
        <p:spPr>
          <a:xfrm>
            <a:off x="11020286" y="5716955"/>
            <a:ext cx="939300" cy="939300"/>
          </a:xfrm>
          <a:prstGeom prst="ellipse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" name="Google Shape;48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192075" y="5955061"/>
            <a:ext cx="1397600" cy="463175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6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50" name="Google Shape;50;p6"/>
          <p:cNvSpPr/>
          <p:nvPr/>
        </p:nvSpPr>
        <p:spPr>
          <a:xfrm>
            <a:off x="237434" y="6013093"/>
            <a:ext cx="56808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Título de la presentación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90792024"/>
      </p:ext>
    </p:extLst>
  </p:cSld>
  <p:clrMapOvr>
    <a:masterClrMapping/>
  </p:clrMapOvr>
  <p:hf hdr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Imagen con título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53" name="Google Shape;53;p7"/>
          <p:cNvSpPr>
            <a:spLocks noGrp="1"/>
          </p:cNvSpPr>
          <p:nvPr>
            <p:ph type="pic" idx="2"/>
          </p:nvPr>
        </p:nvSpPr>
        <p:spPr>
          <a:xfrm>
            <a:off x="5183200" y="987425"/>
            <a:ext cx="6172200" cy="3204300"/>
          </a:xfrm>
          <a:prstGeom prst="rect">
            <a:avLst/>
          </a:prstGeom>
          <a:noFill/>
          <a:ln>
            <a:noFill/>
          </a:ln>
        </p:spPr>
      </p:sp>
      <p:sp>
        <p:nvSpPr>
          <p:cNvPr id="54" name="Google Shape;54;p7"/>
          <p:cNvSpPr txBox="1">
            <a:spLocks noGrp="1"/>
          </p:cNvSpPr>
          <p:nvPr>
            <p:ph type="body" idx="1"/>
          </p:nvPr>
        </p:nvSpPr>
        <p:spPr>
          <a:xfrm>
            <a:off x="839800" y="2057400"/>
            <a:ext cx="3932100" cy="23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5" name="Google Shape;55;p7"/>
          <p:cNvSpPr/>
          <p:nvPr/>
        </p:nvSpPr>
        <p:spPr>
          <a:xfrm>
            <a:off x="-44525" y="5717000"/>
            <a:ext cx="10127400" cy="93930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7"/>
          <p:cNvSpPr/>
          <p:nvPr/>
        </p:nvSpPr>
        <p:spPr>
          <a:xfrm>
            <a:off x="8761675" y="5717000"/>
            <a:ext cx="2258400" cy="9393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7"/>
          <p:cNvSpPr/>
          <p:nvPr/>
        </p:nvSpPr>
        <p:spPr>
          <a:xfrm>
            <a:off x="11020286" y="5716955"/>
            <a:ext cx="939300" cy="939300"/>
          </a:xfrm>
          <a:prstGeom prst="ellipse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192075" y="5955061"/>
            <a:ext cx="1397600" cy="463175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7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60" name="Google Shape;60;p7"/>
          <p:cNvSpPr/>
          <p:nvPr/>
        </p:nvSpPr>
        <p:spPr>
          <a:xfrm>
            <a:off x="237434" y="6013093"/>
            <a:ext cx="56808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Título de la presentación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71390061"/>
      </p:ext>
    </p:extLst>
  </p:cSld>
  <p:clrMapOvr>
    <a:masterClrMapping/>
  </p:clrMapOvr>
  <p:hf hdr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Título y texto vertical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63" name="Google Shape;63;p8"/>
          <p:cNvSpPr txBox="1">
            <a:spLocks noGrp="1"/>
          </p:cNvSpPr>
          <p:nvPr>
            <p:ph type="body" idx="1"/>
          </p:nvPr>
        </p:nvSpPr>
        <p:spPr>
          <a:xfrm rot="5400000">
            <a:off x="4161556" y="-1497730"/>
            <a:ext cx="386888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4" name="Google Shape;64;p8"/>
          <p:cNvSpPr/>
          <p:nvPr/>
        </p:nvSpPr>
        <p:spPr>
          <a:xfrm>
            <a:off x="-44525" y="5717000"/>
            <a:ext cx="10127400" cy="93930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8"/>
          <p:cNvSpPr/>
          <p:nvPr/>
        </p:nvSpPr>
        <p:spPr>
          <a:xfrm>
            <a:off x="8761675" y="5717000"/>
            <a:ext cx="2258400" cy="9393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8"/>
          <p:cNvSpPr/>
          <p:nvPr/>
        </p:nvSpPr>
        <p:spPr>
          <a:xfrm>
            <a:off x="11020286" y="5716955"/>
            <a:ext cx="939300" cy="939300"/>
          </a:xfrm>
          <a:prstGeom prst="ellipse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7" name="Google Shape;67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192075" y="5955061"/>
            <a:ext cx="1397600" cy="463175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8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69" name="Google Shape;69;p8"/>
          <p:cNvSpPr/>
          <p:nvPr/>
        </p:nvSpPr>
        <p:spPr>
          <a:xfrm>
            <a:off x="237434" y="6013093"/>
            <a:ext cx="56808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Título de la presentación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1656545"/>
      </p:ext>
    </p:extLst>
  </p:cSld>
  <p:clrMapOvr>
    <a:masterClrMapping/>
  </p:clrMapOvr>
  <p:hf hdr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Título vertical y texto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9"/>
          <p:cNvSpPr txBox="1">
            <a:spLocks noGrp="1"/>
          </p:cNvSpPr>
          <p:nvPr>
            <p:ph type="title"/>
          </p:nvPr>
        </p:nvSpPr>
        <p:spPr>
          <a:xfrm rot="5400000">
            <a:off x="7363614" y="1726412"/>
            <a:ext cx="5351473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72" name="Google Shape;72;p9"/>
          <p:cNvSpPr txBox="1">
            <a:spLocks noGrp="1"/>
          </p:cNvSpPr>
          <p:nvPr>
            <p:ph type="body" idx="1"/>
          </p:nvPr>
        </p:nvSpPr>
        <p:spPr>
          <a:xfrm rot="5400000">
            <a:off x="2029614" y="-826288"/>
            <a:ext cx="5351473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3" name="Google Shape;73;p9"/>
          <p:cNvSpPr/>
          <p:nvPr/>
        </p:nvSpPr>
        <p:spPr>
          <a:xfrm>
            <a:off x="-44525" y="5717000"/>
            <a:ext cx="10127400" cy="93930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9"/>
          <p:cNvSpPr/>
          <p:nvPr/>
        </p:nvSpPr>
        <p:spPr>
          <a:xfrm>
            <a:off x="8761675" y="5717000"/>
            <a:ext cx="2258400" cy="9393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9"/>
          <p:cNvSpPr/>
          <p:nvPr/>
        </p:nvSpPr>
        <p:spPr>
          <a:xfrm>
            <a:off x="11020286" y="5716955"/>
            <a:ext cx="939300" cy="939300"/>
          </a:xfrm>
          <a:prstGeom prst="ellipse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192075" y="5955061"/>
            <a:ext cx="1397600" cy="46317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78" name="Google Shape;78;p9"/>
          <p:cNvSpPr/>
          <p:nvPr/>
        </p:nvSpPr>
        <p:spPr>
          <a:xfrm>
            <a:off x="237434" y="6013093"/>
            <a:ext cx="56808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Título de la presentación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19615394"/>
      </p:ext>
    </p:extLst>
  </p:cSld>
  <p:clrMapOvr>
    <a:masterClrMapping/>
  </p:clrMapOvr>
  <p:hf hdr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 1" type="obj">
  <p:cSld name="Título y objetos 1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81" name="Google Shape;81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2" name="Google Shape;82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0C8C20A4-1372-4EF1-AE37-02318244F0B2}" type="datetime6">
              <a:rPr lang="es-PE" smtClean="0"/>
              <a:t>Abril de 2026</a:t>
            </a:fld>
            <a:endParaRPr lang="es-PE" dirty="0"/>
          </a:p>
        </p:txBody>
      </p:sp>
      <p:sp>
        <p:nvSpPr>
          <p:cNvPr id="83" name="Google Shape;83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Nombre de Curso</a:t>
            </a:r>
            <a:endParaRPr lang="es-PE" dirty="0"/>
          </a:p>
        </p:txBody>
      </p:sp>
      <p:sp>
        <p:nvSpPr>
          <p:cNvPr id="84" name="Google Shape;84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912729578"/>
      </p:ext>
    </p:extLst>
  </p:cSld>
  <p:clrMapOvr>
    <a:masterClrMapping/>
  </p:clrMapOvr>
  <p:hf hdr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Comparación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1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87" name="Google Shape;87;p11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8" name="Google Shape;88;p11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9" name="Google Shape;89;p1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0" name="Google Shape;90;p1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1" name="Google Shape;9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0C8C20A4-1372-4EF1-AE37-02318244F0B2}" type="datetime6">
              <a:rPr lang="es-PE" smtClean="0"/>
              <a:t>Abril de 2026</a:t>
            </a:fld>
            <a:endParaRPr lang="es-PE" dirty="0"/>
          </a:p>
        </p:txBody>
      </p:sp>
      <p:sp>
        <p:nvSpPr>
          <p:cNvPr id="92" name="Google Shape;9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Nombre de Curso</a:t>
            </a:r>
            <a:endParaRPr lang="es-PE" dirty="0"/>
          </a:p>
        </p:txBody>
      </p:sp>
      <p:sp>
        <p:nvSpPr>
          <p:cNvPr id="93" name="Google Shape;9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364929326"/>
      </p:ext>
    </p:extLst>
  </p:cSld>
  <p:clrMapOvr>
    <a:masterClrMapping/>
  </p:clrMapOvr>
  <p:hf hdr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A10338-E359-4104-958A-07CBECCB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79024" y="326687"/>
            <a:ext cx="1495425" cy="365125"/>
          </a:xfrm>
        </p:spPr>
        <p:txBody>
          <a:bodyPr/>
          <a:lstStyle/>
          <a:p>
            <a:fld id="{CFF21E75-C2F6-4021-B002-DFF0EB1C555C}" type="datetime6">
              <a:rPr lang="es-PE" smtClean="0"/>
              <a:t>Abril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78FF56-2834-4191-AFE2-248F69DA3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22993" y="326688"/>
            <a:ext cx="4114800" cy="365125"/>
          </a:xfrm>
        </p:spPr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E9CFF7E-0186-9C3C-3611-452A2DDD1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678D8027-D79A-9215-CD71-ED709E6E6D29}"/>
              </a:ext>
            </a:extLst>
          </p:cNvPr>
          <p:cNvGrpSpPr/>
          <p:nvPr userDrawn="1"/>
        </p:nvGrpSpPr>
        <p:grpSpPr>
          <a:xfrm>
            <a:off x="2054677" y="1061023"/>
            <a:ext cx="8380368" cy="826560"/>
            <a:chOff x="525780" y="30308"/>
            <a:chExt cx="7360920" cy="826560"/>
          </a:xfrm>
        </p:grpSpPr>
        <p:sp>
          <p:nvSpPr>
            <p:cNvPr id="9" name="Rectángulo redondeado 10">
              <a:extLst>
                <a:ext uri="{FF2B5EF4-FFF2-40B4-BE49-F238E27FC236}">
                  <a16:creationId xmlns:a16="http://schemas.microsoft.com/office/drawing/2014/main" id="{5606DA9B-0E94-3A3B-E636-525E5B21DFA1}"/>
                </a:ext>
              </a:extLst>
            </p:cNvPr>
            <p:cNvSpPr/>
            <p:nvPr/>
          </p:nvSpPr>
          <p:spPr>
            <a:xfrm>
              <a:off x="525780" y="30308"/>
              <a:ext cx="7360920" cy="82656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PE"/>
            </a:p>
          </p:txBody>
        </p:sp>
        <p:sp>
          <p:nvSpPr>
            <p:cNvPr id="10" name="CuadroTexto 11">
              <a:extLst>
                <a:ext uri="{FF2B5EF4-FFF2-40B4-BE49-F238E27FC236}">
                  <a16:creationId xmlns:a16="http://schemas.microsoft.com/office/drawing/2014/main" id="{F6B0EDBA-571B-DA14-0704-7AAC68D5B3D2}"/>
                </a:ext>
              </a:extLst>
            </p:cNvPr>
            <p:cNvSpPr txBox="1"/>
            <p:nvPr/>
          </p:nvSpPr>
          <p:spPr>
            <a:xfrm>
              <a:off x="566129" y="70657"/>
              <a:ext cx="7280222" cy="74586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78225" tIns="0" rIns="278225" bIns="0" numCol="1" spcCol="1270" anchor="ctr" anchorCtr="0">
              <a:noAutofit/>
            </a:bodyPr>
            <a:lstStyle/>
            <a:p>
              <a:pPr marL="0" lvl="0" indent="0" algn="l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s-PE" sz="2800" kern="120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94607FC2-94B4-4F66-9C36-9A4A2A84EF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66949" y="1167430"/>
            <a:ext cx="7962901" cy="600075"/>
          </a:xfrm>
        </p:spPr>
        <p:txBody>
          <a:bodyPr>
            <a:noAutofit/>
          </a:bodyPr>
          <a:lstStyle>
            <a:lvl1pPr>
              <a:defRPr sz="28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Temas o </a:t>
            </a:r>
            <a:r>
              <a:rPr lang="en-US" dirty="0" err="1"/>
              <a:t>Subtemas</a:t>
            </a:r>
            <a:endParaRPr lang="es-PE" dirty="0"/>
          </a:p>
        </p:txBody>
      </p:sp>
      <p:sp>
        <p:nvSpPr>
          <p:cNvPr id="11" name="Marcador de contenido 2">
            <a:extLst>
              <a:ext uri="{FF2B5EF4-FFF2-40B4-BE49-F238E27FC236}">
                <a16:creationId xmlns:a16="http://schemas.microsoft.com/office/drawing/2014/main" id="{3BC47F6C-D2DF-A0B0-4948-6B5D78DBA1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24743"/>
            <a:ext cx="9716589" cy="3843645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61266195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5722D55-BD67-C2D0-8DB9-2255495858E9}"/>
              </a:ext>
            </a:extLst>
          </p:cNvPr>
          <p:cNvSpPr/>
          <p:nvPr userDrawn="1"/>
        </p:nvSpPr>
        <p:spPr>
          <a:xfrm>
            <a:off x="-1" y="1888177"/>
            <a:ext cx="8737793" cy="2244436"/>
          </a:xfrm>
          <a:prstGeom prst="rect">
            <a:avLst/>
          </a:prstGeom>
          <a:solidFill>
            <a:schemeClr val="bg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4607FC2-94B4-4F66-9C36-9A4A2A84EF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49" y="2162175"/>
            <a:ext cx="8067675" cy="1695450"/>
          </a:xfrm>
        </p:spPr>
        <p:txBody>
          <a:bodyPr>
            <a:noAutofit/>
          </a:bodyPr>
          <a:lstStyle>
            <a:lvl1pPr>
              <a:defRPr sz="60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s-ES" dirty="0"/>
              <a:t>Nueva Sección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8422729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24.xml"/><Relationship Id="rId9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AE6F4FD-2238-AD4E-867E-E58E2DFA1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65212"/>
            <a:ext cx="9716589" cy="6852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60C6D7E-5BBC-B741-BB4C-3A3ED127A9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024743"/>
            <a:ext cx="9716589" cy="38436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61EBB91-5D92-434A-AE73-A48940F062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82200" y="322262"/>
            <a:ext cx="1638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fld id="{616E3388-8A49-4C51-A106-E2F4CF3977CF}" type="datetime6">
              <a:rPr lang="es-PE" smtClean="0"/>
              <a:t>Abril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7B46DE3-1218-D14C-BF4E-2E2BD84DBE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26428" y="32226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74F71EA6-14AA-5205-13FE-35911ED08C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17102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4" r:id="rId2"/>
    <p:sldLayoutId id="2147483674" r:id="rId3"/>
    <p:sldLayoutId id="2147483650" r:id="rId4"/>
    <p:sldLayoutId id="2147483652" r:id="rId5"/>
    <p:sldLayoutId id="2147483653" r:id="rId6"/>
    <p:sldLayoutId id="2147483656" r:id="rId7"/>
    <p:sldLayoutId id="2147483657" r:id="rId8"/>
    <p:sldLayoutId id="2147483658" r:id="rId9"/>
    <p:sldLayoutId id="2147483659" r:id="rId1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Tx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90000"/>
        <a:buFontTx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70000"/>
        <a:buFontTx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70000"/>
        <a:buFontTx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50000"/>
        <a:buFontTx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61EBB91-5D92-434A-AE73-A48940F062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82200" y="324230"/>
            <a:ext cx="16192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fld id="{0C9694A8-123C-4838-A10C-DF4D75E09A89}" type="datetime6">
              <a:rPr lang="es-PE" smtClean="0"/>
              <a:t>Abril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7B46DE3-1218-D14C-BF4E-2E2BD84DBE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23680" y="32331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10" name="Marcador de título 1">
            <a:extLst>
              <a:ext uri="{FF2B5EF4-FFF2-40B4-BE49-F238E27FC236}">
                <a16:creationId xmlns:a16="http://schemas.microsoft.com/office/drawing/2014/main" id="{144F2274-D960-4C0B-9748-88EE3F0DB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182069"/>
            <a:ext cx="10343606" cy="6852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11" name="Marcador de texto 2">
            <a:extLst>
              <a:ext uri="{FF2B5EF4-FFF2-40B4-BE49-F238E27FC236}">
                <a16:creationId xmlns:a16="http://schemas.microsoft.com/office/drawing/2014/main" id="{9D6FEB95-3036-417E-9C50-CD57ED01FA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024744"/>
            <a:ext cx="10343606" cy="32918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1DCF4E30-8222-0A8A-8EB6-ACF70BC0FF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77949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75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Tx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90000"/>
        <a:buFontTx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70000"/>
        <a:buFontTx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70000"/>
        <a:buFontTx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50000"/>
        <a:buFontTx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0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3B067A9-18EE-41F0-B696-9386E1AF8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45029"/>
            <a:ext cx="10515600" cy="6456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067C12A-CBBE-4AB2-8C8A-B75DDE302D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986189"/>
            <a:ext cx="10515600" cy="32912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6C6ED39-B0EA-42B3-A3C3-7CA769E5EA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82200" y="314064"/>
            <a:ext cx="1524000" cy="3829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fld id="{0C8C20A4-1372-4EF1-AE37-02318244F0B2}" type="datetime6">
              <a:rPr lang="es-PE" smtClean="0"/>
              <a:t>Abril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6E1549C-7307-410E-AA79-42C4BDD3FD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22993" y="322989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63B87C3E-7B33-EE8E-E722-04A7DDD4F5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917252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663" r:id="rId3"/>
    <p:sldLayoutId id="2147483677" r:id="rId4"/>
    <p:sldLayoutId id="2147483676" r:id="rId5"/>
    <p:sldLayoutId id="2147483678" r:id="rId6"/>
    <p:sldLayoutId id="2147483661" r:id="rId7"/>
    <p:sldLayoutId id="2147483679" r:id="rId8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Tx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90000"/>
        <a:buFontTx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70000"/>
        <a:buFontTx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70000"/>
        <a:buFontTx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50000"/>
        <a:buFontTx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defRPr sz="4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6"/>
            <a:ext cx="10515600" cy="3868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12" name="Google Shape;12;p1"/>
          <p:cNvSpPr txBox="1">
            <a:spLocks noGrp="1"/>
          </p:cNvSpPr>
          <p:nvPr>
            <p:ph type="ftr" idx="11"/>
          </p:nvPr>
        </p:nvSpPr>
        <p:spPr>
          <a:xfrm>
            <a:off x="237435" y="6013034"/>
            <a:ext cx="6070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Nombre de Curso</a:t>
            </a:r>
            <a:endParaRPr lang="es-PE" dirty="0"/>
          </a:p>
        </p:txBody>
      </p:sp>
      <p:sp>
        <p:nvSpPr>
          <p:cNvPr id="13" name="Google Shape;13;p1"/>
          <p:cNvSpPr txBox="1">
            <a:spLocks noGrp="1"/>
          </p:cNvSpPr>
          <p:nvPr>
            <p:ph type="sldNum" idx="12"/>
          </p:nvPr>
        </p:nvSpPr>
        <p:spPr>
          <a:xfrm>
            <a:off x="11194770" y="6004476"/>
            <a:ext cx="62469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30091891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1" r:id="rId10"/>
    <p:sldLayoutId id="2147483692" r:id="rId11"/>
  </p:sldLayoutIdLst>
  <p:hf hdr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brawni10/clase4gtics-master.git" TargetMode="External"/><Relationship Id="rId1" Type="http://schemas.openxmlformats.org/officeDocument/2006/relationships/slideLayout" Target="../slideLayouts/slideLayout3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1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s3.amazonaws.com/baeldung.com/Persistence+with+Spring.p" TargetMode="External"/><Relationship Id="rId2" Type="http://schemas.openxmlformats.org/officeDocument/2006/relationships/hyperlink" Target="https://www.baeldung.com/jpa-mapping-single-entity-to-multiple-tables" TargetMode="External"/><Relationship Id="rId1" Type="http://schemas.openxmlformats.org/officeDocument/2006/relationships/slideLayout" Target="../slideLayouts/slideLayout31.xml"/><Relationship Id="rId4" Type="http://schemas.openxmlformats.org/officeDocument/2006/relationships/hyperlink" Target="https://s3.amazonaws.com/baeldung.com/Persistence+with+Spring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40866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445677-B79B-77C1-6C6D-03AECA013DE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/>
              <a:t>Spring Data JPA Múltiples Tablas</a:t>
            </a:r>
            <a:endParaRPr lang="es-PE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FAD7B93-477D-F6DE-DF3B-0ADDB992F2F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>
                <a:hlinkClick r:id="rId2"/>
              </a:rPr>
              <a:t>https://github.com/brawni10/clase4gtics-master.git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9757660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FB8868-6EC2-F81F-BA70-B0C3AF25C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Relaciones entre tablas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3EAB2FE9-A5D1-E257-9BA9-4D591D50FF5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3</a:t>
            </a:fld>
            <a:endParaRPr lang="es-PE"/>
          </a:p>
        </p:txBody>
      </p:sp>
      <p:sp>
        <p:nvSpPr>
          <p:cNvPr id="5" name="Marcador de contenido 5">
            <a:extLst>
              <a:ext uri="{FF2B5EF4-FFF2-40B4-BE49-F238E27FC236}">
                <a16:creationId xmlns:a16="http://schemas.microsoft.com/office/drawing/2014/main" id="{E53E378B-89C1-B8FC-9130-F5A669B159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2717"/>
            <a:ext cx="3568337" cy="3843645"/>
          </a:xfrm>
        </p:spPr>
        <p:txBody>
          <a:bodyPr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dirty="0"/>
              <a:t>Para que Spring Data JPA pueda realizar las consultas entre tablas por nosotros, se deben realizar unas configuraciones previas a las </a:t>
            </a:r>
            <a:r>
              <a:rPr lang="es-ES" sz="2000" b="1" dirty="0"/>
              <a:t>entidades </a:t>
            </a:r>
            <a:r>
              <a:rPr lang="es-ES" sz="2000" dirty="0"/>
              <a:t>y a los </a:t>
            </a:r>
            <a:r>
              <a:rPr lang="es-ES" sz="2000" b="1" dirty="0"/>
              <a:t>repositorios</a:t>
            </a:r>
            <a:r>
              <a:rPr lang="es-ES" sz="2000" dirty="0"/>
              <a:t>.</a:t>
            </a: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s-ES" sz="2000" dirty="0"/>
              <a:t>Para los ejemplos se usarán estas tres tablas de </a:t>
            </a:r>
            <a:r>
              <a:rPr lang="es-ES" sz="2000" dirty="0" err="1"/>
              <a:t>Northwind</a:t>
            </a:r>
            <a:r>
              <a:rPr lang="es-ES" sz="2000" dirty="0"/>
              <a:t>:</a:t>
            </a:r>
          </a:p>
        </p:txBody>
      </p:sp>
      <p:grpSp>
        <p:nvGrpSpPr>
          <p:cNvPr id="6" name="Google Shape;88;p16">
            <a:extLst>
              <a:ext uri="{FF2B5EF4-FFF2-40B4-BE49-F238E27FC236}">
                <a16:creationId xmlns:a16="http://schemas.microsoft.com/office/drawing/2014/main" id="{D6E91F34-54D2-FC2D-A333-7E16A5A86259}"/>
              </a:ext>
            </a:extLst>
          </p:cNvPr>
          <p:cNvGrpSpPr/>
          <p:nvPr/>
        </p:nvGrpSpPr>
        <p:grpSpPr>
          <a:xfrm>
            <a:off x="4406537" y="1925863"/>
            <a:ext cx="6858093" cy="2757351"/>
            <a:chOff x="541270" y="2353054"/>
            <a:chExt cx="6853210" cy="3007220"/>
          </a:xfrm>
        </p:grpSpPr>
        <p:pic>
          <p:nvPicPr>
            <p:cNvPr id="7" name="Google Shape;89;p16">
              <a:extLst>
                <a:ext uri="{FF2B5EF4-FFF2-40B4-BE49-F238E27FC236}">
                  <a16:creationId xmlns:a16="http://schemas.microsoft.com/office/drawing/2014/main" id="{2528B08E-1370-2B68-B951-62287B261A53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 l="22791" t="63025"/>
            <a:stretch/>
          </p:blipFill>
          <p:spPr>
            <a:xfrm>
              <a:off x="541270" y="2353054"/>
              <a:ext cx="6853210" cy="300722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" name="Google Shape;90;p16">
              <a:extLst>
                <a:ext uri="{FF2B5EF4-FFF2-40B4-BE49-F238E27FC236}">
                  <a16:creationId xmlns:a16="http://schemas.microsoft.com/office/drawing/2014/main" id="{00F5C202-D9AD-17FE-BF77-CBE6116DC202}"/>
                </a:ext>
              </a:extLst>
            </p:cNvPr>
            <p:cNvSpPr/>
            <p:nvPr/>
          </p:nvSpPr>
          <p:spPr>
            <a:xfrm>
              <a:off x="745070" y="2353054"/>
              <a:ext cx="2567700" cy="141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756781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CACC78-6311-7D82-FDA3-73B578046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Entidades, repositorios y controladores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AC645AA9-EA81-37FB-71D4-B33E12ACB3E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4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E48ABE4-5498-B7F2-5FA9-19327F9513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buNone/>
            </a:pPr>
            <a:r>
              <a:rPr lang="es-419" sz="1800" dirty="0"/>
              <a:t>En el repositorio del proyecto base encontrará las siguientes entidades, repositorios y controladores:</a:t>
            </a:r>
          </a:p>
          <a:p>
            <a:pPr lvl="0" indent="-342900">
              <a:spcBef>
                <a:spcPts val="1600"/>
              </a:spcBef>
              <a:buSzPts val="1800"/>
              <a:buChar char="●"/>
            </a:pPr>
            <a:r>
              <a:rPr lang="es-419" sz="1800" dirty="0" err="1"/>
              <a:t>package</a:t>
            </a:r>
            <a:r>
              <a:rPr lang="es-419" sz="1800" dirty="0"/>
              <a:t> </a:t>
            </a:r>
            <a:r>
              <a:rPr lang="es-419" sz="1800" b="1" dirty="0" err="1"/>
              <a:t>entity</a:t>
            </a:r>
            <a:r>
              <a:rPr lang="es-419" sz="1800" dirty="0"/>
              <a:t>:</a:t>
            </a:r>
          </a:p>
          <a:p>
            <a:pPr lvl="1" indent="-317500">
              <a:spcBef>
                <a:spcPts val="0"/>
              </a:spcBef>
              <a:buSzPts val="1400"/>
              <a:buChar char="○"/>
            </a:pPr>
            <a:r>
              <a:rPr lang="es-419" sz="1800" dirty="0" err="1"/>
              <a:t>Supplier</a:t>
            </a:r>
            <a:endParaRPr lang="es-419" sz="1800" dirty="0"/>
          </a:p>
          <a:p>
            <a:pPr lvl="1" indent="-317500">
              <a:spcBef>
                <a:spcPts val="0"/>
              </a:spcBef>
              <a:buSzPts val="1400"/>
              <a:buChar char="○"/>
            </a:pPr>
            <a:r>
              <a:rPr lang="es-419" sz="1800" dirty="0" err="1"/>
              <a:t>Category</a:t>
            </a:r>
            <a:endParaRPr lang="es-419" sz="1800" dirty="0"/>
          </a:p>
          <a:p>
            <a:pPr lvl="1" indent="-317500">
              <a:spcBef>
                <a:spcPts val="0"/>
              </a:spcBef>
              <a:buSzPts val="1400"/>
              <a:buChar char="○"/>
            </a:pPr>
            <a:r>
              <a:rPr lang="es-419" sz="1800" dirty="0" err="1"/>
              <a:t>Product</a:t>
            </a:r>
            <a:endParaRPr lang="es-419" sz="1800" dirty="0"/>
          </a:p>
          <a:p>
            <a:pPr lvl="0" indent="-342900">
              <a:buSzPts val="1800"/>
              <a:buChar char="●"/>
            </a:pPr>
            <a:r>
              <a:rPr lang="es-419" sz="1800" dirty="0" err="1"/>
              <a:t>package</a:t>
            </a:r>
            <a:r>
              <a:rPr lang="es-419" sz="1800" dirty="0"/>
              <a:t> </a:t>
            </a:r>
            <a:r>
              <a:rPr lang="es-419" sz="1800" b="1" dirty="0" err="1"/>
              <a:t>repository</a:t>
            </a:r>
            <a:r>
              <a:rPr lang="es-419" sz="1800" dirty="0"/>
              <a:t>:</a:t>
            </a:r>
          </a:p>
          <a:p>
            <a:pPr lvl="1" indent="-317500">
              <a:spcBef>
                <a:spcPts val="0"/>
              </a:spcBef>
              <a:buSzPts val="1400"/>
              <a:buChar char="○"/>
            </a:pPr>
            <a:r>
              <a:rPr lang="es-419" sz="1800" dirty="0" err="1"/>
              <a:t>SupplierRepository</a:t>
            </a:r>
            <a:endParaRPr lang="es-419" sz="1800" dirty="0"/>
          </a:p>
          <a:p>
            <a:pPr lvl="1" indent="-317500">
              <a:spcBef>
                <a:spcPts val="0"/>
              </a:spcBef>
              <a:buSzPts val="1400"/>
              <a:buChar char="○"/>
            </a:pPr>
            <a:r>
              <a:rPr lang="es-419" sz="1800" dirty="0" err="1"/>
              <a:t>CategoryRepository</a:t>
            </a:r>
            <a:endParaRPr lang="es-419" sz="1800" dirty="0"/>
          </a:p>
          <a:p>
            <a:pPr lvl="1" indent="-317500">
              <a:spcBef>
                <a:spcPts val="0"/>
              </a:spcBef>
              <a:buSzPts val="1400"/>
              <a:buChar char="○"/>
            </a:pPr>
            <a:r>
              <a:rPr lang="es-419" sz="1800" dirty="0" err="1"/>
              <a:t>ProductRepository</a:t>
            </a:r>
            <a:endParaRPr lang="es-419" sz="1800" dirty="0"/>
          </a:p>
          <a:p>
            <a:pPr lvl="0" indent="-342900">
              <a:buSzPts val="1800"/>
              <a:buChar char="●"/>
            </a:pPr>
            <a:r>
              <a:rPr lang="es-419" sz="1800" dirty="0" err="1"/>
              <a:t>package</a:t>
            </a:r>
            <a:r>
              <a:rPr lang="es-419" sz="1800" dirty="0"/>
              <a:t> </a:t>
            </a:r>
            <a:r>
              <a:rPr lang="es-419" sz="1800" b="1" dirty="0" err="1"/>
              <a:t>controller</a:t>
            </a:r>
            <a:r>
              <a:rPr lang="es-419" sz="1800" dirty="0"/>
              <a:t>:</a:t>
            </a:r>
          </a:p>
          <a:p>
            <a:pPr lvl="1" indent="-317500">
              <a:spcBef>
                <a:spcPts val="0"/>
              </a:spcBef>
              <a:buSzPts val="1400"/>
              <a:buChar char="○"/>
            </a:pPr>
            <a:r>
              <a:rPr lang="es-419" sz="1800" dirty="0" err="1"/>
              <a:t>ProductController</a:t>
            </a:r>
            <a:endParaRPr lang="es-419" sz="1400" dirty="0"/>
          </a:p>
          <a:p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8711936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45F6B2-6FE5-370E-EA81-0300F2CAC4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DB05C0-C06A-D57B-1F8D-F4BF1D258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Relación </a:t>
            </a:r>
            <a:r>
              <a:rPr lang="es-ES" dirty="0" err="1"/>
              <a:t>Product-Category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560F32B9-6B31-00C7-E0F9-DA161488B97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5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6CDF7EE-573A-5446-B994-3309426C0B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s-ES" sz="1600" dirty="0"/>
              <a:t>JPA tiene 4 anotaciones para manejar </a:t>
            </a:r>
          </a:p>
          <a:p>
            <a:pPr marL="0" lvl="0" indent="0">
              <a:spcBef>
                <a:spcPts val="0"/>
              </a:spcBef>
              <a:buNone/>
            </a:pPr>
            <a:r>
              <a:rPr lang="es-ES" sz="1600" dirty="0"/>
              <a:t>las relaciones:</a:t>
            </a:r>
          </a:p>
          <a:p>
            <a:pPr lvl="0" indent="-342900">
              <a:spcBef>
                <a:spcPts val="0"/>
              </a:spcBef>
              <a:buSzPts val="1800"/>
              <a:buChar char="●"/>
            </a:pPr>
            <a:r>
              <a:rPr lang="es-ES" sz="1600" b="1" dirty="0"/>
              <a:t>@OneToMany</a:t>
            </a:r>
          </a:p>
          <a:p>
            <a:pPr lvl="0" indent="-342900">
              <a:spcBef>
                <a:spcPts val="0"/>
              </a:spcBef>
              <a:buSzPts val="1800"/>
              <a:buChar char="●"/>
            </a:pPr>
            <a:r>
              <a:rPr lang="es-ES" sz="1600" b="1" dirty="0"/>
              <a:t>@OneToOne</a:t>
            </a:r>
          </a:p>
          <a:p>
            <a:pPr lvl="0" indent="-342900">
              <a:spcBef>
                <a:spcPts val="0"/>
              </a:spcBef>
              <a:buSzPts val="1800"/>
              <a:buChar char="●"/>
            </a:pPr>
            <a:r>
              <a:rPr lang="es-ES" sz="1600" b="1" dirty="0"/>
              <a:t>@ManyToOne</a:t>
            </a:r>
          </a:p>
          <a:p>
            <a:pPr lvl="0" indent="-342900">
              <a:spcBef>
                <a:spcPts val="0"/>
              </a:spcBef>
              <a:buSzPts val="1800"/>
              <a:buChar char="●"/>
            </a:pPr>
            <a:r>
              <a:rPr lang="es-ES" sz="1600" b="1" dirty="0"/>
              <a:t>@ManyToMany</a:t>
            </a:r>
          </a:p>
          <a:p>
            <a:pPr marL="0" lvl="0" indent="0">
              <a:spcBef>
                <a:spcPts val="1600"/>
              </a:spcBef>
              <a:buNone/>
            </a:pPr>
            <a:r>
              <a:rPr lang="es-ES" sz="1600" dirty="0"/>
              <a:t>La relación que existe entre </a:t>
            </a:r>
            <a:r>
              <a:rPr lang="es-ES" sz="1600" b="1" dirty="0" err="1"/>
              <a:t>categories</a:t>
            </a:r>
            <a:r>
              <a:rPr lang="es-ES" sz="1600" b="1" dirty="0"/>
              <a:t> </a:t>
            </a:r>
            <a:r>
              <a:rPr lang="es-ES" sz="1600" dirty="0"/>
              <a:t>y </a:t>
            </a:r>
            <a:r>
              <a:rPr lang="es-ES" sz="1600" b="1" dirty="0" err="1"/>
              <a:t>products</a:t>
            </a:r>
            <a:r>
              <a:rPr lang="es-ES" sz="1600" b="1" dirty="0"/>
              <a:t> </a:t>
            </a:r>
            <a:r>
              <a:rPr lang="es-ES" sz="1600" dirty="0"/>
              <a:t>es </a:t>
            </a:r>
            <a:r>
              <a:rPr lang="es-ES" sz="1600" b="1" dirty="0"/>
              <a:t>uno a mucho</a:t>
            </a:r>
            <a:r>
              <a:rPr lang="es-ES" sz="1600" dirty="0"/>
              <a:t>.</a:t>
            </a:r>
          </a:p>
          <a:p>
            <a:pPr lvl="0" indent="-342900">
              <a:spcBef>
                <a:spcPts val="1600"/>
              </a:spcBef>
              <a:buSzPts val="1800"/>
              <a:buChar char="●"/>
            </a:pPr>
            <a:r>
              <a:rPr lang="es-ES" sz="1600" dirty="0"/>
              <a:t>Una categoría puede estar en muchos productos → @OneToMany</a:t>
            </a:r>
          </a:p>
          <a:p>
            <a:pPr lvl="0" indent="-342900">
              <a:spcBef>
                <a:spcPts val="0"/>
              </a:spcBef>
              <a:buSzPts val="1800"/>
              <a:buChar char="●"/>
            </a:pPr>
            <a:r>
              <a:rPr lang="es-ES" sz="1600" dirty="0"/>
              <a:t>Existen muchos productos para una categoría 	   →  @ManyToOne</a:t>
            </a:r>
          </a:p>
          <a:p>
            <a:pPr marL="0" lvl="0" indent="0">
              <a:spcBef>
                <a:spcPts val="1600"/>
              </a:spcBef>
              <a:buNone/>
            </a:pPr>
            <a:r>
              <a:rPr lang="es-ES" sz="1600" dirty="0"/>
              <a:t>Por tal motivo, debemos configurar en la entidad </a:t>
            </a:r>
            <a:r>
              <a:rPr lang="es-ES" sz="1600" b="1" dirty="0" err="1"/>
              <a:t>products</a:t>
            </a:r>
            <a:r>
              <a:rPr lang="es-ES" sz="1600" b="1" dirty="0"/>
              <a:t> </a:t>
            </a:r>
            <a:r>
              <a:rPr lang="es-ES" sz="1600" dirty="0"/>
              <a:t>la anotación </a:t>
            </a:r>
            <a:r>
              <a:rPr lang="es-ES" sz="1600" b="1" dirty="0"/>
              <a:t>@ManyToOne </a:t>
            </a:r>
            <a:r>
              <a:rPr lang="es-ES" sz="1600" dirty="0"/>
              <a:t>en el atributo </a:t>
            </a:r>
            <a:r>
              <a:rPr lang="es-ES" sz="1600" b="1" dirty="0" err="1"/>
              <a:t>category</a:t>
            </a:r>
            <a:r>
              <a:rPr lang="es-ES" sz="1600" dirty="0"/>
              <a:t>. </a:t>
            </a:r>
          </a:p>
          <a:p>
            <a:pPr marL="0" lvl="0" indent="0">
              <a:spcBef>
                <a:spcPts val="1600"/>
              </a:spcBef>
              <a:spcAft>
                <a:spcPts val="1600"/>
              </a:spcAft>
              <a:buNone/>
            </a:pPr>
            <a:r>
              <a:rPr lang="es-ES" sz="1600" dirty="0"/>
              <a:t>Si deseamos que la relación sea en doble sentido, debemos configurar la relación </a:t>
            </a:r>
            <a:r>
              <a:rPr lang="es-ES" sz="1600" b="1" dirty="0"/>
              <a:t>@OneToMany</a:t>
            </a:r>
            <a:r>
              <a:rPr lang="es-ES" sz="1600" dirty="0"/>
              <a:t> en </a:t>
            </a:r>
            <a:r>
              <a:rPr lang="es-ES" sz="1600" b="1" dirty="0" err="1"/>
              <a:t>categories</a:t>
            </a:r>
            <a:r>
              <a:rPr lang="es-ES" sz="1600" b="1" dirty="0"/>
              <a:t> </a:t>
            </a:r>
            <a:r>
              <a:rPr lang="es-ES" sz="1600" dirty="0"/>
              <a:t>(opcional).</a:t>
            </a:r>
          </a:p>
        </p:txBody>
      </p:sp>
      <p:grpSp>
        <p:nvGrpSpPr>
          <p:cNvPr id="5" name="Google Shape;105;p18">
            <a:extLst>
              <a:ext uri="{FF2B5EF4-FFF2-40B4-BE49-F238E27FC236}">
                <a16:creationId xmlns:a16="http://schemas.microsoft.com/office/drawing/2014/main" id="{F033BAD4-D5FD-A55F-39CA-D251B447FDF2}"/>
              </a:ext>
            </a:extLst>
          </p:cNvPr>
          <p:cNvGrpSpPr/>
          <p:nvPr/>
        </p:nvGrpSpPr>
        <p:grpSpPr>
          <a:xfrm>
            <a:off x="7745963" y="714676"/>
            <a:ext cx="3904160" cy="2639581"/>
            <a:chOff x="541270" y="2689348"/>
            <a:chExt cx="4361610" cy="2670926"/>
          </a:xfrm>
        </p:grpSpPr>
        <p:pic>
          <p:nvPicPr>
            <p:cNvPr id="6" name="Google Shape;106;p18">
              <a:extLst>
                <a:ext uri="{FF2B5EF4-FFF2-40B4-BE49-F238E27FC236}">
                  <a16:creationId xmlns:a16="http://schemas.microsoft.com/office/drawing/2014/main" id="{054E3F37-9A9F-05CB-64E2-386ABBD05FD2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 l="22790" t="67160" r="28072"/>
            <a:stretch/>
          </p:blipFill>
          <p:spPr>
            <a:xfrm>
              <a:off x="541270" y="2689351"/>
              <a:ext cx="4361610" cy="267092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" name="Google Shape;107;p18">
              <a:extLst>
                <a:ext uri="{FF2B5EF4-FFF2-40B4-BE49-F238E27FC236}">
                  <a16:creationId xmlns:a16="http://schemas.microsoft.com/office/drawing/2014/main" id="{26D215AA-454F-2AAA-524B-F69788A3661D}"/>
                </a:ext>
              </a:extLst>
            </p:cNvPr>
            <p:cNvSpPr/>
            <p:nvPr/>
          </p:nvSpPr>
          <p:spPr>
            <a:xfrm>
              <a:off x="745072" y="2689348"/>
              <a:ext cx="2567700" cy="1078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6856563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5F43B6-033C-6A4F-B6DB-5B907C0CA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64064F-BAB7-645A-DB62-DA8F54F5B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Configurar @MatyToOne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DD639AE2-BB36-A9D9-2790-27BD888EDAF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6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082CBCF-3902-98C3-10AB-0E427AE5CA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sz="1800" dirty="0"/>
              <a:t>Se deben configurar las anotaciones @</a:t>
            </a:r>
            <a:r>
              <a:rPr lang="es-ES" sz="1800" b="1" dirty="0"/>
              <a:t>ManyToOne</a:t>
            </a:r>
            <a:r>
              <a:rPr lang="es-ES" sz="1800" dirty="0"/>
              <a:t> y @</a:t>
            </a:r>
            <a:r>
              <a:rPr lang="es-ES" sz="1800" b="1" dirty="0"/>
              <a:t>JoinColumn</a:t>
            </a:r>
            <a:r>
              <a:rPr lang="es-ES" sz="1800" dirty="0"/>
              <a:t>. En esta última, se le indica como parámetro la columna de la tabla que relaciona ambas tablas:</a:t>
            </a:r>
          </a:p>
          <a:p>
            <a:endParaRPr lang="es-PE" dirty="0"/>
          </a:p>
        </p:txBody>
      </p:sp>
      <p:grpSp>
        <p:nvGrpSpPr>
          <p:cNvPr id="5" name="Google Shape;118;p19">
            <a:extLst>
              <a:ext uri="{FF2B5EF4-FFF2-40B4-BE49-F238E27FC236}">
                <a16:creationId xmlns:a16="http://schemas.microsoft.com/office/drawing/2014/main" id="{A80243D8-6A52-8581-FDD2-8FD32C5BC1A3}"/>
              </a:ext>
            </a:extLst>
          </p:cNvPr>
          <p:cNvGrpSpPr/>
          <p:nvPr/>
        </p:nvGrpSpPr>
        <p:grpSpPr>
          <a:xfrm>
            <a:off x="5307602" y="2137013"/>
            <a:ext cx="4577543" cy="3139068"/>
            <a:chOff x="541270" y="2353054"/>
            <a:chExt cx="4361610" cy="3007221"/>
          </a:xfrm>
        </p:grpSpPr>
        <p:pic>
          <p:nvPicPr>
            <p:cNvPr id="6" name="Google Shape;119;p19">
              <a:extLst>
                <a:ext uri="{FF2B5EF4-FFF2-40B4-BE49-F238E27FC236}">
                  <a16:creationId xmlns:a16="http://schemas.microsoft.com/office/drawing/2014/main" id="{AE183F6F-95EA-8724-6DBA-5D4F17D04272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 l="22790" t="63025" r="28072"/>
            <a:stretch/>
          </p:blipFill>
          <p:spPr>
            <a:xfrm>
              <a:off x="541270" y="2353054"/>
              <a:ext cx="4361610" cy="300722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" name="Google Shape;120;p19">
              <a:extLst>
                <a:ext uri="{FF2B5EF4-FFF2-40B4-BE49-F238E27FC236}">
                  <a16:creationId xmlns:a16="http://schemas.microsoft.com/office/drawing/2014/main" id="{FF8BD208-76F7-5E62-04C0-5DC520636CFE}"/>
                </a:ext>
              </a:extLst>
            </p:cNvPr>
            <p:cNvSpPr/>
            <p:nvPr/>
          </p:nvSpPr>
          <p:spPr>
            <a:xfrm>
              <a:off x="745070" y="2353054"/>
              <a:ext cx="2567700" cy="141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8" name="Google Shape;122;p19">
            <a:extLst>
              <a:ext uri="{FF2B5EF4-FFF2-40B4-BE49-F238E27FC236}">
                <a16:creationId xmlns:a16="http://schemas.microsoft.com/office/drawing/2014/main" id="{744B2C97-BA0C-F0D4-4234-4D9201AA5501}"/>
              </a:ext>
            </a:extLst>
          </p:cNvPr>
          <p:cNvCxnSpPr>
            <a:cxnSpLocks/>
          </p:cNvCxnSpPr>
          <p:nvPr/>
        </p:nvCxnSpPr>
        <p:spPr>
          <a:xfrm>
            <a:off x="4457327" y="2715187"/>
            <a:ext cx="3758986" cy="817285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9" name="Google Shape;124;p19">
            <a:extLst>
              <a:ext uri="{FF2B5EF4-FFF2-40B4-BE49-F238E27FC236}">
                <a16:creationId xmlns:a16="http://schemas.microsoft.com/office/drawing/2014/main" id="{FFF4BFD3-1B01-4F95-5A04-27965E2A4E7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66752" y="2403761"/>
            <a:ext cx="2695575" cy="7429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054126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22DC6-2A16-E357-AD12-C9AB32F40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75956D-A8E2-E653-5A03-F78B2C6D5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Relación </a:t>
            </a:r>
            <a:r>
              <a:rPr lang="es-ES" dirty="0" err="1"/>
              <a:t>Product-Supplier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7F9A86F3-1395-BE5A-D85F-5E4B4EC5D9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7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7FF5DF9-6646-BF33-896C-A640E1C09E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buNone/>
            </a:pPr>
            <a:r>
              <a:rPr lang="es-ES" sz="1800" dirty="0"/>
              <a:t>En este caso la relación es similar a la implementada entre </a:t>
            </a:r>
            <a:r>
              <a:rPr lang="es-ES" sz="1800" dirty="0" err="1"/>
              <a:t>products</a:t>
            </a:r>
            <a:r>
              <a:rPr lang="es-ES" sz="1800" dirty="0"/>
              <a:t> y </a:t>
            </a:r>
            <a:r>
              <a:rPr lang="es-ES" sz="1800" dirty="0" err="1"/>
              <a:t>categories</a:t>
            </a:r>
            <a:r>
              <a:rPr lang="es-ES" sz="1800" dirty="0"/>
              <a:t>.</a:t>
            </a:r>
          </a:p>
          <a:p>
            <a:pPr marL="0" lvl="0" indent="0">
              <a:spcBef>
                <a:spcPts val="0"/>
              </a:spcBef>
              <a:buNone/>
            </a:pPr>
            <a:endParaRPr lang="es-ES" sz="1800" dirty="0"/>
          </a:p>
          <a:p>
            <a:pPr marL="0" lvl="0" indent="0">
              <a:spcBef>
                <a:spcPts val="0"/>
              </a:spcBef>
              <a:buNone/>
            </a:pPr>
            <a:r>
              <a:rPr lang="es-ES" sz="1800" dirty="0"/>
              <a:t>En </a:t>
            </a:r>
            <a:r>
              <a:rPr lang="es-ES" sz="1800" dirty="0" err="1"/>
              <a:t>products</a:t>
            </a:r>
            <a:r>
              <a:rPr lang="es-ES" sz="1800" dirty="0"/>
              <a:t> se debe indicar:</a:t>
            </a:r>
          </a:p>
          <a:p>
            <a:pPr marL="0" lvl="0" indent="457200">
              <a:spcBef>
                <a:spcPts val="0"/>
              </a:spcBef>
              <a:buNone/>
            </a:pPr>
            <a:r>
              <a:rPr lang="es-ES" sz="1800" dirty="0"/>
              <a:t>@</a:t>
            </a:r>
            <a:r>
              <a:rPr lang="es-ES" sz="1800" b="1" dirty="0"/>
              <a:t>ManyToOne</a:t>
            </a:r>
          </a:p>
          <a:p>
            <a:endParaRPr lang="es-PE" dirty="0"/>
          </a:p>
        </p:txBody>
      </p:sp>
      <p:pic>
        <p:nvPicPr>
          <p:cNvPr id="5" name="Google Shape;132;p20">
            <a:extLst>
              <a:ext uri="{FF2B5EF4-FFF2-40B4-BE49-F238E27FC236}">
                <a16:creationId xmlns:a16="http://schemas.microsoft.com/office/drawing/2014/main" id="{51C255A1-D381-C02F-4AD7-FE848D3EA83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54145" t="63025" r="819"/>
          <a:stretch/>
        </p:blipFill>
        <p:spPr>
          <a:xfrm>
            <a:off x="5731427" y="1823216"/>
            <a:ext cx="4425974" cy="360234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" name="Google Shape;134;p20">
            <a:extLst>
              <a:ext uri="{FF2B5EF4-FFF2-40B4-BE49-F238E27FC236}">
                <a16:creationId xmlns:a16="http://schemas.microsoft.com/office/drawing/2014/main" id="{1666CECD-3758-F22A-4410-93C04AC955A6}"/>
              </a:ext>
            </a:extLst>
          </p:cNvPr>
          <p:cNvCxnSpPr/>
          <p:nvPr/>
        </p:nvCxnSpPr>
        <p:spPr>
          <a:xfrm rot="10800000" flipH="1">
            <a:off x="4635652" y="3163216"/>
            <a:ext cx="1095900" cy="1815000"/>
          </a:xfrm>
          <a:prstGeom prst="curvedConnector3">
            <a:avLst>
              <a:gd name="adj1" fmla="val 49994"/>
            </a:avLst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7" name="Google Shape;136;p20">
            <a:extLst>
              <a:ext uri="{FF2B5EF4-FFF2-40B4-BE49-F238E27FC236}">
                <a16:creationId xmlns:a16="http://schemas.microsoft.com/office/drawing/2014/main" id="{E053AB73-FCD8-D8FC-16E4-75710078365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3477" y="4553234"/>
            <a:ext cx="3412175" cy="8499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796027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DCE5BF-AE59-915D-87BD-02A8E900A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5DBCB2-058A-9C95-C271-A4DE151B2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Vista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9008459D-964D-0709-D389-EFE10566436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8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87E5F5F-2B35-A416-9584-BE544899CB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s-ES" sz="1800" dirty="0"/>
              <a:t>En la vista de lista Productos, actualmente se muestra el ID de la categoría o del proveedor.</a:t>
            </a:r>
          </a:p>
          <a:p>
            <a:pPr marL="0" lvl="0" indent="0">
              <a:spcBef>
                <a:spcPts val="1600"/>
              </a:spcBef>
              <a:buNone/>
            </a:pPr>
            <a:endParaRPr lang="es-ES" sz="1800" dirty="0"/>
          </a:p>
          <a:p>
            <a:pPr marL="0" lvl="0" indent="0">
              <a:spcBef>
                <a:spcPts val="1600"/>
              </a:spcBef>
              <a:buNone/>
            </a:pPr>
            <a:endParaRPr lang="es-ES" sz="1800" dirty="0"/>
          </a:p>
          <a:p>
            <a:pPr marL="0" lvl="0" indent="0">
              <a:spcBef>
                <a:spcPts val="1600"/>
              </a:spcBef>
              <a:buNone/>
            </a:pPr>
            <a:r>
              <a:rPr lang="es-ES" sz="1800" dirty="0"/>
              <a:t>Se debe cambiar para que aparezca el nombre de la categoría y el nombre del proveedor (no solo los </a:t>
            </a:r>
            <a:r>
              <a:rPr lang="es-ES" sz="1800" dirty="0" err="1"/>
              <a:t>IDs</a:t>
            </a:r>
            <a:r>
              <a:rPr lang="es-ES" sz="1800" dirty="0"/>
              <a:t>). </a:t>
            </a:r>
          </a:p>
          <a:p>
            <a:pPr marL="0" lvl="0" indent="0">
              <a:spcBef>
                <a:spcPts val="1600"/>
              </a:spcBef>
              <a:spcAft>
                <a:spcPts val="1600"/>
              </a:spcAft>
              <a:buNone/>
            </a:pPr>
            <a:r>
              <a:rPr lang="es-ES" sz="1800" dirty="0"/>
              <a:t>Con Spring Data JPA, la crear las relaciones con @ManyToOne o @OneToMany correctamente, cuando Spring obtenga toda la información de la tabla Producto, obtendrá por consiguiente también, la información de sus tablas relacionadas.</a:t>
            </a:r>
          </a:p>
          <a:p>
            <a:endParaRPr lang="es-PE" dirty="0"/>
          </a:p>
        </p:txBody>
      </p:sp>
      <p:pic>
        <p:nvPicPr>
          <p:cNvPr id="5" name="Google Shape;144;p21">
            <a:extLst>
              <a:ext uri="{FF2B5EF4-FFF2-40B4-BE49-F238E27FC236}">
                <a16:creationId xmlns:a16="http://schemas.microsoft.com/office/drawing/2014/main" id="{CCC60A0D-2CC4-C012-0DC1-7DA623FED78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782670" y="1941517"/>
            <a:ext cx="3850163" cy="608253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45;p21">
            <a:extLst>
              <a:ext uri="{FF2B5EF4-FFF2-40B4-BE49-F238E27FC236}">
                <a16:creationId xmlns:a16="http://schemas.microsoft.com/office/drawing/2014/main" id="{B86BAB08-A5DA-262D-4774-BA2739CED5D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93006" y="4457757"/>
            <a:ext cx="4701840" cy="53775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769103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B921D4-AF39-E991-E74A-05870ED19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687C63-7249-73B9-E408-F31BD837B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Resultado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8BFE2690-654C-3FC0-759E-09C6871FB10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9</a:t>
            </a:fld>
            <a:endParaRPr lang="es-PE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B49A978-DAAE-6647-E6EA-E5FB88C8B4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3895" y="1136342"/>
            <a:ext cx="8064209" cy="4344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32168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ADD15A-3407-FD37-B889-A84F11E84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2150AF-B283-FF6F-422B-CBD877180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Crear nuevo producto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FA979401-2A1D-A44F-1A55-C2187600E0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10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1E6720C-0CDE-2657-D6F9-E59795AC46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9788" y="1432435"/>
            <a:ext cx="10275055" cy="4323472"/>
          </a:xfrm>
        </p:spPr>
        <p:txBody>
          <a:bodyPr>
            <a:normAutofit fontScale="85000" lnSpcReduction="20000"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s-ES" dirty="0"/>
              <a:t>En el controlador actualmente se muestra la opción de ingresar el ID del proveedor y el ID de la categoría para crear un nuevo producto.</a:t>
            </a:r>
          </a:p>
          <a:p>
            <a:pPr marL="0" lvl="0" indent="0">
              <a:spcBef>
                <a:spcPts val="1600"/>
              </a:spcBef>
              <a:buNone/>
            </a:pPr>
            <a:endParaRPr lang="es-ES" dirty="0"/>
          </a:p>
          <a:p>
            <a:pPr marL="0" lvl="0" indent="0">
              <a:spcBef>
                <a:spcPts val="1600"/>
              </a:spcBef>
              <a:buNone/>
            </a:pPr>
            <a:endParaRPr lang="es-ES" dirty="0"/>
          </a:p>
          <a:p>
            <a:pPr marL="0" lvl="0" indent="0">
              <a:spcBef>
                <a:spcPts val="1600"/>
              </a:spcBef>
              <a:buNone/>
            </a:pPr>
            <a:endParaRPr lang="es-ES" dirty="0"/>
          </a:p>
          <a:p>
            <a:pPr marL="0" lvl="0" indent="0">
              <a:spcBef>
                <a:spcPts val="1600"/>
              </a:spcBef>
              <a:buNone/>
            </a:pPr>
            <a:endParaRPr lang="es-ES" dirty="0"/>
          </a:p>
          <a:p>
            <a:pPr marL="0" lvl="0" indent="0">
              <a:spcBef>
                <a:spcPts val="1600"/>
              </a:spcBef>
              <a:buNone/>
            </a:pPr>
            <a:endParaRPr lang="es-ES" dirty="0"/>
          </a:p>
          <a:p>
            <a:pPr marL="0" lvl="0" indent="0">
              <a:spcBef>
                <a:spcPts val="1600"/>
              </a:spcBef>
              <a:buNone/>
            </a:pPr>
            <a:endParaRPr lang="es-ES" dirty="0"/>
          </a:p>
          <a:p>
            <a:pPr marL="0" lvl="0" indent="0">
              <a:spcBef>
                <a:spcPts val="1600"/>
              </a:spcBef>
              <a:buNone/>
            </a:pPr>
            <a:endParaRPr lang="es-ES" dirty="0"/>
          </a:p>
          <a:p>
            <a:pPr marL="0" lvl="0" indent="0">
              <a:spcBef>
                <a:spcPts val="1600"/>
              </a:spcBef>
              <a:spcAft>
                <a:spcPts val="1600"/>
              </a:spcAft>
              <a:buNone/>
            </a:pPr>
            <a:r>
              <a:rPr lang="es-ES" dirty="0"/>
              <a:t>Esto debería cambiarse para que el usuario pueda elegir de una lista de proveedores y categorías disponibles en el sistema.</a:t>
            </a:r>
          </a:p>
        </p:txBody>
      </p:sp>
      <p:pic>
        <p:nvPicPr>
          <p:cNvPr id="5" name="Google Shape;160;p23">
            <a:extLst>
              <a:ext uri="{FF2B5EF4-FFF2-40B4-BE49-F238E27FC236}">
                <a16:creationId xmlns:a16="http://schemas.microsoft.com/office/drawing/2014/main" id="{0A7323D8-D96D-D27A-53F8-4E50C035A3F5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437398" y="3469910"/>
            <a:ext cx="5067300" cy="1304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61;p23">
            <a:extLst>
              <a:ext uri="{FF2B5EF4-FFF2-40B4-BE49-F238E27FC236}">
                <a16:creationId xmlns:a16="http://schemas.microsoft.com/office/drawing/2014/main" id="{699F42B4-1C93-FCF9-BDB4-EE6ECF87943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31164" y="1976145"/>
            <a:ext cx="3171725" cy="290571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62;p23">
            <a:extLst>
              <a:ext uri="{FF2B5EF4-FFF2-40B4-BE49-F238E27FC236}">
                <a16:creationId xmlns:a16="http://schemas.microsoft.com/office/drawing/2014/main" id="{290BC112-ED25-D26E-0706-5E906542922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72654" y="2368915"/>
            <a:ext cx="2314575" cy="7334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574533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420EBD-ECEC-2A49-4D6E-1E445F899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8D7DB7-9BB7-EFFE-7A60-68B24DB34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Crear nuevo producto - controlador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3E4537E8-21B3-8F2B-CCE1-2A21762EF4D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11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9498F84-CDE3-63EC-658E-59A019E8DB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sz="2000" dirty="0"/>
              <a:t>Para tener una lista de Proveedores y categorías, estas deben ser enviadas desde el controlador hacia la vista que tiene el formulario:</a:t>
            </a:r>
          </a:p>
          <a:p>
            <a:endParaRPr lang="es-PE" dirty="0"/>
          </a:p>
        </p:txBody>
      </p:sp>
      <p:pic>
        <p:nvPicPr>
          <p:cNvPr id="5" name="Google Shape;170;p24">
            <a:extLst>
              <a:ext uri="{FF2B5EF4-FFF2-40B4-BE49-F238E27FC236}">
                <a16:creationId xmlns:a16="http://schemas.microsoft.com/office/drawing/2014/main" id="{F26EED9F-03A3-DFA9-0CE5-B9D7D209CECD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519362" y="4454018"/>
            <a:ext cx="6874895" cy="1073148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71;p24">
            <a:extLst>
              <a:ext uri="{FF2B5EF4-FFF2-40B4-BE49-F238E27FC236}">
                <a16:creationId xmlns:a16="http://schemas.microsoft.com/office/drawing/2014/main" id="{50DFB57B-1D63-A498-EAEC-91148B164C9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1564" y="2250043"/>
            <a:ext cx="4433733" cy="192294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282692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8DA4A-08B7-62BF-8A58-FB386592D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865A88-DE98-8911-82A8-D10FE74CE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Crear nuevo producto - vista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D998EC23-230B-19AD-99F6-6331B814692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12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1164D0F-9CA8-54CE-5063-9535E2C6C2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sz="1800" dirty="0"/>
              <a:t>En la vista se deben utilizar los objetos enviados desde el controlador para generar el desplegable para Proveedores (</a:t>
            </a:r>
            <a:r>
              <a:rPr lang="es-ES" sz="1800" dirty="0" err="1"/>
              <a:t>supplier</a:t>
            </a:r>
            <a:r>
              <a:rPr lang="es-ES" sz="1800" dirty="0"/>
              <a:t>) y categorías.</a:t>
            </a:r>
          </a:p>
          <a:p>
            <a:endParaRPr lang="es-PE" sz="1800" dirty="0"/>
          </a:p>
        </p:txBody>
      </p:sp>
      <p:pic>
        <p:nvPicPr>
          <p:cNvPr id="5" name="Google Shape;179;p25">
            <a:extLst>
              <a:ext uri="{FF2B5EF4-FFF2-40B4-BE49-F238E27FC236}">
                <a16:creationId xmlns:a16="http://schemas.microsoft.com/office/drawing/2014/main" id="{DFD09BC9-75E1-7F00-AB0B-A4F504220FA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702737" y="2174825"/>
            <a:ext cx="5219700" cy="125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80;p25">
            <a:extLst>
              <a:ext uri="{FF2B5EF4-FFF2-40B4-BE49-F238E27FC236}">
                <a16:creationId xmlns:a16="http://schemas.microsoft.com/office/drawing/2014/main" id="{71BE4752-F6B9-73B2-F499-A9A8151DC47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2737" y="3629073"/>
            <a:ext cx="8696325" cy="19431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81;p25">
            <a:extLst>
              <a:ext uri="{FF2B5EF4-FFF2-40B4-BE49-F238E27FC236}">
                <a16:creationId xmlns:a16="http://schemas.microsoft.com/office/drawing/2014/main" id="{04E2BE3F-8650-ADBC-5A37-5E7AA25106D2}"/>
              </a:ext>
            </a:extLst>
          </p:cNvPr>
          <p:cNvSpPr/>
          <p:nvPr/>
        </p:nvSpPr>
        <p:spPr>
          <a:xfrm>
            <a:off x="1672834" y="2641775"/>
            <a:ext cx="916500" cy="32340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00" dirty="0">
                <a:solidFill>
                  <a:srgbClr val="FFFFFF"/>
                </a:solidFill>
              </a:rPr>
              <a:t>Antes:</a:t>
            </a:r>
            <a:endParaRPr sz="1400" dirty="0">
              <a:solidFill>
                <a:srgbClr val="FFFFFF"/>
              </a:solidFill>
            </a:endParaRPr>
          </a:p>
        </p:txBody>
      </p:sp>
      <p:sp>
        <p:nvSpPr>
          <p:cNvPr id="8" name="Google Shape;182;p25">
            <a:extLst>
              <a:ext uri="{FF2B5EF4-FFF2-40B4-BE49-F238E27FC236}">
                <a16:creationId xmlns:a16="http://schemas.microsoft.com/office/drawing/2014/main" id="{EF546268-2BCE-C068-A658-B8C559CFF838}"/>
              </a:ext>
            </a:extLst>
          </p:cNvPr>
          <p:cNvSpPr/>
          <p:nvPr/>
        </p:nvSpPr>
        <p:spPr>
          <a:xfrm>
            <a:off x="1672834" y="4438923"/>
            <a:ext cx="916500" cy="32340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00">
                <a:solidFill>
                  <a:srgbClr val="FFFFFF"/>
                </a:solidFill>
              </a:rPr>
              <a:t>Ahora:</a:t>
            </a:r>
            <a:endParaRPr sz="14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48047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F18732-B361-0468-1B15-B84B758D7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2A441B-4A6E-1B88-10CB-91D2E9582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Crear nuevo producto – Vista HTML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CBEEF4ED-F53A-E630-2DAD-781B63CBD01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13</a:t>
            </a:fld>
            <a:endParaRPr lang="es-PE"/>
          </a:p>
        </p:txBody>
      </p:sp>
      <p:pic>
        <p:nvPicPr>
          <p:cNvPr id="5" name="Google Shape;189;p26">
            <a:extLst>
              <a:ext uri="{FF2B5EF4-FFF2-40B4-BE49-F238E27FC236}">
                <a16:creationId xmlns:a16="http://schemas.microsoft.com/office/drawing/2014/main" id="{B63A3F3F-0BA8-07DD-3BB9-A379A789208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5334" b="1892"/>
          <a:stretch/>
        </p:blipFill>
        <p:spPr>
          <a:xfrm>
            <a:off x="4246587" y="1136342"/>
            <a:ext cx="2672609" cy="438179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766944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BA0DB5-22FD-2D4B-8CB3-1F4170955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439D8C-C542-A34B-D97D-06FB11EB2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Editar un producto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E611DA40-D8E2-445C-9056-FFF02645023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14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450311C-C746-6A22-2337-1C42620E47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sz="2000" dirty="0"/>
              <a:t>Para editar un producto se realiza la misma acción que lo realizado al realizar el nuevo producto (se deben enviar las dos listas, de proveedores y categorías).</a:t>
            </a:r>
          </a:p>
          <a:p>
            <a:endParaRPr lang="es-PE" sz="2000" dirty="0"/>
          </a:p>
        </p:txBody>
      </p:sp>
      <p:pic>
        <p:nvPicPr>
          <p:cNvPr id="5" name="Google Shape;197;p27">
            <a:extLst>
              <a:ext uri="{FF2B5EF4-FFF2-40B4-BE49-F238E27FC236}">
                <a16:creationId xmlns:a16="http://schemas.microsoft.com/office/drawing/2014/main" id="{044FA751-CA75-C114-21CE-A0125C592B80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101849" y="2272965"/>
            <a:ext cx="7877175" cy="32289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228758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2D330E-8105-E213-4651-726FD0C42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BFA876-19D1-8C80-BC66-86DCF4390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Editar un producto - vista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CB287D93-ED64-4B43-6694-6FF5745303D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15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B7F2F9F-A49E-D388-D3B1-6FF9B16658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sz="1800" dirty="0"/>
              <a:t>En la vista se deben utilizar los objetos enviados desde el controlador para generar el desplegable para Proveedores (</a:t>
            </a:r>
            <a:r>
              <a:rPr lang="es-ES" sz="1800" dirty="0" err="1"/>
              <a:t>supplier</a:t>
            </a:r>
            <a:r>
              <a:rPr lang="es-ES" sz="1800" dirty="0"/>
              <a:t>) y categorías y colocar sus respectivos valores del objeto en edición.</a:t>
            </a:r>
          </a:p>
          <a:p>
            <a:endParaRPr lang="es-PE" dirty="0"/>
          </a:p>
        </p:txBody>
      </p:sp>
      <p:sp>
        <p:nvSpPr>
          <p:cNvPr id="5" name="Google Shape;206;p28">
            <a:extLst>
              <a:ext uri="{FF2B5EF4-FFF2-40B4-BE49-F238E27FC236}">
                <a16:creationId xmlns:a16="http://schemas.microsoft.com/office/drawing/2014/main" id="{AEB5542A-C5DC-C749-C2AF-FF40AB755E91}"/>
              </a:ext>
            </a:extLst>
          </p:cNvPr>
          <p:cNvSpPr/>
          <p:nvPr/>
        </p:nvSpPr>
        <p:spPr>
          <a:xfrm>
            <a:off x="2914884" y="2901297"/>
            <a:ext cx="916500" cy="32340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00" dirty="0">
                <a:solidFill>
                  <a:srgbClr val="FFFFFF"/>
                </a:solidFill>
              </a:rPr>
              <a:t>Antes:</a:t>
            </a:r>
            <a:endParaRPr sz="1600" dirty="0">
              <a:solidFill>
                <a:srgbClr val="FFFFFF"/>
              </a:solidFill>
            </a:endParaRPr>
          </a:p>
        </p:txBody>
      </p:sp>
      <p:pic>
        <p:nvPicPr>
          <p:cNvPr id="6" name="Google Shape;207;p28">
            <a:extLst>
              <a:ext uri="{FF2B5EF4-FFF2-40B4-BE49-F238E27FC236}">
                <a16:creationId xmlns:a16="http://schemas.microsoft.com/office/drawing/2014/main" id="{87E7DF22-AA0A-155D-51E9-8EECDEC0A5E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b="1845"/>
          <a:stretch/>
        </p:blipFill>
        <p:spPr>
          <a:xfrm>
            <a:off x="3975884" y="2503801"/>
            <a:ext cx="6449514" cy="1118393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208;p28">
            <a:extLst>
              <a:ext uri="{FF2B5EF4-FFF2-40B4-BE49-F238E27FC236}">
                <a16:creationId xmlns:a16="http://schemas.microsoft.com/office/drawing/2014/main" id="{F292130F-0761-D6EC-D329-3584EDD1C331}"/>
              </a:ext>
            </a:extLst>
          </p:cNvPr>
          <p:cNvSpPr/>
          <p:nvPr/>
        </p:nvSpPr>
        <p:spPr>
          <a:xfrm>
            <a:off x="1638487" y="4528168"/>
            <a:ext cx="916500" cy="32340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00" dirty="0">
                <a:solidFill>
                  <a:srgbClr val="FFFFFF"/>
                </a:solidFill>
              </a:rPr>
              <a:t>Ahora:</a:t>
            </a:r>
            <a:endParaRPr sz="1600" dirty="0">
              <a:solidFill>
                <a:srgbClr val="FFFFFF"/>
              </a:solidFill>
            </a:endParaRPr>
          </a:p>
        </p:txBody>
      </p:sp>
      <p:pic>
        <p:nvPicPr>
          <p:cNvPr id="8" name="Google Shape;209;p28">
            <a:extLst>
              <a:ext uri="{FF2B5EF4-FFF2-40B4-BE49-F238E27FC236}">
                <a16:creationId xmlns:a16="http://schemas.microsoft.com/office/drawing/2014/main" id="{FF28B83F-51AF-95FB-9D4C-5877DAA01D6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52182" y="3770241"/>
            <a:ext cx="7773216" cy="192805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401322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6E0063-12B1-F365-99B6-8C01136A5B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52ACFE-2115-65F3-ED01-A26EC6F01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Vista en HTML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296AD813-2F28-88B8-BF63-12A640EEE14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16</a:t>
            </a:fld>
            <a:endParaRPr lang="es-PE"/>
          </a:p>
        </p:txBody>
      </p:sp>
      <p:pic>
        <p:nvPicPr>
          <p:cNvPr id="5" name="Google Shape;216;p29">
            <a:extLst>
              <a:ext uri="{FF2B5EF4-FFF2-40B4-BE49-F238E27FC236}">
                <a16:creationId xmlns:a16="http://schemas.microsoft.com/office/drawing/2014/main" id="{DF4703BA-6010-8E9C-B42E-CE6F9D5F529D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90516" y="693019"/>
            <a:ext cx="3257992" cy="465444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482433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DF6689F-400B-9D28-96FE-477586A8B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 err="1"/>
              <a:t>Tablas</a:t>
            </a:r>
            <a:r>
              <a:rPr lang="en-US" sz="4400" dirty="0"/>
              <a:t> </a:t>
            </a:r>
            <a:r>
              <a:rPr lang="en-US" sz="4400" dirty="0" err="1"/>
              <a:t>Intermedias</a:t>
            </a:r>
            <a:endParaRPr lang="es-PE" sz="4400" dirty="0"/>
          </a:p>
        </p:txBody>
      </p:sp>
    </p:spTree>
    <p:extLst>
      <p:ext uri="{BB962C8B-B14F-4D97-AF65-F5344CB8AC3E}">
        <p14:creationId xmlns:p14="http://schemas.microsoft.com/office/powerpoint/2010/main" val="26712352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473EA9-2DA1-1D10-9D5E-DCDDD4568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398854-8F30-EC43-4BF9-94528E576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Gestión de tablas intermedias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C0801B35-2623-00D1-10CA-FB971940379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18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0C76D58-89BA-8A9A-DA14-9CCE7A8C16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sz="1800" dirty="0"/>
              <a:t>La tabla </a:t>
            </a:r>
            <a:r>
              <a:rPr lang="es-ES" sz="1800" b="1" dirty="0" err="1"/>
              <a:t>order_details</a:t>
            </a:r>
            <a:r>
              <a:rPr lang="es-ES" sz="1800" dirty="0"/>
              <a:t> es una relación muchos a muchos, la cual será usada de ejemplo.</a:t>
            </a:r>
          </a:p>
          <a:p>
            <a:endParaRPr lang="es-PE" sz="1800" dirty="0"/>
          </a:p>
        </p:txBody>
      </p:sp>
      <p:pic>
        <p:nvPicPr>
          <p:cNvPr id="5" name="Google Shape;230;p31">
            <a:extLst>
              <a:ext uri="{FF2B5EF4-FFF2-40B4-BE49-F238E27FC236}">
                <a16:creationId xmlns:a16="http://schemas.microsoft.com/office/drawing/2014/main" id="{2CA4FC99-F050-4041-5379-75DC2ABDEDC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10739" r="4701"/>
          <a:stretch/>
        </p:blipFill>
        <p:spPr>
          <a:xfrm>
            <a:off x="2455338" y="2009929"/>
            <a:ext cx="7281324" cy="3619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70803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78DA32-212E-3F59-C30B-E23D0DECF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6E9F0E-B35B-BEAA-7C01-69FE99A8D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Creación de llave compuesta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D5236754-80B6-8246-4725-A1FCA4E8BF7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19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6694AF4-E003-F7DD-097D-A065D5878B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9788" y="1136342"/>
            <a:ext cx="10275055" cy="3843645"/>
          </a:xfrm>
        </p:spPr>
        <p:txBody>
          <a:bodyPr/>
          <a:lstStyle/>
          <a:p>
            <a:pPr marL="0" lvl="0" indent="0">
              <a:spcBef>
                <a:spcPts val="0"/>
              </a:spcBef>
              <a:buNone/>
            </a:pPr>
            <a:r>
              <a:rPr lang="es-ES" sz="1600" dirty="0"/>
              <a:t>Se debe crear una clase que represente a la llave compuesta.</a:t>
            </a:r>
          </a:p>
          <a:p>
            <a:pPr marL="0" lvl="0" indent="0">
              <a:spcBef>
                <a:spcPts val="1600"/>
              </a:spcBef>
              <a:buNone/>
            </a:pPr>
            <a:r>
              <a:rPr lang="es-ES" sz="1600" dirty="0"/>
              <a:t>La clase debe cumplir con lo siguientes:</a:t>
            </a:r>
          </a:p>
          <a:p>
            <a:pPr lvl="0" indent="-317500">
              <a:spcBef>
                <a:spcPts val="1600"/>
              </a:spcBef>
              <a:buSzPts val="1400"/>
              <a:buChar char="●"/>
            </a:pPr>
            <a:r>
              <a:rPr lang="es-ES" sz="1600" dirty="0"/>
              <a:t>Tener la anotación </a:t>
            </a:r>
            <a:r>
              <a:rPr lang="es-ES" sz="1600" b="1" dirty="0"/>
              <a:t>@Embeddable</a:t>
            </a:r>
          </a:p>
          <a:p>
            <a:pPr lvl="0" indent="-317500">
              <a:spcBef>
                <a:spcPts val="0"/>
              </a:spcBef>
              <a:buSzPts val="1400"/>
              <a:buChar char="●"/>
            </a:pPr>
            <a:r>
              <a:rPr lang="es-ES" sz="1600" dirty="0"/>
              <a:t>Implementar la interfaz </a:t>
            </a:r>
            <a:r>
              <a:rPr lang="es-ES" sz="1600" b="1" dirty="0" err="1"/>
              <a:t>Serializable</a:t>
            </a:r>
            <a:endParaRPr lang="es-ES" sz="1600" b="1" dirty="0"/>
          </a:p>
          <a:p>
            <a:pPr lvl="0" indent="-317500">
              <a:spcBef>
                <a:spcPts val="0"/>
              </a:spcBef>
              <a:buSzPts val="1400"/>
              <a:buChar char="●"/>
            </a:pPr>
            <a:r>
              <a:rPr lang="es-ES" sz="1600" dirty="0"/>
              <a:t>Tener solamente los ID que conforman la llave compuesta</a:t>
            </a:r>
          </a:p>
          <a:p>
            <a:endParaRPr lang="es-PE" dirty="0"/>
          </a:p>
        </p:txBody>
      </p:sp>
      <p:pic>
        <p:nvPicPr>
          <p:cNvPr id="5" name="Google Shape;238;p32">
            <a:extLst>
              <a:ext uri="{FF2B5EF4-FFF2-40B4-BE49-F238E27FC236}">
                <a16:creationId xmlns:a16="http://schemas.microsoft.com/office/drawing/2014/main" id="{55E53DCD-2632-784F-D89B-324E5514948A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43579" t="7096" r="34119" b="44060"/>
          <a:stretch/>
        </p:blipFill>
        <p:spPr>
          <a:xfrm>
            <a:off x="9002619" y="3429000"/>
            <a:ext cx="1920250" cy="176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239;p32">
            <a:extLst>
              <a:ext uri="{FF2B5EF4-FFF2-40B4-BE49-F238E27FC236}">
                <a16:creationId xmlns:a16="http://schemas.microsoft.com/office/drawing/2014/main" id="{FFDF744C-45DA-F946-7007-72A4CBAA37A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5669" y="2882509"/>
            <a:ext cx="6016180" cy="270014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766270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BC82A2-1CD0-DB5A-E6F2-2A1B1079E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A1076D-83F6-AEFC-9370-9B0A4C081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Creación de la entidad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2055EE59-470B-3CB2-159E-ED7913D5F27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20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BC4D0B3-B483-BCB1-AF6C-43A259F7F3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9788" y="1432435"/>
            <a:ext cx="5185627" cy="3843645"/>
          </a:xfrm>
        </p:spPr>
        <p:txBody>
          <a:bodyPr>
            <a:norm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s-ES" sz="1500" dirty="0"/>
              <a:t>Crear una entidad para la tabla intermedia, considerando:</a:t>
            </a:r>
          </a:p>
          <a:p>
            <a:pPr lvl="0" indent="-317500">
              <a:spcBef>
                <a:spcPts val="400"/>
              </a:spcBef>
              <a:buSzPts val="1400"/>
              <a:buChar char="●"/>
            </a:pPr>
            <a:r>
              <a:rPr lang="es-ES" sz="1500" dirty="0"/>
              <a:t>En vez de tener un @ID, tendrá un </a:t>
            </a:r>
            <a:r>
              <a:rPr lang="es-ES" sz="1500" b="1" dirty="0"/>
              <a:t>@EmbeddedId</a:t>
            </a:r>
            <a:r>
              <a:rPr lang="es-ES" sz="1500" dirty="0"/>
              <a:t>, el cual debe hacer referencia a la clase creada para la llave compuesta.</a:t>
            </a:r>
          </a:p>
          <a:p>
            <a:pPr lvl="0" indent="-317500">
              <a:spcBef>
                <a:spcPts val="0"/>
              </a:spcBef>
              <a:buSzPts val="1400"/>
              <a:buChar char="●"/>
            </a:pPr>
            <a:r>
              <a:rPr lang="es-ES" sz="1500" dirty="0"/>
              <a:t>Para cada PK:</a:t>
            </a:r>
          </a:p>
          <a:p>
            <a:pPr lvl="1" indent="-317500">
              <a:spcBef>
                <a:spcPts val="0"/>
              </a:spcBef>
              <a:buSzPts val="1400"/>
              <a:buChar char="○"/>
            </a:pPr>
            <a:r>
              <a:rPr lang="es-ES" sz="1500" dirty="0"/>
              <a:t>Crear cada una </a:t>
            </a:r>
            <a:r>
              <a:rPr lang="es-ES" sz="1500" dirty="0" err="1"/>
              <a:t>relacion</a:t>
            </a:r>
            <a:r>
              <a:rPr lang="es-ES" sz="1500" dirty="0"/>
              <a:t> con </a:t>
            </a:r>
            <a:r>
              <a:rPr lang="es-ES" sz="1500" b="1" dirty="0"/>
              <a:t>@ManyToOne</a:t>
            </a:r>
            <a:r>
              <a:rPr lang="es-ES" sz="1500" dirty="0"/>
              <a:t>.</a:t>
            </a:r>
          </a:p>
          <a:p>
            <a:pPr lvl="1" indent="-317500">
              <a:spcBef>
                <a:spcPts val="0"/>
              </a:spcBef>
              <a:buSzPts val="1400"/>
              <a:buChar char="○"/>
            </a:pPr>
            <a:r>
              <a:rPr lang="es-ES" sz="1500" b="1" dirty="0"/>
              <a:t>@MapsId</a:t>
            </a:r>
            <a:r>
              <a:rPr lang="es-ES" sz="1500" dirty="0"/>
              <a:t>: es el nombre del atributo definido en la clase de la llave compuesta</a:t>
            </a:r>
          </a:p>
          <a:p>
            <a:pPr lvl="1" indent="-317500">
              <a:spcBef>
                <a:spcPts val="0"/>
              </a:spcBef>
              <a:buSzPts val="1400"/>
              <a:buChar char="○"/>
            </a:pPr>
            <a:r>
              <a:rPr lang="es-ES" sz="1500" b="1" dirty="0"/>
              <a:t>@JoinColumn</a:t>
            </a:r>
            <a:r>
              <a:rPr lang="es-ES" sz="1500" dirty="0"/>
              <a:t>: es el nombre del campo en la tabla de base de datos.</a:t>
            </a:r>
          </a:p>
          <a:p>
            <a:pPr marL="0" lvl="0" indent="0">
              <a:spcBef>
                <a:spcPts val="1600"/>
              </a:spcBef>
              <a:spcAft>
                <a:spcPts val="1600"/>
              </a:spcAft>
              <a:buNone/>
            </a:pPr>
            <a:r>
              <a:rPr lang="es-ES" sz="1500" b="1" dirty="0">
                <a:solidFill>
                  <a:srgbClr val="FF0000"/>
                </a:solidFill>
              </a:rPr>
              <a:t>OJO! </a:t>
            </a:r>
            <a:r>
              <a:rPr lang="es-ES" sz="1500" dirty="0"/>
              <a:t>Esta tabla se llama “</a:t>
            </a:r>
            <a:r>
              <a:rPr lang="es-ES" sz="1500" b="1" dirty="0" err="1"/>
              <a:t>order</a:t>
            </a:r>
            <a:r>
              <a:rPr lang="es-ES" sz="1500" b="1" dirty="0"/>
              <a:t> </a:t>
            </a:r>
            <a:r>
              <a:rPr lang="es-ES" sz="1500" b="1" dirty="0" err="1"/>
              <a:t>details</a:t>
            </a:r>
            <a:r>
              <a:rPr lang="es-ES" sz="1500" dirty="0"/>
              <a:t>”, con un espacio entre cada palabra (no es lo recomendado). Para no tener errores en JPA, se debe agregar comillas invertidas en el nombre.</a:t>
            </a:r>
          </a:p>
          <a:p>
            <a:endParaRPr lang="es-PE" sz="1500" dirty="0"/>
          </a:p>
        </p:txBody>
      </p:sp>
      <p:pic>
        <p:nvPicPr>
          <p:cNvPr id="5" name="Google Shape;248;p33">
            <a:extLst>
              <a:ext uri="{FF2B5EF4-FFF2-40B4-BE49-F238E27FC236}">
                <a16:creationId xmlns:a16="http://schemas.microsoft.com/office/drawing/2014/main" id="{23291DBD-7345-7571-2DE8-09A68BC96604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432884" y="891474"/>
            <a:ext cx="3254625" cy="4384606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247;p33">
            <a:extLst>
              <a:ext uri="{FF2B5EF4-FFF2-40B4-BE49-F238E27FC236}">
                <a16:creationId xmlns:a16="http://schemas.microsoft.com/office/drawing/2014/main" id="{AE3B3646-7C4F-0D9D-6AC9-BF47469F497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43579" t="9658" r="34119" b="46257"/>
          <a:stretch/>
        </p:blipFill>
        <p:spPr>
          <a:xfrm>
            <a:off x="10188296" y="1837502"/>
            <a:ext cx="1817399" cy="15101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480748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BD52D8-A131-F165-7EB1-70575D667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121E7B-1EEC-F940-7DF5-7EB69F377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Repositorio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8163079B-7F9A-B2D8-6C7F-714AA3A0688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21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419280D-1933-7690-1A4A-A0DA27760D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sz="2000" dirty="0"/>
              <a:t>Para utilizar esta clase, puede crear un repositorio que gestiona esta entidad, considerando que en la llave se le debe colocar la clase que gestiona la llave compuesta</a:t>
            </a:r>
          </a:p>
          <a:p>
            <a:endParaRPr lang="es-PE" sz="2000" dirty="0"/>
          </a:p>
        </p:txBody>
      </p:sp>
      <p:pic>
        <p:nvPicPr>
          <p:cNvPr id="5" name="Google Shape;256;p34">
            <a:extLst>
              <a:ext uri="{FF2B5EF4-FFF2-40B4-BE49-F238E27FC236}">
                <a16:creationId xmlns:a16="http://schemas.microsoft.com/office/drawing/2014/main" id="{B27506E1-1F67-BAB7-35C5-F2AC1CF730D9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599397" y="2991306"/>
            <a:ext cx="9143999" cy="87538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912374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63BA69-4072-C36A-3C4C-82BF34674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Probando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86142DE0-C701-F8E3-0313-D4B77AD5E04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22</a:t>
            </a:fld>
            <a:endParaRPr lang="es-PE"/>
          </a:p>
        </p:txBody>
      </p:sp>
      <p:pic>
        <p:nvPicPr>
          <p:cNvPr id="5" name="Google Shape;263;p35">
            <a:extLst>
              <a:ext uri="{FF2B5EF4-FFF2-40B4-BE49-F238E27FC236}">
                <a16:creationId xmlns:a16="http://schemas.microsoft.com/office/drawing/2014/main" id="{0C5A3D64-BA4F-3F8A-407E-2E2A93E13E54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24884" y="1730942"/>
            <a:ext cx="3379181" cy="3814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264;p35">
            <a:extLst>
              <a:ext uri="{FF2B5EF4-FFF2-40B4-BE49-F238E27FC236}">
                <a16:creationId xmlns:a16="http://schemas.microsoft.com/office/drawing/2014/main" id="{E82324DB-CB15-C227-A59A-EBDFDF8CB0E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4882" y="1136342"/>
            <a:ext cx="6956249" cy="4301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53441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EE64766-C833-3F36-CAB1-257EA073E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PE" dirty="0"/>
              <a:t>2025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432FCF3-398F-3895-A5E3-D4BAD56C6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Gestión</a:t>
            </a:r>
            <a:r>
              <a:rPr lang="en-US" dirty="0"/>
              <a:t> de </a:t>
            </a:r>
            <a:r>
              <a:rPr lang="en-US" dirty="0" err="1"/>
              <a:t>Servicios</a:t>
            </a:r>
            <a:r>
              <a:rPr lang="en-US" dirty="0"/>
              <a:t> TICS</a:t>
            </a:r>
            <a:endParaRPr lang="es-PE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A34DAB6-F5E2-AB56-F909-207F7A2230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23</a:t>
            </a:fld>
            <a:endParaRPr lang="es-PE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B544E8D0-917D-3BF5-3249-7D430B1C7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PE" dirty="0"/>
          </a:p>
        </p:txBody>
      </p:sp>
      <p:pic>
        <p:nvPicPr>
          <p:cNvPr id="7" name="Google Shape;263;p35">
            <a:extLst>
              <a:ext uri="{FF2B5EF4-FFF2-40B4-BE49-F238E27FC236}">
                <a16:creationId xmlns:a16="http://schemas.microsoft.com/office/drawing/2014/main" id="{6E5FEF81-1B37-3C9B-F153-6D20F2DD4C1B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060665" y="2562525"/>
            <a:ext cx="3379181" cy="3814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264;p35">
            <a:extLst>
              <a:ext uri="{FF2B5EF4-FFF2-40B4-BE49-F238E27FC236}">
                <a16:creationId xmlns:a16="http://schemas.microsoft.com/office/drawing/2014/main" id="{9CF179FB-67B4-1CBE-4087-06C49DD2FA1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60663" y="1967925"/>
            <a:ext cx="6956249" cy="4301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561173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35FE96-C373-7D68-DB47-BF97AAC6C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3500F1-2062-F425-214B-94DA7D46D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Bibliografía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4896AB57-534C-34F4-1546-BF6C76F72AB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24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36F71AB-942E-001B-92D2-2C5F313C7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>
              <a:spcBef>
                <a:spcPts val="0"/>
              </a:spcBef>
              <a:buSzPts val="1800"/>
              <a:buChar char="●"/>
            </a:pPr>
            <a:r>
              <a:rPr lang="en-US" sz="1800" dirty="0"/>
              <a:t>Spring data JPA </a:t>
            </a:r>
            <a:r>
              <a:rPr lang="en-US" sz="1800" dirty="0" err="1"/>
              <a:t>múltiples</a:t>
            </a:r>
            <a:r>
              <a:rPr lang="en-US" sz="1800" dirty="0"/>
              <a:t> </a:t>
            </a:r>
            <a:r>
              <a:rPr lang="en-US" sz="1800" dirty="0" err="1"/>
              <a:t>tablas</a:t>
            </a:r>
            <a:endParaRPr lang="en-US" sz="1800" dirty="0"/>
          </a:p>
          <a:p>
            <a:pPr lvl="1" indent="-317500">
              <a:spcBef>
                <a:spcPts val="0"/>
              </a:spcBef>
              <a:buSzPts val="1400"/>
              <a:buChar char="○"/>
            </a:pPr>
            <a:r>
              <a:rPr lang="en-US" u="sng" dirty="0">
                <a:solidFill>
                  <a:schemeClr val="hlink"/>
                </a:solidFill>
                <a:hlinkClick r:id="rId2"/>
              </a:rPr>
              <a:t>https://www.baeldung.com/jpa-mapping-single-entity-to-multiple-tables</a:t>
            </a:r>
            <a:endParaRPr lang="en-US" dirty="0"/>
          </a:p>
          <a:p>
            <a:pPr lvl="0" indent="-342900">
              <a:lnSpc>
                <a:spcPct val="115000"/>
              </a:lnSpc>
              <a:buSzPts val="1800"/>
              <a:buChar char="●"/>
            </a:pPr>
            <a:r>
              <a:rPr lang="en-US" sz="1800" dirty="0"/>
              <a:t>Persistence with Spring:</a:t>
            </a:r>
          </a:p>
          <a:p>
            <a:pPr lvl="1" indent="-342900">
              <a:lnSpc>
                <a:spcPct val="115000"/>
              </a:lnSpc>
              <a:spcBef>
                <a:spcPts val="0"/>
              </a:spcBef>
              <a:buSzPts val="1800"/>
              <a:buChar char="○"/>
            </a:pPr>
            <a:r>
              <a:rPr lang="en-US" u="sng" dirty="0">
                <a:solidFill>
                  <a:schemeClr val="hlink"/>
                </a:solidFill>
                <a:hlinkClick r:id="rId3"/>
              </a:rPr>
              <a:t>https://s3.amazonaws.com/baeldung.com/Persistence+with+Spring.p</a:t>
            </a:r>
            <a:r>
              <a:rPr lang="en-US" u="sng" dirty="0">
                <a:solidFill>
                  <a:schemeClr val="hlink"/>
                </a:solidFill>
                <a:hlinkClick r:id="rId4"/>
              </a:rPr>
              <a:t>df</a:t>
            </a:r>
            <a:endParaRPr lang="en-US" dirty="0"/>
          </a:p>
          <a:p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14296181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lecomunicaciones_PPT">
      <a:dk1>
        <a:srgbClr val="002060"/>
      </a:dk1>
      <a:lt1>
        <a:sysClr val="window" lastClr="FFFFFF"/>
      </a:lt1>
      <a:dk2>
        <a:srgbClr val="002D89"/>
      </a:dk2>
      <a:lt2>
        <a:srgbClr val="E7E6E6"/>
      </a:lt2>
      <a:accent1>
        <a:srgbClr val="0096C8"/>
      </a:accent1>
      <a:accent2>
        <a:srgbClr val="0076B3"/>
      </a:accent2>
      <a:accent3>
        <a:srgbClr val="00599D"/>
      </a:accent3>
      <a:accent4>
        <a:srgbClr val="20A4CF"/>
      </a:accent4>
      <a:accent5>
        <a:srgbClr val="40B1D6"/>
      </a:accent5>
      <a:accent6>
        <a:srgbClr val="80CBE4"/>
      </a:accent6>
      <a:hlink>
        <a:srgbClr val="0000FF"/>
      </a:hlink>
      <a:folHlink>
        <a:srgbClr val="40B1D6"/>
      </a:folHlink>
    </a:clrScheme>
    <a:fontScheme name="Personalizado 1">
      <a:majorFont>
        <a:latin typeface="Montserrat"/>
        <a:ea typeface=""/>
        <a:cs typeface=""/>
      </a:majorFont>
      <a:minorFont>
        <a:latin typeface="Montserrat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_Telecomunicaciones" id="{A23E30A1-E8DD-4AE6-A061-207F236D4813}" vid="{1CEE12FC-EFE8-427F-AFDD-10E13BDA9816}"/>
    </a:ext>
  </a:extLst>
</a:theme>
</file>

<file path=ppt/theme/theme2.xml><?xml version="1.0" encoding="utf-8"?>
<a:theme xmlns:a="http://schemas.openxmlformats.org/drawingml/2006/main" name="1_Tema de Office">
  <a:themeElements>
    <a:clrScheme name="Telecomunicaciones_PPT">
      <a:dk1>
        <a:srgbClr val="002060"/>
      </a:dk1>
      <a:lt1>
        <a:sysClr val="window" lastClr="FFFFFF"/>
      </a:lt1>
      <a:dk2>
        <a:srgbClr val="002D89"/>
      </a:dk2>
      <a:lt2>
        <a:srgbClr val="E7E6E6"/>
      </a:lt2>
      <a:accent1>
        <a:srgbClr val="0096C8"/>
      </a:accent1>
      <a:accent2>
        <a:srgbClr val="0076B3"/>
      </a:accent2>
      <a:accent3>
        <a:srgbClr val="00599D"/>
      </a:accent3>
      <a:accent4>
        <a:srgbClr val="20A4CF"/>
      </a:accent4>
      <a:accent5>
        <a:srgbClr val="40B1D6"/>
      </a:accent5>
      <a:accent6>
        <a:srgbClr val="80CBE4"/>
      </a:accent6>
      <a:hlink>
        <a:srgbClr val="0000FF"/>
      </a:hlink>
      <a:folHlink>
        <a:srgbClr val="40B1D6"/>
      </a:folHlink>
    </a:clrScheme>
    <a:fontScheme name="Personalizado 1">
      <a:majorFont>
        <a:latin typeface="Montserrat"/>
        <a:ea typeface=""/>
        <a:cs typeface=""/>
      </a:majorFont>
      <a:minorFont>
        <a:latin typeface="Montserrat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_Telecomunicaciones" id="{A23E30A1-E8DD-4AE6-A061-207F236D4813}" vid="{2968A79A-DB5B-4965-B275-611A9275D097}"/>
    </a:ext>
  </a:extLst>
</a:theme>
</file>

<file path=ppt/theme/theme3.xml><?xml version="1.0" encoding="utf-8"?>
<a:theme xmlns:a="http://schemas.openxmlformats.org/drawingml/2006/main" name="Diseño personalizado">
  <a:themeElements>
    <a:clrScheme name="Telecomunicaciones_PPT">
      <a:dk1>
        <a:srgbClr val="002060"/>
      </a:dk1>
      <a:lt1>
        <a:sysClr val="window" lastClr="FFFFFF"/>
      </a:lt1>
      <a:dk2>
        <a:srgbClr val="002D89"/>
      </a:dk2>
      <a:lt2>
        <a:srgbClr val="E7E6E6"/>
      </a:lt2>
      <a:accent1>
        <a:srgbClr val="0096C8"/>
      </a:accent1>
      <a:accent2>
        <a:srgbClr val="0076B3"/>
      </a:accent2>
      <a:accent3>
        <a:srgbClr val="00599D"/>
      </a:accent3>
      <a:accent4>
        <a:srgbClr val="20A4CF"/>
      </a:accent4>
      <a:accent5>
        <a:srgbClr val="40B1D6"/>
      </a:accent5>
      <a:accent6>
        <a:srgbClr val="80CBE4"/>
      </a:accent6>
      <a:hlink>
        <a:srgbClr val="0000FF"/>
      </a:hlink>
      <a:folHlink>
        <a:srgbClr val="40B1D6"/>
      </a:folHlink>
    </a:clrScheme>
    <a:fontScheme name="Montserrat">
      <a:majorFont>
        <a:latin typeface="Montserrat"/>
        <a:ea typeface=""/>
        <a:cs typeface=""/>
      </a:majorFont>
      <a:minorFont>
        <a:latin typeface="Montserrat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_Telecomunicaciones" id="{A23E30A1-E8DD-4AE6-A061-207F236D4813}" vid="{5F575593-E9A2-4645-ABE1-5BD8C9BF19B9}"/>
    </a:ext>
  </a:extLst>
</a:theme>
</file>

<file path=ppt/theme/theme4.xml><?xml version="1.0" encoding="utf-8"?>
<a:theme xmlns:a="http://schemas.openxmlformats.org/drawingml/2006/main" name="Telecom Pucp">
  <a:themeElements>
    <a:clrScheme name="PUCP">
      <a:dk1>
        <a:srgbClr val="191919"/>
      </a:dk1>
      <a:lt1>
        <a:srgbClr val="FFFFFF"/>
      </a:lt1>
      <a:dk2>
        <a:srgbClr val="042354"/>
      </a:dk2>
      <a:lt2>
        <a:srgbClr val="E7EDED"/>
      </a:lt2>
      <a:accent1>
        <a:srgbClr val="2841DD"/>
      </a:accent1>
      <a:accent2>
        <a:srgbClr val="FF9929"/>
      </a:accent2>
      <a:accent3>
        <a:srgbClr val="7F32C8"/>
      </a:accent3>
      <a:accent4>
        <a:srgbClr val="F0AE19"/>
      </a:accent4>
      <a:accent5>
        <a:srgbClr val="0A7BC2"/>
      </a:accent5>
      <a:accent6>
        <a:srgbClr val="16C78E"/>
      </a:accent6>
      <a:hlink>
        <a:srgbClr val="004EA8"/>
      </a:hlink>
      <a:folHlink>
        <a:srgbClr val="C3094A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lecom Pucp" id="{04A4479E-36D6-4C66-807A-9F4E8318654E}" vid="{A438D0C6-9502-4DA2-8DE8-05B87C02855A}"/>
    </a:ext>
  </a:extLst>
</a:theme>
</file>

<file path=ppt/theme/theme5.xml><?xml version="1.0" encoding="utf-8"?>
<a:theme xmlns:a="http://schemas.openxmlformats.org/drawingml/2006/main" name="Tema de Office">
  <a:themeElements>
    <a:clrScheme name="Industrial_PPT">
      <a:dk1>
        <a:srgbClr val="002060"/>
      </a:dk1>
      <a:lt1>
        <a:sysClr val="window" lastClr="FFFFFF"/>
      </a:lt1>
      <a:dk2>
        <a:srgbClr val="002D89"/>
      </a:dk2>
      <a:lt2>
        <a:srgbClr val="E7E6E6"/>
      </a:lt2>
      <a:accent1>
        <a:srgbClr val="014EA8"/>
      </a:accent1>
      <a:accent2>
        <a:srgbClr val="00338C"/>
      </a:accent2>
      <a:accent3>
        <a:srgbClr val="001870"/>
      </a:accent3>
      <a:accent4>
        <a:srgbClr val="2165B3"/>
      </a:accent4>
      <a:accent5>
        <a:srgbClr val="417BBE"/>
      </a:accent5>
      <a:accent6>
        <a:srgbClr val="80A7D4"/>
      </a:accent6>
      <a:hlink>
        <a:srgbClr val="0000FF"/>
      </a:hlink>
      <a:folHlink>
        <a:srgbClr val="417BB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Tema de Office">
  <a:themeElements>
    <a:clrScheme name="Industrial_PPT">
      <a:dk1>
        <a:srgbClr val="002060"/>
      </a:dk1>
      <a:lt1>
        <a:sysClr val="window" lastClr="FFFFFF"/>
      </a:lt1>
      <a:dk2>
        <a:srgbClr val="002D89"/>
      </a:dk2>
      <a:lt2>
        <a:srgbClr val="E7E6E6"/>
      </a:lt2>
      <a:accent1>
        <a:srgbClr val="014EA8"/>
      </a:accent1>
      <a:accent2>
        <a:srgbClr val="00338C"/>
      </a:accent2>
      <a:accent3>
        <a:srgbClr val="001870"/>
      </a:accent3>
      <a:accent4>
        <a:srgbClr val="2165B3"/>
      </a:accent4>
      <a:accent5>
        <a:srgbClr val="417BBE"/>
      </a:accent5>
      <a:accent6>
        <a:srgbClr val="80A7D4"/>
      </a:accent6>
      <a:hlink>
        <a:srgbClr val="0000FF"/>
      </a:hlink>
      <a:folHlink>
        <a:srgbClr val="417BB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Plantilla_Telecomunicaciones (1)</Template>
  <TotalTime>403</TotalTime>
  <Words>810</Words>
  <Application>Microsoft Office PowerPoint</Application>
  <PresentationFormat>Panorámica</PresentationFormat>
  <Paragraphs>115</Paragraphs>
  <Slides>24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4</vt:i4>
      </vt:variant>
      <vt:variant>
        <vt:lpstr>Títulos de diapositiva</vt:lpstr>
      </vt:variant>
      <vt:variant>
        <vt:i4>24</vt:i4>
      </vt:variant>
    </vt:vector>
  </HeadingPairs>
  <TitlesOfParts>
    <vt:vector size="31" baseType="lpstr">
      <vt:lpstr>Arial</vt:lpstr>
      <vt:lpstr>Montserrat</vt:lpstr>
      <vt:lpstr>Montserrat Medium</vt:lpstr>
      <vt:lpstr>Tema de Office</vt:lpstr>
      <vt:lpstr>1_Tema de Office</vt:lpstr>
      <vt:lpstr>Diseño personalizado</vt:lpstr>
      <vt:lpstr>Telecom Pucp</vt:lpstr>
      <vt:lpstr>Presentación de PowerPoint</vt:lpstr>
      <vt:lpstr>Spring Data JPA Múltiples Tablas</vt:lpstr>
      <vt:lpstr>Relaciones entre tablas</vt:lpstr>
      <vt:lpstr>Entidades, repositorios y controladores</vt:lpstr>
      <vt:lpstr>Relación Product-Category</vt:lpstr>
      <vt:lpstr>Configurar @MatyToOne</vt:lpstr>
      <vt:lpstr>Relación Product-Supplier</vt:lpstr>
      <vt:lpstr>Vista</vt:lpstr>
      <vt:lpstr>Resultado</vt:lpstr>
      <vt:lpstr>Crear nuevo producto</vt:lpstr>
      <vt:lpstr>Crear nuevo producto - controlador</vt:lpstr>
      <vt:lpstr>Crear nuevo producto - vista</vt:lpstr>
      <vt:lpstr>Crear nuevo producto – Vista HTML</vt:lpstr>
      <vt:lpstr>Editar un producto</vt:lpstr>
      <vt:lpstr>Editar un producto - vista</vt:lpstr>
      <vt:lpstr>Vista en HTML</vt:lpstr>
      <vt:lpstr>Tablas Intermedias</vt:lpstr>
      <vt:lpstr>Gestión de tablas intermedias</vt:lpstr>
      <vt:lpstr>Creación de llave compuesta</vt:lpstr>
      <vt:lpstr>Creación de la entidad</vt:lpstr>
      <vt:lpstr>Repositorio</vt:lpstr>
      <vt:lpstr>Probando</vt:lpstr>
      <vt:lpstr>Presentación de PowerPoint</vt:lpstr>
      <vt:lpstr>Bibliografía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Programación Orientada a Objetos &amp; Introducción a Java</dc:title>
  <dc:creator>Brenda Tumbalobos</dc:creator>
  <cp:lastModifiedBy>Brenda Tumbalobos Cubas</cp:lastModifiedBy>
  <cp:revision>23</cp:revision>
  <dcterms:created xsi:type="dcterms:W3CDTF">2023-10-28T21:43:03Z</dcterms:created>
  <dcterms:modified xsi:type="dcterms:W3CDTF">2026-04-07T17:53:38Z</dcterms:modified>
</cp:coreProperties>
</file>