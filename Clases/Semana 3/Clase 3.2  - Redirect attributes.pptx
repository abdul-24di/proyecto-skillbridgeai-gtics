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5"/>
  </p:notesMasterIdLst>
  <p:handoutMasterIdLst>
    <p:handoutMasterId r:id="rId16"/>
  </p:handoutMasterIdLst>
  <p:sldIdLst>
    <p:sldId id="37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64" r:id="rId1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298944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7856354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292810" cy="68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76F308E-16B8-6C20-75A9-C9C28A778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702"/>
            <a:ext cx="10292810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5007751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7158949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9102385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02485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7079233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8244525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0280063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83702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5454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1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awni10/clase5gtics-master.git" TargetMode="Externa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spring-redirect-and-forward" TargetMode="External"/><Relationship Id="rId2" Type="http://schemas.openxmlformats.org/officeDocument/2006/relationships/hyperlink" Target="https://docs.spring.io/spring/docs/current/javadoc-api/org/springframework/web/servlet/mvc/support/RedirectAttributes.html" TargetMode="Externa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spring-redirect-and-forward" TargetMode="External"/><Relationship Id="rId2" Type="http://schemas.openxmlformats.org/officeDocument/2006/relationships/hyperlink" Target="https://docs.spring.io/spring/docs/current/javadoc-api/org/springframework/web/servlet/mvc/support/RedirectAttributes.html" TargetMode="Externa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70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E49FE-8C1B-2AD4-F125-65EA27B2B4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Redirect</a:t>
            </a:r>
            <a:r>
              <a:rPr lang="es-ES" dirty="0"/>
              <a:t> </a:t>
            </a:r>
            <a:r>
              <a:rPr lang="es-ES" dirty="0" err="1"/>
              <a:t>attributes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42AE40-3528-A20A-8BFD-6436A83388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hlinkClick r:id="rId2"/>
              </a:rPr>
              <a:t>https://github.com/brawni10/clase5gtics-master.git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945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8E9A1-6ACE-43E6-ADFD-A1383176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Redirect</a:t>
            </a:r>
            <a:r>
              <a:rPr lang="es-ES" dirty="0"/>
              <a:t> </a:t>
            </a:r>
            <a:r>
              <a:rPr lang="es-ES" dirty="0" err="1"/>
              <a:t>Attributes</a:t>
            </a:r>
            <a:r>
              <a:rPr lang="es-ES" dirty="0"/>
              <a:t> – Atributos Flash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DFB290-5C67-CDB4-C2D2-E1B94FBFEE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490144-8D02-CA38-A538-F8D1B51B3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2000" dirty="0"/>
              <a:t>Los </a:t>
            </a:r>
            <a:r>
              <a:rPr lang="es-ES" sz="2000" b="1" dirty="0" err="1"/>
              <a:t>Redirect</a:t>
            </a:r>
            <a:r>
              <a:rPr lang="es-ES" sz="2000" b="1" dirty="0"/>
              <a:t> </a:t>
            </a:r>
            <a:r>
              <a:rPr lang="es-ES" sz="2000" b="1" dirty="0" err="1"/>
              <a:t>Attributes</a:t>
            </a:r>
            <a:r>
              <a:rPr lang="es-ES" sz="2000" b="1" dirty="0"/>
              <a:t> </a:t>
            </a:r>
            <a:r>
              <a:rPr lang="es-ES" sz="2000" dirty="0"/>
              <a:t>o </a:t>
            </a:r>
            <a:r>
              <a:rPr lang="es-ES" sz="2000" b="1" dirty="0"/>
              <a:t>Atributos flash</a:t>
            </a:r>
            <a:r>
              <a:rPr lang="es-ES" sz="2000" dirty="0"/>
              <a:t> son objetos temporales, los cuales son almacenados en sesión antes de </a:t>
            </a:r>
            <a:r>
              <a:rPr lang="es-ES" sz="2000" b="1" dirty="0"/>
              <a:t>redireccionar de un controlador a otro controlador</a:t>
            </a:r>
            <a:r>
              <a:rPr lang="es-ES" sz="2000" dirty="0"/>
              <a:t>. Permite hacer uso de estos objetos una única vez y luego Spring los borra y desaparecen.</a:t>
            </a:r>
          </a:p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endParaRPr lang="es-ES" sz="2000" dirty="0"/>
          </a:p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hacer uso de los atributos flash, se debe utilizar el objeto </a:t>
            </a:r>
            <a:r>
              <a:rPr lang="es-ES" sz="2000" b="1" dirty="0" err="1"/>
              <a:t>RedirectAttributes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b="1" dirty="0"/>
              <a:t>Tenga en cuenta que, si no va a redireccionar a otro controlador, los atributos flash no estarán disponibles</a:t>
            </a:r>
            <a:r>
              <a:rPr lang="es-ES" sz="2000" dirty="0"/>
              <a:t> y debe usar, por el contrario, el objeto </a:t>
            </a:r>
            <a:r>
              <a:rPr lang="es-ES" sz="2000" dirty="0" err="1"/>
              <a:t>Model</a:t>
            </a:r>
            <a:r>
              <a:rPr lang="es-E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979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74D74-F209-1E00-AD19-5A968BAD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1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9F7A4A-C99A-2312-8108-290151AF0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AD9A4B-3335-DB58-B8F6-23D5558E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702"/>
            <a:ext cx="4542322" cy="3843645"/>
          </a:xfrm>
        </p:spPr>
        <p:txBody>
          <a:bodyPr>
            <a:normAutofit fontScale="92500" lnSpcReduction="20000"/>
          </a:bodyPr>
          <a:lstStyle/>
          <a:p>
            <a:r>
              <a:rPr lang="es-ES" sz="2100" dirty="0"/>
              <a:t>→</a:t>
            </a:r>
            <a:r>
              <a:rPr lang="es-ES" sz="2100" b="1" dirty="0"/>
              <a:t> Realizar: Agregar un mensaje luego de guardar un nuevo transportista.</a:t>
            </a:r>
          </a:p>
          <a:p>
            <a:endParaRPr lang="es-ES" sz="2100" b="1" dirty="0"/>
          </a:p>
          <a:p>
            <a:pPr marL="0" lvl="0" indent="0">
              <a:spcBef>
                <a:spcPts val="0"/>
              </a:spcBef>
              <a:buNone/>
            </a:pPr>
            <a:r>
              <a:rPr lang="es-ES" sz="2100" u="sng" dirty="0"/>
              <a:t>Solución</a:t>
            </a:r>
            <a:r>
              <a:rPr lang="es-ES" sz="21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100" dirty="0"/>
              <a:t>Observar que luego de crear un nuevo transportista, el controlador redirecciona a otra ruta, en este caso a “</a:t>
            </a:r>
            <a:r>
              <a:rPr lang="es-ES" sz="2100" b="1" dirty="0"/>
              <a:t>/</a:t>
            </a:r>
            <a:r>
              <a:rPr lang="es-ES" sz="2100" b="1" dirty="0" err="1"/>
              <a:t>shipper</a:t>
            </a:r>
            <a:r>
              <a:rPr lang="es-ES" sz="2100" b="1" dirty="0"/>
              <a:t>/</a:t>
            </a:r>
            <a:r>
              <a:rPr lang="es-ES" sz="2100" b="1" dirty="0" err="1"/>
              <a:t>list</a:t>
            </a:r>
            <a:r>
              <a:rPr lang="es-ES" sz="2100" dirty="0"/>
              <a:t>”, definido en el método </a:t>
            </a:r>
            <a:r>
              <a:rPr lang="es-ES" sz="2100" b="1" dirty="0" err="1"/>
              <a:t>listarTransportistas</a:t>
            </a:r>
            <a:r>
              <a:rPr lang="es-ES" sz="2100" b="1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100" dirty="0"/>
              <a:t>Entonces, para enviar un mensaje de un controlador a otro, se usarán los flash </a:t>
            </a:r>
            <a:r>
              <a:rPr lang="es-ES" sz="2100" dirty="0" err="1"/>
              <a:t>attributes</a:t>
            </a:r>
            <a:r>
              <a:rPr lang="es-ES" sz="2100" dirty="0"/>
              <a:t>.</a:t>
            </a:r>
          </a:p>
          <a:p>
            <a:endParaRPr lang="es-PE" dirty="0"/>
          </a:p>
        </p:txBody>
      </p:sp>
      <p:pic>
        <p:nvPicPr>
          <p:cNvPr id="5" name="Google Shape;99;p17">
            <a:extLst>
              <a:ext uri="{FF2B5EF4-FFF2-40B4-BE49-F238E27FC236}">
                <a16:creationId xmlns:a16="http://schemas.microsoft.com/office/drawing/2014/main" id="{4B9A5D7C-F461-5225-4A24-FFE7AF30ED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74640" y="1271047"/>
            <a:ext cx="5114525" cy="403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879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07807-CBB3-7D8D-555A-90D6E58B0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C5579-47CE-8BC0-9938-DD80C7823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1 - </a:t>
            </a:r>
            <a:r>
              <a:rPr lang="es-ES" dirty="0" err="1"/>
              <a:t>cont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30E573B-DBDF-EEF6-124B-6D3730E6E5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1BF697-8990-8E5D-9157-8CF335CD2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Se usa el método </a:t>
            </a:r>
            <a:r>
              <a:rPr lang="es-ES" sz="1800" b="1" dirty="0" err="1"/>
              <a:t>addFlashAttributes</a:t>
            </a:r>
            <a:r>
              <a:rPr lang="es-ES" sz="1800" b="1" dirty="0"/>
              <a:t>()</a:t>
            </a:r>
            <a:r>
              <a:rPr lang="es-ES" sz="1800" dirty="0"/>
              <a:t>, el cual recibe dos parámetros: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sz="1800" dirty="0"/>
              <a:t>El primero, la variable que se desea enviar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dirty="0"/>
              <a:t>El segundo, el valor de la variable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En este ejemplo, se enviará el parámetro “</a:t>
            </a:r>
            <a:r>
              <a:rPr lang="es-ES" sz="1800" b="1" dirty="0" err="1"/>
              <a:t>msg</a:t>
            </a:r>
            <a:r>
              <a:rPr lang="es-ES" sz="1800" dirty="0"/>
              <a:t>” con el valor “</a:t>
            </a:r>
            <a:r>
              <a:rPr lang="es-ES" sz="1800" b="1" dirty="0"/>
              <a:t>Usuario creado exitosamente</a:t>
            </a:r>
            <a:r>
              <a:rPr lang="es-ES" sz="1800" dirty="0"/>
              <a:t>” y este estará disponible </a:t>
            </a:r>
            <a:r>
              <a:rPr lang="es-ES" sz="1800" b="1" dirty="0"/>
              <a:t>una única vez</a:t>
            </a:r>
            <a:r>
              <a:rPr lang="es-ES" sz="1800" dirty="0"/>
              <a:t> en la ruta /</a:t>
            </a:r>
            <a:r>
              <a:rPr lang="es-ES" sz="1800" b="1" dirty="0" err="1"/>
              <a:t>shipper</a:t>
            </a:r>
            <a:r>
              <a:rPr lang="es-ES" sz="1800" b="1" dirty="0"/>
              <a:t>/</a:t>
            </a:r>
            <a:r>
              <a:rPr lang="es-ES" sz="1800" b="1" dirty="0" err="1"/>
              <a:t>list</a:t>
            </a:r>
            <a:r>
              <a:rPr lang="es-ES" sz="1800" dirty="0"/>
              <a:t> y </a:t>
            </a:r>
            <a:r>
              <a:rPr lang="es-ES" sz="1800" b="1" dirty="0"/>
              <a:t>en su respectiva vista</a:t>
            </a:r>
            <a:r>
              <a:rPr lang="es-ES" sz="1800" dirty="0"/>
              <a:t>.</a:t>
            </a:r>
          </a:p>
          <a:p>
            <a:endParaRPr lang="es-PE" dirty="0"/>
          </a:p>
        </p:txBody>
      </p:sp>
      <p:pic>
        <p:nvPicPr>
          <p:cNvPr id="5" name="Google Shape;112;p18">
            <a:extLst>
              <a:ext uri="{FF2B5EF4-FFF2-40B4-BE49-F238E27FC236}">
                <a16:creationId xmlns:a16="http://schemas.microsoft.com/office/drawing/2014/main" id="{96D689AC-F20B-CADA-DB75-537A40DC49F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6962" y="3638556"/>
            <a:ext cx="7458075" cy="135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53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BD0A9-711C-2A0D-D575-C7A425DB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61BCA-C157-5645-D427-579E0288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1 -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D61FC1-5483-9563-CA01-D9E1E26E89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BB30E-EF38-E5F3-7F8D-554728A97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la vista de listar transportistas, se agrega un tag con la validación </a:t>
            </a:r>
            <a:r>
              <a:rPr lang="es-ES" sz="1800" b="1" dirty="0" err="1"/>
              <a:t>th:if</a:t>
            </a:r>
            <a:r>
              <a:rPr lang="es-ES" sz="1800" dirty="0"/>
              <a:t>, la cual tiene precedencia sobre </a:t>
            </a:r>
            <a:r>
              <a:rPr lang="es-ES" sz="1800" b="1" dirty="0" err="1"/>
              <a:t>th:text</a:t>
            </a:r>
            <a:r>
              <a:rPr lang="es-ES" sz="1800" dirty="0"/>
              <a:t>. En </a:t>
            </a:r>
            <a:r>
              <a:rPr lang="es-ES" sz="1800" b="1" dirty="0" err="1"/>
              <a:t>th:if</a:t>
            </a:r>
            <a:r>
              <a:rPr lang="es-ES" sz="1800" b="1" dirty="0"/>
              <a:t> </a:t>
            </a:r>
            <a:r>
              <a:rPr lang="es-ES" sz="1800" dirty="0"/>
              <a:t>se realiza la validación de la variable si esta </a:t>
            </a:r>
            <a:r>
              <a:rPr lang="es-ES" sz="1800" b="1" dirty="0"/>
              <a:t>existe o no,</a:t>
            </a:r>
            <a:r>
              <a:rPr lang="es-ES" sz="1800" dirty="0"/>
              <a:t> con </a:t>
            </a:r>
            <a:r>
              <a:rPr lang="es-ES" sz="1800" b="1" dirty="0"/>
              <a:t>!= </a:t>
            </a:r>
            <a:r>
              <a:rPr lang="es-ES" sz="1800" b="1" dirty="0" err="1"/>
              <a:t>null</a:t>
            </a:r>
            <a:r>
              <a:rPr lang="es-ES" sz="1800" dirty="0"/>
              <a:t>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De existir, muestra el mensaje con </a:t>
            </a:r>
            <a:r>
              <a:rPr lang="es-ES" sz="1800" b="1" dirty="0" err="1"/>
              <a:t>th:text</a:t>
            </a:r>
            <a:r>
              <a:rPr lang="es-ES" sz="1800" dirty="0"/>
              <a:t>. El error que aparece en </a:t>
            </a:r>
            <a:r>
              <a:rPr lang="es-ES" sz="1800" dirty="0" err="1"/>
              <a:t>Intellij</a:t>
            </a:r>
            <a:r>
              <a:rPr lang="es-ES" sz="1800" dirty="0"/>
              <a:t> es porque el IDE no reconoce la variable; sin embargo, lo puede obviar.</a:t>
            </a:r>
          </a:p>
          <a:p>
            <a:endParaRPr lang="es-PE" dirty="0"/>
          </a:p>
        </p:txBody>
      </p:sp>
      <p:pic>
        <p:nvPicPr>
          <p:cNvPr id="5" name="Google Shape;121;p19">
            <a:extLst>
              <a:ext uri="{FF2B5EF4-FFF2-40B4-BE49-F238E27FC236}">
                <a16:creationId xmlns:a16="http://schemas.microsoft.com/office/drawing/2014/main" id="{B386C7A2-08AE-845E-91C3-4AF85B05DC3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9774" y="3393767"/>
            <a:ext cx="2010635" cy="202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2;p19">
            <a:extLst>
              <a:ext uri="{FF2B5EF4-FFF2-40B4-BE49-F238E27FC236}">
                <a16:creationId xmlns:a16="http://schemas.microsoft.com/office/drawing/2014/main" id="{6B9960B6-8328-E134-0C59-25C20664E6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534" y="3230984"/>
            <a:ext cx="3630351" cy="235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3;p19">
            <a:extLst>
              <a:ext uri="{FF2B5EF4-FFF2-40B4-BE49-F238E27FC236}">
                <a16:creationId xmlns:a16="http://schemas.microsoft.com/office/drawing/2014/main" id="{D3453AE6-F5CC-E9C4-50E1-DF6D7009752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7211" y="2834965"/>
            <a:ext cx="8839200" cy="255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96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0A56-C4C5-2A37-DA6D-39918912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3740A-0971-F970-6BE8-A22BB497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2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5FAD08-5AD9-2A88-A686-7F2508C318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4B1790-18DB-DA81-B439-DECECE8D6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702"/>
            <a:ext cx="10292810" cy="4122951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Realizar lo mismo para un usuario actualizado y uno borrado.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En el caso de la actualización de un usuario, la ruta es la misma para guardar un nuevo usuario: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→ /</a:t>
            </a:r>
            <a:r>
              <a:rPr lang="es-ES" sz="1800" dirty="0" err="1"/>
              <a:t>shipper</a:t>
            </a:r>
            <a:r>
              <a:rPr lang="es-ES" sz="1800" dirty="0"/>
              <a:t>/</a:t>
            </a:r>
            <a:r>
              <a:rPr lang="es-ES" sz="1800" dirty="0" err="1"/>
              <a:t>save</a:t>
            </a: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Por este motivo, se debe validar si el ID del usuario existe para mostrar el mensaje adecuado.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indent="0">
              <a:spcBef>
                <a:spcPts val="1600"/>
              </a:spcBef>
              <a:buNone/>
            </a:pPr>
            <a:r>
              <a:rPr lang="es-ES" sz="1800" b="1" dirty="0"/>
              <a:t>Observación</a:t>
            </a:r>
            <a:r>
              <a:rPr lang="es-ES" sz="1800" dirty="0"/>
              <a:t>:</a:t>
            </a:r>
            <a:r>
              <a:rPr lang="es-ES" sz="1800" b="1" dirty="0">
                <a:solidFill>
                  <a:srgbClr val="FF0000"/>
                </a:solidFill>
              </a:rPr>
              <a:t> </a:t>
            </a:r>
            <a:r>
              <a:rPr lang="es-ES" sz="1800" b="1" dirty="0">
                <a:highlight>
                  <a:srgbClr val="FFFF00"/>
                </a:highlight>
              </a:rPr>
              <a:t>la validación debe realizarse antes del método </a:t>
            </a:r>
            <a:r>
              <a:rPr lang="es-ES" sz="1800" b="1" dirty="0" err="1">
                <a:highlight>
                  <a:srgbClr val="FFFF00"/>
                </a:highlight>
              </a:rPr>
              <a:t>save</a:t>
            </a:r>
            <a:r>
              <a:rPr lang="es-ES" sz="1800" b="1" dirty="0">
                <a:highlight>
                  <a:srgbClr val="FFFF00"/>
                </a:highlight>
              </a:rPr>
              <a:t>( ), puesto que, este método le coloca el ID al objeto </a:t>
            </a:r>
            <a:r>
              <a:rPr lang="es-ES" sz="1800" b="1" dirty="0" err="1">
                <a:highlight>
                  <a:srgbClr val="FFFF00"/>
                </a:highlight>
              </a:rPr>
              <a:t>shipper</a:t>
            </a:r>
            <a:r>
              <a:rPr lang="es-ES" sz="1800" b="1" dirty="0">
                <a:highlight>
                  <a:srgbClr val="FFFF00"/>
                </a:highlight>
              </a:rPr>
              <a:t> si este es un nuevo registro.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endParaRPr lang="es-PE" dirty="0"/>
          </a:p>
        </p:txBody>
      </p:sp>
      <p:pic>
        <p:nvPicPr>
          <p:cNvPr id="5" name="Google Shape;133;p20">
            <a:extLst>
              <a:ext uri="{FF2B5EF4-FFF2-40B4-BE49-F238E27FC236}">
                <a16:creationId xmlns:a16="http://schemas.microsoft.com/office/drawing/2014/main" id="{C337385D-5BCA-D7E7-B437-FE19BC936A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0579" y="2947736"/>
            <a:ext cx="6434289" cy="1662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782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ECCB-8D2A-DBE0-23AB-46BF562E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86BD4-2FEF-5212-D5F2-828040C42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2 - </a:t>
            </a:r>
            <a:r>
              <a:rPr lang="es-ES" dirty="0" err="1"/>
              <a:t>cont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102A775-835C-5F35-6C01-5812079852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1440A1-DA8E-F93C-8830-2CDDDCCD2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borrar es directo, se realiza la misma acción en el controlador y en la vista.</a:t>
            </a:r>
          </a:p>
          <a:p>
            <a:endParaRPr lang="es-PE" dirty="0"/>
          </a:p>
        </p:txBody>
      </p:sp>
      <p:pic>
        <p:nvPicPr>
          <p:cNvPr id="5" name="Google Shape;141;p21">
            <a:extLst>
              <a:ext uri="{FF2B5EF4-FFF2-40B4-BE49-F238E27FC236}">
                <a16:creationId xmlns:a16="http://schemas.microsoft.com/office/drawing/2014/main" id="{EC152D22-74AC-3785-2A05-874F135C09A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3654" y="2559848"/>
            <a:ext cx="7029450" cy="2838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334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9D0E-749A-50FD-CD5E-7A0FFC24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9B8A2-BDC4-0048-6770-E1E4810A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0A898BA-BEF4-1FA6-B3F5-3D9649D184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B34732-6EA8-8A67-918F-7FF2226A9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n-US" sz="1800" dirty="0"/>
              <a:t>Redirect attributes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2"/>
              </a:rPr>
              <a:t>https://docs.spring.io/spring/docs/current/javadoc-api/org/springframework/web/servlet/mvc/support/RedirectAttributes.html</a:t>
            </a:r>
            <a:endParaRPr lang="en-US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https://www.baeldung.com/spring-redirect-and-forward</a:t>
            </a:r>
            <a:endParaRPr lang="en-US" sz="1800" dirty="0"/>
          </a:p>
          <a:p>
            <a:pPr lvl="0" indent="-317500">
              <a:buSzPts val="1400"/>
              <a:buChar char="●"/>
            </a:pPr>
            <a:r>
              <a:rPr lang="en-US" sz="1800" dirty="0"/>
              <a:t>Libro: 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dirty="0"/>
              <a:t>Siva, P. R. K. (2018). Beginning Spring Boot 2: applications and microservices with the Spring framework. New York: </a:t>
            </a:r>
            <a:r>
              <a:rPr lang="en-US" sz="1800" dirty="0" err="1"/>
              <a:t>Apress</a:t>
            </a:r>
            <a:r>
              <a:rPr lang="en-US" sz="1800" dirty="0"/>
              <a:t>.</a:t>
            </a:r>
          </a:p>
          <a:p>
            <a:pPr lvl="2" indent="-317500">
              <a:spcBef>
                <a:spcPts val="0"/>
              </a:spcBef>
              <a:buSzPts val="1400"/>
              <a:buChar char="■"/>
            </a:pPr>
            <a:r>
              <a:rPr lang="en-US" sz="1800" dirty="0"/>
              <a:t>Chapter 8: Working with </a:t>
            </a:r>
            <a:r>
              <a:rPr lang="en-US" sz="1800" dirty="0" err="1"/>
              <a:t>jpa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1460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CD3019-EBA5-75CF-91AB-5232258E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D9C172-6F0D-0CED-B264-DFD31D11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9040DC-A3EF-68E8-F4F8-8B6657A3E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4FDDB5F-0845-20FD-AAA8-8102547D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BDC30E-AFFA-101A-89D3-4D4CF126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 dirty="0"/>
              <a:t>Redirect attributes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2"/>
              </a:rPr>
              <a:t>https://docs.spring.io/spring/docs/current/javadoc-api/org/springframework/web/servlet/mvc/support/RedirectAttributes.html</a:t>
            </a:r>
            <a:endParaRPr lang="en-US" sz="18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https://www.baeldung.com/spring-redirect-and-forward</a:t>
            </a:r>
            <a:endParaRPr lang="en-US" sz="18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sz="1400" dirty="0"/>
              <a:t>Libro: </a:t>
            </a:r>
            <a:endParaRPr lang="en-US" sz="18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800" dirty="0"/>
              <a:t>Siva, P. R. K. (2018). Beginning Spring Boot 2: applications and microservices with the Spring framework. New York: </a:t>
            </a:r>
            <a:r>
              <a:rPr lang="en-US" sz="1800" dirty="0" err="1"/>
              <a:t>Apress</a:t>
            </a:r>
            <a:r>
              <a:rPr lang="en-US" sz="1800" dirty="0"/>
              <a:t>.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sz="1600" dirty="0"/>
              <a:t>Chapter 8: Working with </a:t>
            </a:r>
            <a:r>
              <a:rPr lang="en-US" sz="1600" dirty="0" err="1"/>
              <a:t>jpa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824535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459</TotalTime>
  <Words>615</Words>
  <Application>Microsoft Office PowerPoint</Application>
  <PresentationFormat>Panorámica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Redirect attributes</vt:lpstr>
      <vt:lpstr>Redirect Attributes – Atributos Flash</vt:lpstr>
      <vt:lpstr>Ejemplo 1</vt:lpstr>
      <vt:lpstr>Ejemplo 1 - cont</vt:lpstr>
      <vt:lpstr>Ejemplo 1 - vista</vt:lpstr>
      <vt:lpstr>Ejemplo 2</vt:lpstr>
      <vt:lpstr>Ejemplo 2 - cont</vt:lpstr>
      <vt:lpstr>Bibliografía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23</cp:revision>
  <dcterms:created xsi:type="dcterms:W3CDTF">2023-10-28T21:43:03Z</dcterms:created>
  <dcterms:modified xsi:type="dcterms:W3CDTF">2026-04-07T18:51:36Z</dcterms:modified>
</cp:coreProperties>
</file>