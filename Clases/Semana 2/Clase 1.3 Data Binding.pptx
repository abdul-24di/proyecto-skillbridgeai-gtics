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4" r:id="rId2"/>
    <p:sldMasterId id="2147483660" r:id="rId3"/>
    <p:sldMasterId id="2147483680" r:id="rId4"/>
  </p:sldMasterIdLst>
  <p:notesMasterIdLst>
    <p:notesMasterId r:id="rId13"/>
  </p:notesMasterIdLst>
  <p:handoutMasterIdLst>
    <p:handoutMasterId r:id="rId14"/>
  </p:handoutMasterIdLst>
  <p:sldIdLst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32C8"/>
    <a:srgbClr val="0A2451"/>
    <a:srgbClr val="7F32C8"/>
    <a:srgbClr val="0096C8"/>
    <a:srgbClr val="009A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91" autoAdjust="0"/>
    <p:restoredTop sz="94643"/>
  </p:normalViewPr>
  <p:slideViewPr>
    <p:cSldViewPr snapToGrid="0" snapToObjects="1">
      <p:cViewPr varScale="1">
        <p:scale>
          <a:sx n="99" d="100"/>
          <a:sy n="99" d="100"/>
        </p:scale>
        <p:origin x="95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F0BF7D0-ACCD-45E0-9075-7974351BA6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B6A517-4C1F-40CC-B607-62B1086073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40BD7-4B38-4A99-A6E7-5E1A97DAF11B}" type="datetimeFigureOut">
              <a:rPr lang="es-PE" smtClean="0"/>
              <a:t>24/03/2026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DE1014B-0959-4D3A-8DC3-99369C9107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5F80A8-C49B-4372-B96A-23231D58BE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D7DB4-D5A9-475B-BF72-4B93DC046C5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6361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2EFC3-66C1-4423-B1B2-E7C9DCCB5C75}" type="datetimeFigureOut">
              <a:rPr lang="es-PE" smtClean="0"/>
              <a:t>24/03/2026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75E41-3A85-45FC-A38E-3ABB827C8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37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BDFEDA-4707-4FCF-B728-8770DE81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C491-E0CA-4324-AB99-27795370E731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EC6C11-5534-41C2-AE3F-23A2E42B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96F09D-DC31-489D-B4ED-C366F88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910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8E25-E046-416A-8AD2-E2EA35E0D47B}" type="datetime6">
              <a:rPr lang="es-PE" smtClean="0"/>
              <a:t>Marzo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2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8130-A112-4F15-AFC2-368CC75448B6}" type="datetime6">
              <a:rPr lang="es-PE" smtClean="0"/>
              <a:t>Marzo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6BDD-8036-732D-98BA-0F2E3735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875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79D8E-AB04-8E45-9319-348AC3CB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A28C-F211-4BC4-A82C-550C2815AB6D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7A3063-101A-4748-9BF4-BDCEAD74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8165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1ED01-9170-4915-AD68-3CC34DFA2DBD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F1C9D-46B9-3A4E-AB57-99CFCB4F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06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DE35-9A49-4AAC-8B2C-BA4A347498EB}" type="datetime6">
              <a:rPr lang="es-PE" smtClean="0"/>
              <a:t>Marzo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83630D-DB33-894E-A6FB-7C886A31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101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B3AF-5458-4635-87B4-F9A9B12C5458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40BCAD-F69B-D846-B7D1-F816049E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1520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4354-6BA5-49FF-BF43-87C4B22E98B4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665C2B-C547-9D48-897C-C27108ED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634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0608-F1FB-45F6-860F-922B6EF37ED4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B5093-2547-5848-96C5-63FA5D8A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9299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78BD-AB8A-4345-9035-53D22F2B3257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95E045-43DC-F64F-8427-01C4927D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393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17"/>
            <a:ext cx="10515600" cy="33049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1771-42A4-45B0-9E2A-31E6848B072B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A687CBB4-B26D-433C-982F-3DCCCFE5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8824"/>
            <a:ext cx="10515600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D43F6072-5465-F57A-EF21-56204254D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2845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5F0A72E7-2671-47A4-AF35-66459EA1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D25D-3002-4A58-8B13-21BD8EE61204}" type="datetime6">
              <a:rPr lang="es-PE" smtClean="0"/>
              <a:t>Marzo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86C3314-7415-4B69-9C72-28C2155C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07477A4A-ECCB-8B69-A47C-30FB4783A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5517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DECC-10B9-4F40-90A9-2F5BE622FB80}" type="datetime6">
              <a:rPr lang="es-PE" smtClean="0"/>
              <a:t>Marzo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278E2-83A6-F38B-4712-926F3DB9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5A0FF8-286D-9381-1F09-B45262982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6149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F008D962-BEC4-402A-A407-79C9AD9F2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0233-ABB9-4EC0-9B00-FB2CD5E81D0A}" type="datetime6">
              <a:rPr lang="es-PE" smtClean="0"/>
              <a:t>Marzo de 2026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3750F3DD-81E0-4125-8E5B-E0A1E304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9B72A45B-A8B6-53D1-D299-D8D234C3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3004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0424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32517-B618-4C30-966E-4CE57A9A4AD9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975A041E-5422-B9D8-43AC-BC8E8410A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190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572F-C44F-4ECE-A2FB-0C63931A9A8E}" type="datetime6">
              <a:rPr lang="es-PE" smtClean="0"/>
              <a:t>Marzo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024E81AF-5ACD-3527-83DB-C9AD4CA0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8079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5C4A-DDA2-4FA4-84CD-631E9785E0C4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59D5B90D-729B-0333-8733-D407F4441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8726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76157-6C99-4927-8D4B-5792D6D36C68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C8F8A8AE-3D1C-5104-BD49-852FD075A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18953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1711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108197"/>
            <a:ext cx="10515600" cy="406876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E1B8-50E8-41AE-B289-DDEF242637E2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E4FC7515-E45E-EA9E-AB33-84FFF36BD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24937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2286-761A-4DF9-BC80-ED7ACDE5A868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9245C2B-EA67-6FB3-B251-E41C03185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4469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40041-0AC9-F54A-8CD6-2C6E25C004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8900" y="2314574"/>
            <a:ext cx="7181850" cy="2224781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 de clase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40FCB-6F03-EA41-B8CA-B38BB6401C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10750" y="4539355"/>
            <a:ext cx="2131452" cy="6517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2023</a:t>
            </a:r>
            <a:endParaRPr lang="es-PE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409037FA-8AD4-46E6-D14A-A0B5918A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32668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C77DF-7156-87EC-5584-40C3F628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057" y="6089066"/>
            <a:ext cx="4100513" cy="440147"/>
          </a:xfrm>
        </p:spPr>
        <p:txBody>
          <a:bodyPr/>
          <a:lstStyle>
            <a:lvl1pPr marL="0" indent="0">
              <a:buClr>
                <a:schemeClr val="accent6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Profesor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1003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893" y="4999970"/>
            <a:ext cx="3339907" cy="717550"/>
          </a:xfrm>
        </p:spPr>
        <p:txBody>
          <a:bodyPr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33C54-732D-4A5F-8493-6279F2718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993" y="1285875"/>
            <a:ext cx="6851456" cy="4072870"/>
          </a:xfrm>
        </p:spPr>
        <p:txBody>
          <a:bodyPr/>
          <a:lstStyle>
            <a:lvl1pPr marL="2286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buClr>
                <a:schemeClr val="accent1"/>
              </a:buClr>
              <a:buSzPct val="70000"/>
              <a:buFontTx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>
                <a:schemeClr val="accent1"/>
              </a:buClr>
              <a:buSzPct val="50000"/>
              <a:buFontTx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F12D76C1-E4EF-42D1-88E3-B3E1BE457EF7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0142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936BE4A0-0EF9-4513-98D7-49E1F009126F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50541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CFF21E75-C2F6-4021-B002-DFF0EB1C555C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3232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490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4F721D9-3A4E-DA31-4304-76691E23E80D}"/>
              </a:ext>
            </a:extLst>
          </p:cNvPr>
          <p:cNvSpPr/>
          <p:nvPr userDrawn="1"/>
        </p:nvSpPr>
        <p:spPr>
          <a:xfrm>
            <a:off x="838200" y="2024743"/>
            <a:ext cx="9716589" cy="3843644"/>
          </a:xfrm>
          <a:prstGeom prst="roundRect">
            <a:avLst>
              <a:gd name="adj" fmla="val 6011"/>
            </a:avLst>
          </a:prstGeom>
          <a:solidFill>
            <a:srgbClr val="0A2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altLang="es-PE" sz="2000" b="1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buClr>
                <a:schemeClr val="accent6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 sz="2200"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52786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5525" y="2549525"/>
            <a:ext cx="5162550" cy="155575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79D4C0-AA8A-45B0-85A5-1FD89F1DDE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03038" y="2635960"/>
            <a:ext cx="131409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643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14724" y="663575"/>
            <a:ext cx="7762875" cy="1079500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647276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trada" type="blank">
  <p:cSld name="entrada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-17314"/>
            <a:ext cx="12192000" cy="68580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72059" y="2777043"/>
            <a:ext cx="4686308" cy="13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63A0B1C-38C6-4A94-BC53-9378BD6F4196}"/>
              </a:ext>
            </a:extLst>
          </p:cNvPr>
          <p:cNvSpPr/>
          <p:nvPr/>
        </p:nvSpPr>
        <p:spPr>
          <a:xfrm>
            <a:off x="604699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09FF01B-D296-4FC4-86C6-18C1AA1F0700}"/>
              </a:ext>
            </a:extLst>
          </p:cNvPr>
          <p:cNvSpPr>
            <a:spLocks noChangeAspect="1"/>
          </p:cNvSpPr>
          <p:nvPr/>
        </p:nvSpPr>
        <p:spPr>
          <a:xfrm>
            <a:off x="2087026" y="5059599"/>
            <a:ext cx="1476000" cy="1475999"/>
          </a:xfrm>
          <a:prstGeom prst="ellipse">
            <a:avLst/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grama de flujo: retraso 3">
            <a:extLst>
              <a:ext uri="{FF2B5EF4-FFF2-40B4-BE49-F238E27FC236}">
                <a16:creationId xmlns:a16="http://schemas.microsoft.com/office/drawing/2014/main" id="{F33AB0F3-5E83-4F73-B1B3-E7FFB7FAC1CF}"/>
              </a:ext>
            </a:extLst>
          </p:cNvPr>
          <p:cNvSpPr>
            <a:spLocks/>
          </p:cNvSpPr>
          <p:nvPr/>
        </p:nvSpPr>
        <p:spPr>
          <a:xfrm>
            <a:off x="604699" y="3568509"/>
            <a:ext cx="1476000" cy="1476000"/>
          </a:xfrm>
          <a:prstGeom prst="flowChartDela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írculo parcial 4">
            <a:extLst>
              <a:ext uri="{FF2B5EF4-FFF2-40B4-BE49-F238E27FC236}">
                <a16:creationId xmlns:a16="http://schemas.microsoft.com/office/drawing/2014/main" id="{E01F752C-EAF0-4FBF-B895-7C40EAE76E6B}"/>
              </a:ext>
            </a:extLst>
          </p:cNvPr>
          <p:cNvSpPr>
            <a:spLocks noChangeAspect="1"/>
          </p:cNvSpPr>
          <p:nvPr/>
        </p:nvSpPr>
        <p:spPr>
          <a:xfrm>
            <a:off x="2080320" y="3578476"/>
            <a:ext cx="2934000" cy="2934000"/>
          </a:xfrm>
          <a:prstGeom prst="pie">
            <a:avLst>
              <a:gd name="adj1" fmla="val 16194402"/>
              <a:gd name="adj2" fmla="val 695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08BC26-9C42-409E-A296-12A08043B847}"/>
              </a:ext>
            </a:extLst>
          </p:cNvPr>
          <p:cNvSpPr/>
          <p:nvPr/>
        </p:nvSpPr>
        <p:spPr>
          <a:xfrm>
            <a:off x="2072388" y="3577936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írculo parcial 5">
            <a:extLst>
              <a:ext uri="{FF2B5EF4-FFF2-40B4-BE49-F238E27FC236}">
                <a16:creationId xmlns:a16="http://schemas.microsoft.com/office/drawing/2014/main" id="{A6B1ED3D-FC35-4A2C-AEA0-527CA60D93D8}"/>
              </a:ext>
            </a:extLst>
          </p:cNvPr>
          <p:cNvSpPr>
            <a:spLocks noChangeAspect="1"/>
          </p:cNvSpPr>
          <p:nvPr/>
        </p:nvSpPr>
        <p:spPr>
          <a:xfrm rot="10800000">
            <a:off x="-821269" y="574219"/>
            <a:ext cx="2857435" cy="2995143"/>
          </a:xfrm>
          <a:prstGeom prst="pie">
            <a:avLst>
              <a:gd name="adj1" fmla="val 5387486"/>
              <a:gd name="adj2" fmla="val 16200000"/>
            </a:avLst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EFD23FD-AE29-404D-8F53-1FD009AE807B}"/>
              </a:ext>
            </a:extLst>
          </p:cNvPr>
          <p:cNvGrpSpPr/>
          <p:nvPr/>
        </p:nvGrpSpPr>
        <p:grpSpPr>
          <a:xfrm>
            <a:off x="2087136" y="2123409"/>
            <a:ext cx="1448999" cy="1443249"/>
            <a:chOff x="2118675" y="2004020"/>
            <a:chExt cx="1448999" cy="1443249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CAC50A2-CB41-4C53-93C3-5260E20DE2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004020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CE6D1487-82A4-4496-B087-91DD796DE7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727269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C95F40AB-463C-4C6E-915C-5D6DF55A45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727269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7CDF41D-9C35-41E7-8E2B-2AA7C91BEC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004020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3FA7743-AFB1-4869-99F7-BBBF6B5081B5}"/>
              </a:ext>
            </a:extLst>
          </p:cNvPr>
          <p:cNvSpPr/>
          <p:nvPr/>
        </p:nvSpPr>
        <p:spPr>
          <a:xfrm>
            <a:off x="3540368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írculo parcial 18">
            <a:extLst>
              <a:ext uri="{FF2B5EF4-FFF2-40B4-BE49-F238E27FC236}">
                <a16:creationId xmlns:a16="http://schemas.microsoft.com/office/drawing/2014/main" id="{9EEB8DCE-7E2B-489A-B839-B10110611D97}"/>
              </a:ext>
            </a:extLst>
          </p:cNvPr>
          <p:cNvSpPr>
            <a:spLocks noChangeAspect="1"/>
          </p:cNvSpPr>
          <p:nvPr/>
        </p:nvSpPr>
        <p:spPr>
          <a:xfrm>
            <a:off x="3552087" y="5048742"/>
            <a:ext cx="2934000" cy="2934000"/>
          </a:xfrm>
          <a:prstGeom prst="pie">
            <a:avLst>
              <a:gd name="adj1" fmla="val 16202562"/>
              <a:gd name="adj2" fmla="val 1644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6984716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53671" y="5579102"/>
            <a:ext cx="4484658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sz="2400" i="1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9538896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userDrawn="1">
  <p:cSld name="Contenido con títul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9360655" cy="1034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6" name="Google Shape;26;p4"/>
          <p:cNvSpPr/>
          <p:nvPr/>
        </p:nvSpPr>
        <p:spPr>
          <a:xfrm>
            <a:off x="12069" y="5890588"/>
            <a:ext cx="10127400" cy="93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810069" y="5890588"/>
            <a:ext cx="22666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076880" y="5890543"/>
            <a:ext cx="939300" cy="9393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70058A-F152-4A93-A50A-BC853F5A46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217"/>
          <a:stretch/>
        </p:blipFill>
        <p:spPr>
          <a:xfrm>
            <a:off x="8986302" y="6128038"/>
            <a:ext cx="1856985" cy="464401"/>
          </a:xfrm>
          <a:prstGeom prst="rect">
            <a:avLst/>
          </a:prstGeom>
        </p:spPr>
      </p:pic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251364" y="6177675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  <p:sp>
        <p:nvSpPr>
          <p:cNvPr id="31" name="Google Shape;31;p4"/>
          <p:cNvSpPr/>
          <p:nvPr/>
        </p:nvSpPr>
        <p:spPr>
          <a:xfrm>
            <a:off x="294028" y="6186681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de Servicios TICS</a:t>
            </a: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2396329-D7D9-4B93-942B-A183A1B92B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783"/>
          <a:stretch/>
        </p:blipFill>
        <p:spPr>
          <a:xfrm>
            <a:off x="8031720" y="6128038"/>
            <a:ext cx="626177" cy="464401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9F942801-F563-5E6E-B629-174F88AD7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6374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890805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6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  <p:sp>
        <p:nvSpPr>
          <p:cNvPr id="50" name="Google Shape;50;p6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46128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3" name="Google Shape;53;p7"/>
          <p:cNvSpPr>
            <a:spLocks noGrp="1"/>
          </p:cNvSpPr>
          <p:nvPr>
            <p:ph type="pic" idx="2"/>
          </p:nvPr>
        </p:nvSpPr>
        <p:spPr>
          <a:xfrm>
            <a:off x="5183200" y="987425"/>
            <a:ext cx="6172200" cy="3204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839800" y="2057400"/>
            <a:ext cx="3932100" cy="23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5" name="Google Shape;55;p7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0" name="Google Shape;60;p7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4223459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4" name="Google Shape;64;p8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  <p:sp>
        <p:nvSpPr>
          <p:cNvPr id="69" name="Google Shape;69;p8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717215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3" name="Google Shape;73;p9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  <p:sp>
        <p:nvSpPr>
          <p:cNvPr id="78" name="Google Shape;78;p9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68333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1" name="Google Shape;9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A6E0DE35-9A49-4AAC-8B2C-BA4A347498EB}" type="datetime6">
              <a:rPr lang="es-PE" smtClean="0"/>
              <a:t>Marzo de 2026</a:t>
            </a:fld>
            <a:endParaRPr lang="es-PE"/>
          </a:p>
        </p:txBody>
      </p:sp>
      <p:sp>
        <p:nvSpPr>
          <p:cNvPr id="92" name="Google Shape;9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PE"/>
              <a:t>Nombre de Curso</a:t>
            </a:r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90020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9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E6F4FD-2238-AD4E-867E-E58E2DFA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5212"/>
            <a:ext cx="9716589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0C6D7E-5BBC-B741-BB4C-3A3ED127A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3"/>
            <a:ext cx="9716589" cy="3843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616E3388-8A49-4C51-A106-E2F4CF3977CF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74F71EA6-14AA-5205-13FE-35911ED08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710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74" r:id="rId3"/>
    <p:sldLayoutId id="2147483650" r:id="rId4"/>
    <p:sldLayoutId id="2147483652" r:id="rId5"/>
    <p:sldLayoutId id="2147483653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9694A8-123C-4838-A10C-DF4D75E09A89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título 1">
            <a:extLst>
              <a:ext uri="{FF2B5EF4-FFF2-40B4-BE49-F238E27FC236}">
                <a16:creationId xmlns:a16="http://schemas.microsoft.com/office/drawing/2014/main" id="{144F2274-D960-4C0B-9748-88EE3F0D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82069"/>
            <a:ext cx="10343606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D6FEB95-3036-417E-9C50-CD57ED01F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4"/>
            <a:ext cx="10343606" cy="329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1DCF4E30-8222-0A8A-8EB6-ACF70BC0F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794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75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3B067A9-18EE-41F0-B696-9386E1AF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5029"/>
            <a:ext cx="10515600" cy="645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67C12A-CBBE-4AB2-8C8A-B75DDE302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6189"/>
            <a:ext cx="10515600" cy="3291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C6ED39-B0EA-42B3-A3C3-7CA769E5E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14064"/>
            <a:ext cx="1524000" cy="382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8C20A4-1372-4EF1-AE37-02318244F0B2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E1549C-7307-410E-AA79-42C4BDD3F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2993" y="32298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63B87C3E-7B33-EE8E-E722-04A7DDD4F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172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77" r:id="rId4"/>
    <p:sldLayoutId id="2147483676" r:id="rId5"/>
    <p:sldLayoutId id="2147483678" r:id="rId6"/>
    <p:sldLayoutId id="2147483661" r:id="rId7"/>
    <p:sldLayoutId id="2147483679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288104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9" r:id="rId8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spring.io/guides/gs/handling-form-submission/" TargetMode="Externa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5113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F919EB-DEDC-F096-0534-46D830D340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 err="1"/>
              <a:t>Databinding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1B9409-4532-2CE8-9D47-FC40F65B70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89011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4BC5FF-37C5-E5BA-349E-BCC0A6E54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9360655" cy="620829"/>
          </a:xfrm>
        </p:spPr>
        <p:txBody>
          <a:bodyPr/>
          <a:lstStyle/>
          <a:p>
            <a:r>
              <a:rPr lang="es-ES" dirty="0" err="1">
                <a:solidFill>
                  <a:schemeClr val="bg2"/>
                </a:solidFill>
              </a:rPr>
              <a:t>DataBinding</a:t>
            </a:r>
            <a:r>
              <a:rPr lang="es-ES" dirty="0">
                <a:solidFill>
                  <a:schemeClr val="bg2"/>
                </a:solidFill>
              </a:rPr>
              <a:t> en formularios – nivel inicial</a:t>
            </a:r>
            <a:endParaRPr lang="es-PE" dirty="0">
              <a:solidFill>
                <a:schemeClr val="bg2"/>
              </a:solidFill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926FFE3-5AA3-AD36-4274-5618B76465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t>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0A61910-5EF9-E352-8B99-A87D3A53E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/>
              <a:t>Data binding, consiste en mapear automáticamente el contenido de un formulario a un objeto en Java.</a:t>
            </a:r>
          </a:p>
          <a:p>
            <a:pPr marL="0" lvl="0" indent="0">
              <a:spcBef>
                <a:spcPts val="1600"/>
              </a:spcBef>
              <a:buClr>
                <a:srgbClr val="000000"/>
              </a:buClr>
              <a:buSzPts val="1100"/>
              <a:buNone/>
            </a:pPr>
            <a:r>
              <a:rPr lang="es-ES"/>
              <a:t>En Spring MVC, existen dos niveles de Data binding para formularios, hoy veremos el inicial.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/>
              <a:t>Para que Spring pueda realizar esa asignación y creación automática, los nombres de cada atributo “name” del formulario, debe ser exactamente igual al nombre del atributo de la clase (bean) que se desea mapear.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06490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FB8757-FFF3-F169-FC3F-221E2864D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err="1"/>
              <a:t>Databinding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38C9D94-FFB9-BF05-E4A9-89C5392C4B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t>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6B2D37E-E1E5-6CD9-AEEE-F9509CBEE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Por ejemplo, tenemos el formulario para registrar una persona: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endParaRPr lang="es-ES" sz="2800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br>
              <a:rPr lang="es-ES" sz="1800" dirty="0"/>
            </a:br>
            <a:r>
              <a:rPr lang="es-ES" sz="1800" dirty="0"/>
              <a:t>Lo que se usaba para capturar cada elemento del formulario era la notación @RequestParam.</a:t>
            </a:r>
          </a:p>
          <a:p>
            <a:endParaRPr lang="es-PE" dirty="0"/>
          </a:p>
        </p:txBody>
      </p:sp>
      <p:sp>
        <p:nvSpPr>
          <p:cNvPr id="8" name="Google Shape;92;p16">
            <a:extLst>
              <a:ext uri="{FF2B5EF4-FFF2-40B4-BE49-F238E27FC236}">
                <a16:creationId xmlns:a16="http://schemas.microsoft.com/office/drawing/2014/main" id="{0DC6B4C8-6AE3-DF76-F758-BF22AAE21164}"/>
              </a:ext>
            </a:extLst>
          </p:cNvPr>
          <p:cNvSpPr txBox="1"/>
          <p:nvPr/>
        </p:nvSpPr>
        <p:spPr>
          <a:xfrm>
            <a:off x="3054358" y="3756747"/>
            <a:ext cx="5789313" cy="2046684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dirty="0">
                <a:solidFill>
                  <a:srgbClr val="BBB52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@PostMapping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1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"/persona/guardar"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s-419" sz="11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100" dirty="0">
                <a:solidFill>
                  <a:srgbClr val="FFC66D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guardar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100" dirty="0">
                <a:solidFill>
                  <a:srgbClr val="BBB52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@RequestParam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1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"nombre"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nombre</a:t>
            </a:r>
            <a:r>
              <a:rPr lang="es-419" sz="11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1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</a:t>
            </a:r>
            <a:r>
              <a:rPr lang="es-419" sz="1100" dirty="0">
                <a:solidFill>
                  <a:srgbClr val="BBB52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@RequestParam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1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"apellido"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apellido</a:t>
            </a:r>
            <a:r>
              <a:rPr lang="es-419" sz="11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1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</a:t>
            </a:r>
            <a:r>
              <a:rPr lang="es-419" sz="1100" dirty="0">
                <a:solidFill>
                  <a:srgbClr val="BBB52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@RequestParam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1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"dni"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dni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sz="11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System.</a:t>
            </a:r>
            <a:r>
              <a:rPr lang="es-419" sz="1100" i="1" dirty="0" err="1">
                <a:solidFill>
                  <a:srgbClr val="9876A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.println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1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"nombre: " 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+ nombre)</a:t>
            </a:r>
            <a:r>
              <a:rPr lang="es-419" sz="11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System.</a:t>
            </a:r>
            <a:r>
              <a:rPr lang="es-419" sz="1100" i="1" dirty="0" err="1">
                <a:solidFill>
                  <a:srgbClr val="9876A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.println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1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"apellido: " 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+ apellido)</a:t>
            </a:r>
            <a:r>
              <a:rPr lang="es-419" sz="11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System.</a:t>
            </a:r>
            <a:r>
              <a:rPr lang="es-419" sz="1100" i="1" dirty="0" err="1">
                <a:solidFill>
                  <a:srgbClr val="9876A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.println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1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s-419" sz="1100" dirty="0" err="1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dni</a:t>
            </a:r>
            <a:r>
              <a:rPr lang="es-419" sz="11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: " 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+ 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dni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-419" sz="11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1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-419" sz="11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1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lang="es-419" sz="11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9" name="Google Shape;91;p16">
            <a:extLst>
              <a:ext uri="{FF2B5EF4-FFF2-40B4-BE49-F238E27FC236}">
                <a16:creationId xmlns:a16="http://schemas.microsoft.com/office/drawing/2014/main" id="{D9A61509-BF98-EAE1-0AD2-BF3DF6A7DCB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11754" y="1947969"/>
            <a:ext cx="2809164" cy="12851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41550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57228E9-F275-EB4C-A676-91F6777490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t>5</a:t>
            </a:fld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6BD3A2D-C369-8BBD-CAF9-8398D4640A58}"/>
              </a:ext>
            </a:extLst>
          </p:cNvPr>
          <p:cNvSpPr txBox="1"/>
          <p:nvPr/>
        </p:nvSpPr>
        <p:spPr>
          <a:xfrm>
            <a:off x="529389" y="921818"/>
            <a:ext cx="10539664" cy="4380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/>
              <a:t>Si observa al detalle, los atributos de la clase </a:t>
            </a:r>
            <a:r>
              <a:rPr lang="es-ES" sz="1800" b="1" dirty="0"/>
              <a:t>Persona </a:t>
            </a:r>
            <a:r>
              <a:rPr lang="es-ES" sz="1800" dirty="0"/>
              <a:t>coinciden con cada atributo “</a:t>
            </a:r>
            <a:r>
              <a:rPr lang="es-ES" sz="1800" b="1" dirty="0" err="1"/>
              <a:t>name</a:t>
            </a:r>
            <a:r>
              <a:rPr lang="es-ES" sz="1800" dirty="0"/>
              <a:t>” del formulario:</a:t>
            </a:r>
          </a:p>
          <a:p>
            <a:endParaRPr lang="es-PE" sz="1800" dirty="0"/>
          </a:p>
          <a:p>
            <a:endParaRPr lang="es-PE" sz="1800" dirty="0"/>
          </a:p>
          <a:p>
            <a:endParaRPr lang="es-PE" sz="1800" dirty="0"/>
          </a:p>
          <a:p>
            <a:endParaRPr lang="es-PE" sz="1800" dirty="0"/>
          </a:p>
          <a:p>
            <a:endParaRPr lang="es-PE" sz="1800" dirty="0"/>
          </a:p>
          <a:p>
            <a:endParaRPr lang="es-PE" sz="1800" dirty="0"/>
          </a:p>
          <a:p>
            <a:pPr lvl="0"/>
            <a:r>
              <a:rPr lang="es-ES" sz="1800" dirty="0"/>
              <a:t>Aunque la edad no aparezca en el formulario, Spring le </a:t>
            </a:r>
            <a:r>
              <a:rPr lang="es-ES" dirty="0"/>
              <a:t>asignará el valor por defecto para un tipo de dato </a:t>
            </a:r>
            <a:r>
              <a:rPr lang="es-ES" dirty="0" err="1"/>
              <a:t>int</a:t>
            </a:r>
            <a:r>
              <a:rPr lang="es-ES" dirty="0"/>
              <a:t>, que</a:t>
            </a:r>
            <a:r>
              <a:rPr lang="es-ES" sz="1800" dirty="0"/>
              <a:t> es 0.</a:t>
            </a: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-ES" sz="1800" dirty="0"/>
              <a:t>Para que Spring mapee automáticamente los valores del formulario en un objeto de tipo Persona (</a:t>
            </a:r>
            <a:r>
              <a:rPr lang="es-ES" sz="1800" b="1" dirty="0"/>
              <a:t>data </a:t>
            </a:r>
            <a:r>
              <a:rPr lang="es-ES" sz="1800" b="1" dirty="0" err="1"/>
              <a:t>binding</a:t>
            </a:r>
            <a:r>
              <a:rPr lang="es-ES" sz="1800" dirty="0"/>
              <a:t>), se deben cumplir dos condiciones:</a:t>
            </a:r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-ES" sz="1800" dirty="0"/>
              <a:t>Los campos deben coincidir (formulario y clase)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 sz="1800" dirty="0"/>
              <a:t>Se debe colocar la clase como atributo del método. Ver la siguiente diapositiva.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496BD64-D4D4-8AB3-312F-9F4F7B56E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345" y="1390396"/>
            <a:ext cx="6104017" cy="158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89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24B9318-F819-2B67-F6C4-E74C6D578B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t>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9D3F4F-5E62-1941-571F-0480F3179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9094"/>
            <a:ext cx="9716589" cy="3843645"/>
          </a:xfrm>
        </p:spPr>
        <p:txBody>
          <a:bodyPr/>
          <a:lstStyle/>
          <a:p>
            <a:r>
              <a:rPr lang="es-ES" sz="1800" dirty="0"/>
              <a:t>OJO! Esto solo es válido si el formulario coincide con el </a:t>
            </a:r>
            <a:r>
              <a:rPr lang="es-ES" sz="1800" dirty="0" err="1"/>
              <a:t>Bean</a:t>
            </a:r>
            <a:r>
              <a:rPr lang="es-ES" sz="1800" dirty="0"/>
              <a:t>; caso contrario, se debe hacer de la forma clásica (recibiendo parámetro por parámetro).</a:t>
            </a:r>
          </a:p>
          <a:p>
            <a:endParaRPr lang="es-PE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F93DF2F-54F5-9D8C-F5E6-18E396F69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551" y="1272635"/>
            <a:ext cx="6882320" cy="431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487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8B0F43-F465-8406-6095-20B733121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Observación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73ABDC6-2F13-4C6B-1CEF-D6C78375E0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t>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994BE9A-E89E-18DF-820B-A9B0E1B48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Si un campo de tipo de dato primitivo tiene un valor de nulo en la base de datos, el data-</a:t>
            </a:r>
            <a:r>
              <a:rPr lang="es-ES" dirty="0" err="1"/>
              <a:t>binding</a:t>
            </a:r>
            <a:r>
              <a:rPr lang="es-ES" dirty="0"/>
              <a:t> lanzará un error (por ejemplo, el campo </a:t>
            </a:r>
            <a:r>
              <a:rPr lang="es-ES" dirty="0" err="1"/>
              <a:t>manager_id</a:t>
            </a:r>
            <a:r>
              <a:rPr lang="es-ES" dirty="0"/>
              <a:t> en la tabla </a:t>
            </a:r>
            <a:r>
              <a:rPr lang="es-ES" dirty="0" err="1"/>
              <a:t>employee</a:t>
            </a:r>
            <a:r>
              <a:rPr lang="es-ES" dirty="0"/>
              <a:t> de la BD HR).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Para evitar solucionar este error (valores nulos en tipos de datos primitivos), se debe colocar la clase correspondiente al tipo de datos primitivo: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Por ejemplo:</a:t>
            </a:r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ES" dirty="0" err="1"/>
              <a:t>private</a:t>
            </a:r>
            <a:r>
              <a:rPr lang="es-ES" dirty="0"/>
              <a:t> </a:t>
            </a:r>
            <a:r>
              <a:rPr lang="es-ES" b="1" dirty="0" err="1"/>
              <a:t>int</a:t>
            </a:r>
            <a:r>
              <a:rPr lang="es-ES" b="1" dirty="0"/>
              <a:t> </a:t>
            </a:r>
            <a:r>
              <a:rPr lang="es-ES" dirty="0" err="1"/>
              <a:t>manager_id</a:t>
            </a:r>
            <a:r>
              <a:rPr lang="es-ES" dirty="0"/>
              <a:t> → </a:t>
            </a:r>
            <a:r>
              <a:rPr lang="es-ES" dirty="0" err="1"/>
              <a:t>private</a:t>
            </a:r>
            <a:r>
              <a:rPr lang="es-ES" dirty="0"/>
              <a:t> </a:t>
            </a:r>
            <a:r>
              <a:rPr lang="es-ES" b="1" dirty="0" err="1"/>
              <a:t>Integer</a:t>
            </a:r>
            <a:r>
              <a:rPr lang="es-ES" b="1" dirty="0"/>
              <a:t> </a:t>
            </a:r>
            <a:r>
              <a:rPr lang="es-ES" dirty="0" err="1"/>
              <a:t>manager_id</a:t>
            </a:r>
            <a:endParaRPr lang="es-ES" dirty="0"/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dirty="0" err="1"/>
              <a:t>private</a:t>
            </a:r>
            <a:r>
              <a:rPr lang="es-ES" dirty="0"/>
              <a:t> </a:t>
            </a:r>
            <a:r>
              <a:rPr lang="es-ES" b="1" dirty="0" err="1"/>
              <a:t>double</a:t>
            </a:r>
            <a:r>
              <a:rPr lang="es-ES" b="1" dirty="0"/>
              <a:t> </a:t>
            </a:r>
            <a:r>
              <a:rPr lang="es-ES" dirty="0" err="1"/>
              <a:t>salary</a:t>
            </a:r>
            <a:r>
              <a:rPr lang="es-ES" dirty="0"/>
              <a:t> → </a:t>
            </a:r>
            <a:r>
              <a:rPr lang="es-ES" dirty="0" err="1"/>
              <a:t>private</a:t>
            </a:r>
            <a:r>
              <a:rPr lang="es-ES" dirty="0"/>
              <a:t> </a:t>
            </a:r>
            <a:r>
              <a:rPr lang="es-ES" b="1" dirty="0" err="1"/>
              <a:t>Double</a:t>
            </a:r>
            <a:r>
              <a:rPr lang="es-ES" b="1" dirty="0"/>
              <a:t> </a:t>
            </a:r>
            <a:r>
              <a:rPr lang="es-ES" dirty="0" err="1"/>
              <a:t>salary</a:t>
            </a:r>
            <a:r>
              <a:rPr lang="es-E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399606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182BAB-980C-4DE4-00CC-B23C036E1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Bibliografía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8B5F867-2DA2-832D-6DFD-477F33876A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t>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633F4D4-7E1C-88A8-B9F4-89483507B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419" dirty="0" err="1"/>
              <a:t>DataBinding</a:t>
            </a:r>
            <a:endParaRPr lang="es-419" dirty="0"/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419" u="sng" dirty="0">
                <a:solidFill>
                  <a:schemeClr val="hlink"/>
                </a:solidFill>
                <a:hlinkClick r:id="rId2"/>
              </a:rPr>
              <a:t>https://spring.io/guides/gs/handling-form-submission/</a:t>
            </a:r>
            <a:endParaRPr lang="es-419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4885244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1CEE12FC-EFE8-427F-AFDD-10E13BDA9816}"/>
    </a:ext>
  </a:extLst>
</a:theme>
</file>

<file path=ppt/theme/theme2.xml><?xml version="1.0" encoding="utf-8"?>
<a:theme xmlns:a="http://schemas.openxmlformats.org/drawingml/2006/main" name="1_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2968A79A-DB5B-4965-B275-611A9275D097}"/>
    </a:ext>
  </a:extLst>
</a:theme>
</file>

<file path=ppt/theme/theme3.xml><?xml version="1.0" encoding="utf-8"?>
<a:theme xmlns:a="http://schemas.openxmlformats.org/drawingml/2006/main" name="Diseño personalizado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Montserrat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5F575593-E9A2-4645-ABE1-5BD8C9BF19B9}"/>
    </a:ext>
  </a:extLst>
</a:theme>
</file>

<file path=ppt/theme/theme4.xml><?xml version="1.0" encoding="utf-8"?>
<a:theme xmlns:a="http://schemas.openxmlformats.org/drawingml/2006/main" name="Telecom Pucp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lecom Pucp" id="{04A4479E-36D6-4C66-807A-9F4E8318654E}" vid="{A438D0C6-9502-4DA2-8DE8-05B87C02855A}"/>
    </a:ext>
  </a:extLst>
</a:theme>
</file>

<file path=ppt/theme/theme5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Plantilla_Telecomunicaciones (1)</Template>
  <TotalTime>264</TotalTime>
  <Words>430</Words>
  <Application>Microsoft Office PowerPoint</Application>
  <PresentationFormat>Panorámica</PresentationFormat>
  <Paragraphs>48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8</vt:i4>
      </vt:variant>
    </vt:vector>
  </HeadingPairs>
  <TitlesOfParts>
    <vt:vector size="16" baseType="lpstr">
      <vt:lpstr>Arial</vt:lpstr>
      <vt:lpstr>Courier New</vt:lpstr>
      <vt:lpstr>Montserrat</vt:lpstr>
      <vt:lpstr>Montserrat Medium</vt:lpstr>
      <vt:lpstr>Tema de Office</vt:lpstr>
      <vt:lpstr>1_Tema de Office</vt:lpstr>
      <vt:lpstr>Diseño personalizado</vt:lpstr>
      <vt:lpstr>Telecom Pucp</vt:lpstr>
      <vt:lpstr>Presentación de PowerPoint</vt:lpstr>
      <vt:lpstr>Databinding</vt:lpstr>
      <vt:lpstr>DataBinding en formularios – nivel inicial</vt:lpstr>
      <vt:lpstr>Databinding</vt:lpstr>
      <vt:lpstr>Presentación de PowerPoint</vt:lpstr>
      <vt:lpstr>Presentación de PowerPoint</vt:lpstr>
      <vt:lpstr>Observación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Orientada a Objetos &amp; Introducción a Java</dc:title>
  <dc:creator>Brenda Tumbalobos</dc:creator>
  <cp:lastModifiedBy>Brenda Tumbalobos Cubas</cp:lastModifiedBy>
  <cp:revision>20</cp:revision>
  <dcterms:created xsi:type="dcterms:W3CDTF">2023-10-28T21:43:03Z</dcterms:created>
  <dcterms:modified xsi:type="dcterms:W3CDTF">2026-03-25T03:35:55Z</dcterms:modified>
</cp:coreProperties>
</file>