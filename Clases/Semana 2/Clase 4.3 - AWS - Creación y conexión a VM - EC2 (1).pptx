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38"/>
  </p:notesMasterIdLst>
  <p:handoutMasterIdLst>
    <p:handoutMasterId r:id="rId39"/>
  </p:handoutMasterIdLst>
  <p:sldIdLst>
    <p:sldId id="401" r:id="rId5"/>
    <p:sldId id="402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11" r:id="rId15"/>
    <p:sldId id="412" r:id="rId16"/>
    <p:sldId id="413" r:id="rId17"/>
    <p:sldId id="414" r:id="rId18"/>
    <p:sldId id="415" r:id="rId19"/>
    <p:sldId id="416" r:id="rId20"/>
    <p:sldId id="417" r:id="rId21"/>
    <p:sldId id="418" r:id="rId22"/>
    <p:sldId id="419" r:id="rId23"/>
    <p:sldId id="421" r:id="rId24"/>
    <p:sldId id="387" r:id="rId25"/>
    <p:sldId id="422" r:id="rId26"/>
    <p:sldId id="423" r:id="rId27"/>
    <p:sldId id="424" r:id="rId28"/>
    <p:sldId id="425" r:id="rId29"/>
    <p:sldId id="426" r:id="rId30"/>
    <p:sldId id="427" r:id="rId31"/>
    <p:sldId id="428" r:id="rId32"/>
    <p:sldId id="429" r:id="rId33"/>
    <p:sldId id="400" r:id="rId34"/>
    <p:sldId id="430" r:id="rId35"/>
    <p:sldId id="431" r:id="rId36"/>
    <p:sldId id="432" r:id="rId3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99" d="100"/>
          <a:sy n="99" d="100"/>
        </p:scale>
        <p:origin x="95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1/04/2026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357992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9438418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70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731F7F30-5764-FFCE-B886-E66E13A5B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42"/>
            <a:ext cx="10356570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19765803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5316222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1691724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573794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583238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6520730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87101392"/>
      </p:ext>
    </p:extLst>
  </p:cSld>
  <p:clrMapOvr>
    <a:masterClrMapping/>
  </p:clrMapOvr>
  <p:hf hd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017393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55246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1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es/ec2/" TargetMode="Externa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aws.amazon.com/es/ec2/instance-types/" TargetMode="Externa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docs.aws.amazon.com/es_es/AWSEC2/latest/UserGuide/ebs-volume-types.html" TargetMode="External"/><Relationship Id="rId1" Type="http://schemas.openxmlformats.org/officeDocument/2006/relationships/slideLayout" Target="../slideLayouts/slideLayout3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298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278EF-42DB-8763-EE80-1BCD88DD4D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Creación y conexión a una instancia EC2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7E92A-7710-EF48-832E-2DF252ACDC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59867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0E7AE8-46CD-7E64-B7DA-C67108B7E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Máquinas virtuales en AWS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3F70C07-231A-3202-E247-88914BE5DD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B29948-A3BB-48E8-9BFA-6478D3491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Uno de los servicios de AWS para máquinas virtuales es EC2. Para acceder a este servicio, debe colocar en la barra de búsqueda </a:t>
            </a:r>
            <a:r>
              <a:rPr lang="es-ES" b="1" dirty="0"/>
              <a:t>EC2</a:t>
            </a:r>
          </a:p>
          <a:p>
            <a:endParaRPr lang="es-PE" dirty="0"/>
          </a:p>
        </p:txBody>
      </p:sp>
      <p:pic>
        <p:nvPicPr>
          <p:cNvPr id="5" name="Google Shape;83;p15">
            <a:extLst>
              <a:ext uri="{FF2B5EF4-FFF2-40B4-BE49-F238E27FC236}">
                <a16:creationId xmlns:a16="http://schemas.microsoft.com/office/drawing/2014/main" id="{A7D36570-3A2E-853E-A929-7BA6F85DC2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1162" y="2725051"/>
            <a:ext cx="7969675" cy="2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4;p15">
            <a:extLst>
              <a:ext uri="{FF2B5EF4-FFF2-40B4-BE49-F238E27FC236}">
                <a16:creationId xmlns:a16="http://schemas.microsoft.com/office/drawing/2014/main" id="{B8BA8457-1B8E-DE83-1845-35C326985767}"/>
              </a:ext>
            </a:extLst>
          </p:cNvPr>
          <p:cNvSpPr/>
          <p:nvPr/>
        </p:nvSpPr>
        <p:spPr>
          <a:xfrm>
            <a:off x="3196787" y="2546751"/>
            <a:ext cx="446100" cy="242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5;p15">
            <a:extLst>
              <a:ext uri="{FF2B5EF4-FFF2-40B4-BE49-F238E27FC236}">
                <a16:creationId xmlns:a16="http://schemas.microsoft.com/office/drawing/2014/main" id="{8055A2E2-33E9-F350-4A51-4A55BCA50117}"/>
              </a:ext>
            </a:extLst>
          </p:cNvPr>
          <p:cNvSpPr/>
          <p:nvPr/>
        </p:nvSpPr>
        <p:spPr>
          <a:xfrm rot="10800000">
            <a:off x="6246687" y="3674151"/>
            <a:ext cx="812400" cy="312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073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B4067-E54D-4F5D-24C7-F5331890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EC2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AA20475-DD6E-0DD8-C1E7-8E5D224BD4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93F302-CB24-C229-0485-D22DDFC9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Amazon EC2 (</a:t>
            </a:r>
            <a:r>
              <a:rPr lang="es-ES" sz="2000" b="1" dirty="0" err="1"/>
              <a:t>Elastic</a:t>
            </a:r>
            <a:r>
              <a:rPr lang="es-ES" sz="2000" b="1" dirty="0"/>
              <a:t> Compute Cloud</a:t>
            </a:r>
            <a:r>
              <a:rPr lang="es-ES" sz="2000" dirty="0"/>
              <a:t>) proporciona capacidad informática escalable en la nube de AWS.</a:t>
            </a:r>
          </a:p>
          <a:p>
            <a:pPr lvl="0" indent="-342900">
              <a:buSzPts val="1800"/>
              <a:buChar char="●"/>
            </a:pPr>
            <a:r>
              <a:rPr lang="es-ES" sz="2000" dirty="0"/>
              <a:t>EC2 permite crear máquinas virtuales llamada </a:t>
            </a:r>
            <a:r>
              <a:rPr lang="es-ES" sz="2000" b="1" dirty="0"/>
              <a:t>instancias</a:t>
            </a:r>
            <a:r>
              <a:rPr lang="es-ES" sz="2000" dirty="0"/>
              <a:t> y se pueden crear tantas como sean necesarias, con sus respectivas configuraciones de seguridad, redes y almacenamiento.</a:t>
            </a:r>
          </a:p>
          <a:p>
            <a:pPr lvl="0" indent="-342900">
              <a:buSzPts val="1800"/>
              <a:buChar char="●"/>
            </a:pPr>
            <a:r>
              <a:rPr lang="es-ES" sz="2000" dirty="0"/>
              <a:t>Permite escalar hacia arriba o hacia abajo según los picos de necesidad del servicio brindado.</a:t>
            </a:r>
          </a:p>
          <a:p>
            <a:pPr lvl="0" indent="-342900">
              <a:buSzPts val="1800"/>
              <a:buChar char="●"/>
            </a:pPr>
            <a:r>
              <a:rPr lang="es-ES" sz="2000" dirty="0"/>
              <a:t>Disponibilidad: 99,99%</a:t>
            </a:r>
          </a:p>
          <a:p>
            <a:pPr lvl="0" indent="-342900">
              <a:spcAft>
                <a:spcPts val="1000"/>
              </a:spcAft>
              <a:buSzPts val="1800"/>
              <a:buChar char="●"/>
            </a:pPr>
            <a:r>
              <a:rPr lang="es-ES" sz="2000" u="sng" dirty="0">
                <a:solidFill>
                  <a:schemeClr val="hlink"/>
                </a:solidFill>
                <a:hlinkClick r:id="rId2"/>
              </a:rPr>
              <a:t>https://aws.amazon.com/es/ec2/</a:t>
            </a:r>
            <a:endParaRPr lang="es-ES" sz="2000" dirty="0"/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221631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35E77-6973-DEA6-DCBC-8FC0CFB4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Creación de instancias EC2</a:t>
            </a:r>
            <a:endParaRPr lang="es-PE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D0A9B90-3C13-3DD3-E21F-64B761C49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66D4270-1F6A-8054-58E1-CE0510F58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Para crear instancias EC2, seleccione “Lanzar instancias”</a:t>
            </a:r>
          </a:p>
          <a:p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1F8E292-3151-D390-E8DB-725FDA353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369" y="2549482"/>
            <a:ext cx="3961750" cy="2680884"/>
          </a:xfrm>
          <a:prstGeom prst="rect">
            <a:avLst/>
          </a:prstGeom>
        </p:spPr>
      </p:pic>
      <p:sp>
        <p:nvSpPr>
          <p:cNvPr id="10" name="Google Shape;101;p17">
            <a:extLst>
              <a:ext uri="{FF2B5EF4-FFF2-40B4-BE49-F238E27FC236}">
                <a16:creationId xmlns:a16="http://schemas.microsoft.com/office/drawing/2014/main" id="{7B19D2E5-9200-35FA-27FB-54AA9C003197}"/>
              </a:ext>
            </a:extLst>
          </p:cNvPr>
          <p:cNvSpPr/>
          <p:nvPr/>
        </p:nvSpPr>
        <p:spPr>
          <a:xfrm>
            <a:off x="3965609" y="3571936"/>
            <a:ext cx="731520" cy="40329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0960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9068E-C367-EB84-AB83-EBAEEF1B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AB98A-91E3-AEBF-350F-B718BAF6F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Selección de imagen Amazon Machine (AMI)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D9183A8-C9C2-4180-90BB-549FCECA69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3E1677-C31F-D6C6-408D-1F008CCE6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5262"/>
            <a:ext cx="10356570" cy="3843645"/>
          </a:xfrm>
        </p:spPr>
        <p:txBody>
          <a:bodyPr>
            <a:normAutofit/>
          </a:bodyPr>
          <a:lstStyle/>
          <a:p>
            <a:r>
              <a:rPr lang="es-ES" sz="1800" dirty="0"/>
              <a:t>El primer paso para la creación de una instancia en EC2 es la selección del AMI correspondiente, pero ¿Cuál escoger? ¿qué es un AMI?</a:t>
            </a:r>
          </a:p>
          <a:p>
            <a:endParaRPr lang="es-PE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651773D-6CCC-857A-9A4A-558679D5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947" y="2163574"/>
            <a:ext cx="6473748" cy="3553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82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CE5CB-E088-B6C9-C47A-947398127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69134-F738-CA1B-E042-2810421C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Amazon Machine </a:t>
            </a:r>
            <a:r>
              <a:rPr lang="es-ES" dirty="0" err="1"/>
              <a:t>Images</a:t>
            </a:r>
            <a:r>
              <a:rPr lang="es-ES" dirty="0"/>
              <a:t> (AMI)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10201FF-0176-57DF-CA38-249B3F81D2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F6BE3EB-3BDB-F4A0-39DC-EB68ED4B3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Una Imagen de máquinas de Amazon (</a:t>
            </a:r>
            <a:r>
              <a:rPr lang="es-ES" sz="1800" b="1" dirty="0"/>
              <a:t>AMI</a:t>
            </a:r>
            <a:r>
              <a:rPr lang="es-ES" sz="1800" dirty="0"/>
              <a:t>) proporciona la información necesaria para lanzar una instancia. </a:t>
            </a:r>
          </a:p>
          <a:p>
            <a:pPr lvl="0" indent="-342900">
              <a:spcAft>
                <a:spcPts val="1000"/>
              </a:spcAft>
              <a:buSzPts val="1800"/>
              <a:buChar char="●"/>
            </a:pPr>
            <a:r>
              <a:rPr lang="es-ES" sz="1800" dirty="0"/>
              <a:t>Contiene el sistema operativo y otras librerías listas para ser desplegadas. </a:t>
            </a:r>
          </a:p>
          <a:p>
            <a:endParaRPr lang="es-PE" sz="1800" dirty="0"/>
          </a:p>
        </p:txBody>
      </p:sp>
      <p:pic>
        <p:nvPicPr>
          <p:cNvPr id="5" name="Google Shape;117;p19">
            <a:extLst>
              <a:ext uri="{FF2B5EF4-FFF2-40B4-BE49-F238E27FC236}">
                <a16:creationId xmlns:a16="http://schemas.microsoft.com/office/drawing/2014/main" id="{55955A3D-0AB2-2C3E-D2BC-E6941D271A3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608325" y="3274025"/>
            <a:ext cx="2085975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18;p19">
            <a:extLst>
              <a:ext uri="{FF2B5EF4-FFF2-40B4-BE49-F238E27FC236}">
                <a16:creationId xmlns:a16="http://schemas.microsoft.com/office/drawing/2014/main" id="{F86D99DF-DB3E-9FC2-E8DB-574E40023F1A}"/>
              </a:ext>
            </a:extLst>
          </p:cNvPr>
          <p:cNvSpPr txBox="1"/>
          <p:nvPr/>
        </p:nvSpPr>
        <p:spPr>
          <a:xfrm>
            <a:off x="5777500" y="2749322"/>
            <a:ext cx="4329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AMI ofrecidas por AWS listas para ser usadas. Ya vienen con preconfiguración.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" name="Google Shape;119;p19">
            <a:extLst>
              <a:ext uri="{FF2B5EF4-FFF2-40B4-BE49-F238E27FC236}">
                <a16:creationId xmlns:a16="http://schemas.microsoft.com/office/drawing/2014/main" id="{15A34179-5758-28D3-19EC-C4451F1A7C7F}"/>
              </a:ext>
            </a:extLst>
          </p:cNvPr>
          <p:cNvSpPr txBox="1"/>
          <p:nvPr/>
        </p:nvSpPr>
        <p:spPr>
          <a:xfrm>
            <a:off x="5777500" y="3448547"/>
            <a:ext cx="4329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Si usted crea un AMI, lo puede volver a usar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120;p19">
            <a:extLst>
              <a:ext uri="{FF2B5EF4-FFF2-40B4-BE49-F238E27FC236}">
                <a16:creationId xmlns:a16="http://schemas.microsoft.com/office/drawing/2014/main" id="{46C847B9-40E9-CC65-0B43-F3B54F30462D}"/>
              </a:ext>
            </a:extLst>
          </p:cNvPr>
          <p:cNvSpPr txBox="1"/>
          <p:nvPr/>
        </p:nvSpPr>
        <p:spPr>
          <a:xfrm>
            <a:off x="5777500" y="3868922"/>
            <a:ext cx="4329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AMIs especializadas que incluyen un costo que tienen una configuración particular.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" name="Google Shape;121;p19">
            <a:extLst>
              <a:ext uri="{FF2B5EF4-FFF2-40B4-BE49-F238E27FC236}">
                <a16:creationId xmlns:a16="http://schemas.microsoft.com/office/drawing/2014/main" id="{93EEFF25-86EB-0A10-870C-9E67FFAD6BB8}"/>
              </a:ext>
            </a:extLst>
          </p:cNvPr>
          <p:cNvSpPr txBox="1"/>
          <p:nvPr/>
        </p:nvSpPr>
        <p:spPr>
          <a:xfrm>
            <a:off x="5777500" y="4497922"/>
            <a:ext cx="43296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>
                <a:latin typeface="Open Sans"/>
                <a:ea typeface="Open Sans"/>
                <a:cs typeface="Open Sans"/>
                <a:sym typeface="Open Sans"/>
              </a:rPr>
              <a:t>AMIs desarrolladas por otros usuarios y disponibles para ser usadas.</a:t>
            </a:r>
            <a:endParaRPr sz="14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" name="Google Shape;122;p19">
            <a:extLst>
              <a:ext uri="{FF2B5EF4-FFF2-40B4-BE49-F238E27FC236}">
                <a16:creationId xmlns:a16="http://schemas.microsoft.com/office/drawing/2014/main" id="{CB7447E6-935B-B4D9-91DA-B5E4C4CA0C9A}"/>
              </a:ext>
            </a:extLst>
          </p:cNvPr>
          <p:cNvCxnSpPr>
            <a:stCxn id="11" idx="3"/>
            <a:endCxn id="6" idx="1"/>
          </p:cNvCxnSpPr>
          <p:nvPr/>
        </p:nvCxnSpPr>
        <p:spPr>
          <a:xfrm rot="10800000" flipH="1">
            <a:off x="3662275" y="3011672"/>
            <a:ext cx="2115300" cy="4905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" name="Google Shape;123;p19">
            <a:extLst>
              <a:ext uri="{FF2B5EF4-FFF2-40B4-BE49-F238E27FC236}">
                <a16:creationId xmlns:a16="http://schemas.microsoft.com/office/drawing/2014/main" id="{8A3B19B3-0004-FC84-5D94-25C6B25ED408}"/>
              </a:ext>
            </a:extLst>
          </p:cNvPr>
          <p:cNvSpPr/>
          <p:nvPr/>
        </p:nvSpPr>
        <p:spPr>
          <a:xfrm>
            <a:off x="3282175" y="3370022"/>
            <a:ext cx="380100" cy="2643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cxnSp>
        <p:nvCxnSpPr>
          <p:cNvPr id="12" name="Google Shape;124;p19">
            <a:extLst>
              <a:ext uri="{FF2B5EF4-FFF2-40B4-BE49-F238E27FC236}">
                <a16:creationId xmlns:a16="http://schemas.microsoft.com/office/drawing/2014/main" id="{375EA299-B760-B695-6911-901EA8F2C0E8}"/>
              </a:ext>
            </a:extLst>
          </p:cNvPr>
          <p:cNvCxnSpPr>
            <a:stCxn id="13" idx="3"/>
            <a:endCxn id="7" idx="1"/>
          </p:cNvCxnSpPr>
          <p:nvPr/>
        </p:nvCxnSpPr>
        <p:spPr>
          <a:xfrm rot="10800000" flipH="1">
            <a:off x="3662275" y="3710972"/>
            <a:ext cx="2115300" cy="1791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" name="Google Shape;125;p19">
            <a:extLst>
              <a:ext uri="{FF2B5EF4-FFF2-40B4-BE49-F238E27FC236}">
                <a16:creationId xmlns:a16="http://schemas.microsoft.com/office/drawing/2014/main" id="{5A1462B3-B298-063D-735A-02D32A552765}"/>
              </a:ext>
            </a:extLst>
          </p:cNvPr>
          <p:cNvSpPr/>
          <p:nvPr/>
        </p:nvSpPr>
        <p:spPr>
          <a:xfrm>
            <a:off x="3282175" y="3757922"/>
            <a:ext cx="380100" cy="2643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cxnSp>
        <p:nvCxnSpPr>
          <p:cNvPr id="14" name="Google Shape;126;p19">
            <a:extLst>
              <a:ext uri="{FF2B5EF4-FFF2-40B4-BE49-F238E27FC236}">
                <a16:creationId xmlns:a16="http://schemas.microsoft.com/office/drawing/2014/main" id="{BECB5821-C32B-12A7-F67F-54FEAD2985CC}"/>
              </a:ext>
            </a:extLst>
          </p:cNvPr>
          <p:cNvCxnSpPr>
            <a:stCxn id="15" idx="3"/>
            <a:endCxn id="8" idx="1"/>
          </p:cNvCxnSpPr>
          <p:nvPr/>
        </p:nvCxnSpPr>
        <p:spPr>
          <a:xfrm rot="10800000" flipH="1">
            <a:off x="4112125" y="4131122"/>
            <a:ext cx="1665300" cy="105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" name="Google Shape;127;p19">
            <a:extLst>
              <a:ext uri="{FF2B5EF4-FFF2-40B4-BE49-F238E27FC236}">
                <a16:creationId xmlns:a16="http://schemas.microsoft.com/office/drawing/2014/main" id="{2F8D8B0D-48F7-0813-60BA-801F7B5FCCEF}"/>
              </a:ext>
            </a:extLst>
          </p:cNvPr>
          <p:cNvSpPr/>
          <p:nvPr/>
        </p:nvSpPr>
        <p:spPr>
          <a:xfrm>
            <a:off x="3732025" y="4104272"/>
            <a:ext cx="380100" cy="2643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cxnSp>
        <p:nvCxnSpPr>
          <p:cNvPr id="16" name="Google Shape;128;p19">
            <a:extLst>
              <a:ext uri="{FF2B5EF4-FFF2-40B4-BE49-F238E27FC236}">
                <a16:creationId xmlns:a16="http://schemas.microsoft.com/office/drawing/2014/main" id="{E32A786C-C596-95E2-1E75-FE1421832E2B}"/>
              </a:ext>
            </a:extLst>
          </p:cNvPr>
          <p:cNvCxnSpPr>
            <a:stCxn id="17" idx="3"/>
            <a:endCxn id="9" idx="1"/>
          </p:cNvCxnSpPr>
          <p:nvPr/>
        </p:nvCxnSpPr>
        <p:spPr>
          <a:xfrm>
            <a:off x="4042375" y="4714922"/>
            <a:ext cx="1735200" cy="45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7" name="Google Shape;129;p19">
            <a:extLst>
              <a:ext uri="{FF2B5EF4-FFF2-40B4-BE49-F238E27FC236}">
                <a16:creationId xmlns:a16="http://schemas.microsoft.com/office/drawing/2014/main" id="{EF9E69E2-D51E-C713-3BAA-1C57D49A9DDA}"/>
              </a:ext>
            </a:extLst>
          </p:cNvPr>
          <p:cNvSpPr/>
          <p:nvPr/>
        </p:nvSpPr>
        <p:spPr>
          <a:xfrm>
            <a:off x="3662275" y="4582772"/>
            <a:ext cx="380100" cy="264300"/>
          </a:xfrm>
          <a:prstGeom prst="diamond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94474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97C4-B3A7-29C7-4CC6-C2B7BD87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AD78-7A98-4419-2F89-ECC5FC662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Amazon Machine </a:t>
            </a:r>
            <a:r>
              <a:rPr lang="es-ES" dirty="0" err="1"/>
              <a:t>Images</a:t>
            </a:r>
            <a:r>
              <a:rPr lang="es-ES" dirty="0"/>
              <a:t> (AMI)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63A0A3-29F6-B969-4EE3-6A76001484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FAFC2E-799D-CBBF-DCD1-0DC126E55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Entonces, usted puede elegir el AMI que mejor se acomode a sus necesidades.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dirty="0"/>
              <a:t>En este ejemplo, se usará el </a:t>
            </a:r>
            <a:r>
              <a:rPr lang="es-ES" sz="1800" b="1" dirty="0"/>
              <a:t>AMI de Amazon Linux 2023 kernel-6.1</a:t>
            </a:r>
            <a:endParaRPr lang="es-PE" sz="1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E3C17B9-EAE3-511F-7100-CB4FD194E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093" y="2416378"/>
            <a:ext cx="5732602" cy="314657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6B7EEFF6-8903-9C66-EBA5-AB0105F7DF4B}"/>
              </a:ext>
            </a:extLst>
          </p:cNvPr>
          <p:cNvSpPr/>
          <p:nvPr/>
        </p:nvSpPr>
        <p:spPr>
          <a:xfrm>
            <a:off x="3225713" y="2416378"/>
            <a:ext cx="1067154" cy="1310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6071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794D0-9325-CD11-CF2A-D4C74F1FF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instancias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020FBD4-D290-5716-A1BE-3D7E863B31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10F772-CC59-D188-46FF-AB985AF9C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El segundo paso es seleccionar el tipo de instancia. Aquí se deben revisar el: </a:t>
            </a:r>
            <a:r>
              <a:rPr lang="es-ES" sz="1800" b="1" dirty="0"/>
              <a:t>Tipo de instancia (elegir el t3 micro debido a su gratuidad)</a:t>
            </a:r>
            <a:endParaRPr lang="es-ES" sz="1800" dirty="0"/>
          </a:p>
          <a:p>
            <a:endParaRPr lang="es-PE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1FF9303-6982-34CB-E927-8EA27396F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776" y="3112523"/>
            <a:ext cx="8032447" cy="1947656"/>
          </a:xfrm>
          <a:prstGeom prst="rect">
            <a:avLst/>
          </a:prstGeom>
        </p:spPr>
      </p:pic>
      <p:sp>
        <p:nvSpPr>
          <p:cNvPr id="7" name="Google Shape;147;p21">
            <a:extLst>
              <a:ext uri="{FF2B5EF4-FFF2-40B4-BE49-F238E27FC236}">
                <a16:creationId xmlns:a16="http://schemas.microsoft.com/office/drawing/2014/main" id="{1555DC03-BBC7-FCE0-09DF-5B9522294CA5}"/>
              </a:ext>
            </a:extLst>
          </p:cNvPr>
          <p:cNvSpPr/>
          <p:nvPr/>
        </p:nvSpPr>
        <p:spPr>
          <a:xfrm rot="-5400000">
            <a:off x="1858826" y="3924784"/>
            <a:ext cx="441900" cy="468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48;p21">
            <a:extLst>
              <a:ext uri="{FF2B5EF4-FFF2-40B4-BE49-F238E27FC236}">
                <a16:creationId xmlns:a16="http://schemas.microsoft.com/office/drawing/2014/main" id="{4C5AD709-16DB-8A8E-A483-E428416B42FA}"/>
              </a:ext>
            </a:extLst>
          </p:cNvPr>
          <p:cNvSpPr/>
          <p:nvPr/>
        </p:nvSpPr>
        <p:spPr>
          <a:xfrm>
            <a:off x="6371478" y="3221434"/>
            <a:ext cx="441900" cy="468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2386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E9B2F-05E3-22C2-56D0-93D3BD077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 de instancias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7C4153C-E33A-206B-CE57-D3E6F82197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A7B523-40B9-22F3-3973-D34DC616B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42"/>
            <a:ext cx="7035265" cy="3843645"/>
          </a:xfrm>
        </p:spPr>
        <p:txBody>
          <a:bodyPr>
            <a:normAutofit/>
          </a:bodyPr>
          <a:lstStyle/>
          <a:p>
            <a:pPr marL="0" lvl="0" indent="0">
              <a:lnSpc>
                <a:spcPct val="95000"/>
              </a:lnSpc>
              <a:spcBef>
                <a:spcPts val="0"/>
              </a:spcBef>
              <a:buSzPts val="935"/>
              <a:buNone/>
            </a:pPr>
            <a:r>
              <a:rPr lang="es-ES" sz="1600" dirty="0"/>
              <a:t>Amazon EC2 proporciona una amplia selección de tipos de instancia optimizados para adaptarse a diferentes casos de uso. Tienen diversas combinaciones de CPU, memoria, almacenamiento y capacidad de red, y le brindan la flexibilidad de elegir la combinación adecuada de recursos para sus aplicaciones.</a:t>
            </a:r>
          </a:p>
          <a:p>
            <a:pPr marL="0" lvl="0" indent="0">
              <a:lnSpc>
                <a:spcPct val="95000"/>
              </a:lnSpc>
              <a:spcBef>
                <a:spcPts val="1200"/>
              </a:spcBef>
              <a:buSzPts val="935"/>
              <a:buNone/>
            </a:pPr>
            <a:r>
              <a:rPr lang="es-ES" sz="1600" dirty="0"/>
              <a:t>Documentación completa: </a:t>
            </a:r>
            <a:r>
              <a:rPr lang="es-ES" sz="1600" u="sng" dirty="0">
                <a:solidFill>
                  <a:schemeClr val="hlink"/>
                </a:solidFill>
                <a:hlinkClick r:id="rId2"/>
              </a:rPr>
              <a:t>https://aws.amazon.com/es/ec2/instance-types/</a:t>
            </a:r>
            <a:endParaRPr lang="es-ES" sz="1600" dirty="0"/>
          </a:p>
          <a:p>
            <a:pPr marL="0" lvl="0" indent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s-ES" sz="1600" b="1" dirty="0"/>
              <a:t>Nomenclatura</a:t>
            </a:r>
            <a:r>
              <a:rPr lang="es-ES" sz="1600" dirty="0"/>
              <a:t>:</a:t>
            </a:r>
          </a:p>
          <a:p>
            <a:endParaRPr lang="es-PE" sz="1600" dirty="0"/>
          </a:p>
        </p:txBody>
      </p:sp>
      <p:pic>
        <p:nvPicPr>
          <p:cNvPr id="7" name="Google Shape;156;p22">
            <a:extLst>
              <a:ext uri="{FF2B5EF4-FFF2-40B4-BE49-F238E27FC236}">
                <a16:creationId xmlns:a16="http://schemas.microsoft.com/office/drawing/2014/main" id="{684D62A5-CA54-A9A8-39F3-306E9369E6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8893" y="1518142"/>
            <a:ext cx="2774907" cy="3073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2805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F3C40-9F28-928D-03FA-2038CFC2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DC7DE-8158-EFF2-3400-1525EC98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Llaves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8C11DED-F3B2-474E-685C-E35CCCA745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565014-5CB1-044A-4CDE-901B4480D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Para poder acceder a una instancia lo debe realizar con un par de llaves privadas y públicas. AWS le da la opción de utilizar un mismo par de llaves con múltiples instancias o usar llaves independientes por cada instancia.</a:t>
            </a:r>
          </a:p>
          <a:p>
            <a:endParaRPr lang="es-PE" dirty="0"/>
          </a:p>
          <a:p>
            <a:endParaRPr lang="es-PE" dirty="0"/>
          </a:p>
          <a:p>
            <a:endParaRPr lang="es-PE" dirty="0"/>
          </a:p>
          <a:p>
            <a:endParaRPr lang="es-PE" dirty="0"/>
          </a:p>
          <a:p>
            <a:endParaRPr lang="es-PE" dirty="0"/>
          </a:p>
          <a:p>
            <a:endParaRPr lang="es-PE" dirty="0"/>
          </a:p>
          <a:p>
            <a:r>
              <a:rPr lang="es-ES" dirty="0"/>
              <a:t>Cree un nuevo par de claves.</a:t>
            </a:r>
          </a:p>
          <a:p>
            <a:endParaRPr lang="es-PE" dirty="0"/>
          </a:p>
        </p:txBody>
      </p:sp>
      <p:pic>
        <p:nvPicPr>
          <p:cNvPr id="5" name="Google Shape;173;p24">
            <a:extLst>
              <a:ext uri="{FF2B5EF4-FFF2-40B4-BE49-F238E27FC236}">
                <a16:creationId xmlns:a16="http://schemas.microsoft.com/office/drawing/2014/main" id="{452F5321-68E5-BC46-F2F8-2980B818F66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06599" y="2640383"/>
            <a:ext cx="797242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74;p24">
            <a:extLst>
              <a:ext uri="{FF2B5EF4-FFF2-40B4-BE49-F238E27FC236}">
                <a16:creationId xmlns:a16="http://schemas.microsoft.com/office/drawing/2014/main" id="{5149E123-D1F0-DBF2-BF92-ECCC8351A414}"/>
              </a:ext>
            </a:extLst>
          </p:cNvPr>
          <p:cNvSpPr/>
          <p:nvPr/>
        </p:nvSpPr>
        <p:spPr>
          <a:xfrm rot="10800000">
            <a:off x="8681036" y="4371227"/>
            <a:ext cx="441900" cy="468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8699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EEDC-FC97-414E-72F1-7FF7B881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F4A2E-8782-549A-705C-5653E8C3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Llaves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F602C76-3FBE-BE63-5C01-A2DF4B8764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AF1E54-C892-A843-92A5-A6EDA39B6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42"/>
            <a:ext cx="4041808" cy="3843645"/>
          </a:xfrm>
        </p:spPr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Coloque un nombre a su llave.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800" dirty="0"/>
              <a:t>Luego, “</a:t>
            </a:r>
            <a:r>
              <a:rPr lang="es-ES" sz="1800" b="1" dirty="0"/>
              <a:t>crear par de claves</a:t>
            </a:r>
            <a:r>
              <a:rPr lang="es-ES" sz="1800" dirty="0"/>
              <a:t>”.</a:t>
            </a:r>
          </a:p>
          <a:p>
            <a:pPr marL="0" lvl="0" indent="0">
              <a:spcBef>
                <a:spcPts val="1200"/>
              </a:spcBef>
              <a:buNone/>
            </a:pPr>
            <a:endParaRPr lang="es-ES" sz="1800" dirty="0"/>
          </a:p>
          <a:p>
            <a:pPr marL="0" lvl="0" indent="0">
              <a:spcBef>
                <a:spcPts val="1200"/>
              </a:spcBef>
              <a:buNone/>
            </a:pPr>
            <a:endParaRPr lang="es-ES" sz="1800" dirty="0"/>
          </a:p>
          <a:p>
            <a:pPr marL="0" lvl="0" indent="0">
              <a:spcBef>
                <a:spcPts val="1200"/>
              </a:spcBef>
              <a:buNone/>
            </a:pPr>
            <a:endParaRPr lang="es-ES" sz="1800" dirty="0"/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b="1" dirty="0">
                <a:solidFill>
                  <a:srgbClr val="FF0000"/>
                </a:solidFill>
              </a:rPr>
              <a:t>CUIDADO. Si pierde su llave nadie le podrá brindar acceso a la instancia que ha creado.</a:t>
            </a:r>
            <a:endParaRPr lang="es-ES" sz="1800" dirty="0"/>
          </a:p>
          <a:p>
            <a:endParaRPr lang="es-PE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98F8B1D-EFF7-1120-AA3C-5F6DFD80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639" y="1162975"/>
            <a:ext cx="4373031" cy="397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111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B5FEE-D920-75A7-FF65-79FB6553D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Lanzar instancia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22EEB0-ACE2-0544-F192-921DAAA6F6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29C9F-4C59-30FC-600E-B32C778E7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Verifique que se descargó la llave (archivo .</a:t>
            </a:r>
            <a:r>
              <a:rPr lang="es-ES" dirty="0" err="1"/>
              <a:t>pem</a:t>
            </a:r>
            <a:r>
              <a:rPr lang="es-ES" dirty="0"/>
              <a:t>).</a:t>
            </a:r>
          </a:p>
          <a:p>
            <a:pPr marL="0" lvl="0" indent="0">
              <a:spcBef>
                <a:spcPts val="1200"/>
              </a:spcBef>
              <a:buNone/>
            </a:pPr>
            <a:endParaRPr lang="es-ES" dirty="0"/>
          </a:p>
          <a:p>
            <a:pPr marL="0" lvl="0" indent="0">
              <a:spcBef>
                <a:spcPts val="1200"/>
              </a:spcBef>
              <a:buNone/>
            </a:pPr>
            <a:endParaRPr lang="es-ES" dirty="0"/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dirty="0"/>
              <a:t>Verifique su llave está seleccionada</a:t>
            </a:r>
          </a:p>
          <a:p>
            <a:endParaRPr lang="es-P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56379AF-A860-7688-E972-ADFCBCA41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58" y="3569787"/>
            <a:ext cx="9471473" cy="199764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6DECE16-5A07-EEE6-9FA1-5956B6C59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970" y="2103978"/>
            <a:ext cx="338184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60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5A378-E05F-0CD1-9F89-3205906ED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501B6-0C3E-9F43-1881-231EF409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Configuraciones de red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6FB2103-C46F-5EB1-93A0-D9D0FEE065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B6DA0C9-E9DD-D43E-9858-CC7F47A37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En configuraciones de red es necesario adicionar el puerto 8080 (o el que esté usando) para permitir el tráfico entrante a la aplicación de Spring Boot.</a:t>
            </a:r>
          </a:p>
          <a:p>
            <a:endParaRPr lang="es-PE" sz="1800" dirty="0"/>
          </a:p>
        </p:txBody>
      </p:sp>
      <p:pic>
        <p:nvPicPr>
          <p:cNvPr id="5" name="Google Shape;199;p27">
            <a:extLst>
              <a:ext uri="{FF2B5EF4-FFF2-40B4-BE49-F238E27FC236}">
                <a16:creationId xmlns:a16="http://schemas.microsoft.com/office/drawing/2014/main" id="{2A68332E-1AD1-F3E6-3916-A23D60081B1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66949" y="2406450"/>
            <a:ext cx="7800975" cy="25622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0;p27">
            <a:extLst>
              <a:ext uri="{FF2B5EF4-FFF2-40B4-BE49-F238E27FC236}">
                <a16:creationId xmlns:a16="http://schemas.microsoft.com/office/drawing/2014/main" id="{43477C05-F76E-72CC-416A-D334EAA0BBE0}"/>
              </a:ext>
            </a:extLst>
          </p:cNvPr>
          <p:cNvSpPr/>
          <p:nvPr/>
        </p:nvSpPr>
        <p:spPr>
          <a:xfrm>
            <a:off x="9132261" y="2181425"/>
            <a:ext cx="441900" cy="468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045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55CED-5FB4-2461-C625-FD9761289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146FC-41E2-B63F-FFA8-691E3CC9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Configuraciones de red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5B6F475-EB41-3EA8-9CBC-F263D1FD02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9BC6102-923E-B18B-F03E-A1D2F6305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189201"/>
            <a:ext cx="10356570" cy="3843645"/>
          </a:xfrm>
        </p:spPr>
        <p:txBody>
          <a:bodyPr>
            <a:normAutofit/>
          </a:bodyPr>
          <a:lstStyle/>
          <a:p>
            <a:r>
              <a:rPr lang="es-ES" sz="2000" dirty="0"/>
              <a:t>En la parte inferior, añade una regla al grupo de seguridad.</a:t>
            </a:r>
          </a:p>
          <a:p>
            <a:endParaRPr lang="es-PE" sz="2000" dirty="0"/>
          </a:p>
        </p:txBody>
      </p:sp>
      <p:pic>
        <p:nvPicPr>
          <p:cNvPr id="5" name="Google Shape;208;p28">
            <a:extLst>
              <a:ext uri="{FF2B5EF4-FFF2-40B4-BE49-F238E27FC236}">
                <a16:creationId xmlns:a16="http://schemas.microsoft.com/office/drawing/2014/main" id="{E86FBED2-147A-4E2E-EFBC-F21F69C8597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19470" y="1923766"/>
            <a:ext cx="6955700" cy="180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09;p28">
            <a:extLst>
              <a:ext uri="{FF2B5EF4-FFF2-40B4-BE49-F238E27FC236}">
                <a16:creationId xmlns:a16="http://schemas.microsoft.com/office/drawing/2014/main" id="{7499E458-FE53-D9A4-000B-574C8F852C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5857" y="3876028"/>
            <a:ext cx="5420286" cy="1510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1020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23C7-0E4F-267A-41F0-7B246BDDE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4355D-5932-F2F8-70D6-7D5460AF5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Storage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F2B4BB5-DC14-881C-6039-DC9E32701B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53CDD4-B9E0-BE69-FEEE-8E18C2072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1800" dirty="0"/>
              <a:t>Por defecto se le asigna un disco con 8Gb del tipo gp2. Si desea puede aumentarlo. Para mayor información sobre los tipos de discos, entrar </a:t>
            </a:r>
            <a:r>
              <a:rPr lang="es-ES" sz="1800" u="sng" dirty="0">
                <a:solidFill>
                  <a:schemeClr val="hlink"/>
                </a:solidFill>
                <a:hlinkClick r:id="rId2"/>
              </a:rPr>
              <a:t>aquí</a:t>
            </a:r>
            <a:r>
              <a:rPr lang="es-ES" sz="1800" dirty="0"/>
              <a:t>. </a:t>
            </a:r>
          </a:p>
          <a:p>
            <a:endParaRPr lang="es-PE" sz="1800" dirty="0"/>
          </a:p>
        </p:txBody>
      </p:sp>
      <p:pic>
        <p:nvPicPr>
          <p:cNvPr id="5" name="Google Shape;217;p29">
            <a:extLst>
              <a:ext uri="{FF2B5EF4-FFF2-40B4-BE49-F238E27FC236}">
                <a16:creationId xmlns:a16="http://schemas.microsoft.com/office/drawing/2014/main" id="{F5085F54-23BF-38EC-E5EB-F4958E06885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080" y="2554722"/>
            <a:ext cx="6713839" cy="28985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45852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D1172-A2C1-17E9-A43D-8594DF2F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E81DA-308B-7C7C-1A4F-51081E642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Detalles de la instancia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0F548A3-A92D-E701-4EA5-FA3E2C5B21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A05EDFC-C8FF-1DD9-8B30-FAA3AA997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Dejar todos los parámetros por defecto y hacer clic en almacenamiento</a:t>
            </a:r>
          </a:p>
          <a:p>
            <a:endParaRPr lang="es-PE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63EACAD-8F65-1022-2A35-FA6024D35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99" y="2117456"/>
            <a:ext cx="6467798" cy="324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288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86F36-1521-3CC4-57F8-E4C88EA1C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Resumen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BE2D0A9-4382-B20C-9DE0-4E0CBA62FC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03FEC4-4A8D-4C33-66E2-1C6A367D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Revise los parámetros de su instancia y “</a:t>
            </a:r>
            <a:r>
              <a:rPr lang="es-ES" sz="2000" b="1" dirty="0"/>
              <a:t>Lanzar</a:t>
            </a:r>
            <a:r>
              <a:rPr lang="es-ES" sz="2000" dirty="0"/>
              <a:t>”.</a:t>
            </a:r>
          </a:p>
          <a:p>
            <a:endParaRPr lang="es-PE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155400-7BDE-03AB-5AD1-461436A42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009" y="1002995"/>
            <a:ext cx="3813909" cy="423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3263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9B56-02DF-72A3-3344-64D9BA4D3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766F68-8D70-DF4F-8E74-9324E405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B6C244F-BED8-2FD5-B541-80A5715DD1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2EDC40-29E5-CD28-FB9E-F8D470FB3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5ADB6B0-41B5-C290-3664-CB6BFBB0D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6" y="414786"/>
            <a:ext cx="11463688" cy="492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217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8F76C-D4A0-D0E5-7CB7-7843F22A6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Verificación de instancia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EBF3924-D39D-F630-47E5-7BEDA280E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C2D9FC6-F371-C7EF-EDDD-D94490B75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975"/>
            <a:ext cx="10356570" cy="3843645"/>
          </a:xfrm>
        </p:spPr>
        <p:txBody>
          <a:bodyPr>
            <a:normAutofit/>
          </a:bodyPr>
          <a:lstStyle/>
          <a:p>
            <a:r>
              <a:rPr lang="es-ES" sz="1800" dirty="0"/>
              <a:t>Si todo fue exitoso, seleccione su instancia y en las pestañas de abajo, haga clic en “Comprobaciones de estado”. </a:t>
            </a:r>
          </a:p>
          <a:p>
            <a:endParaRPr lang="es-PE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B98C5C3-C2AC-1440-A962-4DBA8A6D5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55" y="2026556"/>
            <a:ext cx="10690459" cy="87983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52E4A2A-3015-CADC-E78F-2AE212ED2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6" y="3045857"/>
            <a:ext cx="11361714" cy="252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86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686E43-7599-4F2C-90B2-C81FE7D6E5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t>21</a:t>
            </a:fld>
            <a:endParaRPr lang="es-P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Conexión</a:t>
            </a:r>
            <a:r>
              <a:rPr lang="en-US" sz="4400" dirty="0"/>
              <a:t> a </a:t>
            </a:r>
            <a:r>
              <a:rPr lang="en-US" sz="4400" dirty="0" err="1"/>
              <a:t>una</a:t>
            </a:r>
            <a:r>
              <a:rPr lang="en-US" sz="4400" dirty="0"/>
              <a:t> </a:t>
            </a:r>
            <a:r>
              <a:rPr lang="en-US" sz="4400" dirty="0" err="1"/>
              <a:t>instancia</a:t>
            </a:r>
            <a:r>
              <a:rPr lang="en-US" sz="4400" dirty="0"/>
              <a:t> EC2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32375304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31EFED-8A06-73F6-C800-9DBCFEFC4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Configuración previa - análisis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A663594-A7C7-10DB-A116-996499D96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D585F0-0B69-B234-86E3-3A5FAA1DA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Cuando una instancia EC2 se apaga y luego se vuelve a prender, el IP público que esta tiene cambia.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800" dirty="0"/>
              <a:t>Considerando que la </a:t>
            </a:r>
            <a:r>
              <a:rPr lang="es-ES" sz="1800" dirty="0" err="1"/>
              <a:t>sandbox</a:t>
            </a:r>
            <a:r>
              <a:rPr lang="es-ES" sz="1800" dirty="0"/>
              <a:t> de AWS dura 4 horas, cada vez que esta se apaga y usted la vuelve a prender, deberá buscar el nuevo IP público.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s-ES" sz="1800" dirty="0"/>
              <a:t>Aquí tiene dos opciones:</a:t>
            </a:r>
          </a:p>
          <a:p>
            <a:pPr lvl="0" indent="-342900">
              <a:spcBef>
                <a:spcPts val="1200"/>
              </a:spcBef>
              <a:buSzPts val="1800"/>
              <a:buChar char="●"/>
            </a:pPr>
            <a:r>
              <a:rPr lang="es-ES" sz="1800" dirty="0"/>
              <a:t>Si solo desea hacer pruebas y no es problema buscar el IP público cada vez que desea conectarse a su máquina, o piensa borrarla antes de las 4 horas, entonces vaya a la diapositiva 31</a:t>
            </a:r>
          </a:p>
          <a:p>
            <a:pPr lvl="0" indent="-342900">
              <a:buSzPts val="1800"/>
              <a:buChar char="●"/>
            </a:pPr>
            <a:r>
              <a:rPr lang="es-ES" sz="1800" dirty="0"/>
              <a:t>Si va a desplegar una aplicación que al volver a prenderla no desea que cambie el IP público entonces siga a la siguiente diapositiva.</a:t>
            </a:r>
          </a:p>
          <a:p>
            <a:endParaRPr lang="es-PE" sz="1800" dirty="0"/>
          </a:p>
        </p:txBody>
      </p:sp>
    </p:spTree>
    <p:extLst>
      <p:ext uri="{BB962C8B-B14F-4D97-AF65-F5344CB8AC3E}">
        <p14:creationId xmlns:p14="http://schemas.microsoft.com/office/powerpoint/2010/main" val="9179346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3608E-B097-7CC6-7926-9BB3A8C22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Elastic</a:t>
            </a:r>
            <a:r>
              <a:rPr lang="es-ES" dirty="0"/>
              <a:t> IP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E0DB37-C652-E295-C4B8-955AED5BBE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CB13F1-6BAE-C852-AEEF-1553351CE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Una funcionalidad que tiene AWS es la de IP elástico. Este permite asociar una IP pública fija a su máquina virtual por un costo adicional. Esto le podría permitir que al apagar y volver a prender su instancia, no deba cambiar la IP que usa para conectarse.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25915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766021-4432-B464-674A-3DD92FD4B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Asignar una IP Elástica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78CAAE7-4C9E-E511-10EF-9BF144285F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3CA5BAF-5542-C747-63FA-C5983C47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42"/>
            <a:ext cx="5013960" cy="3843645"/>
          </a:xfrm>
        </p:spPr>
        <p:txBody>
          <a:bodyPr/>
          <a:lstStyle/>
          <a:p>
            <a:r>
              <a:rPr lang="es-ES" dirty="0"/>
              <a:t>Estando en la pantalla de EC2, busque en las opciones del menú lateral izquierdo “</a:t>
            </a:r>
            <a:r>
              <a:rPr lang="es-ES" dirty="0" err="1"/>
              <a:t>Elastic</a:t>
            </a:r>
            <a:r>
              <a:rPr lang="es-ES" dirty="0"/>
              <a:t> IP” o “Direcciones IP elásticas”.</a:t>
            </a:r>
          </a:p>
          <a:p>
            <a:endParaRPr lang="es-PE" dirty="0"/>
          </a:p>
        </p:txBody>
      </p:sp>
      <p:pic>
        <p:nvPicPr>
          <p:cNvPr id="5" name="Google Shape;281;p37">
            <a:extLst>
              <a:ext uri="{FF2B5EF4-FFF2-40B4-BE49-F238E27FC236}">
                <a16:creationId xmlns:a16="http://schemas.microsoft.com/office/drawing/2014/main" id="{020707D1-18FB-2E4C-9BAB-A65A51DBB86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10498"/>
          <a:stretch/>
        </p:blipFill>
        <p:spPr>
          <a:xfrm>
            <a:off x="6911772" y="538503"/>
            <a:ext cx="3993651" cy="494703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83;p37">
            <a:extLst>
              <a:ext uri="{FF2B5EF4-FFF2-40B4-BE49-F238E27FC236}">
                <a16:creationId xmlns:a16="http://schemas.microsoft.com/office/drawing/2014/main" id="{41D3F040-A5B0-2081-F4B1-2436D1C4157F}"/>
              </a:ext>
            </a:extLst>
          </p:cNvPr>
          <p:cNvSpPr/>
          <p:nvPr/>
        </p:nvSpPr>
        <p:spPr>
          <a:xfrm rot="-5400000">
            <a:off x="6635925" y="3349081"/>
            <a:ext cx="441900" cy="468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1174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38454-D0CB-2C3E-69EF-F5AEBCBE5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8447E-B526-498D-A140-28B3740F4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Asignar una IP Elástica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AAFA862-4AFD-B481-9F65-E250FB8033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71FC1FD-7E20-61E8-0150-B1ADA962A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913" y="1518142"/>
            <a:ext cx="10356570" cy="3843645"/>
          </a:xfrm>
        </p:spPr>
        <p:txBody>
          <a:bodyPr/>
          <a:lstStyle/>
          <a:p>
            <a:r>
              <a:rPr lang="es-ES" dirty="0"/>
              <a:t>Haga clic en “Asignar la dirección IP elástica”.</a:t>
            </a:r>
          </a:p>
          <a:p>
            <a:endParaRPr lang="es-PE" dirty="0"/>
          </a:p>
        </p:txBody>
      </p:sp>
      <p:pic>
        <p:nvPicPr>
          <p:cNvPr id="5" name="Google Shape;291;p38">
            <a:extLst>
              <a:ext uri="{FF2B5EF4-FFF2-40B4-BE49-F238E27FC236}">
                <a16:creationId xmlns:a16="http://schemas.microsoft.com/office/drawing/2014/main" id="{A33C6BE3-579E-F75B-42DB-260561FBE57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81325" y="2777813"/>
            <a:ext cx="62293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2;p38">
            <a:extLst>
              <a:ext uri="{FF2B5EF4-FFF2-40B4-BE49-F238E27FC236}">
                <a16:creationId xmlns:a16="http://schemas.microsoft.com/office/drawing/2014/main" id="{B0D7CF1A-7B93-376C-B5EA-821F1B7B38B5}"/>
              </a:ext>
            </a:extLst>
          </p:cNvPr>
          <p:cNvSpPr/>
          <p:nvPr/>
        </p:nvSpPr>
        <p:spPr>
          <a:xfrm>
            <a:off x="7337250" y="2456638"/>
            <a:ext cx="441900" cy="468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787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A161-1632-C3FF-9834-E34A674FB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FB70C3-8136-C622-FA2E-A14615DC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Asignar una IP Elástica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26F11F0-F3E9-AF2F-1449-794CBCC5C1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E63566-123C-2B0D-A1B6-0BC4EA23D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42"/>
            <a:ext cx="6043863" cy="3843645"/>
          </a:xfrm>
        </p:spPr>
        <p:txBody>
          <a:bodyPr/>
          <a:lstStyle/>
          <a:p>
            <a:r>
              <a:rPr lang="es-ES" dirty="0"/>
              <a:t>En la ventana que aparece, deje todo por defecto y haga </a:t>
            </a:r>
            <a:r>
              <a:rPr lang="es-ES" dirty="0" err="1"/>
              <a:t>click</a:t>
            </a:r>
            <a:r>
              <a:rPr lang="es-ES" dirty="0"/>
              <a:t> “</a:t>
            </a:r>
            <a:r>
              <a:rPr lang="es-ES" b="1" dirty="0"/>
              <a:t>Asignar</a:t>
            </a:r>
            <a:r>
              <a:rPr lang="es-ES" dirty="0"/>
              <a:t>”.</a:t>
            </a:r>
          </a:p>
          <a:p>
            <a:endParaRPr lang="es-PE" dirty="0"/>
          </a:p>
        </p:txBody>
      </p:sp>
      <p:pic>
        <p:nvPicPr>
          <p:cNvPr id="5" name="Google Shape;300;p39">
            <a:extLst>
              <a:ext uri="{FF2B5EF4-FFF2-40B4-BE49-F238E27FC236}">
                <a16:creationId xmlns:a16="http://schemas.microsoft.com/office/drawing/2014/main" id="{CD58C1AE-C6F8-D399-70DD-BB0BF5C1BF5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28135"/>
          <a:stretch/>
        </p:blipFill>
        <p:spPr>
          <a:xfrm>
            <a:off x="7408847" y="830832"/>
            <a:ext cx="3524985" cy="1902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301;p39">
            <a:extLst>
              <a:ext uri="{FF2B5EF4-FFF2-40B4-BE49-F238E27FC236}">
                <a16:creationId xmlns:a16="http://schemas.microsoft.com/office/drawing/2014/main" id="{69E6B53C-0CC9-E6C9-26F9-266F4EAD51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6944"/>
          <a:stretch/>
        </p:blipFill>
        <p:spPr>
          <a:xfrm>
            <a:off x="7057012" y="3590212"/>
            <a:ext cx="4295200" cy="177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02;p39">
            <a:extLst>
              <a:ext uri="{FF2B5EF4-FFF2-40B4-BE49-F238E27FC236}">
                <a16:creationId xmlns:a16="http://schemas.microsoft.com/office/drawing/2014/main" id="{BB9E760B-7341-33B9-A752-394BAEE4F21F}"/>
              </a:ext>
            </a:extLst>
          </p:cNvPr>
          <p:cNvSpPr/>
          <p:nvPr/>
        </p:nvSpPr>
        <p:spPr>
          <a:xfrm>
            <a:off x="9204612" y="2844455"/>
            <a:ext cx="107100" cy="10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303;p39">
            <a:extLst>
              <a:ext uri="{FF2B5EF4-FFF2-40B4-BE49-F238E27FC236}">
                <a16:creationId xmlns:a16="http://schemas.microsoft.com/office/drawing/2014/main" id="{E2F5CAB9-1DC5-2DDE-85E8-4BE62DCBC13C}"/>
              </a:ext>
            </a:extLst>
          </p:cNvPr>
          <p:cNvSpPr/>
          <p:nvPr/>
        </p:nvSpPr>
        <p:spPr>
          <a:xfrm>
            <a:off x="9204612" y="3027830"/>
            <a:ext cx="107100" cy="10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304;p39">
            <a:extLst>
              <a:ext uri="{FF2B5EF4-FFF2-40B4-BE49-F238E27FC236}">
                <a16:creationId xmlns:a16="http://schemas.microsoft.com/office/drawing/2014/main" id="{B5A94937-79D0-BDD6-2C8B-EA90BD5EC206}"/>
              </a:ext>
            </a:extLst>
          </p:cNvPr>
          <p:cNvSpPr/>
          <p:nvPr/>
        </p:nvSpPr>
        <p:spPr>
          <a:xfrm>
            <a:off x="9204612" y="3233330"/>
            <a:ext cx="107100" cy="1071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776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34BAD-57AF-2EB8-A307-008702C7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9572C-A567-78B8-3ECF-833BC642F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Asociar una IP Elástica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9DD2F42-DAAC-F3DC-29D1-58282CF8B1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CBB24A-5D68-FA4B-505D-98D0CB7A5E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Le aparecerá la confirmación de la asignación de la IP elástica.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dirty="0"/>
              <a:t>Ahora procederá a asociar la dirección IP elástica con su instancia EC2 creada previamente.</a:t>
            </a:r>
          </a:p>
          <a:p>
            <a:endParaRPr lang="es-PE" sz="1800" dirty="0"/>
          </a:p>
        </p:txBody>
      </p:sp>
      <p:pic>
        <p:nvPicPr>
          <p:cNvPr id="5" name="Google Shape;312;p40">
            <a:extLst>
              <a:ext uri="{FF2B5EF4-FFF2-40B4-BE49-F238E27FC236}">
                <a16:creationId xmlns:a16="http://schemas.microsoft.com/office/drawing/2014/main" id="{066FC10C-6E07-B055-8435-FA008B3870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93435" y="2792694"/>
            <a:ext cx="7524750" cy="270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13;p40">
            <a:extLst>
              <a:ext uri="{FF2B5EF4-FFF2-40B4-BE49-F238E27FC236}">
                <a16:creationId xmlns:a16="http://schemas.microsoft.com/office/drawing/2014/main" id="{445B3678-9387-3D1A-72F1-CD7A0D7062B8}"/>
              </a:ext>
            </a:extLst>
          </p:cNvPr>
          <p:cNvSpPr/>
          <p:nvPr/>
        </p:nvSpPr>
        <p:spPr>
          <a:xfrm>
            <a:off x="8589185" y="2422407"/>
            <a:ext cx="441900" cy="4689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9655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CE37-D0EB-D390-CC77-66240FED2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5A634-06B8-E49B-14A8-7F83D5C43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Asociar una IP Elástica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6A03DA1-2527-4065-81A7-52CAA5336E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AF9310-42E2-D397-4B19-59CC832081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42"/>
            <a:ext cx="5110213" cy="3843645"/>
          </a:xfrm>
        </p:spPr>
        <p:txBody>
          <a:bodyPr>
            <a:normAutofit/>
          </a:bodyPr>
          <a:lstStyle/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1800" dirty="0"/>
              <a:t>En la opción de instancia, seleccione el nombre o identificador de la instancia que ha creado.</a:t>
            </a:r>
          </a:p>
          <a:p>
            <a:pPr lvl="0" indent="-342900">
              <a:buSzPts val="1800"/>
              <a:buChar char="●"/>
            </a:pPr>
            <a:r>
              <a:rPr lang="es-ES" sz="1800" dirty="0"/>
              <a:t>En la opción de IP privada, seleccione la IP privada por defecto (normalmente tiene 1).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s-ES" sz="1800" dirty="0"/>
              <a:t>→ Luego presione “</a:t>
            </a:r>
            <a:r>
              <a:rPr lang="es-ES" sz="1800" b="1" dirty="0"/>
              <a:t>Asociar</a:t>
            </a:r>
            <a:r>
              <a:rPr lang="es-ES" sz="1800" dirty="0"/>
              <a:t>”.</a:t>
            </a:r>
          </a:p>
          <a:p>
            <a:endParaRPr lang="es-PE" sz="1800" dirty="0"/>
          </a:p>
        </p:txBody>
      </p:sp>
      <p:pic>
        <p:nvPicPr>
          <p:cNvPr id="5" name="Google Shape;321;p41">
            <a:extLst>
              <a:ext uri="{FF2B5EF4-FFF2-40B4-BE49-F238E27FC236}">
                <a16:creationId xmlns:a16="http://schemas.microsoft.com/office/drawing/2014/main" id="{4BBAA8A5-9713-6632-F68E-1356A680E30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46615"/>
          <a:stretch/>
        </p:blipFill>
        <p:spPr>
          <a:xfrm>
            <a:off x="7028735" y="597061"/>
            <a:ext cx="3439349" cy="47647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7448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F8878-6F69-4757-4680-5C7E703A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1AD3E-184A-D28F-6D01-0F0A50276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Asociar una IP Elástica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44481D8-C015-DB5B-DB91-7FBFFC8700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29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04C567-F153-58E3-4F13-B1843A8A8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Aparecerá un mensaje indicando que la IP elástica ha sido asociada correctamente.</a:t>
            </a:r>
          </a:p>
          <a:p>
            <a:endParaRPr lang="es-PE" dirty="0"/>
          </a:p>
        </p:txBody>
      </p:sp>
      <p:pic>
        <p:nvPicPr>
          <p:cNvPr id="5" name="Google Shape;330;p42">
            <a:extLst>
              <a:ext uri="{FF2B5EF4-FFF2-40B4-BE49-F238E27FC236}">
                <a16:creationId xmlns:a16="http://schemas.microsoft.com/office/drawing/2014/main" id="{95BE475F-9160-3924-E38C-BBECB3DB57A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71849" y="2619173"/>
            <a:ext cx="5753100" cy="2524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50150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E686E43-7599-4F2C-90B2-C81FE7D6E5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38994" y="6139498"/>
            <a:ext cx="459635" cy="365125"/>
          </a:xfrm>
        </p:spPr>
        <p:txBody>
          <a:bodyPr/>
          <a:lstStyle/>
          <a:p>
            <a:fld id="{52A29C8B-5F70-8945-A2A6-FBD7A17156DB}" type="slidenum">
              <a:rPr lang="es-PE" smtClean="0"/>
              <a:t>30</a:t>
            </a:fld>
            <a:endParaRPr lang="es-P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F6689F-400B-9D28-96FE-477586A8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Conectarse</a:t>
            </a:r>
            <a:r>
              <a:rPr lang="en-US" sz="4400" dirty="0"/>
              <a:t> a la </a:t>
            </a:r>
            <a:r>
              <a:rPr lang="en-US" sz="4400" dirty="0" err="1"/>
              <a:t>instancia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34044939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2024E-CE2E-58AC-6A88-3A95BA550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Conectarse a su instancia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44E205B-DF15-BD4F-2DF8-881DBB162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EB6794-3229-5BFA-49F2-526E7D952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Seleccione su instancia, luego “</a:t>
            </a:r>
            <a:r>
              <a:rPr lang="es-ES" b="1" dirty="0"/>
              <a:t>Acciones</a:t>
            </a:r>
            <a:r>
              <a:rPr lang="es-ES" dirty="0"/>
              <a:t>” y “</a:t>
            </a:r>
            <a:r>
              <a:rPr lang="es-ES" b="1" dirty="0"/>
              <a:t>Conectar</a:t>
            </a:r>
            <a:r>
              <a:rPr lang="es-ES" dirty="0"/>
              <a:t>”.</a:t>
            </a:r>
          </a:p>
          <a:p>
            <a:endParaRPr lang="es-PE" dirty="0"/>
          </a:p>
        </p:txBody>
      </p:sp>
      <p:pic>
        <p:nvPicPr>
          <p:cNvPr id="5" name="Google Shape;344;p44">
            <a:extLst>
              <a:ext uri="{FF2B5EF4-FFF2-40B4-BE49-F238E27FC236}">
                <a16:creationId xmlns:a16="http://schemas.microsoft.com/office/drawing/2014/main" id="{E6ED8BDB-FCB1-0BCC-CCD7-C80F95F6139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37064" y="2139079"/>
            <a:ext cx="8167658" cy="330043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45;p44">
            <a:extLst>
              <a:ext uri="{FF2B5EF4-FFF2-40B4-BE49-F238E27FC236}">
                <a16:creationId xmlns:a16="http://schemas.microsoft.com/office/drawing/2014/main" id="{778B7949-D92D-1CAF-9BF3-4D3560E96174}"/>
              </a:ext>
            </a:extLst>
          </p:cNvPr>
          <p:cNvSpPr/>
          <p:nvPr/>
        </p:nvSpPr>
        <p:spPr>
          <a:xfrm>
            <a:off x="6679339" y="2908929"/>
            <a:ext cx="1017900" cy="4515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3909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007CA-5EAB-0820-C869-39B0D35E7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E8594-1E06-9725-82F1-5C2F2C4E6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Conectarse a su instancia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C71DB11-C0CC-564A-730B-109CBB7989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0546AD-FE44-D2BA-3900-064B7C13D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8142"/>
            <a:ext cx="5832107" cy="3843645"/>
          </a:xfrm>
        </p:spPr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Observará los parámetros de conexión SSH, apúntelos.</a:t>
            </a:r>
          </a:p>
          <a:p>
            <a:pPr lvl="0" indent="-342900">
              <a:spcBef>
                <a:spcPts val="1200"/>
              </a:spcBef>
              <a:buSzPts val="1800"/>
              <a:buChar char="●"/>
            </a:pPr>
            <a:r>
              <a:rPr lang="es-ES" dirty="0"/>
              <a:t>IP pública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Nombre de usuario</a:t>
            </a:r>
          </a:p>
          <a:p>
            <a:endParaRPr lang="es-PE" dirty="0"/>
          </a:p>
        </p:txBody>
      </p:sp>
      <p:pic>
        <p:nvPicPr>
          <p:cNvPr id="5" name="Google Shape;353;p45">
            <a:extLst>
              <a:ext uri="{FF2B5EF4-FFF2-40B4-BE49-F238E27FC236}">
                <a16:creationId xmlns:a16="http://schemas.microsoft.com/office/drawing/2014/main" id="{5A0AE3BD-E815-3546-069A-F6FAD13399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78411" y="1235399"/>
            <a:ext cx="3333750" cy="3981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6486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CD1D-8115-07B8-377C-96E3054A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B87E72-D9E6-2A6D-6454-8BCE0FBA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Conectarse a su instancia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9EE6059F-15A8-A4D8-5DB7-C9E3A45723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24A371-C356-B41B-0176-05A188F65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Al igual que con una instancia en Azure, puede utilizar el terminal o un programa de terceros para conectarse a su instancia.</a:t>
            </a:r>
          </a:p>
          <a:p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0FAD2F-B937-E3AB-2BE2-A6D290C00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340" y="2409569"/>
            <a:ext cx="7043319" cy="313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07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895</TotalTime>
  <Words>1052</Words>
  <Application>Microsoft Office PowerPoint</Application>
  <PresentationFormat>Panorámica</PresentationFormat>
  <Paragraphs>126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33</vt:i4>
      </vt:variant>
    </vt:vector>
  </HeadingPairs>
  <TitlesOfParts>
    <vt:vector size="41" baseType="lpstr">
      <vt:lpstr>Arial</vt:lpstr>
      <vt:lpstr>Montserrat</vt:lpstr>
      <vt:lpstr>Montserrat Medium</vt:lpstr>
      <vt:lpstr>Open Sans</vt:lpstr>
      <vt:lpstr>Tema de Office</vt:lpstr>
      <vt:lpstr>1_Tema de Office</vt:lpstr>
      <vt:lpstr>Diseño personalizado</vt:lpstr>
      <vt:lpstr>Telecom Pucp</vt:lpstr>
      <vt:lpstr>Presentación de PowerPoint</vt:lpstr>
      <vt:lpstr>Creación y conexión a una instancia EC2</vt:lpstr>
      <vt:lpstr>Máquinas virtuales en AWS</vt:lpstr>
      <vt:lpstr>EC2</vt:lpstr>
      <vt:lpstr>Creación de instancias EC2</vt:lpstr>
      <vt:lpstr>Selección de imagen Amazon Machine (AMI)</vt:lpstr>
      <vt:lpstr>Amazon Machine Images (AMI)</vt:lpstr>
      <vt:lpstr>Amazon Machine Images (AMI)</vt:lpstr>
      <vt:lpstr>Tipos de instancias</vt:lpstr>
      <vt:lpstr>Tipo de instancias</vt:lpstr>
      <vt:lpstr>Llaves</vt:lpstr>
      <vt:lpstr>Llaves</vt:lpstr>
      <vt:lpstr>Lanzar instancia</vt:lpstr>
      <vt:lpstr>Configuraciones de red</vt:lpstr>
      <vt:lpstr>Configuraciones de red</vt:lpstr>
      <vt:lpstr>Storage</vt:lpstr>
      <vt:lpstr>Detalles de la instancia</vt:lpstr>
      <vt:lpstr>Resumen</vt:lpstr>
      <vt:lpstr>Presentación de PowerPoint</vt:lpstr>
      <vt:lpstr>Verificación de instancia</vt:lpstr>
      <vt:lpstr>Conexión a una instancia EC2</vt:lpstr>
      <vt:lpstr>Configuración previa - análisis</vt:lpstr>
      <vt:lpstr>Elastic IP</vt:lpstr>
      <vt:lpstr>Asignar una IP Elástica</vt:lpstr>
      <vt:lpstr>Asignar una IP Elástica</vt:lpstr>
      <vt:lpstr>Asignar una IP Elástica</vt:lpstr>
      <vt:lpstr>Asociar una IP Elástica</vt:lpstr>
      <vt:lpstr>Asociar una IP Elástica</vt:lpstr>
      <vt:lpstr>Asociar una IP Elástica</vt:lpstr>
      <vt:lpstr>Conectarse a la instancia</vt:lpstr>
      <vt:lpstr>Conectarse a su instancia</vt:lpstr>
      <vt:lpstr>Conectarse a su instancia</vt:lpstr>
      <vt:lpstr>Conectarse a su instancia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27</cp:revision>
  <dcterms:created xsi:type="dcterms:W3CDTF">2023-10-28T21:43:03Z</dcterms:created>
  <dcterms:modified xsi:type="dcterms:W3CDTF">2026-04-01T19:04:19Z</dcterms:modified>
</cp:coreProperties>
</file>