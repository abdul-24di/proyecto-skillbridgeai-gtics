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46"/>
  </p:notesMasterIdLst>
  <p:handoutMasterIdLst>
    <p:handoutMasterId r:id="rId47"/>
  </p:handoutMasterIdLst>
  <p:sldIdLst>
    <p:sldId id="401" r:id="rId5"/>
    <p:sldId id="402" r:id="rId6"/>
    <p:sldId id="403" r:id="rId7"/>
    <p:sldId id="404" r:id="rId8"/>
    <p:sldId id="405" r:id="rId9"/>
    <p:sldId id="406" r:id="rId10"/>
    <p:sldId id="407" r:id="rId11"/>
    <p:sldId id="408" r:id="rId12"/>
    <p:sldId id="409" r:id="rId13"/>
    <p:sldId id="410" r:id="rId14"/>
    <p:sldId id="374" r:id="rId15"/>
    <p:sldId id="411" r:id="rId16"/>
    <p:sldId id="412" r:id="rId17"/>
    <p:sldId id="413" r:id="rId18"/>
    <p:sldId id="414" r:id="rId19"/>
    <p:sldId id="415" r:id="rId20"/>
    <p:sldId id="416" r:id="rId21"/>
    <p:sldId id="417" r:id="rId22"/>
    <p:sldId id="418" r:id="rId23"/>
    <p:sldId id="419" r:id="rId24"/>
    <p:sldId id="420" r:id="rId25"/>
    <p:sldId id="421" r:id="rId26"/>
    <p:sldId id="422" r:id="rId27"/>
    <p:sldId id="423" r:id="rId28"/>
    <p:sldId id="385" r:id="rId29"/>
    <p:sldId id="424" r:id="rId30"/>
    <p:sldId id="425" r:id="rId31"/>
    <p:sldId id="426" r:id="rId32"/>
    <p:sldId id="427" r:id="rId33"/>
    <p:sldId id="428" r:id="rId34"/>
    <p:sldId id="429" r:id="rId35"/>
    <p:sldId id="430" r:id="rId36"/>
    <p:sldId id="431" r:id="rId37"/>
    <p:sldId id="432" r:id="rId38"/>
    <p:sldId id="433" r:id="rId39"/>
    <p:sldId id="434" r:id="rId40"/>
    <p:sldId id="435" r:id="rId41"/>
    <p:sldId id="436" r:id="rId42"/>
    <p:sldId id="437" r:id="rId43"/>
    <p:sldId id="438" r:id="rId44"/>
    <p:sldId id="439" r:id="rId4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86562" autoAdjust="0"/>
  </p:normalViewPr>
  <p:slideViewPr>
    <p:cSldViewPr snapToGrid="0" snapToObjects="1">
      <p:cViewPr varScale="1">
        <p:scale>
          <a:sx n="84" d="100"/>
          <a:sy n="84" d="100"/>
        </p:scale>
        <p:origin x="136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Marzo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741670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6573446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354982" cy="6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2E0E593F-903B-F8C4-9DA3-325F5E5D1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20838602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5144283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8382478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4115829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0646429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7124595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0145597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57002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3683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67995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1" r:id="rId10"/>
    <p:sldLayoutId id="2147483692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blogs.oracle.com/mysql/post/mysql-connectorj-has-new-maven-coordinates" TargetMode="Externa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projectlombok.org/" TargetMode="Externa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data-jpa" TargetMode="External"/><Relationship Id="rId2" Type="http://schemas.openxmlformats.org/officeDocument/2006/relationships/hyperlink" Target="https://docs.spring.io/spring-data/jpa/docs/current/reference/html/#reference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652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9958D-B3FE-E149-E1B2-600F485A0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Spring Data JPA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206247-7469-68AE-0ABC-670FE39894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155259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344A6-0D01-9C4F-7D9C-35867CD2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JDBC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1DF214A-8F30-6F37-042D-25761DBE31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C21C12-33B4-0E40-9802-54B900C81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acceder de Java a la capa de persistencia de datos (por ejemplo MySQL Server) se usa JDBC, el cual permite un gran número de configuraciones y operaciones para la gestión de la información en Java.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3200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La complejidad de JDBC reside en configurar manualmente la gestión de excepciones, así como el manejo de cada columna de una tabla a un objeto en java.</a:t>
            </a:r>
          </a:p>
        </p:txBody>
      </p:sp>
      <p:pic>
        <p:nvPicPr>
          <p:cNvPr id="5" name="Google Shape;92;p16">
            <a:extLst>
              <a:ext uri="{FF2B5EF4-FFF2-40B4-BE49-F238E27FC236}">
                <a16:creationId xmlns:a16="http://schemas.microsoft.com/office/drawing/2014/main" id="{01E8A6FC-CAAA-BE53-ED22-DB758B36C04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0311" b="22289"/>
          <a:stretch/>
        </p:blipFill>
        <p:spPr>
          <a:xfrm>
            <a:off x="3102910" y="4106398"/>
            <a:ext cx="5103830" cy="14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1;p16">
            <a:extLst>
              <a:ext uri="{FF2B5EF4-FFF2-40B4-BE49-F238E27FC236}">
                <a16:creationId xmlns:a16="http://schemas.microsoft.com/office/drawing/2014/main" id="{51934203-8613-FEDA-54C3-0F6449B149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1472" y="2352118"/>
            <a:ext cx="2824337" cy="1076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0130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C3FFA-938E-8E1C-36FE-D498C3FD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Java </a:t>
            </a:r>
            <a:r>
              <a:rPr lang="es-ES" dirty="0" err="1"/>
              <a:t>Persistance</a:t>
            </a:r>
            <a:r>
              <a:rPr lang="es-ES" dirty="0"/>
              <a:t> API (JPA)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B95CB96-2286-2CF0-9FF3-BD10C02570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B5BAEC-9237-41B1-A323-B61F0727A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JPA abstrae toda la complejidad de JDBC y permite hacer un mapeo entre las clases de nuestra aplicación y las tablas de una base de datos relacional para facilitar la administración de la información en las aplicaciones.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Se le considera un puente (</a:t>
            </a:r>
            <a:r>
              <a:rPr lang="es-ES" sz="1800" dirty="0" err="1"/>
              <a:t>mapping</a:t>
            </a:r>
            <a:r>
              <a:rPr lang="es-ES" sz="1800" dirty="0"/>
              <a:t>) entre el modelo de objeto (Java) y el modelo relacional (base de datos). A este mapeo directo se le conoce como </a:t>
            </a:r>
            <a:r>
              <a:rPr lang="es-ES" sz="1800" b="1" dirty="0"/>
              <a:t>ORM (</a:t>
            </a:r>
            <a:r>
              <a:rPr lang="es-ES" sz="1800" b="1" dirty="0" err="1"/>
              <a:t>Object</a:t>
            </a:r>
            <a:r>
              <a:rPr lang="es-ES" sz="1800" b="1" dirty="0"/>
              <a:t> </a:t>
            </a:r>
            <a:r>
              <a:rPr lang="es-ES" sz="1800" b="1" dirty="0" err="1"/>
              <a:t>Relational</a:t>
            </a:r>
            <a:r>
              <a:rPr lang="es-ES" sz="1800" b="1" dirty="0"/>
              <a:t> </a:t>
            </a:r>
            <a:r>
              <a:rPr lang="es-ES" sz="1800" b="1" dirty="0" err="1"/>
              <a:t>Mapping</a:t>
            </a:r>
            <a:r>
              <a:rPr lang="es-ES" sz="1800" b="1" dirty="0"/>
              <a:t>)</a:t>
            </a:r>
            <a:r>
              <a:rPr lang="es-ES" sz="1800" dirty="0"/>
              <a:t> y brinda las funcionalidades básicas de acceso a datos como el CRUD (</a:t>
            </a:r>
            <a:r>
              <a:rPr lang="es-ES" sz="1800" dirty="0" err="1"/>
              <a:t>Create</a:t>
            </a:r>
            <a:r>
              <a:rPr lang="es-ES" sz="1800" dirty="0"/>
              <a:t>, </a:t>
            </a:r>
            <a:r>
              <a:rPr lang="es-ES" sz="1800" dirty="0" err="1"/>
              <a:t>Read</a:t>
            </a:r>
            <a:r>
              <a:rPr lang="es-ES" sz="1800" dirty="0"/>
              <a:t>, </a:t>
            </a:r>
            <a:r>
              <a:rPr lang="es-ES" sz="1800" dirty="0" err="1"/>
              <a:t>Update</a:t>
            </a:r>
            <a:r>
              <a:rPr lang="es-ES" sz="1800" dirty="0"/>
              <a:t> y </a:t>
            </a:r>
            <a:r>
              <a:rPr lang="es-ES" sz="1800" dirty="0" err="1"/>
              <a:t>Delete</a:t>
            </a:r>
            <a:r>
              <a:rPr lang="es-ES" sz="1800" dirty="0"/>
              <a:t>).</a:t>
            </a:r>
          </a:p>
        </p:txBody>
      </p:sp>
      <p:pic>
        <p:nvPicPr>
          <p:cNvPr id="5" name="Google Shape;100;p17">
            <a:extLst>
              <a:ext uri="{FF2B5EF4-FFF2-40B4-BE49-F238E27FC236}">
                <a16:creationId xmlns:a16="http://schemas.microsoft.com/office/drawing/2014/main" id="{EAA3506F-07F7-FEA1-D65B-485F029F507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16750" y="3226105"/>
            <a:ext cx="8158499" cy="2079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420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4970E55-112C-7CCA-3148-449175EC78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15471F-0767-91D8-12A9-8B6A5AD12482}"/>
              </a:ext>
            </a:extLst>
          </p:cNvPr>
          <p:cNvSpPr txBox="1"/>
          <p:nvPr/>
        </p:nvSpPr>
        <p:spPr>
          <a:xfrm>
            <a:off x="671512" y="2327255"/>
            <a:ext cx="8986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ES" sz="1800" dirty="0"/>
              <a:t>El mapeo automático entre la tabla de base de datos y el objeto de Java, permite evitar el uso de sentencias SQL explícitas usando JDBC; por ejemplo: </a:t>
            </a:r>
          </a:p>
        </p:txBody>
      </p:sp>
      <p:pic>
        <p:nvPicPr>
          <p:cNvPr id="7" name="Google Shape;108;p18">
            <a:extLst>
              <a:ext uri="{FF2B5EF4-FFF2-40B4-BE49-F238E27FC236}">
                <a16:creationId xmlns:a16="http://schemas.microsoft.com/office/drawing/2014/main" id="{9E29C9C3-8F26-BA07-D6BA-0A387A264F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89"/>
          <a:stretch/>
        </p:blipFill>
        <p:spPr>
          <a:xfrm>
            <a:off x="3090874" y="296417"/>
            <a:ext cx="5022002" cy="18855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9;p18">
            <a:extLst>
              <a:ext uri="{FF2B5EF4-FFF2-40B4-BE49-F238E27FC236}">
                <a16:creationId xmlns:a16="http://schemas.microsoft.com/office/drawing/2014/main" id="{56876BFE-EE81-B9E6-B8A5-B3516A8EF2A7}"/>
              </a:ext>
            </a:extLst>
          </p:cNvPr>
          <p:cNvSpPr txBox="1">
            <a:spLocks/>
          </p:cNvSpPr>
          <p:nvPr/>
        </p:nvSpPr>
        <p:spPr>
          <a:xfrm>
            <a:off x="209550" y="3063240"/>
            <a:ext cx="5494200" cy="390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Tx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90000"/>
              <a:buFontTx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Tx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Tx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50000"/>
              <a:buFontTx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spcBef>
                <a:spcPts val="0"/>
              </a:spcBef>
              <a:spcAft>
                <a:spcPts val="1600"/>
              </a:spcAft>
              <a:buFontTx/>
              <a:buNone/>
            </a:pPr>
            <a:r>
              <a:rPr lang="es-419" sz="1400" b="1" dirty="0"/>
              <a:t>ANTES (JDBC): </a:t>
            </a:r>
            <a:endParaRPr lang="es-419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16EB8C4-9CE6-98F4-F37B-D26D1F7A7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3429000"/>
            <a:ext cx="3866198" cy="2205549"/>
          </a:xfrm>
          <a:prstGeom prst="rect">
            <a:avLst/>
          </a:prstGeom>
        </p:spPr>
      </p:pic>
      <p:sp>
        <p:nvSpPr>
          <p:cNvPr id="10" name="Google Shape;111;p18">
            <a:extLst>
              <a:ext uri="{FF2B5EF4-FFF2-40B4-BE49-F238E27FC236}">
                <a16:creationId xmlns:a16="http://schemas.microsoft.com/office/drawing/2014/main" id="{78173032-6C23-51BB-FF75-53FDA4952CC3}"/>
              </a:ext>
            </a:extLst>
          </p:cNvPr>
          <p:cNvSpPr txBox="1">
            <a:spLocks/>
          </p:cNvSpPr>
          <p:nvPr/>
        </p:nvSpPr>
        <p:spPr>
          <a:xfrm>
            <a:off x="5439925" y="2998426"/>
            <a:ext cx="2096654" cy="390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Tx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90000"/>
              <a:buFontTx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Tx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Tx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50000"/>
              <a:buFontTx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spcBef>
                <a:spcPts val="0"/>
              </a:spcBef>
              <a:spcAft>
                <a:spcPts val="1600"/>
              </a:spcAft>
              <a:buFontTx/>
              <a:buNone/>
            </a:pPr>
            <a:r>
              <a:rPr lang="es-419" sz="1600" b="1" dirty="0"/>
              <a:t>AHORA (JPA):</a:t>
            </a:r>
            <a:endParaRPr lang="es-419" sz="1600" dirty="0"/>
          </a:p>
        </p:txBody>
      </p:sp>
      <p:sp>
        <p:nvSpPr>
          <p:cNvPr id="11" name="Google Shape;112;p18">
            <a:extLst>
              <a:ext uri="{FF2B5EF4-FFF2-40B4-BE49-F238E27FC236}">
                <a16:creationId xmlns:a16="http://schemas.microsoft.com/office/drawing/2014/main" id="{C3AC5AD9-D5CC-37EA-463A-DCC40450A91E}"/>
              </a:ext>
            </a:extLst>
          </p:cNvPr>
          <p:cNvSpPr txBox="1"/>
          <p:nvPr/>
        </p:nvSpPr>
        <p:spPr>
          <a:xfrm>
            <a:off x="6096000" y="3404233"/>
            <a:ext cx="2236200" cy="3387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repository.save</a:t>
            </a:r>
            <a:r>
              <a:rPr lang="es-419" sz="10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r>
              <a:rPr lang="es-419" sz="10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0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42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50834-94C6-CC0D-E00F-01783549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Spring Data JPA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9DE4C19-C62A-2BA1-8B0D-654885F9F7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FDCB22-CEAB-7487-5914-608C4AE0C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419" b="1" dirty="0"/>
              <a:t>Spring Data JPA</a:t>
            </a:r>
            <a:r>
              <a:rPr lang="es-419" dirty="0"/>
              <a:t> forma parte de uno de los proyectos más grandes de Spring llamados </a:t>
            </a:r>
            <a:r>
              <a:rPr lang="es-419" b="1" dirty="0"/>
              <a:t>Spring Data</a:t>
            </a:r>
            <a:r>
              <a:rPr lang="es-419" dirty="0"/>
              <a:t>. Dentro del proyecto Spring Data existen otros módulos específicos para tecnologías de bases de datos como: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419" dirty="0"/>
              <a:t>Spring Data MongoDB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dirty="0"/>
              <a:t>Spring Data LDAP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dirty="0"/>
              <a:t>Spring Data JDBC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dirty="0"/>
              <a:t>Spring Data Redis, entre otros…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dirty="0"/>
              <a:t>Spring data JPA funciona en base a “</a:t>
            </a:r>
            <a:r>
              <a:rPr lang="es-419" b="1" dirty="0"/>
              <a:t>Repositorios</a:t>
            </a:r>
            <a:r>
              <a:rPr lang="es-419" dirty="0"/>
              <a:t>”, los cuales son una variación del patrón de diseño DAO (Data Access </a:t>
            </a:r>
            <a:r>
              <a:rPr lang="es-419" dirty="0" err="1"/>
              <a:t>Object</a:t>
            </a:r>
            <a:r>
              <a:rPr lang="es-419" dirty="0"/>
              <a:t>). Si antes usábamos un </a:t>
            </a:r>
            <a:r>
              <a:rPr lang="es-419" b="1" dirty="0" err="1"/>
              <a:t>EmployeeDao</a:t>
            </a:r>
            <a:r>
              <a:rPr lang="es-419" dirty="0"/>
              <a:t>, ahora usaremos un </a:t>
            </a:r>
            <a:r>
              <a:rPr lang="es-419" b="1" dirty="0" err="1"/>
              <a:t>EmployeeRepository</a:t>
            </a:r>
            <a:r>
              <a:rPr lang="es-419" b="1" dirty="0"/>
              <a:t>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65582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BEB2C-B353-3271-966C-BAABD0C8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Spring Data JPA – Configuración POM.xml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3CA9BA7-E74C-FCD4-C6FF-1E1867148F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D5C606-787B-238C-BE1C-3B2932687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4126480"/>
          </a:xfrm>
        </p:spPr>
        <p:txBody>
          <a:bodyPr>
            <a:normAutofit fontScale="850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Spring Data JPA debe ser incluido en el archivo POM.xml para incluir sus dependencias, al igual que la librería para gestionar el servidor MySQL (MySQL </a:t>
            </a:r>
            <a:r>
              <a:rPr lang="es-ES" dirty="0" err="1"/>
              <a:t>Connector</a:t>
            </a:r>
            <a:r>
              <a:rPr lang="es-ES" dirty="0"/>
              <a:t>).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 err="1"/>
              <a:t>mysql</a:t>
            </a:r>
            <a:r>
              <a:rPr lang="es-ES" dirty="0"/>
              <a:t>-</a:t>
            </a:r>
            <a:r>
              <a:rPr lang="es-ES" dirty="0" err="1"/>
              <a:t>connector</a:t>
            </a:r>
            <a:r>
              <a:rPr lang="es-ES" dirty="0"/>
              <a:t>-java → ahora es </a:t>
            </a:r>
            <a:r>
              <a:rPr lang="es-ES" dirty="0" err="1"/>
              <a:t>mysql</a:t>
            </a:r>
            <a:r>
              <a:rPr lang="es-ES" dirty="0"/>
              <a:t>-</a:t>
            </a:r>
            <a:r>
              <a:rPr lang="es-ES" dirty="0" err="1"/>
              <a:t>connector</a:t>
            </a:r>
            <a:r>
              <a:rPr lang="es-ES" dirty="0"/>
              <a:t>-j</a:t>
            </a:r>
          </a:p>
          <a:p>
            <a:r>
              <a:rPr lang="es-419" u="sng" dirty="0">
                <a:solidFill>
                  <a:schemeClr val="hlink"/>
                </a:solidFill>
                <a:hlinkClick r:id="rId2"/>
              </a:rPr>
              <a:t>https://blogs.oracle.com/mysql/post/mysql-connectorj-has-new-maven-coordinates</a:t>
            </a:r>
            <a:endParaRPr lang="es-419" dirty="0"/>
          </a:p>
          <a:p>
            <a:endParaRPr lang="es-PE" dirty="0"/>
          </a:p>
        </p:txBody>
      </p:sp>
      <p:pic>
        <p:nvPicPr>
          <p:cNvPr id="5" name="Google Shape;128;p20">
            <a:extLst>
              <a:ext uri="{FF2B5EF4-FFF2-40B4-BE49-F238E27FC236}">
                <a16:creationId xmlns:a16="http://schemas.microsoft.com/office/drawing/2014/main" id="{1073075F-9533-5DBB-EA27-85D4A841BE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6618" y="1978678"/>
            <a:ext cx="4691639" cy="20919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876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583B7-8DE4-0281-D53B-58E84297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Spring Data JPA – Configuración de conexión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68C3A87-345D-8159-38CD-13A4588FE4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83143D-F73A-FD2B-AF76-697EB52D1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4137910"/>
          </a:xfrm>
        </p:spPr>
        <p:txBody>
          <a:bodyPr>
            <a:normAutofit fontScale="70000" lnSpcReduction="20000"/>
          </a:bodyPr>
          <a:lstStyle/>
          <a:p>
            <a:r>
              <a:rPr lang="es-ES" dirty="0"/>
              <a:t>Luego de agregar las dependencias necesarias en el POM.xml, se deben colocar las propiedades de conexión al servidor de base de datos, esto se realiza en el archivo </a:t>
            </a:r>
            <a:r>
              <a:rPr lang="es-ES" dirty="0" err="1"/>
              <a:t>application.properties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El </a:t>
            </a:r>
            <a:r>
              <a:rPr lang="es-ES" dirty="0" err="1"/>
              <a:t>url</a:t>
            </a:r>
            <a:r>
              <a:rPr lang="es-ES" dirty="0"/>
              <a:t> de conexión es el usado por el conector </a:t>
            </a:r>
            <a:r>
              <a:rPr lang="es-ES" dirty="0" err="1"/>
              <a:t>jdbc</a:t>
            </a:r>
            <a:r>
              <a:rPr lang="es-ES" dirty="0"/>
              <a:t> para </a:t>
            </a:r>
            <a:r>
              <a:rPr lang="es-ES" dirty="0" err="1"/>
              <a:t>mysql</a:t>
            </a:r>
            <a:r>
              <a:rPr lang="es-ES" dirty="0"/>
              <a:t>, donde al final se especifica la base de datos.</a:t>
            </a:r>
          </a:p>
          <a:p>
            <a:r>
              <a:rPr lang="es-ES" dirty="0"/>
              <a:t>* Observación: si desea conectarse a una base de datos que no tiene </a:t>
            </a:r>
            <a:r>
              <a:rPr lang="es-ES" dirty="0" err="1"/>
              <a:t>password</a:t>
            </a:r>
            <a:r>
              <a:rPr lang="es-ES" dirty="0"/>
              <a:t>, no coloque </a:t>
            </a:r>
            <a:r>
              <a:rPr lang="es-ES" dirty="0" err="1"/>
              <a:t>spring.datasource.password</a:t>
            </a:r>
            <a:endParaRPr lang="es-ES" dirty="0"/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5083D0-BDF0-4840-BFC8-8CCF5740D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458" y="2118316"/>
            <a:ext cx="6386517" cy="18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94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0161D-E7E8-9107-EC44-18479C048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9C6A0-C22B-8226-A484-BC42D441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Observación conexión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AEB3618-2037-9941-8308-456F556F11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8283EF-7FA1-8524-44CC-4840AF46D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4229350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Si al tratar de conectarse obtiene el siguiente error: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2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Adicione a su URL de conexión: </a:t>
            </a:r>
            <a:r>
              <a:rPr lang="es-ES" sz="1600" b="1" dirty="0"/>
              <a:t>?</a:t>
            </a:r>
            <a:r>
              <a:rPr lang="es-ES" sz="1600" b="1" dirty="0" err="1"/>
              <a:t>serverTimezone</a:t>
            </a:r>
            <a:r>
              <a:rPr lang="es-ES" sz="1600" b="1" dirty="0"/>
              <a:t>=</a:t>
            </a:r>
            <a:r>
              <a:rPr lang="es-ES" sz="1600" b="1" dirty="0" err="1"/>
              <a:t>America</a:t>
            </a:r>
            <a:r>
              <a:rPr lang="es-ES" sz="1600" b="1" dirty="0"/>
              <a:t>/Lima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3600" b="1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Y si tiene problemas de SSL, adicione: </a:t>
            </a:r>
            <a:r>
              <a:rPr lang="es-ES" sz="1600" b="1" dirty="0"/>
              <a:t>&amp;</a:t>
            </a:r>
            <a:r>
              <a:rPr lang="es-ES" sz="1600" b="1" dirty="0" err="1"/>
              <a:t>useSSL</a:t>
            </a:r>
            <a:r>
              <a:rPr lang="es-ES" sz="1600" b="1" dirty="0"/>
              <a:t>=</a:t>
            </a:r>
            <a:r>
              <a:rPr lang="es-ES" sz="1600" b="1" dirty="0" err="1"/>
              <a:t>false&amp;publicKeyRetrieval</a:t>
            </a:r>
            <a:r>
              <a:rPr lang="es-ES" sz="1600" b="1" dirty="0"/>
              <a:t>=true</a:t>
            </a:r>
          </a:p>
          <a:p>
            <a:endParaRPr lang="es-PE" dirty="0"/>
          </a:p>
        </p:txBody>
      </p:sp>
      <p:pic>
        <p:nvPicPr>
          <p:cNvPr id="5" name="Google Shape;147;p22">
            <a:extLst>
              <a:ext uri="{FF2B5EF4-FFF2-40B4-BE49-F238E27FC236}">
                <a16:creationId xmlns:a16="http://schemas.microsoft.com/office/drawing/2014/main" id="{68A7BAC8-B85C-77CA-70EC-2B70FC35CE2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9982" y="1751696"/>
            <a:ext cx="862012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8;p22">
            <a:extLst>
              <a:ext uri="{FF2B5EF4-FFF2-40B4-BE49-F238E27FC236}">
                <a16:creationId xmlns:a16="http://schemas.microsoft.com/office/drawing/2014/main" id="{3E9167E3-970D-E877-2588-6926C1D0D5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192" y="3649970"/>
            <a:ext cx="7033326" cy="41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9;p22">
            <a:extLst>
              <a:ext uri="{FF2B5EF4-FFF2-40B4-BE49-F238E27FC236}">
                <a16:creationId xmlns:a16="http://schemas.microsoft.com/office/drawing/2014/main" id="{D8200513-2DDD-E35C-0363-B11AD1D6ED1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9982" y="4704669"/>
            <a:ext cx="8620125" cy="391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4409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FE7E-767F-85A2-C463-0F8167AF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FFAC6-9DB7-BCE8-6947-CBD996AD1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Project Lombok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85798D6-C9D3-1313-894B-B671164895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F40F30-8DDD-CD6E-C84B-F968E45FD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Lombok es una librería que permite limpiar su código para hacerlo más legible. Por medio de anotaciones es posible incluir </a:t>
            </a:r>
            <a:r>
              <a:rPr lang="es-ES" sz="2000" dirty="0" err="1"/>
              <a:t>getters</a:t>
            </a:r>
            <a:r>
              <a:rPr lang="es-ES" sz="2000" dirty="0"/>
              <a:t>, </a:t>
            </a:r>
            <a:r>
              <a:rPr lang="es-ES" sz="2000" dirty="0" err="1"/>
              <a:t>setters</a:t>
            </a:r>
            <a:r>
              <a:rPr lang="es-ES" sz="2000" dirty="0"/>
              <a:t>, constructores, entre otros: </a:t>
            </a:r>
            <a:r>
              <a:rPr lang="es-ES" sz="2000" dirty="0">
                <a:hlinkClick r:id="rId2"/>
              </a:rPr>
              <a:t>https://projectlombok.org/</a:t>
            </a:r>
            <a:r>
              <a:rPr lang="es-ES" sz="2000" dirty="0"/>
              <a:t> </a:t>
            </a:r>
          </a:p>
          <a:p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B57750D-5B51-B523-00B0-00108F2D49D4}"/>
              </a:ext>
            </a:extLst>
          </p:cNvPr>
          <p:cNvSpPr txBox="1"/>
          <p:nvPr/>
        </p:nvSpPr>
        <p:spPr>
          <a:xfrm>
            <a:off x="1084976" y="2865051"/>
            <a:ext cx="9392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400" dirty="0"/>
              <a:t>Puede pasar de esto:                                    →		A esto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45BE67A-5CF9-F869-985C-280EF733C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81" y="3149525"/>
            <a:ext cx="2530059" cy="234716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CD2F4DE-D951-45E2-9DA2-9699C4AD1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413" y="3211029"/>
            <a:ext cx="2969009" cy="184115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3B57D28-0DC5-3DCE-B187-33EE99EDE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337" y="294400"/>
            <a:ext cx="3173733" cy="95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0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686E43-7599-4F2C-90B2-C81FE7D6E5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8994" y="6139498"/>
            <a:ext cx="459635" cy="365125"/>
          </a:xfrm>
        </p:spPr>
        <p:txBody>
          <a:bodyPr/>
          <a:lstStyle/>
          <a:p>
            <a:fld id="{52A29C8B-5F70-8945-A2A6-FBD7A17156DB}" type="slidenum">
              <a:rPr lang="es-PE" smtClean="0"/>
              <a:t>11</a:t>
            </a:fld>
            <a:endParaRPr lang="es-P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F6689F-400B-9D28-96FE-477586A8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 err="1">
                <a:solidFill>
                  <a:schemeClr val="bg1"/>
                </a:solidFill>
                <a:latin typeface="+mj-lt"/>
              </a:rPr>
              <a:t>Integrando</a:t>
            </a:r>
            <a:r>
              <a:rPr lang="en-US" sz="5400" b="1" dirty="0">
                <a:solidFill>
                  <a:schemeClr val="bg1"/>
                </a:solidFill>
                <a:latin typeface="+mj-lt"/>
              </a:rPr>
              <a:t> JPA a Spring Web MVC</a:t>
            </a:r>
            <a:endParaRPr lang="es-PE" sz="5400" dirty="0"/>
          </a:p>
        </p:txBody>
      </p:sp>
    </p:spTree>
    <p:extLst>
      <p:ext uri="{BB962C8B-B14F-4D97-AF65-F5344CB8AC3E}">
        <p14:creationId xmlns:p14="http://schemas.microsoft.com/office/powerpoint/2010/main" val="338502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08E1-F4BD-6090-1197-BA63897C4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6DD4433-EBA8-4505-2DF4-3A2C1DA15D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pic>
        <p:nvPicPr>
          <p:cNvPr id="5" name="Google Shape;171;p25">
            <a:extLst>
              <a:ext uri="{FF2B5EF4-FFF2-40B4-BE49-F238E27FC236}">
                <a16:creationId xmlns:a16="http://schemas.microsoft.com/office/drawing/2014/main" id="{75725756-23E9-B8AA-8DF1-35EB91980FA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980"/>
          <a:stretch/>
        </p:blipFill>
        <p:spPr>
          <a:xfrm>
            <a:off x="2863955" y="0"/>
            <a:ext cx="6108507" cy="55994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42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AEF60-874E-919B-B9B2-1C260E3C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Creando las entidades para ORM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1C5158F-A7BC-4D7B-FAE1-EED2898683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E559AB-8947-D0A3-2A3E-CAC6E07DB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7802880" cy="414934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Para utilizar ORM, debemos brindarle a Spring Data JPA las clases que harán el mapeo con la tabla de base de datos. Anteriormente llamábamos a estas clases </a:t>
            </a:r>
            <a:r>
              <a:rPr lang="es-ES" b="1" dirty="0" err="1"/>
              <a:t>Beans</a:t>
            </a:r>
            <a:r>
              <a:rPr lang="es-ES" dirty="0"/>
              <a:t>, pero en Spring se les conoce como </a:t>
            </a:r>
            <a:r>
              <a:rPr lang="es-ES" b="1" dirty="0" err="1"/>
              <a:t>Entity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Entonces, para realizar un CRUD a la tabla “</a:t>
            </a:r>
            <a:r>
              <a:rPr lang="es-ES" dirty="0" err="1"/>
              <a:t>shippers</a:t>
            </a:r>
            <a:r>
              <a:rPr lang="es-ES" dirty="0"/>
              <a:t>” se debe empezar por crear la </a:t>
            </a:r>
            <a:r>
              <a:rPr lang="es-ES" b="1" dirty="0"/>
              <a:t>Entidad </a:t>
            </a:r>
            <a:r>
              <a:rPr lang="es-ES" b="1" dirty="0" err="1"/>
              <a:t>Shipper</a:t>
            </a:r>
            <a:r>
              <a:rPr lang="es-ES" dirty="0"/>
              <a:t> y para que Spring la reconozca como tal, se deben agregar tres anotaciones: </a:t>
            </a:r>
            <a:r>
              <a:rPr lang="es-ES" b="1" dirty="0"/>
              <a:t>@Entity,</a:t>
            </a:r>
            <a:r>
              <a:rPr lang="es-ES" dirty="0"/>
              <a:t> </a:t>
            </a:r>
            <a:r>
              <a:rPr lang="es-ES" b="1" dirty="0"/>
              <a:t>@Table </a:t>
            </a:r>
            <a:r>
              <a:rPr lang="es-ES" dirty="0"/>
              <a:t>y </a:t>
            </a:r>
            <a:r>
              <a:rPr lang="es-ES" b="1" dirty="0"/>
              <a:t>@Id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b="1" dirty="0"/>
              <a:t>@Entity</a:t>
            </a:r>
            <a:r>
              <a:rPr lang="es-ES" sz="1800" dirty="0"/>
              <a:t> → Le indica a Spring que la clase es una entidad a ser usada en JPA.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b="1" dirty="0"/>
              <a:t>@Table</a:t>
            </a:r>
            <a:r>
              <a:rPr lang="es-ES" sz="1800" dirty="0"/>
              <a:t> → tabla de base de datos que esta entidad está referenciando.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ES" sz="1800" b="1" dirty="0"/>
              <a:t>@Id</a:t>
            </a:r>
            <a:r>
              <a:rPr lang="es-ES" sz="1800" dirty="0"/>
              <a:t> → </a:t>
            </a:r>
            <a:r>
              <a:rPr lang="es-ES" sz="1800" dirty="0" err="1"/>
              <a:t>Primary</a:t>
            </a:r>
            <a:r>
              <a:rPr lang="es-ES" sz="1800" dirty="0"/>
              <a:t> Key de la tabla.</a:t>
            </a:r>
          </a:p>
          <a:p>
            <a:endParaRPr lang="es-PE" dirty="0"/>
          </a:p>
        </p:txBody>
      </p:sp>
      <p:pic>
        <p:nvPicPr>
          <p:cNvPr id="5" name="Google Shape;180;p26">
            <a:extLst>
              <a:ext uri="{FF2B5EF4-FFF2-40B4-BE49-F238E27FC236}">
                <a16:creationId xmlns:a16="http://schemas.microsoft.com/office/drawing/2014/main" id="{0E11A7BE-40A4-ADAD-75DD-786988BF202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83526" y="1829578"/>
            <a:ext cx="2111244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3;p26">
            <a:extLst>
              <a:ext uri="{FF2B5EF4-FFF2-40B4-BE49-F238E27FC236}">
                <a16:creationId xmlns:a16="http://schemas.microsoft.com/office/drawing/2014/main" id="{86ED99CB-CD77-3BBB-BCD8-3750B7E475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861" y="3563330"/>
            <a:ext cx="4050202" cy="2126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3798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295AC-6F57-3440-FC8E-00BDBBAC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Mapeo de los campos </a:t>
            </a:r>
            <a:r>
              <a:rPr lang="es-ES" dirty="0">
                <a:sym typeface="Wingdings" panose="05000000000000000000" pitchFamily="2" charset="2"/>
              </a:rPr>
              <a:t> @Column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A1C1C0D-0C86-DBE7-D88E-0F2D3685BB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31D67E-48B7-F8B4-11B2-943E742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6557010" cy="4035040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Si el </a:t>
            </a:r>
            <a:r>
              <a:rPr lang="es-ES" sz="2000" b="1" dirty="0"/>
              <a:t>nombre </a:t>
            </a:r>
            <a:r>
              <a:rPr lang="es-ES" sz="2000" dirty="0"/>
              <a:t>del atributo de la </a:t>
            </a:r>
            <a:r>
              <a:rPr lang="es-ES" sz="2000" b="1" dirty="0"/>
              <a:t>entidad </a:t>
            </a:r>
            <a:r>
              <a:rPr lang="es-ES" sz="2000" dirty="0"/>
              <a:t>es idéntico al nombre de la tabla en base de datos, Spring Data JPA lo mapeará automáticamente; sin embargo, si el nombre es distinto, debemos usar la anotación </a:t>
            </a:r>
            <a:r>
              <a:rPr lang="es-ES" sz="2000" b="1" dirty="0"/>
              <a:t>@Column</a:t>
            </a:r>
            <a:r>
              <a:rPr lang="es-ES" sz="2000" dirty="0"/>
              <a:t> para especificar el nombre de la columna en base de datos que hace referencia el atributo.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Para mapear los atributos se utiliza la notación @</a:t>
            </a:r>
            <a:r>
              <a:rPr lang="es-ES" sz="2000" b="1" dirty="0"/>
              <a:t>Column</a:t>
            </a:r>
            <a:r>
              <a:rPr lang="es-ES" sz="2000" dirty="0"/>
              <a:t> y especificamos el nombre exacto de la columna en la tabla (si es igual, se puede obviar). Inclusive, si la columna no admite nulos, especificamos </a:t>
            </a:r>
            <a:r>
              <a:rPr lang="es-ES" sz="2000" b="1" dirty="0" err="1"/>
              <a:t>nullable</a:t>
            </a:r>
            <a:r>
              <a:rPr lang="es-ES" sz="2000" b="1" dirty="0"/>
              <a:t>=false</a:t>
            </a:r>
            <a:r>
              <a:rPr lang="es-ES" sz="2000" dirty="0"/>
              <a:t> y si es </a:t>
            </a:r>
            <a:r>
              <a:rPr lang="es-ES" sz="2000" dirty="0" err="1"/>
              <a:t>autoincremental</a:t>
            </a:r>
            <a:r>
              <a:rPr lang="es-ES" sz="2000" dirty="0"/>
              <a:t> </a:t>
            </a:r>
            <a:r>
              <a:rPr lang="es-ES" sz="2000" b="1" dirty="0"/>
              <a:t>@GeneratedValue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B9D587-56B6-A57F-A3BC-9B4EA7FA1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184" y="1864568"/>
            <a:ext cx="4077256" cy="273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21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7B293-615F-9008-C7F0-E04866038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Observación ORM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2D06B32-284C-603B-9A6B-2F0305A3EB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B159C5-669A-3E5B-14CF-406E5014F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4206490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Tenga cuidado al momento de definir los atributos de la clase pues si sigue el estándar </a:t>
            </a:r>
            <a:r>
              <a:rPr lang="es-ES" sz="1800" dirty="0" err="1"/>
              <a:t>CamelCase</a:t>
            </a:r>
            <a:r>
              <a:rPr lang="es-ES" sz="1800" dirty="0"/>
              <a:t>, </a:t>
            </a:r>
            <a:r>
              <a:rPr lang="es-ES" sz="1800" dirty="0" err="1"/>
              <a:t>Hibernate</a:t>
            </a:r>
            <a:r>
              <a:rPr lang="es-ES" sz="1800" dirty="0"/>
              <a:t> convertirá el nombre al formato </a:t>
            </a:r>
            <a:r>
              <a:rPr lang="es-ES" sz="1800" dirty="0" err="1"/>
              <a:t>SnakeCase</a:t>
            </a:r>
            <a:r>
              <a:rPr lang="es-ES" sz="1800" dirty="0"/>
              <a:t>. MySQL es case </a:t>
            </a:r>
            <a:r>
              <a:rPr lang="es-ES" sz="1800" dirty="0" err="1"/>
              <a:t>insensitive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Por ejemplo, la tabla </a:t>
            </a:r>
            <a:r>
              <a:rPr lang="es-ES" sz="1800" dirty="0" err="1"/>
              <a:t>shipers</a:t>
            </a:r>
            <a:r>
              <a:rPr lang="es-ES" sz="1800" dirty="0"/>
              <a:t> tiene como atributo </a:t>
            </a:r>
            <a:r>
              <a:rPr lang="es-ES" sz="1800" dirty="0" err="1"/>
              <a:t>CompanyName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Si usted define como atributo usando </a:t>
            </a:r>
            <a:r>
              <a:rPr lang="es-ES" sz="1800" dirty="0" err="1"/>
              <a:t>CamelCase</a:t>
            </a:r>
            <a:r>
              <a:rPr lang="es-ES" sz="1800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Internamente </a:t>
            </a:r>
            <a:r>
              <a:rPr lang="es-ES" sz="1800" dirty="0" err="1"/>
              <a:t>Hibernate</a:t>
            </a:r>
            <a:r>
              <a:rPr lang="es-ES" sz="1800" dirty="0"/>
              <a:t> convertirá el nombre en </a:t>
            </a:r>
            <a:r>
              <a:rPr lang="es-ES" sz="1800" b="1" dirty="0" err="1"/>
              <a:t>company_name</a:t>
            </a:r>
            <a:r>
              <a:rPr lang="es-ES" sz="1800" dirty="0"/>
              <a:t>, lo cual le generará errores al realizar la obtención de datos. 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→ Por este motivo, debe tener cuidado al definir los atributos, en este caso, lo mejor es colocar todo en minúsculas, en el atributo y en el campo </a:t>
            </a:r>
            <a:r>
              <a:rPr lang="es-ES" sz="1800" dirty="0" err="1"/>
              <a:t>name</a:t>
            </a:r>
            <a:r>
              <a:rPr lang="es-ES" sz="1800" dirty="0"/>
              <a:t> de @Column</a:t>
            </a:r>
          </a:p>
          <a:p>
            <a:endParaRPr lang="es-PE" sz="1800" dirty="0"/>
          </a:p>
        </p:txBody>
      </p:sp>
      <p:pic>
        <p:nvPicPr>
          <p:cNvPr id="5" name="Google Shape;210;p28">
            <a:extLst>
              <a:ext uri="{FF2B5EF4-FFF2-40B4-BE49-F238E27FC236}">
                <a16:creationId xmlns:a16="http://schemas.microsoft.com/office/drawing/2014/main" id="{D0935CC8-2E86-9130-F9A9-AF24EE9977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16365" y="1881401"/>
            <a:ext cx="159067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09;p28">
            <a:extLst>
              <a:ext uri="{FF2B5EF4-FFF2-40B4-BE49-F238E27FC236}">
                <a16:creationId xmlns:a16="http://schemas.microsoft.com/office/drawing/2014/main" id="{0A27E44E-79A0-F4F8-62BE-C9E1F70962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2884" r="41707" b="17499"/>
          <a:stretch/>
        </p:blipFill>
        <p:spPr>
          <a:xfrm>
            <a:off x="3032344" y="2919220"/>
            <a:ext cx="3503550" cy="2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1;p28">
            <a:extLst>
              <a:ext uri="{FF2B5EF4-FFF2-40B4-BE49-F238E27FC236}">
                <a16:creationId xmlns:a16="http://schemas.microsoft.com/office/drawing/2014/main" id="{0EC21EFC-C153-F308-7665-071FE5A9A41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7969" y="4012840"/>
            <a:ext cx="61912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2;p28">
            <a:extLst>
              <a:ext uri="{FF2B5EF4-FFF2-40B4-BE49-F238E27FC236}">
                <a16:creationId xmlns:a16="http://schemas.microsoft.com/office/drawing/2014/main" id="{15D946B9-FF1F-26B4-7245-29C59A2901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0410" t="74410" b="17535"/>
          <a:stretch/>
        </p:blipFill>
        <p:spPr>
          <a:xfrm>
            <a:off x="3716679" y="5052060"/>
            <a:ext cx="4352300" cy="18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3;p28">
            <a:extLst>
              <a:ext uri="{FF2B5EF4-FFF2-40B4-BE49-F238E27FC236}">
                <a16:creationId xmlns:a16="http://schemas.microsoft.com/office/drawing/2014/main" id="{7EAF9C25-FC09-7FEC-93B0-0221E0D6750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6679" y="5359967"/>
            <a:ext cx="3648075" cy="390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53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BDE4B-7EC8-9399-62A1-21AB1C54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Naming</a:t>
            </a:r>
            <a:r>
              <a:rPr lang="es-ES" dirty="0"/>
              <a:t> </a:t>
            </a:r>
            <a:r>
              <a:rPr lang="es-ES" dirty="0" err="1"/>
              <a:t>Convention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CB0CD7F-6556-B5A7-1F2F-B0A5DA98ED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E6F6AE-B326-E077-1781-642CE21E5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4263640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1600" dirty="0" err="1"/>
              <a:t>Hibernate</a:t>
            </a:r>
            <a:r>
              <a:rPr lang="es-ES" sz="1600" dirty="0"/>
              <a:t> maneja dos niveles de nombres para realizar el ORM:</a:t>
            </a:r>
          </a:p>
          <a:p>
            <a:r>
              <a:rPr lang="es-ES" sz="1600" dirty="0" err="1"/>
              <a:t>Implicit</a:t>
            </a:r>
            <a:r>
              <a:rPr lang="es-ES" sz="1600" dirty="0"/>
              <a:t> </a:t>
            </a:r>
            <a:r>
              <a:rPr lang="es-ES" sz="1600" dirty="0" err="1"/>
              <a:t>Naming</a:t>
            </a:r>
            <a:r>
              <a:rPr lang="es-ES" sz="1600" dirty="0"/>
              <a:t> </a:t>
            </a:r>
            <a:r>
              <a:rPr lang="es-ES" sz="1600" dirty="0" err="1"/>
              <a:t>Strategy</a:t>
            </a:r>
            <a:r>
              <a:rPr lang="es-ES" sz="1600" dirty="0"/>
              <a:t>: nombre que obtiene de la entidad (Clase y atributos). Reemplaza puntos por _, </a:t>
            </a:r>
            <a:r>
              <a:rPr lang="es-ES" sz="1600" dirty="0" err="1"/>
              <a:t>CamelCase</a:t>
            </a:r>
            <a:r>
              <a:rPr lang="es-ES" sz="1600" dirty="0"/>
              <a:t> por </a:t>
            </a:r>
            <a:r>
              <a:rPr lang="es-ES" sz="1600" dirty="0" err="1"/>
              <a:t>SnakeCase</a:t>
            </a:r>
            <a:r>
              <a:rPr lang="es-ES" sz="1600" dirty="0"/>
              <a:t>. Se puede </a:t>
            </a:r>
            <a:r>
              <a:rPr lang="es-ES" sz="1600" dirty="0" err="1"/>
              <a:t>sobreescribir</a:t>
            </a:r>
            <a:r>
              <a:rPr lang="es-ES" sz="1600" dirty="0"/>
              <a:t> con @Table y @Column</a:t>
            </a:r>
          </a:p>
          <a:p>
            <a:r>
              <a:rPr lang="es-ES" sz="1600" dirty="0" err="1"/>
              <a:t>Physical</a:t>
            </a:r>
            <a:r>
              <a:rPr lang="es-ES" sz="1600" dirty="0"/>
              <a:t> </a:t>
            </a:r>
            <a:r>
              <a:rPr lang="es-ES" sz="1600" dirty="0" err="1"/>
              <a:t>Naming</a:t>
            </a:r>
            <a:r>
              <a:rPr lang="es-ES" sz="1600" dirty="0"/>
              <a:t> </a:t>
            </a:r>
            <a:r>
              <a:rPr lang="es-ES" sz="1600" dirty="0" err="1"/>
              <a:t>Strategy</a:t>
            </a:r>
            <a:r>
              <a:rPr lang="es-ES" sz="1600" dirty="0"/>
              <a:t>: nombre que utiliza para las consultas a base de datos. Por defecto usa los definido en </a:t>
            </a:r>
            <a:r>
              <a:rPr lang="es-ES" sz="1600" dirty="0" err="1"/>
              <a:t>Implicit</a:t>
            </a:r>
            <a:r>
              <a:rPr lang="es-ES" sz="1600" dirty="0"/>
              <a:t> </a:t>
            </a:r>
            <a:r>
              <a:rPr lang="es-ES" sz="1600" dirty="0" err="1"/>
              <a:t>Naming</a:t>
            </a:r>
            <a:r>
              <a:rPr lang="es-ES" sz="1600" dirty="0"/>
              <a:t> (@Table y @Column) pero mantiene la regla de convertir </a:t>
            </a:r>
            <a:r>
              <a:rPr lang="es-ES" sz="1600" dirty="0" err="1"/>
              <a:t>CamelCase</a:t>
            </a:r>
            <a:r>
              <a:rPr lang="es-ES" sz="1600" dirty="0"/>
              <a:t> por </a:t>
            </a:r>
            <a:r>
              <a:rPr lang="es-ES" sz="1600" dirty="0" err="1"/>
              <a:t>SnakeCase</a:t>
            </a:r>
            <a:r>
              <a:rPr lang="es-ES" sz="1600" dirty="0"/>
              <a:t>.</a:t>
            </a:r>
          </a:p>
          <a:p>
            <a:pPr marL="50800" indent="0">
              <a:buNone/>
            </a:pPr>
            <a:r>
              <a:rPr lang="es-ES" sz="1600" dirty="0"/>
              <a:t>En muchos casos, sobre todo el </a:t>
            </a:r>
            <a:r>
              <a:rPr lang="es-ES" sz="1600" dirty="0" err="1"/>
              <a:t>linux</a:t>
            </a:r>
            <a:r>
              <a:rPr lang="es-ES" sz="1600" dirty="0"/>
              <a:t>, donde la base de datos es case sensitive, el </a:t>
            </a:r>
            <a:r>
              <a:rPr lang="es-ES" sz="1600" dirty="0" err="1"/>
              <a:t>physical</a:t>
            </a:r>
            <a:r>
              <a:rPr lang="es-ES" sz="1600" dirty="0"/>
              <a:t> </a:t>
            </a:r>
            <a:r>
              <a:rPr lang="es-ES" sz="1600" dirty="0" err="1"/>
              <a:t>naming</a:t>
            </a:r>
            <a:r>
              <a:rPr lang="es-ES" sz="1600" dirty="0"/>
              <a:t> genera problemas pues sigue la regla por defecto de </a:t>
            </a:r>
            <a:r>
              <a:rPr lang="es-ES" sz="1600" dirty="0" err="1"/>
              <a:t>Implicit</a:t>
            </a:r>
            <a:r>
              <a:rPr lang="es-ES" sz="1600" dirty="0"/>
              <a:t> </a:t>
            </a:r>
            <a:r>
              <a:rPr lang="es-ES" sz="1600" dirty="0" err="1"/>
              <a:t>Naming</a:t>
            </a:r>
            <a:r>
              <a:rPr lang="es-ES" sz="1600" dirty="0"/>
              <a:t>. Para cambiar este compartimiento, en </a:t>
            </a:r>
            <a:r>
              <a:rPr lang="es-ES" sz="1600" dirty="0" err="1"/>
              <a:t>application.properties</a:t>
            </a:r>
            <a:r>
              <a:rPr lang="es-ES" sz="1600" dirty="0"/>
              <a:t> se puede colocar:</a:t>
            </a:r>
          </a:p>
          <a:p>
            <a:pPr marL="50800" indent="0">
              <a:buNone/>
            </a:pPr>
            <a:r>
              <a:rPr lang="es-ES" sz="1400" dirty="0"/>
              <a:t>→ </a:t>
            </a:r>
            <a:r>
              <a:rPr lang="es-ES" sz="1200" b="1" dirty="0" err="1"/>
              <a:t>spring.jpa.hibernate.naming.physical-strategy</a:t>
            </a:r>
            <a:r>
              <a:rPr lang="es-ES" sz="1200" b="1" dirty="0"/>
              <a:t>=</a:t>
            </a:r>
            <a:r>
              <a:rPr lang="es-ES" sz="1200" b="1" dirty="0">
                <a:solidFill>
                  <a:srgbClr val="00B050"/>
                </a:solidFill>
              </a:rPr>
              <a:t>org.hibernate.boot.model.naming.PhysicalNamingStrategyStandardImpl </a:t>
            </a:r>
          </a:p>
          <a:p>
            <a:pPr marL="50800" indent="0">
              <a:buNone/>
            </a:pPr>
            <a:r>
              <a:rPr lang="es-ES" sz="1600" dirty="0"/>
              <a:t>Esta configuración le indica a </a:t>
            </a:r>
            <a:r>
              <a:rPr lang="es-ES" sz="1600" dirty="0" err="1"/>
              <a:t>Hibernate</a:t>
            </a:r>
            <a:r>
              <a:rPr lang="es-ES" sz="1600" dirty="0"/>
              <a:t> que use las reglas de JPA 1.0, donde no se reemplaza </a:t>
            </a:r>
            <a:r>
              <a:rPr lang="es-ES" sz="1600" dirty="0" err="1"/>
              <a:t>CamelCase</a:t>
            </a:r>
            <a:r>
              <a:rPr lang="es-ES" sz="1600" dirty="0"/>
              <a:t> por </a:t>
            </a:r>
            <a:r>
              <a:rPr lang="es-ES" sz="1600" dirty="0" err="1"/>
              <a:t>SnakeCase</a:t>
            </a:r>
            <a:r>
              <a:rPr lang="es-ES" sz="1600" dirty="0"/>
              <a:t>. 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24035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35C9A-23F5-4150-CFAE-0206E112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Repositorios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93CB2A0-B3CC-4EEB-FC80-1590F87182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6EF13E-B1BF-A269-BEA8-91AC04C29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4080760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gestionar las entidades en Spring Data JPA, se deben crear </a:t>
            </a:r>
            <a:r>
              <a:rPr lang="es-ES" b="1" dirty="0"/>
              <a:t>repositorios </a:t>
            </a:r>
            <a:r>
              <a:rPr lang="es-ES" dirty="0"/>
              <a:t>(anteriormente los DAOS).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Para crear un Repositorio, se crea un interfaz (Java Interface) que herede de una de las siguientes clases:</a:t>
            </a:r>
          </a:p>
          <a:p>
            <a:pPr lvl="0" indent="-342900">
              <a:buSzPts val="1800"/>
              <a:buChar char="●"/>
            </a:pPr>
            <a:r>
              <a:rPr lang="es-ES" b="1" dirty="0" err="1"/>
              <a:t>CrudRepository</a:t>
            </a:r>
            <a:r>
              <a:rPr lang="es-ES" dirty="0"/>
              <a:t>: Operaciones CRUD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b="1" dirty="0" err="1"/>
              <a:t>PagingAndSortingRepository</a:t>
            </a:r>
            <a:r>
              <a:rPr lang="es-ES" dirty="0"/>
              <a:t>: hereda de </a:t>
            </a:r>
            <a:r>
              <a:rPr lang="es-ES" dirty="0" err="1"/>
              <a:t>CrudRepository</a:t>
            </a:r>
            <a:r>
              <a:rPr lang="es-ES" dirty="0"/>
              <a:t> y añade métodos para paginación y ordenamiento.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b="1" dirty="0" err="1"/>
              <a:t>JpaRepository</a:t>
            </a:r>
            <a:r>
              <a:rPr lang="es-ES" dirty="0"/>
              <a:t>: hereda de </a:t>
            </a:r>
            <a:r>
              <a:rPr lang="es-ES" dirty="0" err="1"/>
              <a:t>PagingAndSortingRepository</a:t>
            </a:r>
            <a:r>
              <a:rPr lang="es-ES" dirty="0"/>
              <a:t> y adiciona más métodos de búsqueda y filtrado.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Usaremos la más completa (</a:t>
            </a:r>
            <a:r>
              <a:rPr lang="es-ES" b="1" dirty="0" err="1"/>
              <a:t>JpaRepository</a:t>
            </a:r>
            <a:r>
              <a:rPr lang="es-ES" dirty="0"/>
              <a:t>).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25371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9E8C4-DFF5-F658-81C4-9399891A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JpaRepository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E938C0-85A8-E169-EBAF-B9B8ABD611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221CA5-A07A-B0B1-81D5-FF01EF66E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utilizar la interfaz </a:t>
            </a:r>
            <a:r>
              <a:rPr lang="es-ES" dirty="0" err="1"/>
              <a:t>JpaRepository</a:t>
            </a:r>
            <a:r>
              <a:rPr lang="es-ES" dirty="0"/>
              <a:t>, se crea una </a:t>
            </a:r>
            <a:r>
              <a:rPr lang="es-ES" b="1" dirty="0"/>
              <a:t>interfaz </a:t>
            </a:r>
            <a:r>
              <a:rPr lang="es-ES" dirty="0"/>
              <a:t>que herede de esta clase y anotarla con </a:t>
            </a:r>
            <a:r>
              <a:rPr lang="es-ES" b="1" dirty="0"/>
              <a:t>@Repository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331282-C44F-B705-6FAD-91B9CC8FA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61" y="2270824"/>
            <a:ext cx="7516489" cy="333215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D1A9FC7-66F1-45FF-F0DA-DE346BCFD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441" y="1960706"/>
            <a:ext cx="2371550" cy="157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60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6AF9-2FC8-839C-E102-15D7A8AC1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7B859-CE87-8501-AF93-0C5EFE91F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Controladores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E40A531-4B39-CEDE-02F0-47E1808947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5C2416-1EE1-6101-CB5F-9081B3532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utilizar los repositorios en los controladores, éstos deben ser definidos como atributos finales de la clase e inicializarlos en el constructor.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66B88D-80D2-9F8C-A51D-60B1D6D4B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872" y="2874158"/>
            <a:ext cx="8029128" cy="21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75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24FD-1F76-0EE9-FCFC-266BE1DB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96D6C-579D-C69D-2280-18795494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Predefinidos en </a:t>
            </a:r>
            <a:r>
              <a:rPr lang="es-ES" dirty="0" err="1"/>
              <a:t>JpaRepository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4B01D6D-B9DB-DCE8-1E9F-12EF10BF2E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704FCE-E952-8140-465B-A96A9BA9F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397789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 err="1"/>
              <a:t>JpaRepository</a:t>
            </a:r>
            <a:r>
              <a:rPr lang="es-ES" dirty="0"/>
              <a:t> tiene un conjunto de métodos predefinidos para abstraer la complejidad de insertar manualmente los </a:t>
            </a:r>
            <a:r>
              <a:rPr lang="es-ES" dirty="0" err="1"/>
              <a:t>querys</a:t>
            </a:r>
            <a:r>
              <a:rPr lang="es-ES" dirty="0"/>
              <a:t> (en algunos casos si es necesario, se verá más adelante). 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Entre los más comunes se tienen: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dirty="0" err="1"/>
              <a:t>findAll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Count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Delete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DeleteAllInBatch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DeleteAll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deleteById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findbyId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save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exists</a:t>
            </a:r>
            <a:endParaRPr lang="es-PE" dirty="0"/>
          </a:p>
          <a:p>
            <a:pPr marL="5080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49857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4329A-A3D0-77CB-DED7-FF1A53DBB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2CC19-D7F9-EFDF-C212-097937D7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FindAll</a:t>
            </a:r>
            <a:r>
              <a:rPr lang="es-ES" dirty="0"/>
              <a:t>()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6FDBD64-42BA-8D73-4EAE-4C5F4372C5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0410C1-ABDC-702F-DF7A-358E8C85F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Permite listar toda la tabla. Primero se mostrará en consola:</a:t>
            </a:r>
          </a:p>
          <a:p>
            <a:endParaRPr lang="es-PE" dirty="0"/>
          </a:p>
        </p:txBody>
      </p:sp>
      <p:sp>
        <p:nvSpPr>
          <p:cNvPr id="5" name="Google Shape;268;p34">
            <a:extLst>
              <a:ext uri="{FF2B5EF4-FFF2-40B4-BE49-F238E27FC236}">
                <a16:creationId xmlns:a16="http://schemas.microsoft.com/office/drawing/2014/main" id="{C2AAF0EE-D6D0-4355-AE94-1FA881EAE912}"/>
              </a:ext>
            </a:extLst>
          </p:cNvPr>
          <p:cNvSpPr/>
          <p:nvPr/>
        </p:nvSpPr>
        <p:spPr>
          <a:xfrm>
            <a:off x="2703610" y="4715688"/>
            <a:ext cx="346500" cy="428100"/>
          </a:xfrm>
          <a:prstGeom prst="rightArrow">
            <a:avLst>
              <a:gd name="adj1" fmla="val 50000"/>
              <a:gd name="adj2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26605B-2FEA-D6EF-334E-28D22C03F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251" y="4304246"/>
            <a:ext cx="5915945" cy="12509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77854EE-2A30-BB46-E625-1DD2F1384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843" y="1918591"/>
            <a:ext cx="5164314" cy="2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15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E7FA6-6D26-7FD4-DD4C-0BFF92F3E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2D6EA-1188-06D8-7745-7CC596CF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Mostrar el resultado en HTML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DD85F78-70F3-567C-9D47-D906052480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F744B1-0D61-8DC3-89DD-862801263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manda a la vista con el </a:t>
            </a:r>
            <a:r>
              <a:rPr lang="es-ES" dirty="0" err="1"/>
              <a:t>Model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5B1035-DAA1-F5AA-7E78-CE6D61442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188" y="2754484"/>
            <a:ext cx="6706181" cy="170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8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6E1E2-98ED-CA76-BB56-936B39E5F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D4D74-5E94-9DBF-5E43-40E4A9F28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Mostrar el resultado en HTML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6B1DA56-8992-EE68-BF7A-4235EBA79A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33DEE0-C98B-4FC9-E5A5-2D9D9CF72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la vista, se muestra en una tabla usando </a:t>
            </a:r>
            <a:r>
              <a:rPr lang="es-ES" dirty="0" err="1"/>
              <a:t>bootstrap</a:t>
            </a:r>
            <a:endParaRPr lang="es-ES" dirty="0"/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983A72-6FE0-97D7-B584-3A17F922E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981" y="2052728"/>
            <a:ext cx="7358199" cy="350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88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0833A-B614-8EB9-DE87-62ADAC40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0DA8-A073-5FE3-089D-98AFA2AF6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823920F-C4CE-4D0C-3FF8-2F30B5BABB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24</a:t>
            </a:fld>
            <a:endParaRPr lang="es-PE"/>
          </a:p>
        </p:txBody>
      </p:sp>
      <p:pic>
        <p:nvPicPr>
          <p:cNvPr id="5" name="Google Shape;300;p37">
            <a:extLst>
              <a:ext uri="{FF2B5EF4-FFF2-40B4-BE49-F238E27FC236}">
                <a16:creationId xmlns:a16="http://schemas.microsoft.com/office/drawing/2014/main" id="{A116C5A0-12B6-3088-443B-8C7F3A70B2B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65170" y="1157923"/>
            <a:ext cx="6096000" cy="4124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0703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978930-1B31-0FD0-A0D8-B9D715AD4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5E8E843-D94A-69A5-E5BF-94FAF48A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987F12-DB1A-159F-E463-E24654CEE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25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4FF3910-32C2-98C4-5200-6C1380A69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</a:t>
            </a:r>
            <a:endParaRPr lang="es-PE" dirty="0"/>
          </a:p>
        </p:txBody>
      </p:sp>
      <p:pic>
        <p:nvPicPr>
          <p:cNvPr id="7" name="Google Shape;300;p37">
            <a:extLst>
              <a:ext uri="{FF2B5EF4-FFF2-40B4-BE49-F238E27FC236}">
                <a16:creationId xmlns:a16="http://schemas.microsoft.com/office/drawing/2014/main" id="{E7E2B835-6254-CC36-1964-FAC8A5AD8F5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48000" y="2015173"/>
            <a:ext cx="6096000" cy="4124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0675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2CF2-AD2C-F6DF-1E9C-0657FA499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30A1E-76B8-16B0-2BB8-78423F780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 - Inspector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4E65B77-486F-0B15-7688-FC1F5D52A4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5544B7-4002-39E1-8733-2703F81A6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Observe los links que se crean:</a:t>
            </a:r>
          </a:p>
          <a:p>
            <a:endParaRPr lang="es-PE" dirty="0"/>
          </a:p>
        </p:txBody>
      </p:sp>
      <p:pic>
        <p:nvPicPr>
          <p:cNvPr id="5" name="Google Shape;308;p38">
            <a:extLst>
              <a:ext uri="{FF2B5EF4-FFF2-40B4-BE49-F238E27FC236}">
                <a16:creationId xmlns:a16="http://schemas.microsoft.com/office/drawing/2014/main" id="{DAF314AE-3B41-25C8-939D-A65CBD4C688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46188" y="2070560"/>
            <a:ext cx="5317702" cy="33049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3692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F870-9842-F36E-7D7F-E5465AAF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A3B53-5D49-10EE-D300-907360FD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Debug</a:t>
            </a:r>
            <a:r>
              <a:rPr lang="es-ES" dirty="0"/>
              <a:t> SQL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A57FBA9-B476-ABD7-4B91-9CBEAA884C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D846AF-FAE7-BBEF-A3F7-7044D65C5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3897880"/>
          </a:xfrm>
        </p:spPr>
        <p:txBody>
          <a:bodyPr>
            <a:normAutofit/>
          </a:bodyPr>
          <a:lstStyle/>
          <a:p>
            <a:r>
              <a:rPr lang="es-ES" sz="1600" dirty="0"/>
              <a:t>Si desea ver el SQL generado por JPA, puede agregar a los archivos de configuración los siguiente parámetros:</a:t>
            </a:r>
          </a:p>
          <a:p>
            <a:r>
              <a:rPr lang="es-419" sz="16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spring.jpa.show-sql</a:t>
            </a:r>
            <a:r>
              <a:rPr lang="es-419" sz="1600" dirty="0">
                <a:solidFill>
                  <a:srgbClr val="808080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-419" sz="16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endParaRPr lang="es-ES" sz="1600" dirty="0"/>
          </a:p>
          <a:p>
            <a:endParaRPr lang="es-PE" sz="1600" dirty="0"/>
          </a:p>
          <a:p>
            <a:endParaRPr lang="es-PE" sz="1600" dirty="0"/>
          </a:p>
          <a:p>
            <a:r>
              <a:rPr lang="es-ES" sz="1600" dirty="0"/>
              <a:t>Y si desea verlo aún mejor puede agregar:</a:t>
            </a:r>
          </a:p>
          <a:p>
            <a:r>
              <a:rPr lang="es-419" sz="16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spring.jpa.properties.hibernate.format_sql</a:t>
            </a:r>
            <a:r>
              <a:rPr lang="es-419" sz="1600" dirty="0">
                <a:solidFill>
                  <a:srgbClr val="808080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-419" sz="16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endParaRPr lang="es-PE" dirty="0"/>
          </a:p>
        </p:txBody>
      </p:sp>
      <p:pic>
        <p:nvPicPr>
          <p:cNvPr id="5" name="Google Shape;318;p39">
            <a:extLst>
              <a:ext uri="{FF2B5EF4-FFF2-40B4-BE49-F238E27FC236}">
                <a16:creationId xmlns:a16="http://schemas.microsoft.com/office/drawing/2014/main" id="{17715E1E-C6BB-D579-C208-6B616BEE081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5279" y="2390195"/>
            <a:ext cx="9143999" cy="86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7257597-C771-0535-B0E2-91DB1EB1D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363" y="3429000"/>
            <a:ext cx="4440007" cy="204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13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64E6F-9540-E92C-9BE5-DA9C388F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28561-FE10-86E8-560B-BF4ACD06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Crear – Nuevo Transportista (Controlador)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2425E8E-BC4B-7DFF-B4EF-87FF664017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95E873-D963-EFC5-3EC0-7E9E49F69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401218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En el JSP de lista de transportistas se tiene un botón para crear un transportista, el cual se ha configurado para que apunte a la ruta /</a:t>
            </a:r>
            <a:r>
              <a:rPr lang="es-ES" dirty="0" err="1"/>
              <a:t>shipper</a:t>
            </a:r>
            <a:r>
              <a:rPr lang="es-ES" dirty="0"/>
              <a:t>/new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Se crea entonces, una ruta en el controlador para gestionar esta URL y mostrar la ventana con el formulario de un nuevo transportista.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La vista será el JSP </a:t>
            </a:r>
            <a:r>
              <a:rPr lang="es-ES" b="1" dirty="0"/>
              <a:t>new</a:t>
            </a:r>
            <a:endParaRPr lang="es-PE" dirty="0"/>
          </a:p>
        </p:txBody>
      </p:sp>
      <p:pic>
        <p:nvPicPr>
          <p:cNvPr id="5" name="Google Shape;328;p40">
            <a:extLst>
              <a:ext uri="{FF2B5EF4-FFF2-40B4-BE49-F238E27FC236}">
                <a16:creationId xmlns:a16="http://schemas.microsoft.com/office/drawing/2014/main" id="{ACDA1073-AE16-4AA3-6D29-A652CD02C6C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47518" y="3455155"/>
            <a:ext cx="75247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2867F5A-CCD6-C35B-00A4-67A1AED87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033" y="1907738"/>
            <a:ext cx="3215847" cy="14438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E524726-091E-747F-4C21-DD42B6FCA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339" y="4559331"/>
            <a:ext cx="2619511" cy="99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460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3999-4E91-5F72-B356-E0BF5AEE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43DFB-5E0B-6C2C-7259-3427FED2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Crear – Nuevo Transportista (Vista)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26B4B3-DF2E-1CB9-E9ED-23B54F5303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29</a:t>
            </a:fld>
            <a:endParaRPr lang="es-PE"/>
          </a:p>
        </p:txBody>
      </p:sp>
      <p:pic>
        <p:nvPicPr>
          <p:cNvPr id="5" name="Google Shape;336;p41">
            <a:extLst>
              <a:ext uri="{FF2B5EF4-FFF2-40B4-BE49-F238E27FC236}">
                <a16:creationId xmlns:a16="http://schemas.microsoft.com/office/drawing/2014/main" id="{F65E135A-7527-809E-3A04-26B5C5D9BDA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2620" y="1832412"/>
            <a:ext cx="6800125" cy="2282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337;p41">
            <a:extLst>
              <a:ext uri="{FF2B5EF4-FFF2-40B4-BE49-F238E27FC236}">
                <a16:creationId xmlns:a16="http://schemas.microsoft.com/office/drawing/2014/main" id="{C84C103D-19F3-EFD2-5395-F53E996B6D6A}"/>
              </a:ext>
            </a:extLst>
          </p:cNvPr>
          <p:cNvCxnSpPr/>
          <p:nvPr/>
        </p:nvCxnSpPr>
        <p:spPr>
          <a:xfrm flipH="1">
            <a:off x="4629583" y="1615462"/>
            <a:ext cx="2900700" cy="39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340;p41">
            <a:extLst>
              <a:ext uri="{FF2B5EF4-FFF2-40B4-BE49-F238E27FC236}">
                <a16:creationId xmlns:a16="http://schemas.microsoft.com/office/drawing/2014/main" id="{FC113D28-3238-F40D-CAB9-B4A5A82912B3}"/>
              </a:ext>
            </a:extLst>
          </p:cNvPr>
          <p:cNvSpPr/>
          <p:nvPr/>
        </p:nvSpPr>
        <p:spPr>
          <a:xfrm>
            <a:off x="7530283" y="1295962"/>
            <a:ext cx="2035800" cy="6390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ysClr val="windowText" lastClr="000000"/>
                </a:solidFill>
              </a:rPr>
              <a:t>ruta para guardar el nuevo transportista</a:t>
            </a:r>
            <a:endParaRPr sz="1200">
              <a:solidFill>
                <a:sysClr val="windowText" lastClr="0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A2DE95F-AC55-8577-8BB9-EBEE77720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259" y="2957312"/>
            <a:ext cx="4259579" cy="262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46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B21C-E969-4C68-F2C2-6572D55F1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F6B4F-CA35-005F-63FE-F98F951B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Recepción del formulario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82400A9-9289-7B54-2301-15FCAA3139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42C614-E165-2D9C-F639-C4DAEDD69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El formulario tiene la ruta para guardar en: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Se crea la ruta en el controlador para gestionar esta solicitud y se coloca el nombre del objeto para que Spring realice el </a:t>
            </a:r>
            <a:r>
              <a:rPr lang="es-ES" dirty="0" err="1"/>
              <a:t>Databinding</a:t>
            </a:r>
            <a:r>
              <a:rPr lang="es-ES" dirty="0"/>
              <a:t> de los atributos del formulario de manera automática.</a:t>
            </a:r>
          </a:p>
          <a:p>
            <a:endParaRPr lang="es-PE" dirty="0"/>
          </a:p>
        </p:txBody>
      </p:sp>
      <p:pic>
        <p:nvPicPr>
          <p:cNvPr id="5" name="Google Shape;349;p42">
            <a:extLst>
              <a:ext uri="{FF2B5EF4-FFF2-40B4-BE49-F238E27FC236}">
                <a16:creationId xmlns:a16="http://schemas.microsoft.com/office/drawing/2014/main" id="{D6C04287-ED53-D5BF-4E40-9A752B8D14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30800" b="84131"/>
          <a:stretch/>
        </p:blipFill>
        <p:spPr>
          <a:xfrm>
            <a:off x="1970219" y="1881485"/>
            <a:ext cx="4705749" cy="3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45;p42">
            <a:extLst>
              <a:ext uri="{FF2B5EF4-FFF2-40B4-BE49-F238E27FC236}">
                <a16:creationId xmlns:a16="http://schemas.microsoft.com/office/drawing/2014/main" id="{9EF40B8B-4E29-AA00-DD7B-93B8B6165D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58549"/>
          <a:stretch/>
        </p:blipFill>
        <p:spPr>
          <a:xfrm>
            <a:off x="1388303" y="3669317"/>
            <a:ext cx="5715000" cy="4856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50;p42">
            <a:extLst>
              <a:ext uri="{FF2B5EF4-FFF2-40B4-BE49-F238E27FC236}">
                <a16:creationId xmlns:a16="http://schemas.microsoft.com/office/drawing/2014/main" id="{365E202C-F738-0CED-13CC-00BD0847832B}"/>
              </a:ext>
            </a:extLst>
          </p:cNvPr>
          <p:cNvSpPr/>
          <p:nvPr/>
        </p:nvSpPr>
        <p:spPr>
          <a:xfrm>
            <a:off x="6250133" y="4509999"/>
            <a:ext cx="2730300" cy="914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ysClr val="windowText" lastClr="000000"/>
                </a:solidFill>
              </a:rPr>
              <a:t>Con el </a:t>
            </a:r>
            <a:r>
              <a:rPr lang="es-419" sz="1200" dirty="0" err="1">
                <a:solidFill>
                  <a:sysClr val="windowText" lastClr="000000"/>
                </a:solidFill>
              </a:rPr>
              <a:t>DataBinding</a:t>
            </a:r>
            <a:r>
              <a:rPr lang="es-419" sz="1200" dirty="0">
                <a:solidFill>
                  <a:sysClr val="windowText" lastClr="000000"/>
                </a:solidFill>
              </a:rPr>
              <a:t> se guardará el contenido del formulario en el objeto </a:t>
            </a:r>
            <a:r>
              <a:rPr lang="es-419" sz="1200" b="1" dirty="0" err="1">
                <a:solidFill>
                  <a:sysClr val="windowText" lastClr="000000"/>
                </a:solidFill>
              </a:rPr>
              <a:t>shipper</a:t>
            </a:r>
            <a:endParaRPr sz="1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8" name="Google Shape;351;p42">
            <a:extLst>
              <a:ext uri="{FF2B5EF4-FFF2-40B4-BE49-F238E27FC236}">
                <a16:creationId xmlns:a16="http://schemas.microsoft.com/office/drawing/2014/main" id="{2FE00AD1-6F13-12C3-B33C-AF407348DD59}"/>
              </a:ext>
            </a:extLst>
          </p:cNvPr>
          <p:cNvCxnSpPr>
            <a:stCxn id="7" idx="1"/>
          </p:cNvCxnSpPr>
          <p:nvPr/>
        </p:nvCxnSpPr>
        <p:spPr>
          <a:xfrm rot="10800000">
            <a:off x="5591033" y="4172499"/>
            <a:ext cx="659100" cy="79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44877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8A34C-D01E-74E3-C00B-3C85EE42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9F964-BC24-F76F-9174-81BC278D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Guardar con JPA – </a:t>
            </a:r>
            <a:r>
              <a:rPr lang="es-ES" dirty="0" err="1"/>
              <a:t>save</a:t>
            </a:r>
            <a:r>
              <a:rPr lang="es-ES" dirty="0"/>
              <a:t> (</a:t>
            </a:r>
            <a:r>
              <a:rPr lang="es-ES" dirty="0" err="1"/>
              <a:t>object</a:t>
            </a:r>
            <a:r>
              <a:rPr lang="es-ES" dirty="0"/>
              <a:t>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E734738-656C-2EE6-450D-9427E9BCC4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C6F054-AF2D-A0A7-953D-72486E23F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método </a:t>
            </a:r>
            <a:r>
              <a:rPr lang="es-ES" b="1" dirty="0" err="1"/>
              <a:t>save</a:t>
            </a:r>
            <a:r>
              <a:rPr lang="es-ES" dirty="0"/>
              <a:t>(</a:t>
            </a:r>
            <a:r>
              <a:rPr lang="es-ES" dirty="0" err="1"/>
              <a:t>object</a:t>
            </a:r>
            <a:r>
              <a:rPr lang="es-ES" dirty="0"/>
              <a:t>) del repositorio guarda el objeto en base de datos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4E89EE-0EC3-CC3A-DD88-3A7AA42B3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94" y="2146854"/>
            <a:ext cx="5614903" cy="1274174"/>
          </a:xfrm>
          <a:prstGeom prst="rect">
            <a:avLst/>
          </a:prstGeom>
        </p:spPr>
      </p:pic>
      <p:sp>
        <p:nvSpPr>
          <p:cNvPr id="6" name="Google Shape;360;p43">
            <a:extLst>
              <a:ext uri="{FF2B5EF4-FFF2-40B4-BE49-F238E27FC236}">
                <a16:creationId xmlns:a16="http://schemas.microsoft.com/office/drawing/2014/main" id="{479812F6-9634-0012-B210-A00478B10E47}"/>
              </a:ext>
            </a:extLst>
          </p:cNvPr>
          <p:cNvSpPr/>
          <p:nvPr/>
        </p:nvSpPr>
        <p:spPr>
          <a:xfrm>
            <a:off x="4741924" y="4065723"/>
            <a:ext cx="5122800" cy="779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FFFFFF"/>
                </a:solidFill>
              </a:rPr>
              <a:t>Luego de guardar, redireccionamos a la lista de transportistas con </a:t>
            </a:r>
            <a:r>
              <a:rPr lang="es-419" sz="1200" b="1" dirty="0" err="1">
                <a:solidFill>
                  <a:srgbClr val="FFFFFF"/>
                </a:solidFill>
              </a:rPr>
              <a:t>redirect</a:t>
            </a:r>
            <a:r>
              <a:rPr lang="es-419" sz="1200" dirty="0">
                <a:solidFill>
                  <a:srgbClr val="FFFFFF"/>
                </a:solidFill>
              </a:rPr>
              <a:t>:</a:t>
            </a:r>
            <a:endParaRPr sz="12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 dirty="0" err="1">
                <a:solidFill>
                  <a:srgbClr val="FFFFFF"/>
                </a:solidFill>
              </a:rPr>
              <a:t>Redirect</a:t>
            </a:r>
            <a:r>
              <a:rPr lang="es-419" sz="1200" b="1" dirty="0">
                <a:solidFill>
                  <a:srgbClr val="FFFFFF"/>
                </a:solidFill>
              </a:rPr>
              <a:t> </a:t>
            </a:r>
            <a:r>
              <a:rPr lang="es-419" sz="1200" dirty="0">
                <a:solidFill>
                  <a:srgbClr val="FFFFFF"/>
                </a:solidFill>
              </a:rPr>
              <a:t>siempre redirecciona a una ruta de un controlador.</a:t>
            </a:r>
            <a:endParaRPr sz="1200" dirty="0">
              <a:solidFill>
                <a:srgbClr val="FFFFFF"/>
              </a:solidFill>
            </a:endParaRPr>
          </a:p>
        </p:txBody>
      </p:sp>
      <p:cxnSp>
        <p:nvCxnSpPr>
          <p:cNvPr id="7" name="Google Shape;361;p43">
            <a:extLst>
              <a:ext uri="{FF2B5EF4-FFF2-40B4-BE49-F238E27FC236}">
                <a16:creationId xmlns:a16="http://schemas.microsoft.com/office/drawing/2014/main" id="{18D48B2D-356B-628C-E9E8-839614950B0A}"/>
              </a:ext>
            </a:extLst>
          </p:cNvPr>
          <p:cNvCxnSpPr>
            <a:stCxn id="6" idx="1"/>
          </p:cNvCxnSpPr>
          <p:nvPr/>
        </p:nvCxnSpPr>
        <p:spPr>
          <a:xfrm rot="10800000">
            <a:off x="4015624" y="3082923"/>
            <a:ext cx="726300" cy="1372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57282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C68E2-42B0-D716-8517-FBBFD7ED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90620-F936-7F80-09F9-B7900C1E0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Editar un Transportista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87C00D6-D35D-C0C5-DF00-318899BD9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AC37BD-4BCF-449F-5263-C5CC85F14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422935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editar un transportista, observe la ruta que aparece en su lista de Transportistas: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Por lo tanto, se debe gestionar la ruta </a:t>
            </a:r>
            <a:r>
              <a:rPr lang="es-ES" b="1" dirty="0"/>
              <a:t>/editar</a:t>
            </a:r>
            <a:r>
              <a:rPr lang="es-ES" dirty="0"/>
              <a:t>, con un parámetro por </a:t>
            </a:r>
            <a:r>
              <a:rPr lang="es-ES" dirty="0" err="1"/>
              <a:t>get</a:t>
            </a:r>
            <a:r>
              <a:rPr lang="es-ES" dirty="0"/>
              <a:t>, en este caso, el ID.</a:t>
            </a:r>
          </a:p>
          <a:p>
            <a:endParaRPr lang="es-PE" dirty="0"/>
          </a:p>
        </p:txBody>
      </p:sp>
      <p:pic>
        <p:nvPicPr>
          <p:cNvPr id="5" name="Google Shape;369;p44">
            <a:extLst>
              <a:ext uri="{FF2B5EF4-FFF2-40B4-BE49-F238E27FC236}">
                <a16:creationId xmlns:a16="http://schemas.microsoft.com/office/drawing/2014/main" id="{357C3FD3-FD4A-AF97-808B-232879AF27A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5350" b="30399"/>
          <a:stretch/>
        </p:blipFill>
        <p:spPr>
          <a:xfrm>
            <a:off x="3212937" y="1876059"/>
            <a:ext cx="60960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70;p44">
            <a:extLst>
              <a:ext uri="{FF2B5EF4-FFF2-40B4-BE49-F238E27FC236}">
                <a16:creationId xmlns:a16="http://schemas.microsoft.com/office/drawing/2014/main" id="{60698F47-882C-B3EE-A8D5-53AC12ACBA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8625" y="3393974"/>
            <a:ext cx="5126527" cy="626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371;p44">
            <a:extLst>
              <a:ext uri="{FF2B5EF4-FFF2-40B4-BE49-F238E27FC236}">
                <a16:creationId xmlns:a16="http://schemas.microsoft.com/office/drawing/2014/main" id="{6C894F09-6E00-9209-60B9-E9874F6D878F}"/>
              </a:ext>
            </a:extLst>
          </p:cNvPr>
          <p:cNvCxnSpPr/>
          <p:nvPr/>
        </p:nvCxnSpPr>
        <p:spPr>
          <a:xfrm flipH="1">
            <a:off x="7130162" y="2934936"/>
            <a:ext cx="489000" cy="639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" name="Google Shape;372;p44">
            <a:extLst>
              <a:ext uri="{FF2B5EF4-FFF2-40B4-BE49-F238E27FC236}">
                <a16:creationId xmlns:a16="http://schemas.microsoft.com/office/drawing/2014/main" id="{ADCF5DAA-01DE-14EE-7398-9CEA838D7804}"/>
              </a:ext>
            </a:extLst>
          </p:cNvPr>
          <p:cNvCxnSpPr>
            <a:cxnSpLocks/>
          </p:cNvCxnSpPr>
          <p:nvPr/>
        </p:nvCxnSpPr>
        <p:spPr>
          <a:xfrm flipV="1">
            <a:off x="6169527" y="3812536"/>
            <a:ext cx="1023185" cy="7491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373;p44">
            <a:extLst>
              <a:ext uri="{FF2B5EF4-FFF2-40B4-BE49-F238E27FC236}">
                <a16:creationId xmlns:a16="http://schemas.microsoft.com/office/drawing/2014/main" id="{DF6E0696-16F0-F90F-A785-371EC486491B}"/>
              </a:ext>
            </a:extLst>
          </p:cNvPr>
          <p:cNvCxnSpPr>
            <a:cxnSpLocks/>
          </p:cNvCxnSpPr>
          <p:nvPr/>
        </p:nvCxnSpPr>
        <p:spPr>
          <a:xfrm flipH="1" flipV="1">
            <a:off x="7944987" y="3799861"/>
            <a:ext cx="1633353" cy="815101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66987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C0D1A-DCF5-D5D7-8E94-0ABED6D2C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F2288-945F-B9DD-3A41-7C7AC859B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Editar un Transportista - Controlador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5840243-C0D3-E41F-C1EA-15E48B6203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05D85D-8C38-835F-7797-FC06204C0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Primero se debe buscar el Transportista en base al ID recibido por GET, para este fin, se usa el método </a:t>
            </a:r>
            <a:r>
              <a:rPr lang="es-ES" sz="1600" b="1" dirty="0" err="1"/>
              <a:t>findById</a:t>
            </a:r>
            <a:r>
              <a:rPr lang="es-ES" sz="1600" b="1" dirty="0"/>
              <a:t> </a:t>
            </a:r>
            <a:r>
              <a:rPr lang="es-ES" sz="1600" dirty="0"/>
              <a:t>del repositorio.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Este método devuelve un objeto del tipo </a:t>
            </a:r>
            <a:r>
              <a:rPr lang="es-ES" sz="1600" b="1" dirty="0" err="1"/>
              <a:t>Optional</a:t>
            </a:r>
            <a:r>
              <a:rPr lang="es-ES" sz="1600" dirty="0"/>
              <a:t>. ¿Y qué es el objeto tipo </a:t>
            </a:r>
            <a:r>
              <a:rPr lang="es-ES" sz="1600" dirty="0" err="1"/>
              <a:t>Optional</a:t>
            </a:r>
            <a:r>
              <a:rPr lang="es-ES" sz="1600" dirty="0"/>
              <a:t>?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600" dirty="0"/>
              <a:t>A partir de java 8 se incluyó la clase “</a:t>
            </a:r>
            <a:r>
              <a:rPr lang="es-ES" sz="1600" b="1" dirty="0" err="1"/>
              <a:t>Optional</a:t>
            </a:r>
            <a:r>
              <a:rPr lang="es-ES" sz="1600" dirty="0"/>
              <a:t>”, la cual permite validar si existe un valor de retorno o no por medio del método </a:t>
            </a:r>
            <a:r>
              <a:rPr lang="es-ES" sz="1600" b="1" dirty="0"/>
              <a:t>.</a:t>
            </a:r>
            <a:r>
              <a:rPr lang="es-ES" sz="1600" b="1" dirty="0" err="1"/>
              <a:t>isPresent</a:t>
            </a:r>
            <a:r>
              <a:rPr lang="es-ES" sz="1600" b="1" dirty="0"/>
              <a:t>()</a:t>
            </a:r>
            <a:r>
              <a:rPr lang="es-ES" sz="1600" dirty="0"/>
              <a:t>. En caso se haya obtenido un valor de la base de datos, podemos recuperar el objeto (en este caso </a:t>
            </a:r>
            <a:r>
              <a:rPr lang="es-ES" sz="1600" dirty="0" err="1"/>
              <a:t>Shipper</a:t>
            </a:r>
            <a:r>
              <a:rPr lang="es-ES" sz="1600" dirty="0"/>
              <a:t>), por medio del método </a:t>
            </a:r>
            <a:r>
              <a:rPr lang="es-ES" sz="1600" b="1" dirty="0" err="1"/>
              <a:t>get</a:t>
            </a:r>
            <a:r>
              <a:rPr lang="es-ES" sz="1600" b="1" dirty="0"/>
              <a:t>()</a:t>
            </a:r>
            <a:r>
              <a:rPr lang="es-ES" sz="1600" dirty="0"/>
              <a:t>. </a:t>
            </a:r>
          </a:p>
          <a:p>
            <a:endParaRPr lang="es-PE" sz="2000" dirty="0"/>
          </a:p>
        </p:txBody>
      </p:sp>
      <p:pic>
        <p:nvPicPr>
          <p:cNvPr id="5" name="Google Shape;381;p45">
            <a:extLst>
              <a:ext uri="{FF2B5EF4-FFF2-40B4-BE49-F238E27FC236}">
                <a16:creationId xmlns:a16="http://schemas.microsoft.com/office/drawing/2014/main" id="{E83F48C4-E8E0-3ABC-F7E5-5BEC1F22DF2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4887" y="3181377"/>
            <a:ext cx="5384734" cy="2465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96360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573BD-9706-D5F8-F89B-F384CDAC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3294F-39D7-D17F-26D6-12654D0A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Editar un Transportista - 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9F3F2A-6957-147E-FC33-D7BF7B7B9C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34</a:t>
            </a:fld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64EF6C-F7CF-1883-224D-B25468810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089" y="806980"/>
            <a:ext cx="7962902" cy="492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13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AB2C-DFB7-F95B-B99C-94C145AA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DF06E-F4C1-3A97-6275-F1166B53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Actualizar con JPA – </a:t>
            </a:r>
            <a:r>
              <a:rPr lang="es-ES" dirty="0" err="1"/>
              <a:t>save</a:t>
            </a:r>
            <a:r>
              <a:rPr lang="es-ES" dirty="0"/>
              <a:t> (</a:t>
            </a:r>
            <a:r>
              <a:rPr lang="es-ES" dirty="0" err="1"/>
              <a:t>object</a:t>
            </a:r>
            <a:r>
              <a:rPr lang="es-ES" dirty="0"/>
              <a:t>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9F40940-9B74-CF78-2F16-F8655832E1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E45EE5-CF6F-FAF8-AB67-F0DEE93D1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Para actualizar un registro se vuelve a usar la misma ruta, esto se debe a que Spring Data JPA utiliza el mismo método para guardar un nuevo registro y para actualizarlo → </a:t>
            </a:r>
            <a:r>
              <a:rPr lang="es-ES" sz="1800" b="1" dirty="0" err="1"/>
              <a:t>save</a:t>
            </a:r>
            <a:r>
              <a:rPr lang="es-ES" sz="1800" b="1" dirty="0"/>
              <a:t>()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b="1" dirty="0"/>
              <a:t>¿Y cómo diferencia si está guardando o editando?</a:t>
            </a:r>
            <a:r>
              <a:rPr lang="es-ES" sz="1800" dirty="0"/>
              <a:t> Si el formulario contiene un ID, y este se asigna al objeto por el </a:t>
            </a:r>
            <a:r>
              <a:rPr lang="es-ES" sz="1800" dirty="0" err="1"/>
              <a:t>dataBinding</a:t>
            </a:r>
            <a:r>
              <a:rPr lang="es-ES" sz="1800" dirty="0"/>
              <a:t>, entonces </a:t>
            </a:r>
            <a:r>
              <a:rPr lang="es-ES" sz="1800" b="1" dirty="0"/>
              <a:t>Spring actualiza</a:t>
            </a:r>
            <a:r>
              <a:rPr lang="es-ES" sz="1800" dirty="0"/>
              <a:t>. Si no encuentra un ID en el objeto a guardar, entonces guarda un nuevo registro.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Observar que en el formulario de edición se tiene un input oculto (</a:t>
            </a:r>
            <a:r>
              <a:rPr lang="es-ES" sz="1800" dirty="0" err="1"/>
              <a:t>hidden</a:t>
            </a:r>
            <a:r>
              <a:rPr lang="es-ES" sz="1800" dirty="0"/>
              <a:t>) con el ID del Transportista.</a:t>
            </a:r>
          </a:p>
          <a:p>
            <a:endParaRPr lang="es-PE" sz="1800" dirty="0"/>
          </a:p>
        </p:txBody>
      </p:sp>
      <p:pic>
        <p:nvPicPr>
          <p:cNvPr id="5" name="Google Shape;402;p47">
            <a:extLst>
              <a:ext uri="{FF2B5EF4-FFF2-40B4-BE49-F238E27FC236}">
                <a16:creationId xmlns:a16="http://schemas.microsoft.com/office/drawing/2014/main" id="{22A67C3C-15F0-7AF7-EE75-D919A4B680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20197" b="62597"/>
          <a:stretch/>
        </p:blipFill>
        <p:spPr>
          <a:xfrm>
            <a:off x="1282049" y="3355992"/>
            <a:ext cx="7296901" cy="10459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03;p47">
            <a:extLst>
              <a:ext uri="{FF2B5EF4-FFF2-40B4-BE49-F238E27FC236}">
                <a16:creationId xmlns:a16="http://schemas.microsoft.com/office/drawing/2014/main" id="{71A97363-770A-4C42-D67A-68E72A89304C}"/>
              </a:ext>
            </a:extLst>
          </p:cNvPr>
          <p:cNvSpPr/>
          <p:nvPr/>
        </p:nvSpPr>
        <p:spPr>
          <a:xfrm>
            <a:off x="1656549" y="3898392"/>
            <a:ext cx="6922500" cy="248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404;p47">
            <a:extLst>
              <a:ext uri="{FF2B5EF4-FFF2-40B4-BE49-F238E27FC236}">
                <a16:creationId xmlns:a16="http://schemas.microsoft.com/office/drawing/2014/main" id="{F7FD2C49-FFAB-0BD4-E597-70F4312459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209" y="4564285"/>
            <a:ext cx="5715000" cy="1171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7426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A3F88-105C-9125-1D07-D615A60F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CFE32-46D7-5ED0-1FB3-899F4C6DB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Observación – Redirección en Spring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9C02B86-FCBD-4350-E0D3-0206A96D4D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9F4562-BC23-7655-1E62-B09C897CC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3920740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redireccionar en Spring </a:t>
            </a:r>
            <a:r>
              <a:rPr lang="es-ES" dirty="0" err="1"/>
              <a:t>mvc</a:t>
            </a:r>
            <a:r>
              <a:rPr lang="es-ES" dirty="0"/>
              <a:t> (entre controladores), se pueden usar los métodos:</a:t>
            </a:r>
          </a:p>
          <a:p>
            <a:pPr lvl="0" indent="-317500">
              <a:spcBef>
                <a:spcPts val="1600"/>
              </a:spcBef>
              <a:buSzPts val="1400"/>
              <a:buChar char="●"/>
            </a:pPr>
            <a:r>
              <a:rPr lang="es-ES" b="1" dirty="0" err="1"/>
              <a:t>redirect</a:t>
            </a:r>
            <a:r>
              <a:rPr lang="es-ES" dirty="0"/>
              <a:t>: 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dirty="0"/>
              <a:t>cambia el URL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dirty="0"/>
              <a:t>genera un nuevo GET (le responde al usuario con un 302 y el realiza una nueva solicitud)</a:t>
            </a:r>
          </a:p>
          <a:p>
            <a:pPr lvl="0" indent="-317500">
              <a:buSzPts val="1400"/>
              <a:buChar char="●"/>
            </a:pPr>
            <a:r>
              <a:rPr lang="es-ES" b="1" dirty="0"/>
              <a:t>forward</a:t>
            </a:r>
            <a:r>
              <a:rPr lang="es-ES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dirty="0"/>
              <a:t>no cambia el URL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dirty="0"/>
              <a:t>la redirección es interna en el servidor, no se genera un nuevo GET.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179033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D0E6-87B7-0972-EE30-E8BC77B7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A8459-F2BB-C79A-FDAC-C8F557C4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Borrar un Transportista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6D8EEE4-148C-1DC8-7419-278C9B923D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3F8A41-4D90-C7F3-7DD8-79F3CCAD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770"/>
            <a:ext cx="10515600" cy="410362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borrar un transportista, veamos la ruta que tenemos.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Por lo tanto, se debe gestionar la ruta </a:t>
            </a:r>
            <a:r>
              <a:rPr lang="es-ES" b="1" dirty="0"/>
              <a:t>/borrar</a:t>
            </a:r>
            <a:r>
              <a:rPr lang="es-ES" dirty="0"/>
              <a:t>, con un parámetro por </a:t>
            </a:r>
            <a:r>
              <a:rPr lang="es-ES" dirty="0" err="1"/>
              <a:t>get</a:t>
            </a:r>
            <a:r>
              <a:rPr lang="es-ES" dirty="0"/>
              <a:t>, en este caso, el </a:t>
            </a:r>
            <a:r>
              <a:rPr lang="es-ES" b="1" dirty="0"/>
              <a:t>ID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Google Shape;419;p49">
            <a:extLst>
              <a:ext uri="{FF2B5EF4-FFF2-40B4-BE49-F238E27FC236}">
                <a16:creationId xmlns:a16="http://schemas.microsoft.com/office/drawing/2014/main" id="{9F6E3D52-45B4-3AC0-95D0-42534B142F9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61550" y="3183937"/>
            <a:ext cx="5468899" cy="6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20;p49">
            <a:extLst>
              <a:ext uri="{FF2B5EF4-FFF2-40B4-BE49-F238E27FC236}">
                <a16:creationId xmlns:a16="http://schemas.microsoft.com/office/drawing/2014/main" id="{4D2CB103-485A-08C1-B1AF-47A181EFF1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5350" b="30399"/>
          <a:stretch/>
        </p:blipFill>
        <p:spPr>
          <a:xfrm>
            <a:off x="3048000" y="1777660"/>
            <a:ext cx="6096000" cy="10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421;p49">
            <a:extLst>
              <a:ext uri="{FF2B5EF4-FFF2-40B4-BE49-F238E27FC236}">
                <a16:creationId xmlns:a16="http://schemas.microsoft.com/office/drawing/2014/main" id="{E45E7477-7A72-3237-9CA3-ABD969853B21}"/>
              </a:ext>
            </a:extLst>
          </p:cNvPr>
          <p:cNvCxnSpPr/>
          <p:nvPr/>
        </p:nvCxnSpPr>
        <p:spPr>
          <a:xfrm flipH="1">
            <a:off x="7291175" y="2840712"/>
            <a:ext cx="1194600" cy="534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" name="Google Shape;422;p49">
            <a:extLst>
              <a:ext uri="{FF2B5EF4-FFF2-40B4-BE49-F238E27FC236}">
                <a16:creationId xmlns:a16="http://schemas.microsoft.com/office/drawing/2014/main" id="{723C7ABB-A96A-B2B2-9943-98D4178A7CE4}"/>
              </a:ext>
            </a:extLst>
          </p:cNvPr>
          <p:cNvCxnSpPr>
            <a:cxnSpLocks/>
          </p:cNvCxnSpPr>
          <p:nvPr/>
        </p:nvCxnSpPr>
        <p:spPr>
          <a:xfrm flipV="1">
            <a:off x="6570922" y="3714187"/>
            <a:ext cx="456828" cy="651215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423;p49">
            <a:extLst>
              <a:ext uri="{FF2B5EF4-FFF2-40B4-BE49-F238E27FC236}">
                <a16:creationId xmlns:a16="http://schemas.microsoft.com/office/drawing/2014/main" id="{D10E4897-E7D5-8D72-7A23-F270C5FE8F54}"/>
              </a:ext>
            </a:extLst>
          </p:cNvPr>
          <p:cNvCxnSpPr>
            <a:cxnSpLocks/>
          </p:cNvCxnSpPr>
          <p:nvPr/>
        </p:nvCxnSpPr>
        <p:spPr>
          <a:xfrm flipH="1" flipV="1">
            <a:off x="7570650" y="3699062"/>
            <a:ext cx="1984411" cy="52645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939493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04C17-EB0A-3D72-53A0-B25C6AF5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40CBC-204D-BFD6-5393-B3B76A166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Borrar un Transportista - Controlador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C41FB2F-BBC0-17F0-F33D-8FB99E1B0D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31112E-12E8-E421-24BC-A651517EA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En el contralor, primero se debe buscar el </a:t>
            </a:r>
            <a:r>
              <a:rPr lang="es-ES" sz="2000" dirty="0" err="1"/>
              <a:t>shipper</a:t>
            </a:r>
            <a:r>
              <a:rPr lang="es-ES" sz="2000" dirty="0"/>
              <a:t> por el ID que se ha recibido.  Para este fin, se utiliza el método </a:t>
            </a:r>
            <a:r>
              <a:rPr lang="es-ES" sz="2000" b="1" dirty="0" err="1"/>
              <a:t>findById</a:t>
            </a:r>
            <a:r>
              <a:rPr lang="es-ES" sz="2000" b="1" dirty="0"/>
              <a:t>( ) </a:t>
            </a:r>
            <a:r>
              <a:rPr lang="es-ES" sz="2000" dirty="0"/>
              <a:t>del repositorio (el mismo que para la edición).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Luego, si se encuentra el objeto, se procede a borrarlo con el método </a:t>
            </a:r>
            <a:r>
              <a:rPr lang="es-ES" sz="2000" b="1" dirty="0" err="1"/>
              <a:t>deleteById</a:t>
            </a:r>
            <a:r>
              <a:rPr lang="es-ES" sz="2000" b="1" dirty="0"/>
              <a:t>( )</a:t>
            </a:r>
            <a:r>
              <a:rPr lang="es-ES" sz="2000" dirty="0"/>
              <a:t>.</a:t>
            </a:r>
          </a:p>
        </p:txBody>
      </p:sp>
      <p:pic>
        <p:nvPicPr>
          <p:cNvPr id="7" name="Google Shape;431;p50">
            <a:extLst>
              <a:ext uri="{FF2B5EF4-FFF2-40B4-BE49-F238E27FC236}">
                <a16:creationId xmlns:a16="http://schemas.microsoft.com/office/drawing/2014/main" id="{92688A9B-50E5-B9CF-AA9A-3DFC8DC8118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01282" y="2667455"/>
            <a:ext cx="6515100" cy="263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669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F8DF2-F9BE-42C8-1A33-1425558DC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BB18F-E115-ACDD-2F0E-5FECAB88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DeleteById</a:t>
            </a:r>
            <a:r>
              <a:rPr lang="es-ES" dirty="0"/>
              <a:t>, </a:t>
            </a:r>
            <a:r>
              <a:rPr lang="es-ES" dirty="0" err="1"/>
              <a:t>DeleteByAll</a:t>
            </a:r>
            <a:r>
              <a:rPr lang="es-ES" dirty="0"/>
              <a:t>, </a:t>
            </a:r>
            <a:r>
              <a:rPr lang="es-ES" dirty="0" err="1"/>
              <a:t>DeleteAllInBatch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78FE0F-B248-A0F7-C114-E0447A7788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4F3FAE-D842-47E0-E43C-1BEBEEC7F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 err="1"/>
              <a:t>JpaRepository</a:t>
            </a:r>
            <a:r>
              <a:rPr lang="es-ES" dirty="0"/>
              <a:t> contiene 3 métodos para borrar: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b="1" dirty="0" err="1"/>
              <a:t>DeleteById</a:t>
            </a:r>
            <a:r>
              <a:rPr lang="es-ES" dirty="0"/>
              <a:t>: borra un elemento por su ID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b="1" dirty="0" err="1"/>
              <a:t>DeleteAll</a:t>
            </a:r>
            <a:r>
              <a:rPr lang="es-ES" dirty="0"/>
              <a:t>: borra todos los elementos de una tabla uno por uno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b="1" dirty="0" err="1"/>
              <a:t>DeleteAllInBatch</a:t>
            </a:r>
            <a:r>
              <a:rPr lang="es-ES" dirty="0"/>
              <a:t>: borra todos los elementos de una tabla en una sola sentencia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99992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06B0-45B3-F195-C528-0F0AEABA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5EAB1-6ADD-DD3D-91F7-B8E51AC06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Otras operaciones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F5B2260-C9ED-5955-335F-E00FE10E8F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40</a:t>
            </a:fld>
            <a:endParaRPr lang="es-PE"/>
          </a:p>
        </p:txBody>
      </p:sp>
      <p:pic>
        <p:nvPicPr>
          <p:cNvPr id="5" name="Google Shape;445;p52">
            <a:extLst>
              <a:ext uri="{FF2B5EF4-FFF2-40B4-BE49-F238E27FC236}">
                <a16:creationId xmlns:a16="http://schemas.microsoft.com/office/drawing/2014/main" id="{DCA91958-566C-AB9F-374F-71AA1393B29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5997" y="1395157"/>
            <a:ext cx="8839199" cy="35524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59218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60EF-F803-6AE7-FE79-4790AB0B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0956E-F947-ECE9-365E-3601BA3F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0E15D36-087D-8624-571D-2B071FAC0F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D75A79-98F8-BD08-31B6-06F97308A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n-US" sz="1800" dirty="0"/>
              <a:t>Spring Data </a:t>
            </a:r>
            <a:r>
              <a:rPr lang="en-US" sz="1800" dirty="0" err="1"/>
              <a:t>Jpa</a:t>
            </a:r>
            <a:endParaRPr lang="en-US" sz="18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2"/>
              </a:rPr>
              <a:t>https://docs.spring.io/spring-data/jpa/docs/current/reference/html/#reference</a:t>
            </a:r>
            <a:endParaRPr lang="en-US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https://spring.io/projects/spring-data-jpa</a:t>
            </a:r>
            <a:endParaRPr lang="en-US" dirty="0"/>
          </a:p>
          <a:p>
            <a:pPr lvl="0" indent="-317500">
              <a:buSzPts val="1400"/>
              <a:buChar char="●"/>
            </a:pPr>
            <a:r>
              <a:rPr lang="en-US" sz="1800" dirty="0"/>
              <a:t>Libro:</a:t>
            </a:r>
            <a:r>
              <a:rPr lang="en-US" dirty="0"/>
              <a:t> 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dirty="0"/>
              <a:t>Siva, P. R. K. (2018). </a:t>
            </a:r>
            <a:r>
              <a:rPr lang="en-US" i="1" dirty="0"/>
              <a:t>Beginning Spring Boot 2: applications and microservices with the Spring framework</a:t>
            </a:r>
            <a:r>
              <a:rPr lang="en-US" dirty="0"/>
              <a:t>. New York: </a:t>
            </a:r>
            <a:r>
              <a:rPr lang="en-US" dirty="0" err="1"/>
              <a:t>Apress</a:t>
            </a:r>
            <a:r>
              <a:rPr lang="en-US" dirty="0"/>
              <a:t>.</a:t>
            </a:r>
          </a:p>
          <a:p>
            <a:pPr lvl="2" indent="-317500">
              <a:spcBef>
                <a:spcPts val="0"/>
              </a:spcBef>
              <a:buSzPts val="1400"/>
              <a:buChar char="■"/>
            </a:pPr>
            <a:r>
              <a:rPr lang="en-US" dirty="0"/>
              <a:t>Chapter 8: working with </a:t>
            </a:r>
            <a:r>
              <a:rPr lang="en-US" dirty="0" err="1"/>
              <a:t>jpa</a:t>
            </a:r>
            <a:endParaRPr lang="en-US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929148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2993</TotalTime>
  <Words>2154</Words>
  <Application>Microsoft Office PowerPoint</Application>
  <PresentationFormat>Panorámica</PresentationFormat>
  <Paragraphs>231</Paragraphs>
  <Slides>41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41</vt:i4>
      </vt:variant>
    </vt:vector>
  </HeadingPairs>
  <TitlesOfParts>
    <vt:vector size="50" baseType="lpstr">
      <vt:lpstr>Arial</vt:lpstr>
      <vt:lpstr>Courier New</vt:lpstr>
      <vt:lpstr>Montserrat</vt:lpstr>
      <vt:lpstr>Montserrat Medium</vt:lpstr>
      <vt:lpstr>Wingdings</vt:lpstr>
      <vt:lpstr>Tema de Office</vt:lpstr>
      <vt:lpstr>1_Tema de Office</vt:lpstr>
      <vt:lpstr>Diseño personalizado</vt:lpstr>
      <vt:lpstr>Telecom Pucp</vt:lpstr>
      <vt:lpstr>Presentación de PowerPoint</vt:lpstr>
      <vt:lpstr>Spring Data JPA</vt:lpstr>
      <vt:lpstr>JDBC</vt:lpstr>
      <vt:lpstr>Java Persistance API (JPA)</vt:lpstr>
      <vt:lpstr>Presentación de PowerPoint</vt:lpstr>
      <vt:lpstr>Spring Data JPA</vt:lpstr>
      <vt:lpstr>Spring Data JPA – Configuración POM.xml</vt:lpstr>
      <vt:lpstr>Spring Data JPA – Configuración de conexión</vt:lpstr>
      <vt:lpstr>Observación conexión</vt:lpstr>
      <vt:lpstr>Project Lombok</vt:lpstr>
      <vt:lpstr>Integrando JPA a Spring Web MVC</vt:lpstr>
      <vt:lpstr>Presentación de PowerPoint</vt:lpstr>
      <vt:lpstr>Creando las entidades para ORM</vt:lpstr>
      <vt:lpstr>Mapeo de los campos  @Column</vt:lpstr>
      <vt:lpstr>Observación ORM</vt:lpstr>
      <vt:lpstr>Naming Convention</vt:lpstr>
      <vt:lpstr>Repositorios</vt:lpstr>
      <vt:lpstr>Interfaz JpaRepository</vt:lpstr>
      <vt:lpstr>Controladores</vt:lpstr>
      <vt:lpstr>Métodos Predefinidos en JpaRepository</vt:lpstr>
      <vt:lpstr>FindAll()</vt:lpstr>
      <vt:lpstr>Mostrar el resultado en HTML</vt:lpstr>
      <vt:lpstr>Mostrar el resultado en HTML</vt:lpstr>
      <vt:lpstr>Resultado</vt:lpstr>
      <vt:lpstr>Resultado</vt:lpstr>
      <vt:lpstr>Resultado - Inspector</vt:lpstr>
      <vt:lpstr>Debug SQL</vt:lpstr>
      <vt:lpstr>Crear – Nuevo Transportista (Controlador)</vt:lpstr>
      <vt:lpstr>Crear – Nuevo Transportista (Vista)</vt:lpstr>
      <vt:lpstr>Recepción del formulario</vt:lpstr>
      <vt:lpstr>Guardar con JPA – save (object)</vt:lpstr>
      <vt:lpstr>Editar un Transportista</vt:lpstr>
      <vt:lpstr>Editar un Transportista - Controlador</vt:lpstr>
      <vt:lpstr>Editar un Transportista - Vista</vt:lpstr>
      <vt:lpstr>Actualizar con JPA – save (object)</vt:lpstr>
      <vt:lpstr>Observación – Redirección en Spring</vt:lpstr>
      <vt:lpstr>Borrar un Transportista</vt:lpstr>
      <vt:lpstr>Borrar un Transportista - Controlador</vt:lpstr>
      <vt:lpstr>DeleteById, DeleteByAll, DeleteAllInBatch</vt:lpstr>
      <vt:lpstr>Otras operaciones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25</cp:revision>
  <dcterms:created xsi:type="dcterms:W3CDTF">2023-10-28T21:43:03Z</dcterms:created>
  <dcterms:modified xsi:type="dcterms:W3CDTF">2026-03-30T03:05:17Z</dcterms:modified>
</cp:coreProperties>
</file>