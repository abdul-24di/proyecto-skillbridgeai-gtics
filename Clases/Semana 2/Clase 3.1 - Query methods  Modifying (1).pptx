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4" r:id="rId2"/>
    <p:sldMasterId id="2147483660" r:id="rId3"/>
    <p:sldMasterId id="2147483680" r:id="rId4"/>
  </p:sldMasterIdLst>
  <p:notesMasterIdLst>
    <p:notesMasterId r:id="rId18"/>
  </p:notesMasterIdLst>
  <p:handoutMasterIdLst>
    <p:handoutMasterId r:id="rId19"/>
  </p:handoutMasterIdLst>
  <p:sldIdLst>
    <p:sldId id="368" r:id="rId5"/>
    <p:sldId id="369" r:id="rId6"/>
    <p:sldId id="370" r:id="rId7"/>
    <p:sldId id="371" r:id="rId8"/>
    <p:sldId id="372" r:id="rId9"/>
    <p:sldId id="373" r:id="rId10"/>
    <p:sldId id="374" r:id="rId11"/>
    <p:sldId id="366" r:id="rId12"/>
    <p:sldId id="375" r:id="rId13"/>
    <p:sldId id="376" r:id="rId14"/>
    <p:sldId id="367" r:id="rId15"/>
    <p:sldId id="377" r:id="rId16"/>
    <p:sldId id="378" r:id="rId17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32C8"/>
    <a:srgbClr val="0A2451"/>
    <a:srgbClr val="7F32C8"/>
    <a:srgbClr val="0096C8"/>
    <a:srgbClr val="009A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91" autoAdjust="0"/>
    <p:restoredTop sz="94643"/>
  </p:normalViewPr>
  <p:slideViewPr>
    <p:cSldViewPr snapToGrid="0" snapToObjects="1">
      <p:cViewPr varScale="1">
        <p:scale>
          <a:sx n="99" d="100"/>
          <a:sy n="99" d="100"/>
        </p:scale>
        <p:origin x="95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DF0BF7D0-ACCD-45E0-9075-7974351BA6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3B6A517-4C1F-40CC-B607-62B10860738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40BD7-4B38-4A99-A6E7-5E1A97DAF11B}" type="datetimeFigureOut">
              <a:rPr lang="es-PE" smtClean="0"/>
              <a:t>29/03/2026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DE1014B-0959-4D3A-8DC3-99369C9107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A5F80A8-C49B-4372-B96A-23231D58BE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D7DB4-D5A9-475B-BF72-4B93DC046C5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26361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2EFC3-66C1-4423-B1B2-E7C9DCCB5C75}" type="datetimeFigureOut">
              <a:rPr lang="es-PE" smtClean="0"/>
              <a:t>29/03/2026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75E41-3A85-45FC-A38E-3ABB827C81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5376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BBDFEDA-4707-4FCF-B728-8770DE811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1C491-E0CA-4324-AB99-27795370E731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FEC6C11-5534-41C2-AE3F-23A2E42B2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596F09D-DC31-489D-B4ED-C366F889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6910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8E25-E046-416A-8AD2-E2EA35E0D47B}" type="datetime6">
              <a:rPr lang="es-PE" smtClean="0"/>
              <a:t>Marzo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28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8130-A112-4F15-AFC2-368CC75448B6}" type="datetime6">
              <a:rPr lang="es-PE" smtClean="0"/>
              <a:t>Marzo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996BDD-8036-732D-98BA-0F2E37352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0875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79D8E-AB04-8E45-9319-348AC3CB4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9A28C-F211-4BC4-A82C-550C2815AB6D}" type="datetime6">
              <a:rPr lang="es-PE" smtClean="0"/>
              <a:t>Marzo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7A3063-101A-4748-9BF4-BDCEAD74E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81654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1ED01-9170-4915-AD68-3CC34DFA2DBD}" type="datetime6">
              <a:rPr lang="es-PE" smtClean="0"/>
              <a:t>Marzo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8F1C9D-46B9-3A4E-AB57-99CFCB4F8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5061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DE35-9A49-4AAC-8B2C-BA4A347498EB}" type="datetime6">
              <a:rPr lang="es-PE" smtClean="0"/>
              <a:t>Marzo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C83630D-DB33-894E-A6FB-7C886A314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31018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BB3AF-5458-4635-87B4-F9A9B12C5458}" type="datetime6">
              <a:rPr lang="es-PE" smtClean="0"/>
              <a:t>Marzo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40BCAD-F69B-D846-B7D1-F816049E4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11520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4354-6BA5-49FF-BF43-87C4B22E98B4}" type="datetime6">
              <a:rPr lang="es-PE" smtClean="0"/>
              <a:t>Marzo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665C2B-C547-9D48-897C-C27108ED3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56347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0608-F1FB-45F6-860F-922B6EF37ED4}" type="datetime6">
              <a:rPr lang="es-PE" smtClean="0"/>
              <a:t>Marzo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9B5093-2547-5848-96C5-63FA5D8AC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19299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078BD-AB8A-4345-9035-53D22F2B3257}" type="datetime6">
              <a:rPr lang="es-PE" smtClean="0"/>
              <a:t>Marzo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95E045-43DC-F64F-8427-01C4927DE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3938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8617"/>
            <a:ext cx="10515600" cy="330490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1771-42A4-45B0-9E2A-31E6848B072B}" type="datetime6">
              <a:rPr lang="es-PE" smtClean="0"/>
              <a:t>Marzo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título 1">
            <a:extLst>
              <a:ext uri="{FF2B5EF4-FFF2-40B4-BE49-F238E27FC236}">
                <a16:creationId xmlns:a16="http://schemas.microsoft.com/office/drawing/2014/main" id="{A687CBB4-B26D-433C-982F-3DCCCFE5C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8824"/>
            <a:ext cx="10515600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D43F6072-5465-F57A-EF21-56204254D9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42845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5F0A72E7-2671-47A4-AF35-66459EA16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0D25D-3002-4A58-8B13-21BD8EE61204}" type="datetime6">
              <a:rPr lang="es-PE" smtClean="0"/>
              <a:t>Marzo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86C3314-7415-4B69-9C72-28C2155C4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07477A4A-ECCB-8B69-A47C-30FB4783A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555170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1DECC-10B9-4F40-90A9-2F5BE622FB80}" type="datetime6">
              <a:rPr lang="es-PE" smtClean="0"/>
              <a:t>Marzo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3278E2-83A6-F38B-4712-926F3DB9B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5A0FF8-286D-9381-1F09-B45262982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561495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0" name="Marcador de fecha 9">
            <a:extLst>
              <a:ext uri="{FF2B5EF4-FFF2-40B4-BE49-F238E27FC236}">
                <a16:creationId xmlns:a16="http://schemas.microsoft.com/office/drawing/2014/main" id="{F008D962-BEC4-402A-A407-79C9AD9F2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C0233-ABB9-4EC0-9B00-FB2CD5E81D0A}" type="datetime6">
              <a:rPr lang="es-PE" smtClean="0"/>
              <a:t>Marzo de 2026</a:t>
            </a:fld>
            <a:endParaRPr lang="es-PE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3750F3DD-81E0-4125-8E5B-E0A1E3048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9B72A45B-A8B6-53D1-D299-D8D234C35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330049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0424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32517-B618-4C30-966E-4CE57A9A4AD9}" type="datetime6">
              <a:rPr lang="es-PE" smtClean="0"/>
              <a:t>Marzo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975A041E-5422-B9D8-43AC-BC8E8410A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5190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6572F-C44F-4ECE-A2FB-0C63931A9A8E}" type="datetime6">
              <a:rPr lang="es-PE" smtClean="0"/>
              <a:t>Marzo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024E81AF-5ACD-3527-83DB-C9AD4CA08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080790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5C4A-DDA2-4FA4-84CD-631E9785E0C4}" type="datetime6">
              <a:rPr lang="es-PE" smtClean="0"/>
              <a:t>Marzo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59D5B90D-729B-0333-8733-D407F44413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487264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76157-6C99-4927-8D4B-5792D6D36C68}" type="datetime6">
              <a:rPr lang="es-PE" smtClean="0"/>
              <a:t>Marzo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C8F8A8AE-3D1C-5104-BD49-852FD075A3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18953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1711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108197"/>
            <a:ext cx="10515600" cy="406876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CE1B8-50E8-41AE-B289-DDEF242637E2}" type="datetime6">
              <a:rPr lang="es-PE" smtClean="0"/>
              <a:t>Marzo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E4FC7515-E45E-EA9E-AB33-84FFF36BD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224937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82286-761A-4DF9-BC80-ED7ACDE5A868}" type="datetime6">
              <a:rPr lang="es-PE" smtClean="0"/>
              <a:t>Marzo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9245C2B-EA67-6FB3-B251-E41C03185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244694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40041-0AC9-F54A-8CD6-2C6E25C004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28900" y="2314574"/>
            <a:ext cx="7181850" cy="2224781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Título de clase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940FCB-6F03-EA41-B8CA-B38BB6401CE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810750" y="4539355"/>
            <a:ext cx="2131452" cy="65177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2023</a:t>
            </a:r>
            <a:endParaRPr lang="es-PE" dirty="0"/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409037FA-8AD4-46E6-D14A-A0B5918A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8900" y="326688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sz="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CC77DF-7156-87EC-5584-40C3F628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4057" y="6089066"/>
            <a:ext cx="4100513" cy="440147"/>
          </a:xfrm>
        </p:spPr>
        <p:txBody>
          <a:bodyPr/>
          <a:lstStyle>
            <a:lvl1pPr marL="0" indent="0">
              <a:buClr>
                <a:schemeClr val="accent6"/>
              </a:buClr>
              <a:buNone/>
              <a:defRPr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Profesor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810030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893" y="4999970"/>
            <a:ext cx="3339907" cy="717550"/>
          </a:xfrm>
        </p:spPr>
        <p:txBody>
          <a:bodyPr>
            <a:no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333C54-732D-4A5F-8493-6279F2718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993" y="1285875"/>
            <a:ext cx="6851456" cy="4072870"/>
          </a:xfrm>
        </p:spPr>
        <p:txBody>
          <a:bodyPr/>
          <a:lstStyle>
            <a:lvl1pPr marL="2286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1pPr>
            <a:lvl2pPr marL="6858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buClr>
                <a:schemeClr val="accent1"/>
              </a:buClr>
              <a:buSzPct val="70000"/>
              <a:buFontTx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>
                <a:schemeClr val="accent1"/>
              </a:buClr>
              <a:buSzPct val="50000"/>
              <a:buFontTx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F12D76C1-E4EF-42D1-88E3-B3E1BE457EF7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701422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936BE4A0-0EF9-4513-98D7-49E1F009126F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722D55-BD67-C2D0-8DB9-2255495858E9}"/>
              </a:ext>
            </a:extLst>
          </p:cNvPr>
          <p:cNvSpPr/>
          <p:nvPr userDrawn="1"/>
        </p:nvSpPr>
        <p:spPr>
          <a:xfrm>
            <a:off x="-1" y="1888177"/>
            <a:ext cx="8737793" cy="2244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49" y="2162175"/>
            <a:ext cx="8067675" cy="16954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Nueva Sección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505411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CFF21E75-C2F6-4021-B002-DFF0EB1C555C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32324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490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24F721D9-3A4E-DA31-4304-76691E23E80D}"/>
              </a:ext>
            </a:extLst>
          </p:cNvPr>
          <p:cNvSpPr/>
          <p:nvPr userDrawn="1"/>
        </p:nvSpPr>
        <p:spPr>
          <a:xfrm>
            <a:off x="838200" y="2024743"/>
            <a:ext cx="9716589" cy="3843644"/>
          </a:xfrm>
          <a:prstGeom prst="roundRect">
            <a:avLst>
              <a:gd name="adj" fmla="val 6011"/>
            </a:avLst>
          </a:prstGeom>
          <a:solidFill>
            <a:srgbClr val="0A2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altLang="es-PE" sz="2000" b="1" dirty="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buClr>
                <a:schemeClr val="accent6"/>
              </a:buClr>
              <a:defRPr sz="2400"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 sz="2200"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52786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5525" y="2549525"/>
            <a:ext cx="5162550" cy="1555750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D79D4C0-AA8A-45B0-85A5-1FD89F1DDE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03038" y="2635960"/>
            <a:ext cx="131409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3643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14724" y="663575"/>
            <a:ext cx="7762875" cy="1079500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7647276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trada" type="blank">
  <p:cSld name="entrada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-17314"/>
            <a:ext cx="12192000" cy="68580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2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672059" y="2777043"/>
            <a:ext cx="4686308" cy="138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C63A0B1C-38C6-4A94-BC53-9378BD6F4196}"/>
              </a:ext>
            </a:extLst>
          </p:cNvPr>
          <p:cNvSpPr/>
          <p:nvPr/>
        </p:nvSpPr>
        <p:spPr>
          <a:xfrm>
            <a:off x="604699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09FF01B-D296-4FC4-86C6-18C1AA1F0700}"/>
              </a:ext>
            </a:extLst>
          </p:cNvPr>
          <p:cNvSpPr>
            <a:spLocks noChangeAspect="1"/>
          </p:cNvSpPr>
          <p:nvPr/>
        </p:nvSpPr>
        <p:spPr>
          <a:xfrm>
            <a:off x="2087026" y="5059599"/>
            <a:ext cx="1476000" cy="1475999"/>
          </a:xfrm>
          <a:prstGeom prst="ellipse">
            <a:avLst/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iagrama de flujo: retraso 3">
            <a:extLst>
              <a:ext uri="{FF2B5EF4-FFF2-40B4-BE49-F238E27FC236}">
                <a16:creationId xmlns:a16="http://schemas.microsoft.com/office/drawing/2014/main" id="{F33AB0F3-5E83-4F73-B1B3-E7FFB7FAC1CF}"/>
              </a:ext>
            </a:extLst>
          </p:cNvPr>
          <p:cNvSpPr>
            <a:spLocks/>
          </p:cNvSpPr>
          <p:nvPr/>
        </p:nvSpPr>
        <p:spPr>
          <a:xfrm>
            <a:off x="604699" y="3568509"/>
            <a:ext cx="1476000" cy="1476000"/>
          </a:xfrm>
          <a:prstGeom prst="flowChartDelay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írculo parcial 4">
            <a:extLst>
              <a:ext uri="{FF2B5EF4-FFF2-40B4-BE49-F238E27FC236}">
                <a16:creationId xmlns:a16="http://schemas.microsoft.com/office/drawing/2014/main" id="{E01F752C-EAF0-4FBF-B895-7C40EAE76E6B}"/>
              </a:ext>
            </a:extLst>
          </p:cNvPr>
          <p:cNvSpPr>
            <a:spLocks noChangeAspect="1"/>
          </p:cNvSpPr>
          <p:nvPr/>
        </p:nvSpPr>
        <p:spPr>
          <a:xfrm>
            <a:off x="2080320" y="3578476"/>
            <a:ext cx="2934000" cy="2934000"/>
          </a:xfrm>
          <a:prstGeom prst="pie">
            <a:avLst>
              <a:gd name="adj1" fmla="val 16194402"/>
              <a:gd name="adj2" fmla="val 695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508BC26-9C42-409E-A296-12A08043B847}"/>
              </a:ext>
            </a:extLst>
          </p:cNvPr>
          <p:cNvSpPr/>
          <p:nvPr/>
        </p:nvSpPr>
        <p:spPr>
          <a:xfrm>
            <a:off x="2072388" y="3577936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írculo parcial 5">
            <a:extLst>
              <a:ext uri="{FF2B5EF4-FFF2-40B4-BE49-F238E27FC236}">
                <a16:creationId xmlns:a16="http://schemas.microsoft.com/office/drawing/2014/main" id="{A6B1ED3D-FC35-4A2C-AEA0-527CA60D93D8}"/>
              </a:ext>
            </a:extLst>
          </p:cNvPr>
          <p:cNvSpPr>
            <a:spLocks noChangeAspect="1"/>
          </p:cNvSpPr>
          <p:nvPr/>
        </p:nvSpPr>
        <p:spPr>
          <a:xfrm rot="10800000">
            <a:off x="-821269" y="574219"/>
            <a:ext cx="2857435" cy="2995143"/>
          </a:xfrm>
          <a:prstGeom prst="pie">
            <a:avLst>
              <a:gd name="adj1" fmla="val 5387486"/>
              <a:gd name="adj2" fmla="val 16200000"/>
            </a:avLst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1EFD23FD-AE29-404D-8F53-1FD009AE807B}"/>
              </a:ext>
            </a:extLst>
          </p:cNvPr>
          <p:cNvGrpSpPr/>
          <p:nvPr/>
        </p:nvGrpSpPr>
        <p:grpSpPr>
          <a:xfrm>
            <a:off x="2087136" y="2123409"/>
            <a:ext cx="1448999" cy="1443249"/>
            <a:chOff x="2118675" y="2004020"/>
            <a:chExt cx="1448999" cy="1443249"/>
          </a:xfrm>
        </p:grpSpPr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ECAC50A2-CB41-4C53-93C3-5260E20DE2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004020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CE6D1487-82A4-4496-B087-91DD796DE7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727269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C95F40AB-463C-4C6E-915C-5D6DF55A45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727269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A7CDF41D-9C35-41E7-8E2B-2AA7C91BEC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004020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3FA7743-AFB1-4869-99F7-BBBF6B5081B5}"/>
              </a:ext>
            </a:extLst>
          </p:cNvPr>
          <p:cNvSpPr/>
          <p:nvPr/>
        </p:nvSpPr>
        <p:spPr>
          <a:xfrm>
            <a:off x="3540368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írculo parcial 18">
            <a:extLst>
              <a:ext uri="{FF2B5EF4-FFF2-40B4-BE49-F238E27FC236}">
                <a16:creationId xmlns:a16="http://schemas.microsoft.com/office/drawing/2014/main" id="{9EEB8DCE-7E2B-489A-B839-B10110611D97}"/>
              </a:ext>
            </a:extLst>
          </p:cNvPr>
          <p:cNvSpPr>
            <a:spLocks noChangeAspect="1"/>
          </p:cNvSpPr>
          <p:nvPr/>
        </p:nvSpPr>
        <p:spPr>
          <a:xfrm>
            <a:off x="3552087" y="5048742"/>
            <a:ext cx="2934000" cy="2934000"/>
          </a:xfrm>
          <a:prstGeom prst="pie">
            <a:avLst>
              <a:gd name="adj1" fmla="val 16202562"/>
              <a:gd name="adj2" fmla="val 1644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7749368"/>
      </p:ext>
    </p:extLst>
  </p:cSld>
  <p:clrMapOvr>
    <a:masterClrMapping/>
  </p:clrMapOvr>
  <p:hf hd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Diapositiva de títul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53671" y="5579102"/>
            <a:ext cx="4484658" cy="8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  <a:defRPr sz="2400" i="1">
                <a:solidFill>
                  <a:srgbClr val="648585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0537302"/>
      </p:ext>
    </p:extLst>
  </p:cSld>
  <p:clrMapOvr>
    <a:masterClrMapping/>
  </p:clrMapOvr>
  <p:hf hd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userDrawn="1">
  <p:cSld name="Contenido con título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10621284" cy="838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 dirty="0"/>
              <a:t>Haga clic para modificar el estilo de título del patrón</a:t>
            </a:r>
            <a:endParaRPr dirty="0"/>
          </a:p>
        </p:txBody>
      </p:sp>
      <p:sp>
        <p:nvSpPr>
          <p:cNvPr id="26" name="Google Shape;26;p4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8753475" y="5717000"/>
            <a:ext cx="22666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970058A-F152-4A93-A50A-BC853F5A46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217"/>
          <a:stretch/>
        </p:blipFill>
        <p:spPr>
          <a:xfrm>
            <a:off x="8929708" y="5954450"/>
            <a:ext cx="1856985" cy="464401"/>
          </a:xfrm>
          <a:prstGeom prst="rect">
            <a:avLst/>
          </a:prstGeom>
        </p:spPr>
      </p:pic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31" name="Google Shape;31;p4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Gestión de Servicios TICS</a:t>
            </a: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2396329-D7D9-4B93-942B-A183A1B92B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4783"/>
          <a:stretch/>
        </p:blipFill>
        <p:spPr>
          <a:xfrm>
            <a:off x="7975126" y="5954450"/>
            <a:ext cx="626177" cy="464401"/>
          </a:xfrm>
          <a:prstGeom prst="rect">
            <a:avLst/>
          </a:prstGeom>
        </p:spPr>
      </p:pic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27343379-5EEB-73CB-7065-D9A06EFC8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88" y="1533590"/>
            <a:ext cx="10621284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961005633"/>
      </p:ext>
    </p:extLst>
  </p:cSld>
  <p:clrMapOvr>
    <a:masterClrMapping/>
  </p:clrMapOvr>
  <p:hf hd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Dos objeto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5" name="Google Shape;45;p6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50" name="Google Shape;50;p6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44185741"/>
      </p:ext>
    </p:extLst>
  </p:cSld>
  <p:clrMapOvr>
    <a:masterClrMapping/>
  </p:clrMapOvr>
  <p:hf hd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Imagen con título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53" name="Google Shape;53;p7"/>
          <p:cNvSpPr>
            <a:spLocks noGrp="1"/>
          </p:cNvSpPr>
          <p:nvPr>
            <p:ph type="pic" idx="2"/>
          </p:nvPr>
        </p:nvSpPr>
        <p:spPr>
          <a:xfrm>
            <a:off x="5183200" y="987425"/>
            <a:ext cx="6172200" cy="32043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7"/>
          <p:cNvSpPr txBox="1">
            <a:spLocks noGrp="1"/>
          </p:cNvSpPr>
          <p:nvPr>
            <p:ph type="body" idx="1"/>
          </p:nvPr>
        </p:nvSpPr>
        <p:spPr>
          <a:xfrm>
            <a:off x="839800" y="2057400"/>
            <a:ext cx="3932100" cy="23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5" name="Google Shape;55;p7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0" name="Google Shape;60;p7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48881554"/>
      </p:ext>
    </p:extLst>
  </p:cSld>
  <p:clrMapOvr>
    <a:masterClrMapping/>
  </p:clrMapOvr>
  <p:hf hd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Título y texto vertical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 rot="5400000">
            <a:off x="4161556" y="-1497730"/>
            <a:ext cx="386888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4" name="Google Shape;64;p8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8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9" name="Google Shape;69;p8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61966939"/>
      </p:ext>
    </p:extLst>
  </p:cSld>
  <p:clrMapOvr>
    <a:masterClrMapping/>
  </p:clrMapOvr>
  <p:hf hd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Título vertical y texto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 rot="5400000">
            <a:off x="7363614" y="1726412"/>
            <a:ext cx="5351473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1"/>
          </p:nvPr>
        </p:nvSpPr>
        <p:spPr>
          <a:xfrm rot="5400000">
            <a:off x="2029614" y="-826288"/>
            <a:ext cx="5351473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3" name="Google Shape;73;p9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9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78" name="Google Shape;78;p9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71807388"/>
      </p:ext>
    </p:extLst>
  </p:cSld>
  <p:clrMapOvr>
    <a:masterClrMapping/>
  </p:clrMapOvr>
  <p:hf hdr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 type="obj">
  <p:cSld name="Título y objetos 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2" name="Google Shape;8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8C20A4-1372-4EF1-AE37-02318244F0B2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83" name="Google Shape;8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84" name="Google Shape;8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30149217"/>
      </p:ext>
    </p:extLst>
  </p:cSld>
  <p:clrMapOvr>
    <a:masterClrMapping/>
  </p:clrMapOvr>
  <p:hf hdr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Comparació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8" name="Google Shape;88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1" name="Google Shape;9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8C20A4-1372-4EF1-AE37-02318244F0B2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92" name="Google Shape;9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08678667"/>
      </p:ext>
    </p:extLst>
  </p:cSld>
  <p:clrMapOvr>
    <a:masterClrMapping/>
  </p:clrMapOvr>
  <p:hf hdr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936BE4A0-0EF9-4513-98D7-49E1F009126F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722D55-BD67-C2D0-8DB9-2255495858E9}"/>
              </a:ext>
            </a:extLst>
          </p:cNvPr>
          <p:cNvSpPr/>
          <p:nvPr userDrawn="1"/>
        </p:nvSpPr>
        <p:spPr>
          <a:xfrm>
            <a:off x="-1" y="1888177"/>
            <a:ext cx="8737793" cy="224443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49" y="2162175"/>
            <a:ext cx="8067675" cy="16954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Nueva Sección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530391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24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AE6F4FD-2238-AD4E-867E-E58E2DFA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5212"/>
            <a:ext cx="9716589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0C6D7E-5BBC-B741-BB4C-3A3ED127A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3"/>
            <a:ext cx="9716589" cy="3843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2262"/>
            <a:ext cx="1638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616E3388-8A49-4C51-A106-E2F4CF3977CF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6428" y="32226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74F71EA6-14AA-5205-13FE-35911ED08C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17102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4" r:id="rId2"/>
    <p:sldLayoutId id="2147483674" r:id="rId3"/>
    <p:sldLayoutId id="2147483650" r:id="rId4"/>
    <p:sldLayoutId id="2147483652" r:id="rId5"/>
    <p:sldLayoutId id="2147483653" r:id="rId6"/>
    <p:sldLayoutId id="2147483656" r:id="rId7"/>
    <p:sldLayoutId id="2147483657" r:id="rId8"/>
    <p:sldLayoutId id="2147483658" r:id="rId9"/>
    <p:sldLayoutId id="2147483659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4230"/>
            <a:ext cx="1619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9694A8-123C-4838-A10C-DF4D75E09A89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3680" y="32331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título 1">
            <a:extLst>
              <a:ext uri="{FF2B5EF4-FFF2-40B4-BE49-F238E27FC236}">
                <a16:creationId xmlns:a16="http://schemas.microsoft.com/office/drawing/2014/main" id="{144F2274-D960-4C0B-9748-88EE3F0DB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82069"/>
            <a:ext cx="10343606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9D6FEB95-3036-417E-9C50-CD57ED01F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4"/>
            <a:ext cx="10343606" cy="3291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1DCF4E30-8222-0A8A-8EB6-ACF70BC0F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7794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75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3B067A9-18EE-41F0-B696-9386E1AF8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5029"/>
            <a:ext cx="10515600" cy="6456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67C12A-CBBE-4AB2-8C8A-B75DDE302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86189"/>
            <a:ext cx="10515600" cy="3291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C6ED39-B0EA-42B3-A3C3-7CA769E5EA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14064"/>
            <a:ext cx="1524000" cy="3829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8C20A4-1372-4EF1-AE37-02318244F0B2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E1549C-7307-410E-AA79-42C4BDD3FD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2993" y="32298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63B87C3E-7B33-EE8E-E722-04A7DDD4F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91725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77" r:id="rId4"/>
    <p:sldLayoutId id="2147483676" r:id="rId5"/>
    <p:sldLayoutId id="2147483678" r:id="rId6"/>
    <p:sldLayoutId id="2147483661" r:id="rId7"/>
    <p:sldLayoutId id="2147483679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3868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6070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3514380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2" r:id="rId10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rawni10/clase3gtics-master.git" TargetMode="External"/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docs.spring.io/spring-data/jpa/docs/2.0.7.RELEASE/reference/html/#jpa.query-methods.query-creation" TargetMode="External"/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eldung.com/spring-redirect-and-forward" TargetMode="External"/><Relationship Id="rId2" Type="http://schemas.openxmlformats.org/officeDocument/2006/relationships/hyperlink" Target="https://docs.spring.io/spring/docs/current/javadoc-api/org/springframework/web/servlet/mvc/support/RedirectAttributes.html" TargetMode="External"/><Relationship Id="rId1" Type="http://schemas.openxmlformats.org/officeDocument/2006/relationships/slideLayout" Target="../slideLayouts/slideLayout31.xml"/><Relationship Id="rId5" Type="http://schemas.openxmlformats.org/officeDocument/2006/relationships/hyperlink" Target="https://www.petrikainulainen.net/programming/spring-framework/spring-data-jpa-tutorial-introduction-to-query-methods/" TargetMode="External"/><Relationship Id="rId4" Type="http://schemas.openxmlformats.org/officeDocument/2006/relationships/hyperlink" Target="https://docs.spring.io/spring-data/jpa/docs/current/reference/html/#jpa.query-method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6223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27DFC7-159E-E0F8-FDC2-E2BE9817E3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 err="1"/>
              <a:t>Query</a:t>
            </a:r>
            <a:r>
              <a:rPr lang="es-PE" dirty="0"/>
              <a:t> </a:t>
            </a:r>
            <a:r>
              <a:rPr lang="es-PE" dirty="0" err="1"/>
              <a:t>Methods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56A36B1-A64D-BDB6-5685-A9B4C85F40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PE" dirty="0"/>
              <a:t>Proyecto base: </a:t>
            </a:r>
            <a:r>
              <a:rPr lang="es-ES" dirty="0">
                <a:hlinkClick r:id="rId2"/>
              </a:rPr>
              <a:t>https://github.com/brawni10/clase3gtics-master.git</a:t>
            </a:r>
            <a:endParaRPr lang="es-ES" dirty="0"/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73226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64ED4D-9714-026E-1D2B-7007B8649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Query</a:t>
            </a:r>
            <a:r>
              <a:rPr lang="es-ES" dirty="0"/>
              <a:t> </a:t>
            </a:r>
            <a:r>
              <a:rPr lang="es-ES" dirty="0" err="1"/>
              <a:t>Methods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4BF6768-BE68-1DE6-7F2C-6B77CDB36A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465A2E2-0DE4-4DEA-C021-7EEBEA5A3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2000" dirty="0"/>
              <a:t>En algunos casos, los métodos definidos en </a:t>
            </a:r>
            <a:r>
              <a:rPr lang="es-ES" sz="2000" dirty="0" err="1"/>
              <a:t>JpaRepository</a:t>
            </a:r>
            <a:r>
              <a:rPr lang="es-ES" sz="2000" dirty="0"/>
              <a:t> no son suficientes para buscar información en la tabla, pues solo da la opción de buscarlo por ID.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2000" dirty="0"/>
              <a:t>Existen diversas formas de obtener información personalizada de las tablas, una de ellas es </a:t>
            </a:r>
            <a:r>
              <a:rPr lang="es-ES" sz="2000" dirty="0" err="1"/>
              <a:t>Query</a:t>
            </a:r>
            <a:r>
              <a:rPr lang="es-ES" sz="2000" dirty="0"/>
              <a:t> </a:t>
            </a:r>
            <a:r>
              <a:rPr lang="es-ES" sz="2000" dirty="0" err="1"/>
              <a:t>methods</a:t>
            </a:r>
            <a:r>
              <a:rPr lang="es-ES" sz="2000" dirty="0"/>
              <a:t>.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2000" dirty="0"/>
              <a:t>Los </a:t>
            </a:r>
            <a:r>
              <a:rPr lang="es-ES" sz="2000" dirty="0" err="1"/>
              <a:t>query</a:t>
            </a:r>
            <a:r>
              <a:rPr lang="es-ES" sz="2000" dirty="0"/>
              <a:t> </a:t>
            </a:r>
            <a:r>
              <a:rPr lang="es-ES" sz="2000" dirty="0" err="1"/>
              <a:t>methods</a:t>
            </a:r>
            <a:r>
              <a:rPr lang="es-ES" sz="2000" dirty="0"/>
              <a:t> nos permiten declarar sólo el nombre del método siguiendo un formato definido por Spring Data </a:t>
            </a:r>
            <a:r>
              <a:rPr lang="es-ES" sz="2000" dirty="0" err="1"/>
              <a:t>Jpa</a:t>
            </a:r>
            <a:r>
              <a:rPr lang="es-ES" sz="2000" dirty="0"/>
              <a:t> y automáticamente Spring se encargará de realizar la secuencia SQL asociada, además se dispone de la opción de utilizar la notación @Query para personalizar aún más las consultas.</a:t>
            </a:r>
          </a:p>
          <a:p>
            <a:endParaRPr lang="es-PE" sz="2000" dirty="0"/>
          </a:p>
        </p:txBody>
      </p:sp>
    </p:spTree>
    <p:extLst>
      <p:ext uri="{BB962C8B-B14F-4D97-AF65-F5344CB8AC3E}">
        <p14:creationId xmlns:p14="http://schemas.microsoft.com/office/powerpoint/2010/main" val="3800078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AC03A5-6841-C24B-8B27-63F479068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 #1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30E8AAE-CDF9-ADA4-ACA4-627C3D4416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4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ACD5CD3-2DAD-8999-1E0D-B61C16400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2000" dirty="0"/>
              <a:t>→ Buscar los Transportistas por </a:t>
            </a:r>
            <a:r>
              <a:rPr lang="es-ES" sz="2000" dirty="0" err="1"/>
              <a:t>CompanyName</a:t>
            </a:r>
            <a:r>
              <a:rPr lang="es-ES" sz="2000" dirty="0"/>
              <a:t>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2000" dirty="0"/>
              <a:t>Directamente no se pueden filtrar los transportistas por </a:t>
            </a:r>
            <a:r>
              <a:rPr lang="es-ES" sz="2000" dirty="0" err="1"/>
              <a:t>companyName</a:t>
            </a:r>
            <a:r>
              <a:rPr lang="es-ES" sz="2000" dirty="0"/>
              <a:t>, por este motivo se crea un método en nuestro repositorio, donde el formato debe ser el siguiente: </a:t>
            </a:r>
          </a:p>
          <a:p>
            <a:pPr marL="0" lvl="0" indent="457200">
              <a:spcBef>
                <a:spcPts val="1600"/>
              </a:spcBef>
              <a:buNone/>
            </a:pPr>
            <a:r>
              <a:rPr lang="es-ES" sz="1800" b="1" dirty="0" err="1"/>
              <a:t>tipo_de_dato_de_retorno</a:t>
            </a:r>
            <a:r>
              <a:rPr lang="es-ES" sz="1800" b="1" dirty="0"/>
              <a:t>   </a:t>
            </a:r>
            <a:r>
              <a:rPr lang="es-ES" sz="1800" b="1" dirty="0" err="1"/>
              <a:t>findByAtributo</a:t>
            </a:r>
            <a:r>
              <a:rPr lang="es-ES" sz="1800" dirty="0"/>
              <a:t> (</a:t>
            </a:r>
            <a:r>
              <a:rPr lang="es-ES" sz="1800" b="1" dirty="0" err="1"/>
              <a:t>Tipo_de_dato</a:t>
            </a:r>
            <a:r>
              <a:rPr lang="es-ES" sz="1800" b="1" dirty="0"/>
              <a:t> parámetro</a:t>
            </a:r>
            <a:r>
              <a:rPr lang="es-ES" sz="1800" dirty="0"/>
              <a:t>)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1800" dirty="0"/>
              <a:t>Por ejemplo, para filtrar por nombre de la compañía (</a:t>
            </a:r>
            <a:r>
              <a:rPr lang="es-ES" sz="1800" dirty="0" err="1"/>
              <a:t>company</a:t>
            </a:r>
            <a:r>
              <a:rPr lang="es-ES" sz="1800" dirty="0"/>
              <a:t> </a:t>
            </a:r>
            <a:r>
              <a:rPr lang="es-ES" sz="1800" dirty="0" err="1"/>
              <a:t>name</a:t>
            </a:r>
            <a:r>
              <a:rPr lang="es-ES" sz="1800" dirty="0"/>
              <a:t>):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1800" dirty="0"/>
              <a:t>	</a:t>
            </a:r>
            <a:r>
              <a:rPr lang="es-ES" sz="1800" dirty="0" err="1"/>
              <a:t>List</a:t>
            </a:r>
            <a:r>
              <a:rPr lang="es-ES" sz="1800" dirty="0"/>
              <a:t>&lt;</a:t>
            </a:r>
            <a:r>
              <a:rPr lang="es-ES" sz="1800" dirty="0" err="1"/>
              <a:t>Shipper</a:t>
            </a:r>
            <a:r>
              <a:rPr lang="es-ES" sz="1800" dirty="0"/>
              <a:t>&gt; </a:t>
            </a:r>
            <a:r>
              <a:rPr lang="es-ES" sz="1800" dirty="0" err="1">
                <a:solidFill>
                  <a:srgbClr val="FF0000"/>
                </a:solidFill>
              </a:rPr>
              <a:t>findBy</a:t>
            </a:r>
            <a:r>
              <a:rPr lang="es-ES" sz="1800" dirty="0" err="1"/>
              <a:t>Companyname</a:t>
            </a:r>
            <a:r>
              <a:rPr lang="es-ES" sz="1800" dirty="0"/>
              <a:t> (String </a:t>
            </a:r>
            <a:r>
              <a:rPr lang="es-ES" sz="1800" dirty="0" err="1"/>
              <a:t>companyName</a:t>
            </a:r>
            <a:r>
              <a:rPr lang="es-ES" sz="1800" dirty="0"/>
              <a:t>);</a:t>
            </a:r>
          </a:p>
          <a:p>
            <a:endParaRPr lang="es-PE" sz="2000" dirty="0"/>
          </a:p>
        </p:txBody>
      </p:sp>
      <p:sp>
        <p:nvSpPr>
          <p:cNvPr id="10" name="Google Shape;92;p16">
            <a:extLst>
              <a:ext uri="{FF2B5EF4-FFF2-40B4-BE49-F238E27FC236}">
                <a16:creationId xmlns:a16="http://schemas.microsoft.com/office/drawing/2014/main" id="{737DAF50-5526-E4A2-B02F-D04811DB1D55}"/>
              </a:ext>
            </a:extLst>
          </p:cNvPr>
          <p:cNvSpPr txBox="1"/>
          <p:nvPr/>
        </p:nvSpPr>
        <p:spPr>
          <a:xfrm>
            <a:off x="2099568" y="4560110"/>
            <a:ext cx="1106700" cy="8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/>
              <a:t>siempre va,</a:t>
            </a:r>
            <a:endParaRPr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/>
              <a:t>este es un </a:t>
            </a:r>
            <a:r>
              <a:rPr lang="es-419" sz="1200" b="1" dirty="0" err="1"/>
              <a:t>keyword</a:t>
            </a:r>
            <a:endParaRPr sz="1200" b="1" dirty="0"/>
          </a:p>
        </p:txBody>
      </p:sp>
      <p:sp>
        <p:nvSpPr>
          <p:cNvPr id="11" name="Google Shape;93;p16">
            <a:extLst>
              <a:ext uri="{FF2B5EF4-FFF2-40B4-BE49-F238E27FC236}">
                <a16:creationId xmlns:a16="http://schemas.microsoft.com/office/drawing/2014/main" id="{C316EC43-1740-5A2B-C233-9E2CA251E1B3}"/>
              </a:ext>
            </a:extLst>
          </p:cNvPr>
          <p:cNvSpPr txBox="1"/>
          <p:nvPr/>
        </p:nvSpPr>
        <p:spPr>
          <a:xfrm>
            <a:off x="4605951" y="4614160"/>
            <a:ext cx="11706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/>
              <a:t>atributo de la clase</a:t>
            </a:r>
            <a:endParaRPr sz="1200"/>
          </a:p>
        </p:txBody>
      </p:sp>
      <p:cxnSp>
        <p:nvCxnSpPr>
          <p:cNvPr id="12" name="Google Shape;94;p16">
            <a:extLst>
              <a:ext uri="{FF2B5EF4-FFF2-40B4-BE49-F238E27FC236}">
                <a16:creationId xmlns:a16="http://schemas.microsoft.com/office/drawing/2014/main" id="{3914E51B-48DF-6569-AECA-C70537060182}"/>
              </a:ext>
            </a:extLst>
          </p:cNvPr>
          <p:cNvCxnSpPr>
            <a:stCxn id="10" idx="0"/>
          </p:cNvCxnSpPr>
          <p:nvPr/>
        </p:nvCxnSpPr>
        <p:spPr>
          <a:xfrm rot="10800000" flipH="1">
            <a:off x="2652918" y="3938210"/>
            <a:ext cx="242100" cy="6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" name="Google Shape;95;p16">
            <a:extLst>
              <a:ext uri="{FF2B5EF4-FFF2-40B4-BE49-F238E27FC236}">
                <a16:creationId xmlns:a16="http://schemas.microsoft.com/office/drawing/2014/main" id="{C4D9431E-E27E-6923-2F61-9A5C46639EDE}"/>
              </a:ext>
            </a:extLst>
          </p:cNvPr>
          <p:cNvCxnSpPr>
            <a:stCxn id="11" idx="0"/>
          </p:cNvCxnSpPr>
          <p:nvPr/>
        </p:nvCxnSpPr>
        <p:spPr>
          <a:xfrm rot="10800000">
            <a:off x="5112051" y="4019860"/>
            <a:ext cx="79200" cy="59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" name="Google Shape;96;p16">
            <a:extLst>
              <a:ext uri="{FF2B5EF4-FFF2-40B4-BE49-F238E27FC236}">
                <a16:creationId xmlns:a16="http://schemas.microsoft.com/office/drawing/2014/main" id="{1139572F-5CE9-89C8-DF28-FA6ABB153EBE}"/>
              </a:ext>
            </a:extLst>
          </p:cNvPr>
          <p:cNvSpPr txBox="1"/>
          <p:nvPr/>
        </p:nvSpPr>
        <p:spPr>
          <a:xfrm>
            <a:off x="6561851" y="4525810"/>
            <a:ext cx="1459800" cy="7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/>
              <a:t>parámetro que se igualará al atributo</a:t>
            </a:r>
            <a:endParaRPr sz="1200"/>
          </a:p>
        </p:txBody>
      </p:sp>
      <p:cxnSp>
        <p:nvCxnSpPr>
          <p:cNvPr id="15" name="Google Shape;97;p16">
            <a:extLst>
              <a:ext uri="{FF2B5EF4-FFF2-40B4-BE49-F238E27FC236}">
                <a16:creationId xmlns:a16="http://schemas.microsoft.com/office/drawing/2014/main" id="{6AB86572-9E78-5179-0326-77D78D461D16}"/>
              </a:ext>
            </a:extLst>
          </p:cNvPr>
          <p:cNvCxnSpPr>
            <a:stCxn id="14" idx="0"/>
          </p:cNvCxnSpPr>
          <p:nvPr/>
        </p:nvCxnSpPr>
        <p:spPr>
          <a:xfrm rot="10800000">
            <a:off x="7244351" y="3946810"/>
            <a:ext cx="47400" cy="57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339337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8AE2E-DE13-6721-9F73-F6616EEF9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404B81-3404-325A-E5EA-0CB273FEE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 #1 - Contenido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8F19050-E59E-2440-1FF8-E78C0377D7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5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804A807-72A1-819A-3389-D588ABA72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Se crea el método en el </a:t>
            </a:r>
            <a:r>
              <a:rPr lang="es-ES" sz="1800" b="1" dirty="0"/>
              <a:t>repositorio</a:t>
            </a:r>
            <a:r>
              <a:rPr lang="es-ES" sz="1800" dirty="0"/>
              <a:t>: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1800" dirty="0"/>
          </a:p>
          <a:p>
            <a:pPr marL="0" lvl="0" indent="0">
              <a:spcBef>
                <a:spcPts val="1600"/>
              </a:spcBef>
              <a:buNone/>
            </a:pPr>
            <a:endParaRPr lang="es-ES" sz="1800" dirty="0"/>
          </a:p>
          <a:p>
            <a:pPr marL="0" lvl="0" indent="0">
              <a:spcBef>
                <a:spcPts val="1600"/>
              </a:spcBef>
              <a:buNone/>
            </a:pPr>
            <a:endParaRPr lang="es-ES" sz="1800" dirty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1800" dirty="0"/>
              <a:t>Se implementa el </a:t>
            </a:r>
            <a:r>
              <a:rPr lang="es-ES" sz="1800" b="1" dirty="0"/>
              <a:t>controlador</a:t>
            </a:r>
            <a:r>
              <a:rPr lang="es-ES" sz="1800" dirty="0"/>
              <a:t>:</a:t>
            </a:r>
          </a:p>
          <a:p>
            <a:endParaRPr lang="es-PE" sz="1800" dirty="0"/>
          </a:p>
        </p:txBody>
      </p:sp>
      <p:pic>
        <p:nvPicPr>
          <p:cNvPr id="5" name="Google Shape;105;p17">
            <a:extLst>
              <a:ext uri="{FF2B5EF4-FFF2-40B4-BE49-F238E27FC236}">
                <a16:creationId xmlns:a16="http://schemas.microsoft.com/office/drawing/2014/main" id="{579B1E2F-6DAF-235F-4A13-AEB5C6B78F6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75861" y="2092184"/>
            <a:ext cx="7287389" cy="1097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06;p17">
            <a:extLst>
              <a:ext uri="{FF2B5EF4-FFF2-40B4-BE49-F238E27FC236}">
                <a16:creationId xmlns:a16="http://schemas.microsoft.com/office/drawing/2014/main" id="{8C8BEB57-FB78-8DBC-AEE7-1C61EF000D9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4995" y="3823755"/>
            <a:ext cx="8483523" cy="17672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38773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BD521-78D4-13A4-7F39-024E4A860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C3C628-1A4A-D4A7-E30A-952FCACAB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 #1 - Contenido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44CCC93-0323-1184-8E21-625E45B370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6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DD2022-771E-AFE7-6C72-668186A9A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En la vista de </a:t>
            </a:r>
            <a:r>
              <a:rPr lang="es-ES" b="1" dirty="0"/>
              <a:t>lista de transportistas</a:t>
            </a:r>
            <a:r>
              <a:rPr lang="es-ES" dirty="0"/>
              <a:t>, se agrega un campo para buscar:</a:t>
            </a:r>
          </a:p>
          <a:p>
            <a:endParaRPr lang="es-PE" dirty="0"/>
          </a:p>
        </p:txBody>
      </p:sp>
      <p:pic>
        <p:nvPicPr>
          <p:cNvPr id="5" name="Google Shape;114;p18">
            <a:extLst>
              <a:ext uri="{FF2B5EF4-FFF2-40B4-BE49-F238E27FC236}">
                <a16:creationId xmlns:a16="http://schemas.microsoft.com/office/drawing/2014/main" id="{97491416-E945-BC6A-9C33-3BBE672C747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4983" y="2225092"/>
            <a:ext cx="9144000" cy="6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5;p18">
            <a:extLst>
              <a:ext uri="{FF2B5EF4-FFF2-40B4-BE49-F238E27FC236}">
                <a16:creationId xmlns:a16="http://schemas.microsoft.com/office/drawing/2014/main" id="{91F88869-23F2-2F6A-9DF7-3CB49399E2A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4983" y="3300785"/>
            <a:ext cx="8420100" cy="20764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12839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175C2-6BF9-0DF9-CF2F-C7F658B6B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549791-505E-EACB-33C1-2661A4EC0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Query</a:t>
            </a:r>
            <a:r>
              <a:rPr lang="es-ES" dirty="0"/>
              <a:t> </a:t>
            </a:r>
            <a:r>
              <a:rPr lang="es-ES" dirty="0" err="1"/>
              <a:t>Methods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3900210-32F2-C1A2-0EBB-38A2214703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7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07A3DD-6021-DC1B-4B96-4F4E5CAEF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Existen muchas otras combinaciones que se pueden realizar para obtener información en particular. Un extracto de la documentación oficial: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800" dirty="0"/>
          </a:p>
          <a:p>
            <a:pPr marL="0" lvl="0" indent="0">
              <a:spcBef>
                <a:spcPts val="1600"/>
              </a:spcBef>
              <a:buNone/>
            </a:pPr>
            <a:endParaRPr lang="es-ES" sz="800" dirty="0"/>
          </a:p>
          <a:p>
            <a:pPr marL="0" lvl="0" indent="0">
              <a:spcBef>
                <a:spcPts val="1600"/>
              </a:spcBef>
              <a:buNone/>
            </a:pPr>
            <a:endParaRPr lang="es-ES" sz="800" dirty="0"/>
          </a:p>
          <a:p>
            <a:pPr marL="0" lvl="0" indent="0">
              <a:spcBef>
                <a:spcPts val="1600"/>
              </a:spcBef>
              <a:buNone/>
            </a:pPr>
            <a:endParaRPr lang="es-ES" sz="800" dirty="0"/>
          </a:p>
          <a:p>
            <a:pPr marL="0" lvl="0" indent="0">
              <a:spcBef>
                <a:spcPts val="1600"/>
              </a:spcBef>
              <a:buNone/>
            </a:pPr>
            <a:endParaRPr lang="es-ES" sz="800" dirty="0"/>
          </a:p>
          <a:p>
            <a:pPr marL="0" lvl="0" indent="0">
              <a:spcBef>
                <a:spcPts val="1600"/>
              </a:spcBef>
              <a:buNone/>
            </a:pPr>
            <a:endParaRPr lang="es-ES" sz="800" dirty="0"/>
          </a:p>
          <a:p>
            <a:pPr marL="0" lvl="0" indent="0">
              <a:spcBef>
                <a:spcPts val="1600"/>
              </a:spcBef>
              <a:buNone/>
            </a:pPr>
            <a:endParaRPr lang="es-ES" sz="800" dirty="0"/>
          </a:p>
          <a:p>
            <a:pPr marL="0" lvl="0" indent="0">
              <a:spcBef>
                <a:spcPts val="1600"/>
              </a:spcBef>
              <a:buNone/>
            </a:pPr>
            <a:endParaRPr lang="es-ES" sz="800" dirty="0"/>
          </a:p>
          <a:p>
            <a:pPr marL="0" lvl="0" indent="0">
              <a:spcBef>
                <a:spcPts val="1600"/>
              </a:spcBef>
              <a:buNone/>
            </a:pPr>
            <a:endParaRPr lang="es-ES" sz="800" dirty="0"/>
          </a:p>
          <a:p>
            <a:pPr marL="0" lvl="0" indent="0">
              <a:spcBef>
                <a:spcPts val="1600"/>
              </a:spcBef>
              <a:buNone/>
            </a:pPr>
            <a:endParaRPr lang="es-ES" sz="800" dirty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1600" b="1" u="sng" dirty="0">
                <a:solidFill>
                  <a:schemeClr val="hlink"/>
                </a:solidFill>
                <a:hlinkClick r:id="rId2"/>
              </a:rPr>
              <a:t>https://docs.spring.io/spring-data/jpa/docs/2.0.7.RELEASE/reference/html/#jpa.query-methods.query-creation</a:t>
            </a:r>
            <a:endParaRPr lang="es-ES" sz="1600" b="1" dirty="0"/>
          </a:p>
          <a:p>
            <a:endParaRPr lang="es-PE" dirty="0"/>
          </a:p>
        </p:txBody>
      </p:sp>
      <p:pic>
        <p:nvPicPr>
          <p:cNvPr id="5" name="Google Shape;123;p19">
            <a:extLst>
              <a:ext uri="{FF2B5EF4-FFF2-40B4-BE49-F238E27FC236}">
                <a16:creationId xmlns:a16="http://schemas.microsoft.com/office/drawing/2014/main" id="{26153033-85D3-D96F-9A51-502376FFE2A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32840"/>
          <a:stretch/>
        </p:blipFill>
        <p:spPr>
          <a:xfrm>
            <a:off x="2212893" y="2159780"/>
            <a:ext cx="7088777" cy="23539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3109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E686E43-7599-4F2C-90B2-C81FE7D6E5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t>8</a:t>
            </a:fld>
            <a:endParaRPr lang="es-P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DF6689F-400B-9D28-96FE-477586A8B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chemeClr val="bg1"/>
                </a:solidFill>
                <a:latin typeface="+mj-lt"/>
              </a:rPr>
              <a:t>@Query</a:t>
            </a:r>
            <a:endParaRPr lang="es-PE" sz="4400" dirty="0"/>
          </a:p>
        </p:txBody>
      </p:sp>
    </p:spTree>
    <p:extLst>
      <p:ext uri="{BB962C8B-B14F-4D97-AF65-F5344CB8AC3E}">
        <p14:creationId xmlns:p14="http://schemas.microsoft.com/office/powerpoint/2010/main" val="3339284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B14E93-7F57-B34A-1B6C-6101ED3D5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@Query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1FE090C-94E1-3EA0-2607-C201178536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9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0412C2D-B347-4756-BB7B-8DB9698E9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Otra opción que maneja Spring data JPA para realizar consultas personalizadas a base de datos es la notación </a:t>
            </a:r>
            <a:r>
              <a:rPr lang="es-ES" sz="1800" b="1" dirty="0"/>
              <a:t>@Query</a:t>
            </a:r>
            <a:r>
              <a:rPr lang="es-ES" sz="1800" dirty="0"/>
              <a:t>. En este caso, no es necesario utilizar el formato de nombre que pide JPA.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1800" dirty="0"/>
              <a:t>Por ejemplo: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1800" dirty="0"/>
              <a:t>→ Realizar el ejemplo 1 usando @Query → Buscar los Transportistas por </a:t>
            </a:r>
            <a:r>
              <a:rPr lang="es-ES" sz="1800" dirty="0" err="1"/>
              <a:t>CompanyName</a:t>
            </a:r>
            <a:endParaRPr lang="es-ES" sz="1800" dirty="0"/>
          </a:p>
          <a:p>
            <a:endParaRPr lang="es-PE" dirty="0"/>
          </a:p>
        </p:txBody>
      </p:sp>
      <p:pic>
        <p:nvPicPr>
          <p:cNvPr id="5" name="Google Shape;137;p21">
            <a:extLst>
              <a:ext uri="{FF2B5EF4-FFF2-40B4-BE49-F238E27FC236}">
                <a16:creationId xmlns:a16="http://schemas.microsoft.com/office/drawing/2014/main" id="{0BFC3ADB-CD50-5288-9D45-5FC002E22A4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46488" y="2919785"/>
            <a:ext cx="8124825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38;p21">
            <a:extLst>
              <a:ext uri="{FF2B5EF4-FFF2-40B4-BE49-F238E27FC236}">
                <a16:creationId xmlns:a16="http://schemas.microsoft.com/office/drawing/2014/main" id="{38350C97-FBAA-C75C-104A-FADFB6AF15BB}"/>
              </a:ext>
            </a:extLst>
          </p:cNvPr>
          <p:cNvSpPr/>
          <p:nvPr/>
        </p:nvSpPr>
        <p:spPr>
          <a:xfrm>
            <a:off x="2294163" y="4035785"/>
            <a:ext cx="6710100" cy="943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39;p21">
            <a:extLst>
              <a:ext uri="{FF2B5EF4-FFF2-40B4-BE49-F238E27FC236}">
                <a16:creationId xmlns:a16="http://schemas.microsoft.com/office/drawing/2014/main" id="{958F2FBA-3D24-9843-0F1F-409D18EBFA97}"/>
              </a:ext>
            </a:extLst>
          </p:cNvPr>
          <p:cNvSpPr/>
          <p:nvPr/>
        </p:nvSpPr>
        <p:spPr>
          <a:xfrm>
            <a:off x="7885767" y="5190329"/>
            <a:ext cx="2059500" cy="446925"/>
          </a:xfrm>
          <a:prstGeom prst="roundRect">
            <a:avLst>
              <a:gd name="adj" fmla="val 16667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 dirty="0">
                <a:solidFill>
                  <a:srgbClr val="FFFFFF"/>
                </a:solidFill>
              </a:rPr>
              <a:t>Los parámetros se colocan ?1, ?2… ?n</a:t>
            </a:r>
            <a:endParaRPr sz="1050" dirty="0">
              <a:solidFill>
                <a:srgbClr val="FFFFFF"/>
              </a:solidFill>
            </a:endParaRPr>
          </a:p>
        </p:txBody>
      </p:sp>
      <p:cxnSp>
        <p:nvCxnSpPr>
          <p:cNvPr id="8" name="Google Shape;140;p21">
            <a:extLst>
              <a:ext uri="{FF2B5EF4-FFF2-40B4-BE49-F238E27FC236}">
                <a16:creationId xmlns:a16="http://schemas.microsoft.com/office/drawing/2014/main" id="{C7149504-8B82-43E3-EAC8-2C1849004B8F}"/>
              </a:ext>
            </a:extLst>
          </p:cNvPr>
          <p:cNvCxnSpPr/>
          <p:nvPr/>
        </p:nvCxnSpPr>
        <p:spPr>
          <a:xfrm flipH="1">
            <a:off x="7319438" y="4400385"/>
            <a:ext cx="1330200" cy="2463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" name="Google Shape;141;p21">
            <a:extLst>
              <a:ext uri="{FF2B5EF4-FFF2-40B4-BE49-F238E27FC236}">
                <a16:creationId xmlns:a16="http://schemas.microsoft.com/office/drawing/2014/main" id="{3981D801-3153-59C4-A331-B902DD28A0E1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8721050" y="4400385"/>
            <a:ext cx="194467" cy="789944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" name="Google Shape;142;p21">
            <a:extLst>
              <a:ext uri="{FF2B5EF4-FFF2-40B4-BE49-F238E27FC236}">
                <a16:creationId xmlns:a16="http://schemas.microsoft.com/office/drawing/2014/main" id="{BBED6A1A-C04C-EBEB-EFB3-77214E187440}"/>
              </a:ext>
            </a:extLst>
          </p:cNvPr>
          <p:cNvSpPr/>
          <p:nvPr/>
        </p:nvSpPr>
        <p:spPr>
          <a:xfrm>
            <a:off x="2294163" y="5149797"/>
            <a:ext cx="4075800" cy="446925"/>
          </a:xfrm>
          <a:prstGeom prst="roundRect">
            <a:avLst>
              <a:gd name="adj" fmla="val 16667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 dirty="0">
                <a:solidFill>
                  <a:srgbClr val="FFFFFF"/>
                </a:solidFill>
              </a:rPr>
              <a:t>Por defecto, @Query utiliza JPQL (Java </a:t>
            </a:r>
            <a:r>
              <a:rPr lang="es-419" sz="900" dirty="0" err="1">
                <a:solidFill>
                  <a:srgbClr val="FFFFFF"/>
                </a:solidFill>
              </a:rPr>
              <a:t>Persistence</a:t>
            </a:r>
            <a:r>
              <a:rPr lang="es-419" sz="900" dirty="0">
                <a:solidFill>
                  <a:srgbClr val="FFFFFF"/>
                </a:solidFill>
              </a:rPr>
              <a:t> </a:t>
            </a:r>
            <a:r>
              <a:rPr lang="es-419" sz="900" dirty="0" err="1">
                <a:solidFill>
                  <a:srgbClr val="FFFFFF"/>
                </a:solidFill>
              </a:rPr>
              <a:t>Query</a:t>
            </a:r>
            <a:r>
              <a:rPr lang="es-419" sz="900" dirty="0">
                <a:solidFill>
                  <a:srgbClr val="FFFFFF"/>
                </a:solidFill>
              </a:rPr>
              <a:t> </a:t>
            </a:r>
            <a:r>
              <a:rPr lang="es-419" sz="900" dirty="0" err="1">
                <a:solidFill>
                  <a:srgbClr val="FFFFFF"/>
                </a:solidFill>
              </a:rPr>
              <a:t>Language</a:t>
            </a:r>
            <a:r>
              <a:rPr lang="es-419" sz="900" dirty="0">
                <a:solidFill>
                  <a:srgbClr val="FFFFFF"/>
                </a:solidFill>
              </a:rPr>
              <a:t>). Si se desea usar SQL, se debe indicar </a:t>
            </a:r>
            <a:r>
              <a:rPr lang="es-419" sz="900" dirty="0" err="1">
                <a:solidFill>
                  <a:srgbClr val="FFFFFF"/>
                </a:solidFill>
              </a:rPr>
              <a:t>nativeQuery</a:t>
            </a:r>
            <a:r>
              <a:rPr lang="es-419" sz="900" dirty="0">
                <a:solidFill>
                  <a:srgbClr val="FFFFFF"/>
                </a:solidFill>
              </a:rPr>
              <a:t> = true</a:t>
            </a:r>
            <a:endParaRPr sz="900" dirty="0">
              <a:solidFill>
                <a:srgbClr val="FFFFFF"/>
              </a:solidFill>
            </a:endParaRPr>
          </a:p>
        </p:txBody>
      </p:sp>
      <p:cxnSp>
        <p:nvCxnSpPr>
          <p:cNvPr id="11" name="Google Shape;143;p21">
            <a:extLst>
              <a:ext uri="{FF2B5EF4-FFF2-40B4-BE49-F238E27FC236}">
                <a16:creationId xmlns:a16="http://schemas.microsoft.com/office/drawing/2014/main" id="{8BA32B13-CC2D-1020-9D11-C22C52EAFE69}"/>
              </a:ext>
            </a:extLst>
          </p:cNvPr>
          <p:cNvCxnSpPr>
            <a:cxnSpLocks/>
            <a:stCxn id="10" idx="1"/>
            <a:endCxn id="12" idx="1"/>
          </p:cNvCxnSpPr>
          <p:nvPr/>
        </p:nvCxnSpPr>
        <p:spPr>
          <a:xfrm rot="10800000" flipH="1">
            <a:off x="2294163" y="4526510"/>
            <a:ext cx="877900" cy="846750"/>
          </a:xfrm>
          <a:prstGeom prst="bentConnector3">
            <a:avLst>
              <a:gd name="adj1" fmla="val -26039"/>
            </a:avLst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Google Shape;144;p21">
            <a:extLst>
              <a:ext uri="{FF2B5EF4-FFF2-40B4-BE49-F238E27FC236}">
                <a16:creationId xmlns:a16="http://schemas.microsoft.com/office/drawing/2014/main" id="{2D063A6C-BD81-CCC4-67DB-6D7D379EF084}"/>
              </a:ext>
            </a:extLst>
          </p:cNvPr>
          <p:cNvSpPr/>
          <p:nvPr/>
        </p:nvSpPr>
        <p:spPr>
          <a:xfrm>
            <a:off x="3172063" y="4430060"/>
            <a:ext cx="347100" cy="192900"/>
          </a:xfrm>
          <a:prstGeom prst="diamond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2152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DE087-6E8A-4317-3187-600F52E11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E8CCBA-EB78-ADFA-C3C1-BBCA35C52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@Query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D5F2372-3CC3-C340-6B25-EDE3555B6D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10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4BCC184-85F8-8D64-3D58-B776AEB6A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Para búsquedas parciales, por ejemplo con </a:t>
            </a:r>
            <a:r>
              <a:rPr lang="es-ES" sz="1800" dirty="0" err="1"/>
              <a:t>like</a:t>
            </a:r>
            <a:r>
              <a:rPr lang="es-ES" sz="1800" dirty="0"/>
              <a:t>, puede usar los </a:t>
            </a:r>
            <a:r>
              <a:rPr lang="es-ES" sz="1800" dirty="0" err="1"/>
              <a:t>wildcards</a:t>
            </a:r>
            <a:r>
              <a:rPr lang="es-ES" sz="1800" dirty="0"/>
              <a:t> directamente.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1800" dirty="0"/>
          </a:p>
          <a:p>
            <a:pPr marL="0" lvl="0" indent="0">
              <a:spcBef>
                <a:spcPts val="1600"/>
              </a:spcBef>
              <a:buNone/>
            </a:pPr>
            <a:endParaRPr lang="es-ES" sz="1800" dirty="0"/>
          </a:p>
          <a:p>
            <a:pPr marL="0" lvl="0" indent="0">
              <a:spcBef>
                <a:spcPts val="1600"/>
              </a:spcBef>
              <a:buNone/>
            </a:pPr>
            <a:endParaRPr lang="es-ES" sz="1800" dirty="0"/>
          </a:p>
          <a:p>
            <a:pPr marL="0" lvl="0" indent="0">
              <a:spcBef>
                <a:spcPts val="1600"/>
              </a:spcBef>
              <a:buNone/>
            </a:pPr>
            <a:endParaRPr lang="es-ES" sz="1800" dirty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1800" i="1" dirty="0">
                <a:solidFill>
                  <a:srgbClr val="FF0000"/>
                </a:solidFill>
              </a:rPr>
              <a:t>El error que aparece es del IDE y puede ignorarlo.</a:t>
            </a:r>
          </a:p>
          <a:p>
            <a:endParaRPr lang="es-PE" sz="1800" dirty="0"/>
          </a:p>
        </p:txBody>
      </p:sp>
      <p:pic>
        <p:nvPicPr>
          <p:cNvPr id="5" name="Google Shape;152;p22">
            <a:extLst>
              <a:ext uri="{FF2B5EF4-FFF2-40B4-BE49-F238E27FC236}">
                <a16:creationId xmlns:a16="http://schemas.microsoft.com/office/drawing/2014/main" id="{9E1D1CF5-4DF9-328A-902B-0D9F7093BD5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02451" y="2232627"/>
            <a:ext cx="8743950" cy="914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85371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E686E43-7599-4F2C-90B2-C81FE7D6E5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t>11</a:t>
            </a:fld>
            <a:endParaRPr lang="es-P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DF6689F-400B-9D28-96FE-477586A8B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chemeClr val="bg1"/>
                </a:solidFill>
                <a:latin typeface="+mj-lt"/>
              </a:rPr>
              <a:t>@Modifying</a:t>
            </a:r>
            <a:endParaRPr lang="es-PE" sz="4400" dirty="0"/>
          </a:p>
        </p:txBody>
      </p:sp>
    </p:spTree>
    <p:extLst>
      <p:ext uri="{BB962C8B-B14F-4D97-AF65-F5344CB8AC3E}">
        <p14:creationId xmlns:p14="http://schemas.microsoft.com/office/powerpoint/2010/main" val="2671235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EF5AC-A3B6-2530-C784-3E1A34079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6C5467-217A-8707-CCF0-0D9FAF767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@Modifying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C326157-DEF2-B942-A14D-C3BA8376EE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12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DABA56-2BAD-F67F-3A83-4ADF1B5CD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600" dirty="0"/>
              <a:t>Con la notación @Query puede realizar cualquier tipo de SELECT; sin embargo, para utilizar sentencias </a:t>
            </a:r>
            <a:r>
              <a:rPr lang="es-ES" sz="1600" b="1" dirty="0"/>
              <a:t>SQL INSERT</a:t>
            </a:r>
            <a:r>
              <a:rPr lang="es-ES" sz="1600" dirty="0"/>
              <a:t>, </a:t>
            </a:r>
            <a:r>
              <a:rPr lang="es-ES" sz="1600" b="1" dirty="0"/>
              <a:t>UPDATE</a:t>
            </a:r>
            <a:r>
              <a:rPr lang="es-ES" sz="1600" dirty="0"/>
              <a:t>,  </a:t>
            </a:r>
            <a:r>
              <a:rPr lang="es-ES" sz="1600" b="1" dirty="0"/>
              <a:t>DELETE </a:t>
            </a:r>
            <a:r>
              <a:rPr lang="es-ES" sz="1600" dirty="0"/>
              <a:t>personalizadas o inclusive DDL, debemos adicionar </a:t>
            </a:r>
            <a:r>
              <a:rPr lang="es-ES" sz="1600" b="1" dirty="0"/>
              <a:t>@Modifying</a:t>
            </a:r>
            <a:r>
              <a:rPr lang="es-ES" sz="1600" dirty="0"/>
              <a:t> y </a:t>
            </a:r>
            <a:r>
              <a:rPr lang="es-ES" sz="1600" b="1" dirty="0"/>
              <a:t>@Transactional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1600" dirty="0"/>
              <a:t>Por ejemplo:</a:t>
            </a:r>
          </a:p>
          <a:p>
            <a:pPr lvl="0" indent="-317500">
              <a:spcBef>
                <a:spcPts val="1600"/>
              </a:spcBef>
              <a:buSzPts val="1400"/>
              <a:buChar char="●"/>
            </a:pPr>
            <a:r>
              <a:rPr lang="es-ES" sz="1600" dirty="0"/>
              <a:t>Actualizar solo el nombre de compañía de un transportista.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1600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sz="1600" dirty="0"/>
              <a:t>→ Si utilizamos </a:t>
            </a:r>
            <a:r>
              <a:rPr lang="es-ES" sz="1600" dirty="0" err="1">
                <a:solidFill>
                  <a:srgbClr val="9876AA"/>
                </a:solidFill>
                <a:highlight>
                  <a:srgbClr val="2B2B2B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shipperRepository</a:t>
            </a:r>
            <a:r>
              <a:rPr lang="es-ES" sz="1600" dirty="0" err="1">
                <a:solidFill>
                  <a:srgbClr val="A9B7C6"/>
                </a:solidFill>
                <a:highlight>
                  <a:srgbClr val="2B2B2B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.save</a:t>
            </a:r>
            <a:r>
              <a:rPr lang="es-ES" sz="1600" dirty="0">
                <a:solidFill>
                  <a:srgbClr val="A9B7C6"/>
                </a:solidFill>
                <a:highlight>
                  <a:srgbClr val="2B2B2B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(</a:t>
            </a:r>
            <a:r>
              <a:rPr lang="es-ES" sz="1600" dirty="0" err="1">
                <a:solidFill>
                  <a:srgbClr val="A9B7C6"/>
                </a:solidFill>
                <a:highlight>
                  <a:srgbClr val="2B2B2B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shipper</a:t>
            </a:r>
            <a:r>
              <a:rPr lang="es-ES" sz="1600" dirty="0">
                <a:solidFill>
                  <a:srgbClr val="A9B7C6"/>
                </a:solidFill>
                <a:highlight>
                  <a:srgbClr val="2B2B2B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)</a:t>
            </a:r>
            <a:r>
              <a:rPr lang="es-ES" sz="1600" dirty="0"/>
              <a:t> se guardará toda la entidad.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1600" dirty="0"/>
              <a:t>Por tal motivo, se creará un </a:t>
            </a:r>
            <a:r>
              <a:rPr lang="es-ES" sz="1600" dirty="0" err="1"/>
              <a:t>query</a:t>
            </a:r>
            <a:r>
              <a:rPr lang="es-ES" sz="1600" dirty="0"/>
              <a:t> que solo actualice el nombre de la compañía.</a:t>
            </a:r>
          </a:p>
          <a:p>
            <a:endParaRPr lang="es-PE" sz="1600" dirty="0"/>
          </a:p>
        </p:txBody>
      </p:sp>
      <p:pic>
        <p:nvPicPr>
          <p:cNvPr id="5" name="Google Shape;166;p24">
            <a:extLst>
              <a:ext uri="{FF2B5EF4-FFF2-40B4-BE49-F238E27FC236}">
                <a16:creationId xmlns:a16="http://schemas.microsoft.com/office/drawing/2014/main" id="{DE7F5080-1576-6929-1D90-C97AFBDA241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63775" y="2375998"/>
            <a:ext cx="1932150" cy="159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67;p24">
            <a:extLst>
              <a:ext uri="{FF2B5EF4-FFF2-40B4-BE49-F238E27FC236}">
                <a16:creationId xmlns:a16="http://schemas.microsoft.com/office/drawing/2014/main" id="{7B748390-C5B2-A742-BE60-1E5CB23E48E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9109" y="4243763"/>
            <a:ext cx="6597000" cy="12907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938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1CEDC-E863-6D0F-2879-850BA0A88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F3B6E2-A77D-4B0A-1BD1-7B1F8D8C4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Bibliografía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12A67693-F414-6E55-B84C-05BB2AF77F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13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80F3389-AAA0-6AEA-D310-519302E9A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n-US" sz="1800" dirty="0"/>
              <a:t>Redirect attributes</a:t>
            </a:r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n-US" u="sng" dirty="0">
                <a:solidFill>
                  <a:schemeClr val="hlink"/>
                </a:solidFill>
                <a:hlinkClick r:id="rId2"/>
              </a:rPr>
              <a:t>https://docs.spring.io/spring/docs/current/javadoc-api/org/springframework/web/servlet/mvc/support/RedirectAttributes.html</a:t>
            </a:r>
            <a:endParaRPr lang="en-US" dirty="0"/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n-US" u="sng" dirty="0">
                <a:solidFill>
                  <a:schemeClr val="hlink"/>
                </a:solidFill>
                <a:hlinkClick r:id="rId3"/>
              </a:rPr>
              <a:t>https://www.baeldung.com/spring-redirect-and-forward</a:t>
            </a:r>
            <a:endParaRPr lang="en-US" dirty="0"/>
          </a:p>
          <a:p>
            <a:pPr lvl="0" indent="-342900">
              <a:buSzPts val="1800"/>
              <a:buChar char="●"/>
            </a:pPr>
            <a:r>
              <a:rPr lang="en-US" sz="1800" dirty="0"/>
              <a:t>Query methods</a:t>
            </a:r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n-US" u="sng" dirty="0">
                <a:solidFill>
                  <a:schemeClr val="hlink"/>
                </a:solidFill>
                <a:hlinkClick r:id="rId4"/>
              </a:rPr>
              <a:t>https://docs.spring.io/spring-data/jpa/docs/current/reference/html/#jpa.query-methods</a:t>
            </a:r>
            <a:endParaRPr lang="en-US" dirty="0"/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n-US" u="sng" dirty="0">
                <a:solidFill>
                  <a:schemeClr val="hlink"/>
                </a:solidFill>
                <a:hlinkClick r:id="rId5"/>
              </a:rPr>
              <a:t>https://www.petrikainulainen.net/programming/spring-framework/spring-data-jpa-tutorial-introduction-to-query-methods/</a:t>
            </a:r>
            <a:endParaRPr lang="en-US" dirty="0"/>
          </a:p>
          <a:p>
            <a:pPr lvl="0" indent="-317500">
              <a:buSzPts val="1400"/>
              <a:buChar char="●"/>
            </a:pPr>
            <a:r>
              <a:rPr lang="en-US" sz="1800" dirty="0"/>
              <a:t>Libro: </a:t>
            </a:r>
            <a:endParaRPr lang="en-US" dirty="0"/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n-US" dirty="0"/>
              <a:t>Siva, P. R. K. (2018). Beginning Spring Boot 2: applications and microservices with the Spring framework. New York: </a:t>
            </a:r>
            <a:r>
              <a:rPr lang="en-US" dirty="0" err="1"/>
              <a:t>Apress</a:t>
            </a:r>
            <a:r>
              <a:rPr lang="en-US" dirty="0"/>
              <a:t>.</a:t>
            </a:r>
          </a:p>
          <a:p>
            <a:pPr lvl="2" indent="-317500">
              <a:spcBef>
                <a:spcPts val="0"/>
              </a:spcBef>
              <a:buSzPts val="1400"/>
              <a:buChar char="■"/>
            </a:pPr>
            <a:r>
              <a:rPr lang="en-US" dirty="0"/>
              <a:t>Chapter 8: Working with </a:t>
            </a:r>
            <a:r>
              <a:rPr lang="en-US" dirty="0" err="1"/>
              <a:t>jpa</a:t>
            </a:r>
            <a:endParaRPr lang="en-US" dirty="0"/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9592219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1CEE12FC-EFE8-427F-AFDD-10E13BDA9816}"/>
    </a:ext>
  </a:extLst>
</a:theme>
</file>

<file path=ppt/theme/theme2.xml><?xml version="1.0" encoding="utf-8"?>
<a:theme xmlns:a="http://schemas.openxmlformats.org/drawingml/2006/main" name="1_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2968A79A-DB5B-4965-B275-611A9275D097}"/>
    </a:ext>
  </a:extLst>
</a:theme>
</file>

<file path=ppt/theme/theme3.xml><?xml version="1.0" encoding="utf-8"?>
<a:theme xmlns:a="http://schemas.openxmlformats.org/drawingml/2006/main" name="Diseño personalizado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Montserrat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5F575593-E9A2-4645-ABE1-5BD8C9BF19B9}"/>
    </a:ext>
  </a:extLst>
</a:theme>
</file>

<file path=ppt/theme/theme4.xml><?xml version="1.0" encoding="utf-8"?>
<a:theme xmlns:a="http://schemas.openxmlformats.org/drawingml/2006/main" name="Telecom Pucp">
  <a:themeElements>
    <a:clrScheme name="PUCP">
      <a:dk1>
        <a:srgbClr val="191919"/>
      </a:dk1>
      <a:lt1>
        <a:srgbClr val="FFFFFF"/>
      </a:lt1>
      <a:dk2>
        <a:srgbClr val="042354"/>
      </a:dk2>
      <a:lt2>
        <a:srgbClr val="E7EDED"/>
      </a:lt2>
      <a:accent1>
        <a:srgbClr val="2841DD"/>
      </a:accent1>
      <a:accent2>
        <a:srgbClr val="FF9929"/>
      </a:accent2>
      <a:accent3>
        <a:srgbClr val="7F32C8"/>
      </a:accent3>
      <a:accent4>
        <a:srgbClr val="F0AE19"/>
      </a:accent4>
      <a:accent5>
        <a:srgbClr val="0A7BC2"/>
      </a:accent5>
      <a:accent6>
        <a:srgbClr val="16C78E"/>
      </a:accent6>
      <a:hlink>
        <a:srgbClr val="004EA8"/>
      </a:hlink>
      <a:folHlink>
        <a:srgbClr val="C3094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lecom Pucp" id="{04A4479E-36D6-4C66-807A-9F4E8318654E}" vid="{A438D0C6-9502-4DA2-8DE8-05B87C02855A}"/>
    </a:ext>
  </a:extLst>
</a:theme>
</file>

<file path=ppt/theme/theme5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Plantilla_Telecomunicaciones (1)</Template>
  <TotalTime>362</TotalTime>
  <Words>639</Words>
  <Application>Microsoft Office PowerPoint</Application>
  <PresentationFormat>Panorámica</PresentationFormat>
  <Paragraphs>80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13</vt:i4>
      </vt:variant>
    </vt:vector>
  </HeadingPairs>
  <TitlesOfParts>
    <vt:vector size="21" baseType="lpstr">
      <vt:lpstr>Arial</vt:lpstr>
      <vt:lpstr>Montserrat</vt:lpstr>
      <vt:lpstr>Montserrat Medium</vt:lpstr>
      <vt:lpstr>Source Code Pro</vt:lpstr>
      <vt:lpstr>Tema de Office</vt:lpstr>
      <vt:lpstr>1_Tema de Office</vt:lpstr>
      <vt:lpstr>Diseño personalizado</vt:lpstr>
      <vt:lpstr>Telecom Pucp</vt:lpstr>
      <vt:lpstr>Presentación de PowerPoint</vt:lpstr>
      <vt:lpstr>Query Methods</vt:lpstr>
      <vt:lpstr>Query Methods</vt:lpstr>
      <vt:lpstr>Ejemplo #1</vt:lpstr>
      <vt:lpstr>Ejemplo #1 - Contenido</vt:lpstr>
      <vt:lpstr>Ejemplo #1 - Contenido</vt:lpstr>
      <vt:lpstr>Query Methods</vt:lpstr>
      <vt:lpstr>@Query</vt:lpstr>
      <vt:lpstr>@Query</vt:lpstr>
      <vt:lpstr>@Query</vt:lpstr>
      <vt:lpstr>@Modifying</vt:lpstr>
      <vt:lpstr>@Modifying</vt:lpstr>
      <vt:lpstr>Bibliografía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Programación Orientada a Objetos &amp; Introducción a Java</dc:title>
  <dc:creator>Brenda Tumbalobos</dc:creator>
  <cp:lastModifiedBy>Brenda Tumbalobos Cubas</cp:lastModifiedBy>
  <cp:revision>21</cp:revision>
  <dcterms:created xsi:type="dcterms:W3CDTF">2023-10-28T21:43:03Z</dcterms:created>
  <dcterms:modified xsi:type="dcterms:W3CDTF">2026-03-30T03:13:36Z</dcterms:modified>
</cp:coreProperties>
</file>