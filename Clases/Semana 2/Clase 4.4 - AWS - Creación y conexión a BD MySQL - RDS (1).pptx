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4" r:id="rId2"/>
    <p:sldMasterId id="2147483660" r:id="rId3"/>
    <p:sldMasterId id="2147483680" r:id="rId4"/>
  </p:sldMasterIdLst>
  <p:notesMasterIdLst>
    <p:notesMasterId r:id="rId40"/>
  </p:notesMasterIdLst>
  <p:handoutMasterIdLst>
    <p:handoutMasterId r:id="rId41"/>
  </p:handoutMasterIdLst>
  <p:sldIdLst>
    <p:sldId id="400" r:id="rId5"/>
    <p:sldId id="401" r:id="rId6"/>
    <p:sldId id="402" r:id="rId7"/>
    <p:sldId id="403" r:id="rId8"/>
    <p:sldId id="404" r:id="rId9"/>
    <p:sldId id="405" r:id="rId10"/>
    <p:sldId id="406" r:id="rId11"/>
    <p:sldId id="407" r:id="rId12"/>
    <p:sldId id="408" r:id="rId13"/>
    <p:sldId id="409" r:id="rId14"/>
    <p:sldId id="410" r:id="rId15"/>
    <p:sldId id="411" r:id="rId16"/>
    <p:sldId id="412" r:id="rId17"/>
    <p:sldId id="413" r:id="rId18"/>
    <p:sldId id="414" r:id="rId19"/>
    <p:sldId id="415" r:id="rId20"/>
    <p:sldId id="416" r:id="rId21"/>
    <p:sldId id="417" r:id="rId22"/>
    <p:sldId id="418" r:id="rId23"/>
    <p:sldId id="419" r:id="rId24"/>
    <p:sldId id="420" r:id="rId25"/>
    <p:sldId id="421" r:id="rId26"/>
    <p:sldId id="422" r:id="rId27"/>
    <p:sldId id="423" r:id="rId28"/>
    <p:sldId id="424" r:id="rId29"/>
    <p:sldId id="425" r:id="rId30"/>
    <p:sldId id="426" r:id="rId31"/>
    <p:sldId id="427" r:id="rId32"/>
    <p:sldId id="396" r:id="rId33"/>
    <p:sldId id="431" r:id="rId34"/>
    <p:sldId id="432" r:id="rId35"/>
    <p:sldId id="430" r:id="rId36"/>
    <p:sldId id="429" r:id="rId37"/>
    <p:sldId id="428" r:id="rId38"/>
    <p:sldId id="399" r:id="rId39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32C8"/>
    <a:srgbClr val="0A2451"/>
    <a:srgbClr val="7F32C8"/>
    <a:srgbClr val="0096C8"/>
    <a:srgbClr val="009A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91" autoAdjust="0"/>
    <p:restoredTop sz="94643"/>
  </p:normalViewPr>
  <p:slideViewPr>
    <p:cSldViewPr snapToGrid="0" snapToObjects="1">
      <p:cViewPr varScale="1">
        <p:scale>
          <a:sx n="99" d="100"/>
          <a:sy n="99" d="100"/>
        </p:scale>
        <p:origin x="95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DF0BF7D0-ACCD-45E0-9075-7974351BA6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3B6A517-4C1F-40CC-B607-62B10860738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40BD7-4B38-4A99-A6E7-5E1A97DAF11B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DE1014B-0959-4D3A-8DC3-99369C9107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A5F80A8-C49B-4372-B96A-23231D58BE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D7DB4-D5A9-475B-BF72-4B93DC046C5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26361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2EFC3-66C1-4423-B1B2-E7C9DCCB5C75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75E41-3A85-45FC-A38E-3ABB827C81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5376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BBDFEDA-4707-4FCF-B728-8770DE811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1C491-E0CA-4324-AB99-27795370E731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FEC6C11-5534-41C2-AE3F-23A2E42B2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596F09D-DC31-489D-B4ED-C366F889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6910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8E25-E046-416A-8AD2-E2EA35E0D47B}" type="datetime6">
              <a:rPr lang="es-PE" smtClean="0"/>
              <a:t>Abril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28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8130-A112-4F15-AFC2-368CC75448B6}" type="datetime6">
              <a:rPr lang="es-PE" smtClean="0"/>
              <a:t>Abril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996BDD-8036-732D-98BA-0F2E37352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0875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79D8E-AB04-8E45-9319-348AC3CB4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9A28C-F211-4BC4-A82C-550C2815AB6D}" type="datetime6">
              <a:rPr lang="es-PE" smtClean="0"/>
              <a:t>Abril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7A3063-101A-4748-9BF4-BDCEAD74E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81654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1ED01-9170-4915-AD68-3CC34DFA2DBD}" type="datetime6">
              <a:rPr lang="es-PE" smtClean="0"/>
              <a:t>Abril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8F1C9D-46B9-3A4E-AB57-99CFCB4F8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506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DE35-9A49-4AAC-8B2C-BA4A347498EB}" type="datetime6">
              <a:rPr lang="es-PE" smtClean="0"/>
              <a:t>Abril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C83630D-DB33-894E-A6FB-7C886A314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31018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BB3AF-5458-4635-87B4-F9A9B12C5458}" type="datetime6">
              <a:rPr lang="es-PE" smtClean="0"/>
              <a:t>Abril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40BCAD-F69B-D846-B7D1-F816049E4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11520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4354-6BA5-49FF-BF43-87C4B22E98B4}" type="datetime6">
              <a:rPr lang="es-PE" smtClean="0"/>
              <a:t>Abril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665C2B-C547-9D48-897C-C27108ED3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56347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0608-F1FB-45F6-860F-922B6EF37ED4}" type="datetime6">
              <a:rPr lang="es-PE" smtClean="0"/>
              <a:t>Abril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9B5093-2547-5848-96C5-63FA5D8AC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19299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078BD-AB8A-4345-9035-53D22F2B3257}" type="datetime6">
              <a:rPr lang="es-PE" smtClean="0"/>
              <a:t>Abril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95E045-43DC-F64F-8427-01C4927DE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3938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8617"/>
            <a:ext cx="10515600" cy="330490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1771-42A4-45B0-9E2A-31E6848B072B}" type="datetime6">
              <a:rPr lang="es-PE" smtClean="0"/>
              <a:t>Abril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título 1">
            <a:extLst>
              <a:ext uri="{FF2B5EF4-FFF2-40B4-BE49-F238E27FC236}">
                <a16:creationId xmlns:a16="http://schemas.microsoft.com/office/drawing/2014/main" id="{A687CBB4-B26D-433C-982F-3DCCCFE5C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8824"/>
            <a:ext cx="10515600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D43F6072-5465-F57A-EF21-56204254D9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42845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5F0A72E7-2671-47A4-AF35-66459EA16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0D25D-3002-4A58-8B13-21BD8EE61204}" type="datetime6">
              <a:rPr lang="es-PE" smtClean="0"/>
              <a:t>Abril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86C3314-7415-4B69-9C72-28C2155C4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07477A4A-ECCB-8B69-A47C-30FB4783A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555170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1DECC-10B9-4F40-90A9-2F5BE622FB80}" type="datetime6">
              <a:rPr lang="es-PE" smtClean="0"/>
              <a:t>Abril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3278E2-83A6-F38B-4712-926F3DB9B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5A0FF8-286D-9381-1F09-B45262982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561495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Marcador de fecha 9">
            <a:extLst>
              <a:ext uri="{FF2B5EF4-FFF2-40B4-BE49-F238E27FC236}">
                <a16:creationId xmlns:a16="http://schemas.microsoft.com/office/drawing/2014/main" id="{F008D962-BEC4-402A-A407-79C9AD9F2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C0233-ABB9-4EC0-9B00-FB2CD5E81D0A}" type="datetime6">
              <a:rPr lang="es-PE" smtClean="0"/>
              <a:t>Abril de 2026</a:t>
            </a:fld>
            <a:endParaRPr lang="es-PE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3750F3DD-81E0-4125-8E5B-E0A1E3048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9B72A45B-A8B6-53D1-D299-D8D234C35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330049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0424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32517-B618-4C30-966E-4CE57A9A4AD9}" type="datetime6">
              <a:rPr lang="es-PE" smtClean="0"/>
              <a:t>Abril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975A041E-5422-B9D8-43AC-BC8E8410A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5190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572F-C44F-4ECE-A2FB-0C63931A9A8E}" type="datetime6">
              <a:rPr lang="es-PE" smtClean="0"/>
              <a:t>Abril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024E81AF-5ACD-3527-83DB-C9AD4CA08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080790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5C4A-DDA2-4FA4-84CD-631E9785E0C4}" type="datetime6">
              <a:rPr lang="es-PE" smtClean="0"/>
              <a:t>Abril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59D5B90D-729B-0333-8733-D407F44413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487264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76157-6C99-4927-8D4B-5792D6D36C68}" type="datetime6">
              <a:rPr lang="es-PE" smtClean="0"/>
              <a:t>Abril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C8F8A8AE-3D1C-5104-BD49-852FD075A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18953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1711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108197"/>
            <a:ext cx="10515600" cy="406876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E1B8-50E8-41AE-B289-DDEF242637E2}" type="datetime6">
              <a:rPr lang="es-PE" smtClean="0"/>
              <a:t>Abril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E4FC7515-E45E-EA9E-AB33-84FFF36BD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224937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2286-761A-4DF9-BC80-ED7ACDE5A868}" type="datetime6">
              <a:rPr lang="es-PE" smtClean="0"/>
              <a:t>Abril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9245C2B-EA67-6FB3-B251-E41C03185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244694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40041-0AC9-F54A-8CD6-2C6E25C004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28900" y="2314574"/>
            <a:ext cx="7181850" cy="2224781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Título de clase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940FCB-6F03-EA41-B8CA-B38BB6401C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810750" y="4539355"/>
            <a:ext cx="2131452" cy="65177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2023</a:t>
            </a:r>
            <a:endParaRPr lang="es-PE" dirty="0"/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409037FA-8AD4-46E6-D14A-A0B5918A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8900" y="326688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sz="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CC77DF-7156-87EC-5584-40C3F628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4057" y="6089066"/>
            <a:ext cx="4100513" cy="440147"/>
          </a:xfrm>
        </p:spPr>
        <p:txBody>
          <a:bodyPr/>
          <a:lstStyle>
            <a:lvl1pPr marL="0" indent="0">
              <a:buClr>
                <a:schemeClr val="accent6"/>
              </a:buClr>
              <a:buNone/>
              <a:defRPr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Profesor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10030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893" y="4999970"/>
            <a:ext cx="3339907" cy="717550"/>
          </a:xfrm>
        </p:spPr>
        <p:txBody>
          <a:bodyPr>
            <a:no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333C54-732D-4A5F-8493-6279F2718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993" y="1285875"/>
            <a:ext cx="6851456" cy="4072870"/>
          </a:xfrm>
        </p:spPr>
        <p:txBody>
          <a:bodyPr/>
          <a:lstStyle>
            <a:lvl1pPr marL="2286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1pPr>
            <a:lvl2pPr marL="6858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buClr>
                <a:schemeClr val="accent1"/>
              </a:buClr>
              <a:buSzPct val="70000"/>
              <a:buFontTx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>
                <a:schemeClr val="accent1"/>
              </a:buClr>
              <a:buSzPct val="50000"/>
              <a:buFontTx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F12D76C1-E4EF-42D1-88E3-B3E1BE457EF7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70142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936BE4A0-0EF9-4513-98D7-49E1F009126F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722D55-BD67-C2D0-8DB9-2255495858E9}"/>
              </a:ext>
            </a:extLst>
          </p:cNvPr>
          <p:cNvSpPr/>
          <p:nvPr userDrawn="1"/>
        </p:nvSpPr>
        <p:spPr>
          <a:xfrm>
            <a:off x="-1" y="1888177"/>
            <a:ext cx="8737793" cy="2244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49" y="2162175"/>
            <a:ext cx="8067675" cy="16954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Nueva Sección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505411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CFF21E75-C2F6-4021-B002-DFF0EB1C555C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32324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490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24F721D9-3A4E-DA31-4304-76691E23E80D}"/>
              </a:ext>
            </a:extLst>
          </p:cNvPr>
          <p:cNvSpPr/>
          <p:nvPr userDrawn="1"/>
        </p:nvSpPr>
        <p:spPr>
          <a:xfrm>
            <a:off x="838200" y="2024743"/>
            <a:ext cx="9716589" cy="3843644"/>
          </a:xfrm>
          <a:prstGeom prst="roundRect">
            <a:avLst>
              <a:gd name="adj" fmla="val 6011"/>
            </a:avLst>
          </a:prstGeom>
          <a:solidFill>
            <a:srgbClr val="0A2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altLang="es-PE" sz="2000" b="1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buClr>
                <a:schemeClr val="accent6"/>
              </a:buClr>
              <a:defRPr sz="2400"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 sz="2200"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52786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5525" y="2549525"/>
            <a:ext cx="5162550" cy="1555750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D79D4C0-AA8A-45B0-85A5-1FD89F1DDE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03038" y="2635960"/>
            <a:ext cx="131409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3643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14724" y="663575"/>
            <a:ext cx="7762875" cy="1079500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7647276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trada" type="blank">
  <p:cSld name="entrada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-17314"/>
            <a:ext cx="12192000" cy="68580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2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672059" y="2777043"/>
            <a:ext cx="4686308" cy="138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C63A0B1C-38C6-4A94-BC53-9378BD6F4196}"/>
              </a:ext>
            </a:extLst>
          </p:cNvPr>
          <p:cNvSpPr/>
          <p:nvPr/>
        </p:nvSpPr>
        <p:spPr>
          <a:xfrm>
            <a:off x="604699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09FF01B-D296-4FC4-86C6-18C1AA1F0700}"/>
              </a:ext>
            </a:extLst>
          </p:cNvPr>
          <p:cNvSpPr>
            <a:spLocks noChangeAspect="1"/>
          </p:cNvSpPr>
          <p:nvPr/>
        </p:nvSpPr>
        <p:spPr>
          <a:xfrm>
            <a:off x="2087026" y="5059599"/>
            <a:ext cx="1476000" cy="1475999"/>
          </a:xfrm>
          <a:prstGeom prst="ellipse">
            <a:avLst/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iagrama de flujo: retraso 3">
            <a:extLst>
              <a:ext uri="{FF2B5EF4-FFF2-40B4-BE49-F238E27FC236}">
                <a16:creationId xmlns:a16="http://schemas.microsoft.com/office/drawing/2014/main" id="{F33AB0F3-5E83-4F73-B1B3-E7FFB7FAC1CF}"/>
              </a:ext>
            </a:extLst>
          </p:cNvPr>
          <p:cNvSpPr>
            <a:spLocks/>
          </p:cNvSpPr>
          <p:nvPr/>
        </p:nvSpPr>
        <p:spPr>
          <a:xfrm>
            <a:off x="604699" y="3568509"/>
            <a:ext cx="1476000" cy="1476000"/>
          </a:xfrm>
          <a:prstGeom prst="flowChartDelay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írculo parcial 4">
            <a:extLst>
              <a:ext uri="{FF2B5EF4-FFF2-40B4-BE49-F238E27FC236}">
                <a16:creationId xmlns:a16="http://schemas.microsoft.com/office/drawing/2014/main" id="{E01F752C-EAF0-4FBF-B895-7C40EAE76E6B}"/>
              </a:ext>
            </a:extLst>
          </p:cNvPr>
          <p:cNvSpPr>
            <a:spLocks noChangeAspect="1"/>
          </p:cNvSpPr>
          <p:nvPr/>
        </p:nvSpPr>
        <p:spPr>
          <a:xfrm>
            <a:off x="2080320" y="3578476"/>
            <a:ext cx="2934000" cy="2934000"/>
          </a:xfrm>
          <a:prstGeom prst="pie">
            <a:avLst>
              <a:gd name="adj1" fmla="val 16194402"/>
              <a:gd name="adj2" fmla="val 695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508BC26-9C42-409E-A296-12A08043B847}"/>
              </a:ext>
            </a:extLst>
          </p:cNvPr>
          <p:cNvSpPr/>
          <p:nvPr/>
        </p:nvSpPr>
        <p:spPr>
          <a:xfrm>
            <a:off x="2072388" y="3577936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írculo parcial 5">
            <a:extLst>
              <a:ext uri="{FF2B5EF4-FFF2-40B4-BE49-F238E27FC236}">
                <a16:creationId xmlns:a16="http://schemas.microsoft.com/office/drawing/2014/main" id="{A6B1ED3D-FC35-4A2C-AEA0-527CA60D93D8}"/>
              </a:ext>
            </a:extLst>
          </p:cNvPr>
          <p:cNvSpPr>
            <a:spLocks noChangeAspect="1"/>
          </p:cNvSpPr>
          <p:nvPr/>
        </p:nvSpPr>
        <p:spPr>
          <a:xfrm rot="10800000">
            <a:off x="-821269" y="574219"/>
            <a:ext cx="2857435" cy="2995143"/>
          </a:xfrm>
          <a:prstGeom prst="pie">
            <a:avLst>
              <a:gd name="adj1" fmla="val 5387486"/>
              <a:gd name="adj2" fmla="val 16200000"/>
            </a:avLst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1EFD23FD-AE29-404D-8F53-1FD009AE807B}"/>
              </a:ext>
            </a:extLst>
          </p:cNvPr>
          <p:cNvGrpSpPr/>
          <p:nvPr/>
        </p:nvGrpSpPr>
        <p:grpSpPr>
          <a:xfrm>
            <a:off x="2087136" y="2123409"/>
            <a:ext cx="1448999" cy="1443249"/>
            <a:chOff x="2118675" y="2004020"/>
            <a:chExt cx="1448999" cy="1443249"/>
          </a:xfrm>
        </p:grpSpPr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ECAC50A2-CB41-4C53-93C3-5260E20DE2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004020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CE6D1487-82A4-4496-B087-91DD796DE7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727269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C95F40AB-463C-4C6E-915C-5D6DF55A45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727269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A7CDF41D-9C35-41E7-8E2B-2AA7C91BEC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004020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3FA7743-AFB1-4869-99F7-BBBF6B5081B5}"/>
              </a:ext>
            </a:extLst>
          </p:cNvPr>
          <p:cNvSpPr/>
          <p:nvPr/>
        </p:nvSpPr>
        <p:spPr>
          <a:xfrm>
            <a:off x="3540368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írculo parcial 18">
            <a:extLst>
              <a:ext uri="{FF2B5EF4-FFF2-40B4-BE49-F238E27FC236}">
                <a16:creationId xmlns:a16="http://schemas.microsoft.com/office/drawing/2014/main" id="{9EEB8DCE-7E2B-489A-B839-B10110611D97}"/>
              </a:ext>
            </a:extLst>
          </p:cNvPr>
          <p:cNvSpPr>
            <a:spLocks noChangeAspect="1"/>
          </p:cNvSpPr>
          <p:nvPr/>
        </p:nvSpPr>
        <p:spPr>
          <a:xfrm>
            <a:off x="3552087" y="5048742"/>
            <a:ext cx="2934000" cy="2934000"/>
          </a:xfrm>
          <a:prstGeom prst="pie">
            <a:avLst>
              <a:gd name="adj1" fmla="val 16202562"/>
              <a:gd name="adj2" fmla="val 1644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1095459"/>
      </p:ext>
    </p:extLst>
  </p:cSld>
  <p:clrMapOvr>
    <a:masterClrMapping/>
  </p:clrMapOvr>
  <p:hf hd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Diapositiva de títul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53671" y="5579102"/>
            <a:ext cx="4484658" cy="8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  <a:defRPr sz="2400" i="1">
                <a:solidFill>
                  <a:srgbClr val="648585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8408718"/>
      </p:ext>
    </p:extLst>
  </p:cSld>
  <p:clrMapOvr>
    <a:masterClrMapping/>
  </p:clrMapOvr>
  <p:hf hd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userDrawn="1">
  <p:cSld name="Contenido con título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10275055" cy="723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 dirty="0"/>
              <a:t>Haga clic para modificar el estilo de título del patrón</a:t>
            </a:r>
            <a:endParaRPr dirty="0"/>
          </a:p>
        </p:txBody>
      </p:sp>
      <p:sp>
        <p:nvSpPr>
          <p:cNvPr id="26" name="Google Shape;26;p4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8753475" y="5717000"/>
            <a:ext cx="22666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970058A-F152-4A93-A50A-BC853F5A46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217"/>
          <a:stretch/>
        </p:blipFill>
        <p:spPr>
          <a:xfrm>
            <a:off x="8929708" y="5954450"/>
            <a:ext cx="1856985" cy="464401"/>
          </a:xfrm>
          <a:prstGeom prst="rect">
            <a:avLst/>
          </a:prstGeom>
        </p:spPr>
      </p:pic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31" name="Google Shape;31;p4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Gestión de Servicios TICS</a:t>
            </a: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2396329-D7D9-4B93-942B-A183A1B92B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4783"/>
          <a:stretch/>
        </p:blipFill>
        <p:spPr>
          <a:xfrm>
            <a:off x="7975126" y="5954450"/>
            <a:ext cx="626177" cy="464401"/>
          </a:xfrm>
          <a:prstGeom prst="rect">
            <a:avLst/>
          </a:prstGeom>
        </p:spPr>
      </p:pic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54E06BF2-3689-8A09-27C3-651FFCFC6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6570"/>
            <a:ext cx="10275055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379891220"/>
      </p:ext>
    </p:extLst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Dos objeto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5" name="Google Shape;45;p6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50" name="Google Shape;50;p6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37024098"/>
      </p:ext>
    </p:extLst>
  </p:cSld>
  <p:clrMapOvr>
    <a:masterClrMapping/>
  </p:clrMapOvr>
  <p:hf hd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Imagen con título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53" name="Google Shape;53;p7"/>
          <p:cNvSpPr>
            <a:spLocks noGrp="1"/>
          </p:cNvSpPr>
          <p:nvPr>
            <p:ph type="pic" idx="2"/>
          </p:nvPr>
        </p:nvSpPr>
        <p:spPr>
          <a:xfrm>
            <a:off x="5183200" y="987425"/>
            <a:ext cx="6172200" cy="32043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7"/>
          <p:cNvSpPr txBox="1">
            <a:spLocks noGrp="1"/>
          </p:cNvSpPr>
          <p:nvPr>
            <p:ph type="body" idx="1"/>
          </p:nvPr>
        </p:nvSpPr>
        <p:spPr>
          <a:xfrm>
            <a:off x="839800" y="2057400"/>
            <a:ext cx="3932100" cy="23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5" name="Google Shape;55;p7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0" name="Google Shape;60;p7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0427307"/>
      </p:ext>
    </p:extLst>
  </p:cSld>
  <p:clrMapOvr>
    <a:masterClrMapping/>
  </p:clrMapOvr>
  <p:hf hd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Título y texto vertical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 rot="5400000">
            <a:off x="4161556" y="-1497730"/>
            <a:ext cx="386888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4" name="Google Shape;64;p8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8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9" name="Google Shape;69;p8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24282928"/>
      </p:ext>
    </p:extLst>
  </p:cSld>
  <p:clrMapOvr>
    <a:masterClrMapping/>
  </p:clrMapOvr>
  <p:hf hd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Título vertical y texto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 rot="5400000">
            <a:off x="7363614" y="1726412"/>
            <a:ext cx="5351473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1"/>
          </p:nvPr>
        </p:nvSpPr>
        <p:spPr>
          <a:xfrm rot="5400000">
            <a:off x="2029614" y="-826288"/>
            <a:ext cx="5351473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3" name="Google Shape;73;p9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9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78" name="Google Shape;78;p9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56202499"/>
      </p:ext>
    </p:extLst>
  </p:cSld>
  <p:clrMapOvr>
    <a:masterClrMapping/>
  </p:clrMapOvr>
  <p:hf hd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 type="obj">
  <p:cSld name="Título y objetos 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2" name="Google Shape;8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83" name="Google Shape;8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84" name="Google Shape;8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94597658"/>
      </p:ext>
    </p:extLst>
  </p:cSld>
  <p:clrMapOvr>
    <a:masterClrMapping/>
  </p:clrMapOvr>
  <p:hf hd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Comparació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8" name="Google Shape;88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1" name="Google Shape;9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92" name="Google Shape;9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72164155"/>
      </p:ext>
    </p:extLst>
  </p:cSld>
  <p:clrMapOvr>
    <a:masterClrMapping/>
  </p:clrMapOvr>
  <p:hf hdr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5722D55-BD67-C2D0-8DB9-2255495858E9}"/>
              </a:ext>
            </a:extLst>
          </p:cNvPr>
          <p:cNvSpPr/>
          <p:nvPr userDrawn="1"/>
        </p:nvSpPr>
        <p:spPr>
          <a:xfrm>
            <a:off x="-1" y="1888177"/>
            <a:ext cx="8737793" cy="224443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49" y="2162175"/>
            <a:ext cx="8067675" cy="16954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Nueva Sección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0890643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CFF21E75-C2F6-4021-B002-DFF0EB1C555C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529346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24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AE6F4FD-2238-AD4E-867E-E58E2DFA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5212"/>
            <a:ext cx="9716589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0C6D7E-5BBC-B741-BB4C-3A3ED127A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3"/>
            <a:ext cx="9716589" cy="3843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2262"/>
            <a:ext cx="1638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616E3388-8A49-4C51-A106-E2F4CF3977CF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6428" y="32226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74F71EA6-14AA-5205-13FE-35911ED08C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17102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4" r:id="rId2"/>
    <p:sldLayoutId id="2147483674" r:id="rId3"/>
    <p:sldLayoutId id="2147483650" r:id="rId4"/>
    <p:sldLayoutId id="2147483652" r:id="rId5"/>
    <p:sldLayoutId id="2147483653" r:id="rId6"/>
    <p:sldLayoutId id="2147483656" r:id="rId7"/>
    <p:sldLayoutId id="2147483657" r:id="rId8"/>
    <p:sldLayoutId id="2147483658" r:id="rId9"/>
    <p:sldLayoutId id="2147483659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4230"/>
            <a:ext cx="1619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9694A8-123C-4838-A10C-DF4D75E09A89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3680" y="32331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título 1">
            <a:extLst>
              <a:ext uri="{FF2B5EF4-FFF2-40B4-BE49-F238E27FC236}">
                <a16:creationId xmlns:a16="http://schemas.microsoft.com/office/drawing/2014/main" id="{144F2274-D960-4C0B-9748-88EE3F0DB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82069"/>
            <a:ext cx="10343606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9D6FEB95-3036-417E-9C50-CD57ED01F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4"/>
            <a:ext cx="10343606" cy="3291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1DCF4E30-8222-0A8A-8EB6-ACF70BC0F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7794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75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3B067A9-18EE-41F0-B696-9386E1AF8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5029"/>
            <a:ext cx="10515600" cy="6456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67C12A-CBBE-4AB2-8C8A-B75DDE302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86189"/>
            <a:ext cx="10515600" cy="3291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C6ED39-B0EA-42B3-A3C3-7CA769E5EA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14064"/>
            <a:ext cx="1524000" cy="3829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8C20A4-1372-4EF1-AE37-02318244F0B2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E1549C-7307-410E-AA79-42C4BDD3FD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2993" y="32298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63B87C3E-7B33-EE8E-E722-04A7DDD4F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91725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77" r:id="rId4"/>
    <p:sldLayoutId id="2147483676" r:id="rId5"/>
    <p:sldLayoutId id="2147483678" r:id="rId6"/>
    <p:sldLayoutId id="2147483661" r:id="rId7"/>
    <p:sldLayoutId id="2147483679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3868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6070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5890796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1" r:id="rId10"/>
    <p:sldLayoutId id="2147483692" r:id="rId11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1941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915751-EC07-E891-32AF-B461C2A04C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Creación y conexión a una Base de Datos Administradas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5C4313-2663-C1B1-1F1B-50339687D9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PE" dirty="0"/>
              <a:t>Gestión de Servicios TICS</a:t>
            </a:r>
          </a:p>
        </p:txBody>
      </p:sp>
    </p:spTree>
    <p:extLst>
      <p:ext uri="{BB962C8B-B14F-4D97-AF65-F5344CB8AC3E}">
        <p14:creationId xmlns:p14="http://schemas.microsoft.com/office/powerpoint/2010/main" val="86463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1C42C1-B657-56EC-8B1F-49307DC45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Base de datos administrada en AWS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214E73C-6852-57A8-31CB-9E20D51438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80D7A81-0874-623B-9DBB-E2122D9C6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Uno de los servicios de AWS para bases de datos es RDS. Para acceder a este debe colocar en la barra de búsqueda </a:t>
            </a:r>
            <a:r>
              <a:rPr lang="es-ES" b="1" dirty="0"/>
              <a:t>RDS.</a:t>
            </a:r>
          </a:p>
          <a:p>
            <a:endParaRPr lang="es-PE" dirty="0"/>
          </a:p>
        </p:txBody>
      </p:sp>
      <p:pic>
        <p:nvPicPr>
          <p:cNvPr id="5" name="Google Shape;80;p15">
            <a:extLst>
              <a:ext uri="{FF2B5EF4-FFF2-40B4-BE49-F238E27FC236}">
                <a16:creationId xmlns:a16="http://schemas.microsoft.com/office/drawing/2014/main" id="{72C43C96-B717-E3D6-C797-B4EC821EE07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15021" y="2683855"/>
            <a:ext cx="6561958" cy="27375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84;p15">
            <a:extLst>
              <a:ext uri="{FF2B5EF4-FFF2-40B4-BE49-F238E27FC236}">
                <a16:creationId xmlns:a16="http://schemas.microsoft.com/office/drawing/2014/main" id="{FE603840-2D30-2BB1-B922-F677C6630038}"/>
              </a:ext>
            </a:extLst>
          </p:cNvPr>
          <p:cNvSpPr/>
          <p:nvPr/>
        </p:nvSpPr>
        <p:spPr>
          <a:xfrm>
            <a:off x="4053896" y="2511455"/>
            <a:ext cx="446100" cy="242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3346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85529-03B0-8703-8229-16E9A3AEC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F511DE-0AC6-BA38-4378-8CE2B1D9C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RDS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743E0A7-8EE7-A565-39EE-4572EFC70F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4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74C3E3F-4B37-0D02-19DF-D23618D73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2000" dirty="0"/>
              <a:t>Amazon RDS (</a:t>
            </a:r>
            <a:r>
              <a:rPr lang="es-ES" sz="2000" b="1" dirty="0" err="1"/>
              <a:t>Relational</a:t>
            </a:r>
            <a:r>
              <a:rPr lang="es-ES" sz="2000" b="1" dirty="0"/>
              <a:t> Database </a:t>
            </a:r>
            <a:r>
              <a:rPr lang="es-ES" sz="2000" b="1" dirty="0" err="1"/>
              <a:t>Service</a:t>
            </a:r>
            <a:r>
              <a:rPr lang="es-ES" sz="2000" dirty="0"/>
              <a:t>) proporciona el servicio para configurar, utilizar y escalar una base de datos relacional en la nube.</a:t>
            </a:r>
          </a:p>
          <a:p>
            <a:pPr lvl="0" indent="-342900">
              <a:spcAft>
                <a:spcPts val="1000"/>
              </a:spcAft>
              <a:buSzPts val="1800"/>
              <a:buChar char="●"/>
            </a:pPr>
            <a:r>
              <a:rPr lang="es-ES" sz="2000" dirty="0"/>
              <a:t>El servicio suministra capacidad rentable y escalable al mismo tiempo que automatiza las arduas tareas administrativas, como el aprovisionamiento de hardware, la configuración de bases de datos, la implementación de parches y la creación de copias de seguridad.</a:t>
            </a:r>
          </a:p>
          <a:p>
            <a:endParaRPr lang="es-PE" sz="2000" dirty="0"/>
          </a:p>
        </p:txBody>
      </p:sp>
    </p:spTree>
    <p:extLst>
      <p:ext uri="{BB962C8B-B14F-4D97-AF65-F5344CB8AC3E}">
        <p14:creationId xmlns:p14="http://schemas.microsoft.com/office/powerpoint/2010/main" val="162589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4CC5A-EEF8-2B16-1740-121035356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5DCCA3-019B-581D-D472-02585AEC3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RDS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191971B-8A94-9435-E3E1-81B23132E3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5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D5E9D29-22E3-1927-68AE-E1F2C714B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1800" dirty="0"/>
              <a:t>Amazon RDS (</a:t>
            </a:r>
            <a:r>
              <a:rPr lang="es-ES" sz="1800" b="1" dirty="0" err="1"/>
              <a:t>Relational</a:t>
            </a:r>
            <a:r>
              <a:rPr lang="es-ES" sz="1800" b="1" dirty="0"/>
              <a:t> Database </a:t>
            </a:r>
            <a:r>
              <a:rPr lang="es-ES" sz="1800" b="1" dirty="0" err="1"/>
              <a:t>Service</a:t>
            </a:r>
            <a:r>
              <a:rPr lang="es-ES" sz="1800" dirty="0"/>
              <a:t>) proporciona el servicio para configurar, utilizar y escalar una base de datos relacional en la nube.</a:t>
            </a:r>
          </a:p>
          <a:p>
            <a:pPr lvl="0" indent="-342900">
              <a:spcAft>
                <a:spcPts val="1000"/>
              </a:spcAft>
              <a:buSzPts val="1800"/>
              <a:buChar char="●"/>
            </a:pPr>
            <a:r>
              <a:rPr lang="es-ES" sz="1800" dirty="0"/>
              <a:t>El servicio suministra capacidad rentable y escalable al mismo tiempo que automatiza las arduas tareas administrativas, como el aprovisionamiento de hardware, la configuración de bases de datos, la implementación de parches y la creación de copias de seguridad.</a:t>
            </a:r>
          </a:p>
          <a:p>
            <a:endParaRPr lang="es-PE" sz="1800" dirty="0"/>
          </a:p>
        </p:txBody>
      </p:sp>
      <p:pic>
        <p:nvPicPr>
          <p:cNvPr id="5" name="Google Shape;100;p17">
            <a:extLst>
              <a:ext uri="{FF2B5EF4-FFF2-40B4-BE49-F238E27FC236}">
                <a16:creationId xmlns:a16="http://schemas.microsoft.com/office/drawing/2014/main" id="{538CFB0D-69BE-1411-808A-05B92F09FB5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16653" b="6209"/>
          <a:stretch/>
        </p:blipFill>
        <p:spPr>
          <a:xfrm>
            <a:off x="4025350" y="3446875"/>
            <a:ext cx="4141300" cy="18695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5480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4E792-D587-4991-FE42-E2911D81C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FA8CAF-1A3B-6AE5-767B-53F3D903E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Creación de una BD en RDS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E926DD6-F90C-ED29-9A36-DB488E0873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6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8D44FC3-B6AF-69E6-4696-210DF8486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Para crear un servidor de base de datos en RDS, seleccione “</a:t>
            </a:r>
            <a:r>
              <a:rPr lang="es-ES" b="1" dirty="0"/>
              <a:t>Crear base de datos</a:t>
            </a:r>
            <a:r>
              <a:rPr lang="es-ES" dirty="0"/>
              <a:t>”.</a:t>
            </a:r>
          </a:p>
          <a:p>
            <a:endParaRPr lang="es-PE" dirty="0"/>
          </a:p>
        </p:txBody>
      </p:sp>
      <p:pic>
        <p:nvPicPr>
          <p:cNvPr id="5" name="Google Shape;108;p18">
            <a:extLst>
              <a:ext uri="{FF2B5EF4-FFF2-40B4-BE49-F238E27FC236}">
                <a16:creationId xmlns:a16="http://schemas.microsoft.com/office/drawing/2014/main" id="{19C88867-8AC3-ECB2-FF98-FB7F42567DB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80551" y="2740371"/>
            <a:ext cx="5038500" cy="243025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09;p18">
            <a:extLst>
              <a:ext uri="{FF2B5EF4-FFF2-40B4-BE49-F238E27FC236}">
                <a16:creationId xmlns:a16="http://schemas.microsoft.com/office/drawing/2014/main" id="{6A126594-882F-5D24-6295-4A181D091AE8}"/>
              </a:ext>
            </a:extLst>
          </p:cNvPr>
          <p:cNvSpPr/>
          <p:nvPr/>
        </p:nvSpPr>
        <p:spPr>
          <a:xfrm rot="5400000">
            <a:off x="5827401" y="3041221"/>
            <a:ext cx="1245900" cy="24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5612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C6381-E502-F31A-5398-ECBB125A0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CE0B08-848D-1141-89BA-BF231EFC0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Creación de base de datos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B3C3977-E114-1625-5722-53E2250D98E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7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97E09C-8A25-A968-6F0B-D5A8D16B0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Para ver todos los conceptos asociados, se usará el</a:t>
            </a:r>
            <a:r>
              <a:rPr lang="es-ES" b="1" dirty="0"/>
              <a:t> Creación estándar</a:t>
            </a:r>
            <a:r>
              <a:rPr lang="es-ES" dirty="0"/>
              <a:t>.</a:t>
            </a:r>
          </a:p>
          <a:p>
            <a:endParaRPr lang="es-PE" dirty="0"/>
          </a:p>
        </p:txBody>
      </p:sp>
      <p:pic>
        <p:nvPicPr>
          <p:cNvPr id="5" name="Google Shape;117;p19">
            <a:extLst>
              <a:ext uri="{FF2B5EF4-FFF2-40B4-BE49-F238E27FC236}">
                <a16:creationId xmlns:a16="http://schemas.microsoft.com/office/drawing/2014/main" id="{816F079A-05F2-45F1-6283-BDCE78BAB95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598352" y="2498915"/>
            <a:ext cx="7496175" cy="27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18;p19">
            <a:extLst>
              <a:ext uri="{FF2B5EF4-FFF2-40B4-BE49-F238E27FC236}">
                <a16:creationId xmlns:a16="http://schemas.microsoft.com/office/drawing/2014/main" id="{A226AE2F-70DA-27CC-495E-793A59C3F894}"/>
              </a:ext>
            </a:extLst>
          </p:cNvPr>
          <p:cNvSpPr/>
          <p:nvPr/>
        </p:nvSpPr>
        <p:spPr>
          <a:xfrm>
            <a:off x="1863627" y="4475615"/>
            <a:ext cx="980100" cy="24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4872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DC836-AFAB-8208-C0EF-503DA9CDB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9CBB48-F229-98BD-2310-5A5C343DB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Motor de base de datos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3D374B2-3C43-3FA1-B2E7-C5C56DED84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8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EC85BEA-12EB-8C12-B90F-53CF25946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436570"/>
            <a:ext cx="5437472" cy="3843645"/>
          </a:xfrm>
        </p:spPr>
        <p:txBody>
          <a:bodyPr/>
          <a:lstStyle/>
          <a:p>
            <a:r>
              <a:rPr lang="es-ES" dirty="0"/>
              <a:t>Seleccione MySQL y en la versión, elija la que ha trabajado con Spring Boot, en este caso, </a:t>
            </a:r>
            <a:r>
              <a:rPr lang="es-ES" b="1" dirty="0"/>
              <a:t>8.0.27</a:t>
            </a:r>
            <a:r>
              <a:rPr lang="es-ES" dirty="0"/>
              <a:t>.</a:t>
            </a:r>
          </a:p>
          <a:p>
            <a:endParaRPr lang="es-PE" dirty="0"/>
          </a:p>
        </p:txBody>
      </p:sp>
      <p:pic>
        <p:nvPicPr>
          <p:cNvPr id="5" name="Google Shape;126;p20">
            <a:extLst>
              <a:ext uri="{FF2B5EF4-FFF2-40B4-BE49-F238E27FC236}">
                <a16:creationId xmlns:a16="http://schemas.microsoft.com/office/drawing/2014/main" id="{DFACD29B-F700-FE59-7E71-E208A1D9E29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rcRect b="13032"/>
          <a:stretch/>
        </p:blipFill>
        <p:spPr>
          <a:xfrm>
            <a:off x="6467625" y="972976"/>
            <a:ext cx="4884587" cy="3843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BD84CE5-0A9C-8E25-7834-897AFAFB3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1" y="4461638"/>
            <a:ext cx="7523054" cy="948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358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2CE20-AF34-2CE9-E633-237A29C8A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FF2794-F1B6-D9C6-0DE4-0687C9BBD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Plantillas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C3B5589-F227-CAF5-A3A5-F0EA22808A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9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B81FE97-4AA6-6084-5CD2-F58AAA216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000" dirty="0"/>
              <a:t>En </a:t>
            </a:r>
            <a:r>
              <a:rPr lang="es-ES" sz="2000" dirty="0" err="1"/>
              <a:t>templates</a:t>
            </a:r>
            <a:r>
              <a:rPr lang="es-ES" sz="2000" dirty="0"/>
              <a:t> (plantillas) se le muestran las opciones de configuración que usará el computador para su base de datos. En este caso, al ser un entorno de pruebas, puede seleccionar free </a:t>
            </a:r>
            <a:r>
              <a:rPr lang="es-ES" sz="2000" dirty="0" err="1"/>
              <a:t>tier</a:t>
            </a:r>
            <a:r>
              <a:rPr lang="es-ES" sz="2000" dirty="0"/>
              <a:t>.</a:t>
            </a:r>
            <a:br>
              <a:rPr lang="es-ES" sz="2000" dirty="0"/>
            </a:br>
            <a:r>
              <a:rPr lang="es-ES" sz="2000" b="1" dirty="0"/>
              <a:t>Entorno de pruebas = Capa gratuita</a:t>
            </a:r>
          </a:p>
          <a:p>
            <a:endParaRPr lang="es-PE" sz="2000" dirty="0"/>
          </a:p>
        </p:txBody>
      </p:sp>
      <p:pic>
        <p:nvPicPr>
          <p:cNvPr id="5" name="Google Shape;134;p21">
            <a:extLst>
              <a:ext uri="{FF2B5EF4-FFF2-40B4-BE49-F238E27FC236}">
                <a16:creationId xmlns:a16="http://schemas.microsoft.com/office/drawing/2014/main" id="{B83868FF-AEC0-D690-B64B-A2E59A80A1D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32414" y="3011930"/>
            <a:ext cx="7286625" cy="2524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04992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8B692-E1DE-EDFC-F3C6-69B423B8F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D3FFF0-3E1D-00F3-1DAD-7836C3743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Availability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A40B12F-1476-05B3-0E8B-6372BEA18A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10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E376FD2-CCB7-7120-799B-8E1876058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Es posible desplegar la base de datos en diversas AZ para mayor disponibilidad; sin embargo, al usar la plantilla </a:t>
            </a:r>
            <a:r>
              <a:rPr lang="es-ES" b="1" dirty="0"/>
              <a:t>free </a:t>
            </a:r>
            <a:r>
              <a:rPr lang="es-ES" b="1" dirty="0" err="1"/>
              <a:t>tier</a:t>
            </a:r>
            <a:r>
              <a:rPr lang="es-ES" dirty="0"/>
              <a:t> esto no está disponible.</a:t>
            </a:r>
          </a:p>
          <a:p>
            <a:endParaRPr lang="es-PE" dirty="0"/>
          </a:p>
        </p:txBody>
      </p:sp>
      <p:pic>
        <p:nvPicPr>
          <p:cNvPr id="5" name="Google Shape;142;p22">
            <a:extLst>
              <a:ext uri="{FF2B5EF4-FFF2-40B4-BE49-F238E27FC236}">
                <a16:creationId xmlns:a16="http://schemas.microsoft.com/office/drawing/2014/main" id="{243D9B42-4EDD-FB78-4908-68AC929BA88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46007" y="2430905"/>
            <a:ext cx="7343775" cy="31051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25378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BF1AC-32AF-C85C-0A09-AB4479810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46E91E-0840-F350-4C13-0BB45F53E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Configuración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463A3E9-55E7-CD72-9932-6952B0BD10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11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F29BB1C-B3AA-B5E4-2D96-555546281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88" y="1212012"/>
            <a:ext cx="10275055" cy="3843645"/>
          </a:xfrm>
        </p:spPr>
        <p:txBody>
          <a:bodyPr>
            <a:normAutofit/>
          </a:bodyPr>
          <a:lstStyle/>
          <a:p>
            <a:r>
              <a:rPr lang="es-ES" sz="2000" dirty="0"/>
              <a:t>Indicar un nombre que identifique a su base de datos y en las opciones de credenciales, se sugiere utilizar “</a:t>
            </a:r>
            <a:r>
              <a:rPr lang="es-ES" sz="2000" b="1" dirty="0"/>
              <a:t>Generación automática de contraseña</a:t>
            </a:r>
            <a:r>
              <a:rPr lang="es-ES" sz="2000" dirty="0"/>
              <a:t>” o si prefiere, especifique un </a:t>
            </a:r>
            <a:r>
              <a:rPr lang="es-ES" sz="2000" dirty="0" err="1"/>
              <a:t>password</a:t>
            </a:r>
            <a:r>
              <a:rPr lang="es-ES" sz="2000" dirty="0"/>
              <a:t> para la cuenta </a:t>
            </a:r>
            <a:r>
              <a:rPr lang="es-ES" sz="2000" dirty="0" err="1"/>
              <a:t>root</a:t>
            </a:r>
            <a:r>
              <a:rPr lang="es-ES" sz="2000" dirty="0"/>
              <a:t> de la base de datos</a:t>
            </a:r>
          </a:p>
          <a:p>
            <a:endParaRPr lang="es-PE" sz="2000" dirty="0"/>
          </a:p>
        </p:txBody>
      </p:sp>
      <p:pic>
        <p:nvPicPr>
          <p:cNvPr id="5" name="Google Shape;150;p23">
            <a:extLst>
              <a:ext uri="{FF2B5EF4-FFF2-40B4-BE49-F238E27FC236}">
                <a16:creationId xmlns:a16="http://schemas.microsoft.com/office/drawing/2014/main" id="{7E0ECA6C-1A89-CC0B-A099-AB69C74D53D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02653" y="2359411"/>
            <a:ext cx="6082248" cy="364467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51;p23">
            <a:extLst>
              <a:ext uri="{FF2B5EF4-FFF2-40B4-BE49-F238E27FC236}">
                <a16:creationId xmlns:a16="http://schemas.microsoft.com/office/drawing/2014/main" id="{91AF78DB-97C8-5FBF-C824-5E1D682DBC79}"/>
              </a:ext>
            </a:extLst>
          </p:cNvPr>
          <p:cNvSpPr/>
          <p:nvPr/>
        </p:nvSpPr>
        <p:spPr>
          <a:xfrm>
            <a:off x="3146001" y="5282072"/>
            <a:ext cx="980100" cy="24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04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79AAD-3B3C-ADC6-A235-44754F667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5ED313-F84A-793F-6C1C-C63B7F7A2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Clase de instancia de la BD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2073466-20EB-6CB4-E0DA-473AC6CD2F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12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14B8FB2-F1BF-A637-333D-998C421BB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Aquí se especifican las características del servidor que gestionará su BD. </a:t>
            </a:r>
          </a:p>
          <a:p>
            <a:pPr marL="0" lv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800" dirty="0"/>
              <a:t>En este ejemplo, usaremos un db.t3.micro (es decir, se desplegará en un EC2 con características de t3.micro). Si necesita más capacidad puede cambiar de clase de instancia.</a:t>
            </a:r>
          </a:p>
          <a:p>
            <a:endParaRPr lang="es-PE" sz="18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3EBDA62-5C31-C0D7-51AE-A148C973D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899" y="2461123"/>
            <a:ext cx="5187768" cy="307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852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9B0A7-7CFE-564F-FE2A-1D98150D2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B3C045-7FE1-5A2C-88C9-048270C3A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Storage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33799A9-DB48-BA17-DBE9-EB568F3399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24CB07D-8FE7-ED7C-306F-38B159CAB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1800" dirty="0"/>
              <a:t>El tamaño del disco que soportará su base de datos. Es importante desactivar el </a:t>
            </a:r>
            <a:r>
              <a:rPr lang="es-ES" sz="1800" b="1" dirty="0" err="1"/>
              <a:t>auto-scaling</a:t>
            </a:r>
            <a:r>
              <a:rPr lang="es-ES" sz="1800" dirty="0"/>
              <a:t> para evitar que la base de datos crezca en caso lo necesite.</a:t>
            </a:r>
          </a:p>
          <a:p>
            <a:endParaRPr lang="es-PE" sz="1800" dirty="0"/>
          </a:p>
        </p:txBody>
      </p:sp>
      <p:pic>
        <p:nvPicPr>
          <p:cNvPr id="5" name="Google Shape;167;p25">
            <a:extLst>
              <a:ext uri="{FF2B5EF4-FFF2-40B4-BE49-F238E27FC236}">
                <a16:creationId xmlns:a16="http://schemas.microsoft.com/office/drawing/2014/main" id="{235BD2C4-E589-3324-6C90-708510921F2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94298" y="2286718"/>
            <a:ext cx="5208617" cy="340418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68;p25">
            <a:extLst>
              <a:ext uri="{FF2B5EF4-FFF2-40B4-BE49-F238E27FC236}">
                <a16:creationId xmlns:a16="http://schemas.microsoft.com/office/drawing/2014/main" id="{A90CD7BF-F822-3E40-7F11-6D3D62016EF7}"/>
              </a:ext>
            </a:extLst>
          </p:cNvPr>
          <p:cNvSpPr/>
          <p:nvPr/>
        </p:nvSpPr>
        <p:spPr>
          <a:xfrm>
            <a:off x="2958841" y="5124988"/>
            <a:ext cx="980100" cy="24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29700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DD578-17F0-E5A9-1F17-56564728A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CE0642-53D6-9CC2-6E17-F7A3C82C1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Conectividad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3111936-4BB4-2DEE-F834-B53604E0D5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14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6770DDF-FEC0-5466-DFCF-DD68370DE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1800" dirty="0"/>
              <a:t>Aquí radica la seguridad de su base de datos. En el VPC, asegúrese que esté en el mismo que su instancia EC2 (donde está su aplicación con Spring </a:t>
            </a:r>
            <a:r>
              <a:rPr lang="es-ES" sz="1800" dirty="0" err="1"/>
              <a:t>boot</a:t>
            </a:r>
            <a:r>
              <a:rPr lang="es-ES" sz="1800" dirty="0"/>
              <a:t>), debido a que el VPC no se podrá cambiar después.</a:t>
            </a:r>
          </a:p>
          <a:p>
            <a:endParaRPr lang="es-PE" sz="1800" dirty="0"/>
          </a:p>
        </p:txBody>
      </p:sp>
      <p:pic>
        <p:nvPicPr>
          <p:cNvPr id="5" name="Google Shape;176;p26">
            <a:extLst>
              <a:ext uri="{FF2B5EF4-FFF2-40B4-BE49-F238E27FC236}">
                <a16:creationId xmlns:a16="http://schemas.microsoft.com/office/drawing/2014/main" id="{B9C93F5D-7E56-6E9E-9C9D-B08D2256B0B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13033" y="2512328"/>
            <a:ext cx="7372350" cy="2562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37394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F82B2-68C5-0ABA-F42D-1E2765126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70AFF2-64F9-0CA9-5C46-E8B31FB6D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Conectividad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C7E06EC-C616-C1A2-BABE-162CD411DF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15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2EAC17C-5EA6-A88D-ACCF-3142695FB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1800" b="1" dirty="0"/>
              <a:t>Grupo de subredes</a:t>
            </a:r>
            <a:r>
              <a:rPr lang="es-ES" sz="1800" dirty="0"/>
              <a:t>: le indica el grupo subred dentro de su </a:t>
            </a:r>
            <a:r>
              <a:rPr lang="es-ES" sz="1800" dirty="0" err="1"/>
              <a:t>vpc</a:t>
            </a:r>
            <a:r>
              <a:rPr lang="es-ES" sz="1800" dirty="0"/>
              <a:t>. Puede dejarlo por defecto.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1800" b="1" dirty="0"/>
              <a:t>Acceso público</a:t>
            </a:r>
            <a:r>
              <a:rPr lang="es-ES" sz="1800" dirty="0"/>
              <a:t>: si será o no accesible desde el exterior. En este caso, se debe seleccionar (por seguridad) que no sea públicamente accesible.</a:t>
            </a:r>
          </a:p>
          <a:p>
            <a:endParaRPr lang="es-PE" sz="1800" dirty="0"/>
          </a:p>
        </p:txBody>
      </p:sp>
      <p:pic>
        <p:nvPicPr>
          <p:cNvPr id="5" name="Google Shape;184;p27">
            <a:extLst>
              <a:ext uri="{FF2B5EF4-FFF2-40B4-BE49-F238E27FC236}">
                <a16:creationId xmlns:a16="http://schemas.microsoft.com/office/drawing/2014/main" id="{D20363D1-2136-788A-F0B2-855659E44F8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562574" y="2702007"/>
            <a:ext cx="7191358" cy="25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85;p27">
            <a:extLst>
              <a:ext uri="{FF2B5EF4-FFF2-40B4-BE49-F238E27FC236}">
                <a16:creationId xmlns:a16="http://schemas.microsoft.com/office/drawing/2014/main" id="{26992196-275E-3643-7AF8-787A684B764C}"/>
              </a:ext>
            </a:extLst>
          </p:cNvPr>
          <p:cNvSpPr/>
          <p:nvPr/>
        </p:nvSpPr>
        <p:spPr>
          <a:xfrm>
            <a:off x="2266949" y="4655983"/>
            <a:ext cx="548700" cy="24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45374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23786-703A-77BF-AFE2-120D22BA5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E8DAF6-AF67-E4FA-D08A-6B1465849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Conectividad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1D72304-C95D-4810-5635-8845E8D975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16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E69A64E-14B4-545F-0EDF-3E33C286A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En </a:t>
            </a:r>
            <a:r>
              <a:rPr lang="es-ES" sz="1800" dirty="0" err="1"/>
              <a:t>security</a:t>
            </a:r>
            <a:r>
              <a:rPr lang="es-ES" sz="1800" dirty="0"/>
              <a:t> </a:t>
            </a:r>
            <a:r>
              <a:rPr lang="es-ES" sz="1800" dirty="0" err="1"/>
              <a:t>groups</a:t>
            </a:r>
            <a:r>
              <a:rPr lang="es-ES" sz="1800" dirty="0"/>
              <a:t>  de VPC, debe crear uno nuevo para especificar que cualquier IP dentro de su VPC pueda conectarse por el puerto 3306 (esto lo hará después).</a:t>
            </a:r>
          </a:p>
          <a:p>
            <a:pPr marL="0" lv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800" dirty="0"/>
              <a:t>Coloque un nombre a su nuevo </a:t>
            </a:r>
            <a:r>
              <a:rPr lang="es-ES" sz="1800" dirty="0" err="1"/>
              <a:t>security</a:t>
            </a:r>
            <a:r>
              <a:rPr lang="es-ES" sz="1800" dirty="0"/>
              <a:t> </a:t>
            </a:r>
            <a:r>
              <a:rPr lang="es-ES" sz="1800" dirty="0" err="1"/>
              <a:t>group</a:t>
            </a:r>
            <a:r>
              <a:rPr lang="es-ES" sz="1800" dirty="0"/>
              <a:t> (luego le dará las políticas).</a:t>
            </a:r>
          </a:p>
          <a:p>
            <a:endParaRPr lang="es-PE" sz="1800" dirty="0"/>
          </a:p>
        </p:txBody>
      </p:sp>
      <p:pic>
        <p:nvPicPr>
          <p:cNvPr id="5" name="Google Shape;190;p28">
            <a:extLst>
              <a:ext uri="{FF2B5EF4-FFF2-40B4-BE49-F238E27FC236}">
                <a16:creationId xmlns:a16="http://schemas.microsoft.com/office/drawing/2014/main" id="{B6C5AD8E-F97F-6B25-8DF6-20D1E60C26F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07221" y="2418347"/>
            <a:ext cx="5645874" cy="338600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94;p28">
            <a:extLst>
              <a:ext uri="{FF2B5EF4-FFF2-40B4-BE49-F238E27FC236}">
                <a16:creationId xmlns:a16="http://schemas.microsoft.com/office/drawing/2014/main" id="{22D778F0-5757-8891-C092-293A6DAE8280}"/>
              </a:ext>
            </a:extLst>
          </p:cNvPr>
          <p:cNvSpPr/>
          <p:nvPr/>
        </p:nvSpPr>
        <p:spPr>
          <a:xfrm rot="10800000">
            <a:off x="7020396" y="2978381"/>
            <a:ext cx="548700" cy="24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95;p28">
            <a:extLst>
              <a:ext uri="{FF2B5EF4-FFF2-40B4-BE49-F238E27FC236}">
                <a16:creationId xmlns:a16="http://schemas.microsoft.com/office/drawing/2014/main" id="{3222D11A-7384-81A6-86AB-A4F10C2C4A92}"/>
              </a:ext>
            </a:extLst>
          </p:cNvPr>
          <p:cNvSpPr/>
          <p:nvPr/>
        </p:nvSpPr>
        <p:spPr>
          <a:xfrm rot="10800000">
            <a:off x="3814546" y="3887856"/>
            <a:ext cx="548700" cy="24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1670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112EB-9833-24E2-F5F2-725F68FAD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80B24C-2277-22A6-C310-B254C5F52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Autenticación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F4C562E-2E67-DC37-3456-C00FF61773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17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D7698C8-B02B-3D44-7C35-A43112BFE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Configuración de la autenticación de la base de datos. En este curso se usará usuario y </a:t>
            </a:r>
            <a:r>
              <a:rPr lang="es-ES" dirty="0" err="1"/>
              <a:t>password</a:t>
            </a:r>
            <a:r>
              <a:rPr lang="es-ES" dirty="0"/>
              <a:t>.</a:t>
            </a:r>
          </a:p>
          <a:p>
            <a:endParaRPr lang="es-PE" dirty="0"/>
          </a:p>
        </p:txBody>
      </p:sp>
      <p:pic>
        <p:nvPicPr>
          <p:cNvPr id="5" name="Google Shape;203;p29">
            <a:extLst>
              <a:ext uri="{FF2B5EF4-FFF2-40B4-BE49-F238E27FC236}">
                <a16:creationId xmlns:a16="http://schemas.microsoft.com/office/drawing/2014/main" id="{94E784BB-A6B1-0A30-A7C7-97357E6D1F6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81250" y="2516305"/>
            <a:ext cx="7429500" cy="29051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04;p29">
            <a:extLst>
              <a:ext uri="{FF2B5EF4-FFF2-40B4-BE49-F238E27FC236}">
                <a16:creationId xmlns:a16="http://schemas.microsoft.com/office/drawing/2014/main" id="{1EFF6AC1-BEDB-3910-7E22-B3D32AAE45BD}"/>
              </a:ext>
            </a:extLst>
          </p:cNvPr>
          <p:cNvSpPr/>
          <p:nvPr/>
        </p:nvSpPr>
        <p:spPr>
          <a:xfrm>
            <a:off x="2075250" y="3479417"/>
            <a:ext cx="548700" cy="24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2499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AD3A1-EA7A-6805-DB6D-8ED8A32FB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0AAAB0-9B1D-C10D-E30F-C83A04BB0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Costo aproximado mensual y despliegue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616D0A9-A162-4681-82E8-1893EF5166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18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71FAB11-0A10-8656-8C2F-652D1ACCB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000" dirty="0"/>
              <a:t>Puede informarse del costo mensual de consumo y luego seleccione “</a:t>
            </a:r>
            <a:r>
              <a:rPr lang="es-ES" sz="2000" b="1" dirty="0"/>
              <a:t>Crear base de datos</a:t>
            </a:r>
            <a:r>
              <a:rPr lang="es-ES" sz="2000" dirty="0"/>
              <a:t>”</a:t>
            </a:r>
          </a:p>
          <a:p>
            <a:endParaRPr lang="es-PE" sz="2000" dirty="0"/>
          </a:p>
        </p:txBody>
      </p:sp>
      <p:pic>
        <p:nvPicPr>
          <p:cNvPr id="7" name="Google Shape;212;p30">
            <a:extLst>
              <a:ext uri="{FF2B5EF4-FFF2-40B4-BE49-F238E27FC236}">
                <a16:creationId xmlns:a16="http://schemas.microsoft.com/office/drawing/2014/main" id="{D6E29EE8-ECEB-DF05-8998-5D7AE5E8AAC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79991" y="2219126"/>
            <a:ext cx="5168860" cy="318656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13;p30">
            <a:extLst>
              <a:ext uri="{FF2B5EF4-FFF2-40B4-BE49-F238E27FC236}">
                <a16:creationId xmlns:a16="http://schemas.microsoft.com/office/drawing/2014/main" id="{68DA8D1E-54D5-3729-F327-42EB7711E10A}"/>
              </a:ext>
            </a:extLst>
          </p:cNvPr>
          <p:cNvSpPr/>
          <p:nvPr/>
        </p:nvSpPr>
        <p:spPr>
          <a:xfrm rot="10800000">
            <a:off x="8136398" y="5122145"/>
            <a:ext cx="548700" cy="24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28122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999E5-B35F-F75E-6720-CC8698688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36DCBD-D720-9241-8D18-066EBEE8B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Creación en proceso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B799D8A-3A72-6E97-C99C-CE99555F1E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19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044CB61-5993-FACD-D718-243D3FD62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Luego de terminar el proceso de configuración, la base de datos se está creado. </a:t>
            </a:r>
            <a:r>
              <a:rPr lang="es-ES" b="1" dirty="0">
                <a:highlight>
                  <a:srgbClr val="FFFF00"/>
                </a:highlight>
              </a:rPr>
              <a:t>Observará un banner donde le indican que debe guardar sus credenciales, pues estas no estarán disponibles después</a:t>
            </a:r>
            <a:r>
              <a:rPr lang="es-ES" dirty="0">
                <a:highlight>
                  <a:srgbClr val="FFFF00"/>
                </a:highlight>
              </a:rPr>
              <a:t>.</a:t>
            </a:r>
          </a:p>
          <a:p>
            <a:pPr marL="0" lv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dirty="0"/>
              <a:t>Seleccione </a:t>
            </a:r>
            <a:r>
              <a:rPr lang="es-ES" b="1" dirty="0"/>
              <a:t>View credencial </a:t>
            </a:r>
            <a:r>
              <a:rPr lang="es-ES" b="1" dirty="0" err="1"/>
              <a:t>details</a:t>
            </a:r>
            <a:r>
              <a:rPr lang="es-ES" dirty="0"/>
              <a:t>.</a:t>
            </a:r>
          </a:p>
          <a:p>
            <a:endParaRPr lang="es-PE" dirty="0"/>
          </a:p>
        </p:txBody>
      </p:sp>
      <p:pic>
        <p:nvPicPr>
          <p:cNvPr id="5" name="Google Shape;221;p31">
            <a:extLst>
              <a:ext uri="{FF2B5EF4-FFF2-40B4-BE49-F238E27FC236}">
                <a16:creationId xmlns:a16="http://schemas.microsoft.com/office/drawing/2014/main" id="{615FC9AD-C6D2-DDC7-C05A-5E06F954DE1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56247" y="3810199"/>
            <a:ext cx="9143999" cy="89309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22;p31">
            <a:extLst>
              <a:ext uri="{FF2B5EF4-FFF2-40B4-BE49-F238E27FC236}">
                <a16:creationId xmlns:a16="http://schemas.microsoft.com/office/drawing/2014/main" id="{D8E83853-C4D8-5D89-9012-83A8EB29EE9F}"/>
              </a:ext>
            </a:extLst>
          </p:cNvPr>
          <p:cNvSpPr/>
          <p:nvPr/>
        </p:nvSpPr>
        <p:spPr>
          <a:xfrm rot="5400000">
            <a:off x="9105697" y="3432799"/>
            <a:ext cx="392400" cy="362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69437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0DA8B-4252-3E17-517C-6E9ED9B01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6E19E3-7D00-DE74-6F52-D6B37281C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Credenciales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C28B496-9EFE-AEF1-E213-A6D714B7CE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20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265C2DB-A1B4-ACDE-CD79-3FF000D7E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Almacene la </a:t>
            </a:r>
            <a:r>
              <a:rPr lang="es-ES" b="1" dirty="0"/>
              <a:t>contraseña </a:t>
            </a:r>
            <a:r>
              <a:rPr lang="es-ES" dirty="0"/>
              <a:t>de la base de datos en un lugar seguro, pues la usará luego para conectarse a la misma, desde el MySQL </a:t>
            </a:r>
            <a:r>
              <a:rPr lang="es-ES" dirty="0" err="1"/>
              <a:t>Workbench</a:t>
            </a:r>
            <a:r>
              <a:rPr lang="es-ES" dirty="0"/>
              <a:t> y desde Spring Boot.</a:t>
            </a:r>
          </a:p>
          <a:p>
            <a:endParaRPr lang="es-PE" dirty="0"/>
          </a:p>
        </p:txBody>
      </p:sp>
      <p:pic>
        <p:nvPicPr>
          <p:cNvPr id="5" name="Google Shape;230;p32">
            <a:extLst>
              <a:ext uri="{FF2B5EF4-FFF2-40B4-BE49-F238E27FC236}">
                <a16:creationId xmlns:a16="http://schemas.microsoft.com/office/drawing/2014/main" id="{F5E03D40-73E1-8E9F-6E23-735C430097F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80977" y="2890713"/>
            <a:ext cx="4884994" cy="25307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57228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B36DA-0CAC-83E3-DE0E-7D120C876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F24907-4E9C-3CC0-813B-500CDC84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Creación en proceso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0C694B5-7E5B-ECA8-851B-ACEA6A8D9D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21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4C7FE11-9584-A657-4433-DDCB6ABDE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La creación de su base de datos toma unos minutos. </a:t>
            </a:r>
          </a:p>
          <a:p>
            <a:pPr marL="0" lv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dirty="0"/>
              <a:t>Mientras tanto, se procederá a configurar el </a:t>
            </a:r>
            <a:r>
              <a:rPr lang="es-ES" dirty="0" err="1"/>
              <a:t>security</a:t>
            </a:r>
            <a:r>
              <a:rPr lang="es-ES" dirty="0"/>
              <a:t> </a:t>
            </a:r>
            <a:r>
              <a:rPr lang="es-ES" dirty="0" err="1"/>
              <a:t>group</a:t>
            </a:r>
            <a:r>
              <a:rPr lang="es-ES" dirty="0"/>
              <a:t> para permitir el acceso a la base de datos desde la instancia EC2.</a:t>
            </a:r>
          </a:p>
          <a:p>
            <a:endParaRPr lang="es-PE" dirty="0"/>
          </a:p>
        </p:txBody>
      </p:sp>
      <p:pic>
        <p:nvPicPr>
          <p:cNvPr id="5" name="Google Shape;238;p33">
            <a:extLst>
              <a:ext uri="{FF2B5EF4-FFF2-40B4-BE49-F238E27FC236}">
                <a16:creationId xmlns:a16="http://schemas.microsoft.com/office/drawing/2014/main" id="{CB868C47-D758-8639-8B28-907C95DC3B8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76399" y="2850795"/>
            <a:ext cx="8839201" cy="22939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79275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ACA0A-FFBE-0848-9CB7-02FF7ACD9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DAE2A0-75C4-B349-E81B-CD164B6A8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Security </a:t>
            </a:r>
            <a:r>
              <a:rPr lang="es-ES" dirty="0" err="1"/>
              <a:t>Group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4151EDF-D496-D52A-EC28-E78816DEAD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22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D7FB9D-975F-8264-16DB-E12C64851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9164" y="1436570"/>
            <a:ext cx="6110651" cy="3843645"/>
          </a:xfrm>
        </p:spPr>
        <p:txBody>
          <a:bodyPr/>
          <a:lstStyle/>
          <a:p>
            <a:r>
              <a:rPr lang="es-ES" dirty="0"/>
              <a:t>Diríjase al </a:t>
            </a:r>
            <a:r>
              <a:rPr lang="es-ES" dirty="0" err="1"/>
              <a:t>dashboard</a:t>
            </a:r>
            <a:r>
              <a:rPr lang="es-ES" dirty="0"/>
              <a:t> de EC2 y en la barra lateral izquierda ubique </a:t>
            </a:r>
            <a:r>
              <a:rPr lang="es-ES" b="1" dirty="0"/>
              <a:t>Security </a:t>
            </a:r>
            <a:r>
              <a:rPr lang="es-ES" b="1" dirty="0" err="1"/>
              <a:t>Groups</a:t>
            </a:r>
            <a:r>
              <a:rPr lang="es-ES" dirty="0"/>
              <a:t>. </a:t>
            </a:r>
          </a:p>
          <a:p>
            <a:endParaRPr lang="es-PE" dirty="0"/>
          </a:p>
        </p:txBody>
      </p:sp>
      <p:pic>
        <p:nvPicPr>
          <p:cNvPr id="5" name="Google Shape;246;p34">
            <a:extLst>
              <a:ext uri="{FF2B5EF4-FFF2-40B4-BE49-F238E27FC236}">
                <a16:creationId xmlns:a16="http://schemas.microsoft.com/office/drawing/2014/main" id="{080AC69E-C3A1-6382-2CE4-2506E44CDF6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15086" y="535838"/>
            <a:ext cx="2301066" cy="482335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47;p34">
            <a:extLst>
              <a:ext uri="{FF2B5EF4-FFF2-40B4-BE49-F238E27FC236}">
                <a16:creationId xmlns:a16="http://schemas.microsoft.com/office/drawing/2014/main" id="{52E2E268-7FAD-FB5B-6561-AD678FEFDE43}"/>
              </a:ext>
            </a:extLst>
          </p:cNvPr>
          <p:cNvSpPr/>
          <p:nvPr/>
        </p:nvSpPr>
        <p:spPr>
          <a:xfrm>
            <a:off x="6903061" y="3305100"/>
            <a:ext cx="1072200" cy="24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94728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6D50D-4BBA-9AA9-4834-729E36111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83CA03-0107-20D5-D33C-5955F9D43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Security </a:t>
            </a:r>
            <a:r>
              <a:rPr lang="es-ES" dirty="0" err="1"/>
              <a:t>Group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12D7E4AA-973E-277B-BB70-355E591BFB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313CB3B-14AF-5528-4186-EB59202D9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Ubique el </a:t>
            </a:r>
            <a:r>
              <a:rPr lang="es-ES" dirty="0" err="1"/>
              <a:t>security</a:t>
            </a:r>
            <a:r>
              <a:rPr lang="es-ES" dirty="0"/>
              <a:t> </a:t>
            </a:r>
            <a:r>
              <a:rPr lang="es-ES" dirty="0" err="1"/>
              <a:t>group</a:t>
            </a:r>
            <a:r>
              <a:rPr lang="es-ES" dirty="0"/>
              <a:t> que definió durante la creación de su base de datos y selecciónelo.</a:t>
            </a:r>
          </a:p>
          <a:p>
            <a:pPr marL="0" lv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dirty="0"/>
              <a:t>En este ejemplo se llamó “</a:t>
            </a:r>
            <a:r>
              <a:rPr lang="es-ES" dirty="0" err="1"/>
              <a:t>rds-gtics</a:t>
            </a:r>
            <a:r>
              <a:rPr lang="es-ES" dirty="0"/>
              <a:t>”.</a:t>
            </a:r>
          </a:p>
          <a:p>
            <a:endParaRPr lang="es-PE" dirty="0"/>
          </a:p>
        </p:txBody>
      </p:sp>
      <p:pic>
        <p:nvPicPr>
          <p:cNvPr id="5" name="Google Shape;255;p35">
            <a:extLst>
              <a:ext uri="{FF2B5EF4-FFF2-40B4-BE49-F238E27FC236}">
                <a16:creationId xmlns:a16="http://schemas.microsoft.com/office/drawing/2014/main" id="{9CB187A3-6407-A601-0C90-7289DE85827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97049" y="3002405"/>
            <a:ext cx="8181975" cy="253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56;p35">
            <a:extLst>
              <a:ext uri="{FF2B5EF4-FFF2-40B4-BE49-F238E27FC236}">
                <a16:creationId xmlns:a16="http://schemas.microsoft.com/office/drawing/2014/main" id="{455383F6-6304-2F9F-C02C-12D17D060DC5}"/>
              </a:ext>
            </a:extLst>
          </p:cNvPr>
          <p:cNvSpPr/>
          <p:nvPr/>
        </p:nvSpPr>
        <p:spPr>
          <a:xfrm>
            <a:off x="2952849" y="4614330"/>
            <a:ext cx="1072200" cy="24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89444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BE3B2-88C5-3833-AA54-905FB9450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C28682-1C9D-BB61-56E7-9A1AAE7F6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Security </a:t>
            </a:r>
            <a:r>
              <a:rPr lang="es-ES" dirty="0" err="1"/>
              <a:t>Group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D4E1250-525E-3BA9-115E-FA841DCB4D1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24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CF9C003-777C-3AD7-07C1-24B4A37B2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En la parte inferior haga clic en </a:t>
            </a:r>
            <a:r>
              <a:rPr lang="es-ES" b="1" dirty="0"/>
              <a:t>Reglas de entrada</a:t>
            </a:r>
            <a:r>
              <a:rPr lang="es-ES" dirty="0"/>
              <a:t>, y luego </a:t>
            </a:r>
            <a:r>
              <a:rPr lang="es-ES" b="1" dirty="0"/>
              <a:t>Editar reglas de entrada</a:t>
            </a:r>
            <a:r>
              <a:rPr lang="es-ES" dirty="0"/>
              <a:t>.</a:t>
            </a:r>
          </a:p>
          <a:p>
            <a:endParaRPr lang="es-PE" dirty="0"/>
          </a:p>
        </p:txBody>
      </p:sp>
      <p:pic>
        <p:nvPicPr>
          <p:cNvPr id="5" name="Google Shape;261;p36">
            <a:extLst>
              <a:ext uri="{FF2B5EF4-FFF2-40B4-BE49-F238E27FC236}">
                <a16:creationId xmlns:a16="http://schemas.microsoft.com/office/drawing/2014/main" id="{1399228B-6D42-77A4-C32C-9C406EA44F5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24000" y="2602728"/>
            <a:ext cx="9143999" cy="261374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65;p36">
            <a:extLst>
              <a:ext uri="{FF2B5EF4-FFF2-40B4-BE49-F238E27FC236}">
                <a16:creationId xmlns:a16="http://schemas.microsoft.com/office/drawing/2014/main" id="{EBBF2113-DF60-C4AD-EEAD-841383C35E53}"/>
              </a:ext>
            </a:extLst>
          </p:cNvPr>
          <p:cNvSpPr/>
          <p:nvPr/>
        </p:nvSpPr>
        <p:spPr>
          <a:xfrm rot="5400000">
            <a:off x="2773825" y="2703049"/>
            <a:ext cx="707700" cy="302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66;p36">
            <a:extLst>
              <a:ext uri="{FF2B5EF4-FFF2-40B4-BE49-F238E27FC236}">
                <a16:creationId xmlns:a16="http://schemas.microsoft.com/office/drawing/2014/main" id="{6A2F41E3-F123-84FC-3B9D-C6CC3AC20EED}"/>
              </a:ext>
            </a:extLst>
          </p:cNvPr>
          <p:cNvSpPr/>
          <p:nvPr/>
        </p:nvSpPr>
        <p:spPr>
          <a:xfrm rot="2698793">
            <a:off x="8537032" y="4293796"/>
            <a:ext cx="603940" cy="24777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11452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6C517-6E7E-FC51-A66A-C325F1420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B46BEF-F388-593B-B1E4-E69AAAC84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Security </a:t>
            </a:r>
            <a:r>
              <a:rPr lang="es-ES" dirty="0" err="1"/>
              <a:t>Group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97318A7-B6AF-5BE6-FFB4-0816093D5E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25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7C4800-8759-B92B-62E3-740DBB550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En la regla, en </a:t>
            </a:r>
            <a:r>
              <a:rPr lang="es-ES" b="1" dirty="0"/>
              <a:t>Origen </a:t>
            </a:r>
            <a:r>
              <a:rPr lang="es-ES" dirty="0"/>
              <a:t>aparece un IP el cual es el de la máquina (o de su ISP) que está usando.</a:t>
            </a:r>
          </a:p>
          <a:p>
            <a:endParaRPr lang="es-PE" dirty="0"/>
          </a:p>
        </p:txBody>
      </p:sp>
      <p:pic>
        <p:nvPicPr>
          <p:cNvPr id="5" name="Google Shape;274;p37">
            <a:extLst>
              <a:ext uri="{FF2B5EF4-FFF2-40B4-BE49-F238E27FC236}">
                <a16:creationId xmlns:a16="http://schemas.microsoft.com/office/drawing/2014/main" id="{0FA94292-57B5-566E-F8CE-274ACF923AB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28800" y="2954584"/>
            <a:ext cx="9144001" cy="199183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75;p37">
            <a:extLst>
              <a:ext uri="{FF2B5EF4-FFF2-40B4-BE49-F238E27FC236}">
                <a16:creationId xmlns:a16="http://schemas.microsoft.com/office/drawing/2014/main" id="{A5F0D745-3A5E-FC89-18DA-6E083B5714F8}"/>
              </a:ext>
            </a:extLst>
          </p:cNvPr>
          <p:cNvSpPr/>
          <p:nvPr/>
        </p:nvSpPr>
        <p:spPr>
          <a:xfrm rot="-5400000">
            <a:off x="7642300" y="4573375"/>
            <a:ext cx="443400" cy="302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35510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961ED-F294-2C94-23CD-83705EA76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4657CA-A513-8E8D-24F1-8E6837F96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Security </a:t>
            </a:r>
            <a:r>
              <a:rPr lang="es-ES" dirty="0" err="1"/>
              <a:t>Group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25DE89F-9ADB-D7B7-FF7D-D35849CFF3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26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D8A3369-6DD0-6B39-F68D-8BC740E7D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2000" dirty="0"/>
              <a:t>Esto debe cambiarlo para que su BD sea accesible por la instancia en EC2. Puede averiguar el IP privado de su instancia o colocar simplemente </a:t>
            </a:r>
            <a:r>
              <a:rPr lang="es-ES" sz="2000" b="1" dirty="0" err="1"/>
              <a:t>Anywhere</a:t>
            </a:r>
            <a:r>
              <a:rPr lang="es-ES" sz="2000" b="1" dirty="0"/>
              <a:t> </a:t>
            </a:r>
            <a:r>
              <a:rPr lang="es-ES" sz="2000" b="1" dirty="0" err="1"/>
              <a:t>from</a:t>
            </a:r>
            <a:r>
              <a:rPr lang="es-ES" sz="2000" b="1" dirty="0"/>
              <a:t> IPv4</a:t>
            </a:r>
            <a:r>
              <a:rPr lang="es-ES" sz="2000" dirty="0"/>
              <a:t>.</a:t>
            </a:r>
          </a:p>
          <a:p>
            <a:pPr marL="0" lv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2000" dirty="0"/>
              <a:t>Luego, </a:t>
            </a:r>
            <a:r>
              <a:rPr lang="es-ES" sz="2000" b="1" dirty="0"/>
              <a:t>Guardar reglas</a:t>
            </a:r>
          </a:p>
          <a:p>
            <a:endParaRPr lang="es-PE" sz="2000" dirty="0"/>
          </a:p>
        </p:txBody>
      </p:sp>
      <p:pic>
        <p:nvPicPr>
          <p:cNvPr id="5" name="Google Shape;280;p38">
            <a:extLst>
              <a:ext uri="{FF2B5EF4-FFF2-40B4-BE49-F238E27FC236}">
                <a16:creationId xmlns:a16="http://schemas.microsoft.com/office/drawing/2014/main" id="{FCD8435C-57A9-D1DE-6D29-2EF3AB468F8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24000" y="2882703"/>
            <a:ext cx="9144000" cy="239751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84;p38">
            <a:extLst>
              <a:ext uri="{FF2B5EF4-FFF2-40B4-BE49-F238E27FC236}">
                <a16:creationId xmlns:a16="http://schemas.microsoft.com/office/drawing/2014/main" id="{056696FE-DC6D-0FEE-72D2-B43B8DA309B2}"/>
              </a:ext>
            </a:extLst>
          </p:cNvPr>
          <p:cNvSpPr/>
          <p:nvPr/>
        </p:nvSpPr>
        <p:spPr>
          <a:xfrm rot="-5400000">
            <a:off x="6193225" y="4185134"/>
            <a:ext cx="443400" cy="302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85;p38">
            <a:extLst>
              <a:ext uri="{FF2B5EF4-FFF2-40B4-BE49-F238E27FC236}">
                <a16:creationId xmlns:a16="http://schemas.microsoft.com/office/drawing/2014/main" id="{52F13EA3-05FE-1089-6D7B-B5AB64937AC8}"/>
              </a:ext>
            </a:extLst>
          </p:cNvPr>
          <p:cNvSpPr/>
          <p:nvPr/>
        </p:nvSpPr>
        <p:spPr>
          <a:xfrm rot="5400000">
            <a:off x="9926100" y="4551909"/>
            <a:ext cx="443400" cy="302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59503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56297-3796-31AE-4BED-C716ADC53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222B91-1783-4F06-DAFA-FAE5FAAF2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Bases de datos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876A895-E22B-199A-3220-E68C7F4B4C6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27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5BDABA8-B55E-8BD5-D252-37373B50A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Verifique su base de datos, si el estado es </a:t>
            </a:r>
            <a:r>
              <a:rPr lang="es-ES" b="1" dirty="0"/>
              <a:t>Disponible</a:t>
            </a:r>
            <a:r>
              <a:rPr lang="es-ES" dirty="0"/>
              <a:t>, entonces está lista para ser usada.</a:t>
            </a:r>
          </a:p>
          <a:p>
            <a:endParaRPr lang="es-PE" dirty="0"/>
          </a:p>
        </p:txBody>
      </p:sp>
      <p:pic>
        <p:nvPicPr>
          <p:cNvPr id="5" name="Google Shape;293;p39">
            <a:extLst>
              <a:ext uri="{FF2B5EF4-FFF2-40B4-BE49-F238E27FC236}">
                <a16:creationId xmlns:a16="http://schemas.microsoft.com/office/drawing/2014/main" id="{12524352-3824-7AE5-FB5B-1946466F543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76400" y="2751994"/>
            <a:ext cx="8839200" cy="192952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94;p39">
            <a:extLst>
              <a:ext uri="{FF2B5EF4-FFF2-40B4-BE49-F238E27FC236}">
                <a16:creationId xmlns:a16="http://schemas.microsoft.com/office/drawing/2014/main" id="{35A14B71-E798-A51A-B1AE-F3E49650D991}"/>
              </a:ext>
            </a:extLst>
          </p:cNvPr>
          <p:cNvSpPr/>
          <p:nvPr/>
        </p:nvSpPr>
        <p:spPr>
          <a:xfrm rot="-5400000">
            <a:off x="9281800" y="4402713"/>
            <a:ext cx="631800" cy="302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86175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A2ACD-8B42-5A8D-702A-A52C9DC55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4B0732-CBEE-F9A7-2DEE-ACCE2B2E9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IP de la BD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540F17A-FC68-68FC-8648-0B0E8C122F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28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B8A8E2-70A1-02EC-DF3B-75C77D6A7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Al seleccionar su base de datos observará varios parámetros relevantes.</a:t>
            </a:r>
          </a:p>
          <a:p>
            <a:pPr marL="0" lv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b="1" dirty="0"/>
              <a:t>Tome nota del IP o punto de enlace y el puerto.</a:t>
            </a:r>
            <a:endParaRPr lang="es-ES" dirty="0"/>
          </a:p>
          <a:p>
            <a:endParaRPr lang="es-PE" dirty="0"/>
          </a:p>
        </p:txBody>
      </p:sp>
      <p:pic>
        <p:nvPicPr>
          <p:cNvPr id="5" name="Google Shape;302;p40">
            <a:extLst>
              <a:ext uri="{FF2B5EF4-FFF2-40B4-BE49-F238E27FC236}">
                <a16:creationId xmlns:a16="http://schemas.microsoft.com/office/drawing/2014/main" id="{54DC564B-3961-4757-D860-B7E93A0EC00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99989" y="2445862"/>
            <a:ext cx="4298871" cy="28343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235575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E686E43-7599-4F2C-90B2-C81FE7D6E5F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38994" y="6139498"/>
            <a:ext cx="459635" cy="365125"/>
          </a:xfrm>
        </p:spPr>
        <p:txBody>
          <a:bodyPr/>
          <a:lstStyle/>
          <a:p>
            <a:fld id="{52A29C8B-5F70-8945-A2A6-FBD7A17156DB}" type="slidenum">
              <a:rPr lang="es-PE" smtClean="0"/>
              <a:t>29</a:t>
            </a:fld>
            <a:endParaRPr lang="es-P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DF6689F-400B-9D28-96FE-477586A8B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err="1"/>
              <a:t>Conexión</a:t>
            </a:r>
            <a:r>
              <a:rPr lang="en-US" sz="4400" dirty="0"/>
              <a:t> a RDS</a:t>
            </a:r>
            <a:endParaRPr lang="es-PE" sz="4400" dirty="0"/>
          </a:p>
        </p:txBody>
      </p:sp>
    </p:spTree>
    <p:extLst>
      <p:ext uri="{BB962C8B-B14F-4D97-AF65-F5344CB8AC3E}">
        <p14:creationId xmlns:p14="http://schemas.microsoft.com/office/powerpoint/2010/main" val="20982366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1AF2C-2ED3-07D4-99C1-B8258763B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DC1141-25C6-1A3D-1950-8FFE1AC5B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MySQL </a:t>
            </a:r>
            <a:r>
              <a:rPr lang="es-ES" dirty="0" err="1"/>
              <a:t>Workbench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25B3613-9E35-717A-1DDA-0A2CDAF192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30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D219B76-05DE-72E2-0ACB-33E6B86E2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000" dirty="0"/>
              <a:t>Para conectarse al RDS usando el MySQL </a:t>
            </a:r>
            <a:r>
              <a:rPr lang="es-ES" sz="2000" dirty="0" err="1"/>
              <a:t>workbench</a:t>
            </a:r>
            <a:r>
              <a:rPr lang="es-ES" sz="2000" dirty="0"/>
              <a:t> (u otro IDE de BD), deberá hacerlo mediante una conexión SSH a una instancia que se encuentre en la misma VPC que la BD.</a:t>
            </a:r>
          </a:p>
          <a:p>
            <a:endParaRPr lang="es-PE" sz="2000" dirty="0"/>
          </a:p>
        </p:txBody>
      </p:sp>
      <p:sp>
        <p:nvSpPr>
          <p:cNvPr id="5" name="Google Shape;313;p42">
            <a:extLst>
              <a:ext uri="{FF2B5EF4-FFF2-40B4-BE49-F238E27FC236}">
                <a16:creationId xmlns:a16="http://schemas.microsoft.com/office/drawing/2014/main" id="{2BDDD06B-48E3-7A72-1446-B2F3E141546B}"/>
              </a:ext>
            </a:extLst>
          </p:cNvPr>
          <p:cNvSpPr/>
          <p:nvPr/>
        </p:nvSpPr>
        <p:spPr>
          <a:xfrm>
            <a:off x="3716991" y="2406773"/>
            <a:ext cx="6768000" cy="3150600"/>
          </a:xfrm>
          <a:prstGeom prst="roundRect">
            <a:avLst>
              <a:gd name="adj" fmla="val 7914"/>
            </a:avLst>
          </a:prstGeom>
          <a:noFill/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/>
              <a:t>VPC</a:t>
            </a:r>
            <a:endParaRPr sz="1400"/>
          </a:p>
        </p:txBody>
      </p:sp>
      <p:pic>
        <p:nvPicPr>
          <p:cNvPr id="6" name="Google Shape;317;p42">
            <a:extLst>
              <a:ext uri="{FF2B5EF4-FFF2-40B4-BE49-F238E27FC236}">
                <a16:creationId xmlns:a16="http://schemas.microsoft.com/office/drawing/2014/main" id="{36D780DB-D932-428A-C215-C82B73E189B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91216" y="3209623"/>
            <a:ext cx="1191500" cy="1191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18;p42">
            <a:extLst>
              <a:ext uri="{FF2B5EF4-FFF2-40B4-BE49-F238E27FC236}">
                <a16:creationId xmlns:a16="http://schemas.microsoft.com/office/drawing/2014/main" id="{B9058D14-D6A7-FECA-9BDB-56EDF7EDFCD7}"/>
              </a:ext>
            </a:extLst>
          </p:cNvPr>
          <p:cNvSpPr/>
          <p:nvPr/>
        </p:nvSpPr>
        <p:spPr>
          <a:xfrm>
            <a:off x="4492841" y="3272273"/>
            <a:ext cx="1136100" cy="10662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/>
              <a:t>Instancia</a:t>
            </a:r>
            <a:endParaRPr sz="14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/>
              <a:t>EC2</a:t>
            </a:r>
            <a:endParaRPr sz="1400"/>
          </a:p>
        </p:txBody>
      </p:sp>
      <p:sp>
        <p:nvSpPr>
          <p:cNvPr id="8" name="Google Shape;319;p42">
            <a:extLst>
              <a:ext uri="{FF2B5EF4-FFF2-40B4-BE49-F238E27FC236}">
                <a16:creationId xmlns:a16="http://schemas.microsoft.com/office/drawing/2014/main" id="{06AEBFB3-FDBE-561A-F965-D23094ED5D41}"/>
              </a:ext>
            </a:extLst>
          </p:cNvPr>
          <p:cNvSpPr/>
          <p:nvPr/>
        </p:nvSpPr>
        <p:spPr>
          <a:xfrm rot="5400000">
            <a:off x="3799766" y="3060773"/>
            <a:ext cx="208500" cy="1842600"/>
          </a:xfrm>
          <a:prstGeom prst="can">
            <a:avLst>
              <a:gd name="adj" fmla="val 25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9" name="Google Shape;320;p42">
            <a:extLst>
              <a:ext uri="{FF2B5EF4-FFF2-40B4-BE49-F238E27FC236}">
                <a16:creationId xmlns:a16="http://schemas.microsoft.com/office/drawing/2014/main" id="{B8638D23-C3C1-8A36-B037-973ECE83D349}"/>
              </a:ext>
            </a:extLst>
          </p:cNvPr>
          <p:cNvSpPr txBox="1"/>
          <p:nvPr/>
        </p:nvSpPr>
        <p:spPr>
          <a:xfrm>
            <a:off x="3169729" y="4193998"/>
            <a:ext cx="1136100" cy="360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latin typeface="Open Sans"/>
                <a:ea typeface="Open Sans"/>
                <a:cs typeface="Open Sans"/>
                <a:sym typeface="Open Sans"/>
              </a:rPr>
              <a:t>Túnel SSH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Google Shape;321;p42">
            <a:extLst>
              <a:ext uri="{FF2B5EF4-FFF2-40B4-BE49-F238E27FC236}">
                <a16:creationId xmlns:a16="http://schemas.microsoft.com/office/drawing/2014/main" id="{F3E44668-E889-93D6-811E-EC9F500FD158}"/>
              </a:ext>
            </a:extLst>
          </p:cNvPr>
          <p:cNvSpPr/>
          <p:nvPr/>
        </p:nvSpPr>
        <p:spPr>
          <a:xfrm>
            <a:off x="7998041" y="3542698"/>
            <a:ext cx="914400" cy="878750"/>
          </a:xfrm>
          <a:prstGeom prst="flowChartMagneticDisk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/>
              <a:t>RDS</a:t>
            </a:r>
            <a:endParaRPr sz="1400"/>
          </a:p>
        </p:txBody>
      </p:sp>
      <p:cxnSp>
        <p:nvCxnSpPr>
          <p:cNvPr id="11" name="Google Shape;322;p42">
            <a:extLst>
              <a:ext uri="{FF2B5EF4-FFF2-40B4-BE49-F238E27FC236}">
                <a16:creationId xmlns:a16="http://schemas.microsoft.com/office/drawing/2014/main" id="{5903D3CF-6DA7-2F82-474C-AEAE847043A2}"/>
              </a:ext>
            </a:extLst>
          </p:cNvPr>
          <p:cNvCxnSpPr>
            <a:stCxn id="8" idx="1"/>
            <a:endCxn id="10" idx="2"/>
          </p:cNvCxnSpPr>
          <p:nvPr/>
        </p:nvCxnSpPr>
        <p:spPr>
          <a:xfrm>
            <a:off x="4825316" y="3982073"/>
            <a:ext cx="3172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ashDot"/>
            <a:round/>
            <a:headEnd type="none" w="med" len="med"/>
            <a:tailEnd type="triangle" w="med" len="med"/>
          </a:ln>
        </p:spPr>
      </p:cxnSp>
      <p:sp>
        <p:nvSpPr>
          <p:cNvPr id="12" name="Google Shape;323;p42">
            <a:extLst>
              <a:ext uri="{FF2B5EF4-FFF2-40B4-BE49-F238E27FC236}">
                <a16:creationId xmlns:a16="http://schemas.microsoft.com/office/drawing/2014/main" id="{7FC91C1E-8833-0A32-0585-4515F225F3F5}"/>
              </a:ext>
            </a:extLst>
          </p:cNvPr>
          <p:cNvSpPr txBox="1"/>
          <p:nvPr/>
        </p:nvSpPr>
        <p:spPr>
          <a:xfrm>
            <a:off x="5933716" y="4097023"/>
            <a:ext cx="18426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latin typeface="Open Sans"/>
                <a:ea typeface="Open Sans"/>
                <a:cs typeface="Open Sans"/>
                <a:sym typeface="Open Sans"/>
              </a:rPr>
              <a:t>Conexión EC2-RDS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5536032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8F44B-CFC4-BB0E-CB4D-80CDA3065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2C533F-9E51-FC64-9CC1-E792A29DC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MySQL </a:t>
            </a:r>
            <a:r>
              <a:rPr lang="es-ES" dirty="0" err="1"/>
              <a:t>Workbench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68F7A22-4C4D-60EF-066E-2B87A78448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31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FDB17D-8537-9EFE-57E5-8216E77FD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Cree una nueva conexión y en la parte superior, seleccione: </a:t>
            </a:r>
          </a:p>
          <a:p>
            <a:pPr marL="0" lv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dirty="0"/>
              <a:t>→ </a:t>
            </a:r>
            <a:r>
              <a:rPr lang="es-ES" b="1" dirty="0"/>
              <a:t>Standard TCP/IP </a:t>
            </a:r>
            <a:r>
              <a:rPr lang="es-ES" b="1" dirty="0" err="1"/>
              <a:t>over</a:t>
            </a:r>
            <a:r>
              <a:rPr lang="es-ES" b="1" dirty="0"/>
              <a:t> SSH</a:t>
            </a:r>
          </a:p>
          <a:p>
            <a:endParaRPr lang="es-PE" dirty="0"/>
          </a:p>
        </p:txBody>
      </p:sp>
      <p:pic>
        <p:nvPicPr>
          <p:cNvPr id="5" name="Google Shape;331;p43">
            <a:extLst>
              <a:ext uri="{FF2B5EF4-FFF2-40B4-BE49-F238E27FC236}">
                <a16:creationId xmlns:a16="http://schemas.microsoft.com/office/drawing/2014/main" id="{D171C01C-F555-23CC-178E-21FA958463B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89296" y="2890581"/>
            <a:ext cx="8376924" cy="178437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32;p43">
            <a:extLst>
              <a:ext uri="{FF2B5EF4-FFF2-40B4-BE49-F238E27FC236}">
                <a16:creationId xmlns:a16="http://schemas.microsoft.com/office/drawing/2014/main" id="{49A6E7C6-4366-20FE-5EEF-82E0C3EB0926}"/>
              </a:ext>
            </a:extLst>
          </p:cNvPr>
          <p:cNvSpPr/>
          <p:nvPr/>
        </p:nvSpPr>
        <p:spPr>
          <a:xfrm>
            <a:off x="2316345" y="4181692"/>
            <a:ext cx="711300" cy="302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52118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54F49-3747-DA9F-F89C-22139D5FD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0980E-3367-4C31-8D9D-CA3AB1035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Parámetros de </a:t>
            </a:r>
            <a:r>
              <a:rPr lang="es-ES" dirty="0" err="1"/>
              <a:t>conexíón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B5E8778-EB49-34DE-0D4A-00CA6684D2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32</a:t>
            </a:fld>
            <a:endParaRPr lang="es-PE"/>
          </a:p>
        </p:txBody>
      </p:sp>
      <p:pic>
        <p:nvPicPr>
          <p:cNvPr id="5" name="Google Shape;339;p44">
            <a:extLst>
              <a:ext uri="{FF2B5EF4-FFF2-40B4-BE49-F238E27FC236}">
                <a16:creationId xmlns:a16="http://schemas.microsoft.com/office/drawing/2014/main" id="{70E90892-D471-8431-A06B-DAAC7B245B7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41096" y="1272167"/>
            <a:ext cx="7486650" cy="46958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48;p44">
            <a:extLst>
              <a:ext uri="{FF2B5EF4-FFF2-40B4-BE49-F238E27FC236}">
                <a16:creationId xmlns:a16="http://schemas.microsoft.com/office/drawing/2014/main" id="{C794C0CA-CB4D-56C6-ACEE-4D5B4A56117E}"/>
              </a:ext>
            </a:extLst>
          </p:cNvPr>
          <p:cNvSpPr/>
          <p:nvPr/>
        </p:nvSpPr>
        <p:spPr>
          <a:xfrm>
            <a:off x="2037571" y="2476454"/>
            <a:ext cx="173400" cy="1180800"/>
          </a:xfrm>
          <a:prstGeom prst="leftBrace">
            <a:avLst>
              <a:gd name="adj1" fmla="val 50000"/>
              <a:gd name="adj2" fmla="val 29361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7" name="Google Shape;349;p44">
            <a:extLst>
              <a:ext uri="{FF2B5EF4-FFF2-40B4-BE49-F238E27FC236}">
                <a16:creationId xmlns:a16="http://schemas.microsoft.com/office/drawing/2014/main" id="{2C8EC676-4797-9DEE-62BA-5C535842E503}"/>
              </a:ext>
            </a:extLst>
          </p:cNvPr>
          <p:cNvSpPr/>
          <p:nvPr/>
        </p:nvSpPr>
        <p:spPr>
          <a:xfrm>
            <a:off x="293371" y="2519929"/>
            <a:ext cx="1744200" cy="5955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/>
              <a:t>Parámetros SSH a la VM</a:t>
            </a:r>
            <a:endParaRPr sz="1400"/>
          </a:p>
        </p:txBody>
      </p:sp>
      <p:sp>
        <p:nvSpPr>
          <p:cNvPr id="8" name="Google Shape;350;p44">
            <a:extLst>
              <a:ext uri="{FF2B5EF4-FFF2-40B4-BE49-F238E27FC236}">
                <a16:creationId xmlns:a16="http://schemas.microsoft.com/office/drawing/2014/main" id="{809B30F1-0B0D-7B23-DF2D-D4269CC04F40}"/>
              </a:ext>
            </a:extLst>
          </p:cNvPr>
          <p:cNvSpPr/>
          <p:nvPr/>
        </p:nvSpPr>
        <p:spPr>
          <a:xfrm>
            <a:off x="293371" y="3473542"/>
            <a:ext cx="1744200" cy="2931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/>
              <a:t>Aquí va el .pem no el .ppk</a:t>
            </a:r>
            <a:endParaRPr sz="800"/>
          </a:p>
        </p:txBody>
      </p:sp>
      <p:cxnSp>
        <p:nvCxnSpPr>
          <p:cNvPr id="9" name="Google Shape;351;p44">
            <a:extLst>
              <a:ext uri="{FF2B5EF4-FFF2-40B4-BE49-F238E27FC236}">
                <a16:creationId xmlns:a16="http://schemas.microsoft.com/office/drawing/2014/main" id="{4521B618-BBFD-6821-6D7D-4F538786F23C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2037571" y="3620092"/>
            <a:ext cx="9642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" name="Google Shape;352;p44">
            <a:extLst>
              <a:ext uri="{FF2B5EF4-FFF2-40B4-BE49-F238E27FC236}">
                <a16:creationId xmlns:a16="http://schemas.microsoft.com/office/drawing/2014/main" id="{137B5FFA-0D42-CB68-D8D2-54E1887146B7}"/>
              </a:ext>
            </a:extLst>
          </p:cNvPr>
          <p:cNvSpPr/>
          <p:nvPr/>
        </p:nvSpPr>
        <p:spPr>
          <a:xfrm>
            <a:off x="1907571" y="3766654"/>
            <a:ext cx="173400" cy="1353900"/>
          </a:xfrm>
          <a:prstGeom prst="leftBrace">
            <a:avLst>
              <a:gd name="adj1" fmla="val 50000"/>
              <a:gd name="adj2" fmla="val 36742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1" name="Google Shape;353;p44">
            <a:extLst>
              <a:ext uri="{FF2B5EF4-FFF2-40B4-BE49-F238E27FC236}">
                <a16:creationId xmlns:a16="http://schemas.microsoft.com/office/drawing/2014/main" id="{51617053-896A-286F-F384-B54373EE8673}"/>
              </a:ext>
            </a:extLst>
          </p:cNvPr>
          <p:cNvSpPr/>
          <p:nvPr/>
        </p:nvSpPr>
        <p:spPr>
          <a:xfrm>
            <a:off x="441571" y="3983254"/>
            <a:ext cx="1447800" cy="5955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/>
              <a:t>Parámetros de la BD</a:t>
            </a:r>
            <a:endParaRPr sz="140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64ED553F-CDD3-CC3C-CF86-6105F60AE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5093" y="1463702"/>
            <a:ext cx="2540756" cy="83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7393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F9FDA-520A-7A83-5B0A-FCA14946B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0C840D-E623-7903-38D0-C6B7A42B3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Probando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B575D5F-E383-EDE3-12FA-6E11E0C1E5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33</a:t>
            </a:fld>
            <a:endParaRPr lang="es-PE"/>
          </a:p>
        </p:txBody>
      </p:sp>
      <p:pic>
        <p:nvPicPr>
          <p:cNvPr id="5" name="Google Shape;360;p45">
            <a:extLst>
              <a:ext uri="{FF2B5EF4-FFF2-40B4-BE49-F238E27FC236}">
                <a16:creationId xmlns:a16="http://schemas.microsoft.com/office/drawing/2014/main" id="{96E896CC-827A-BB63-1D47-1AE98AE40FA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00902" y="2076450"/>
            <a:ext cx="3552825" cy="2705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0033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C3659-9D5B-0639-B623-3EDDEB241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B1A437-DA42-D239-08D2-8887AFB8D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Importar la BD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80DE21C-D198-9C85-F3ED-21A27F4CBA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34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DBBEA2F-2B6A-1137-0662-B3F210D65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En estos ejemplos se usará </a:t>
            </a:r>
            <a:r>
              <a:rPr lang="es-ES" dirty="0" err="1"/>
              <a:t>Northwind</a:t>
            </a:r>
            <a:r>
              <a:rPr lang="es-ES" dirty="0"/>
              <a:t>.</a:t>
            </a:r>
          </a:p>
          <a:p>
            <a:pPr marL="0" lvl="0" indent="0">
              <a:spcBef>
                <a:spcPts val="1200"/>
              </a:spcBef>
              <a:buNone/>
            </a:pPr>
            <a:r>
              <a:rPr lang="es-ES" dirty="0"/>
              <a:t>Conectarse a la BD usando el MySQL </a:t>
            </a:r>
            <a:r>
              <a:rPr lang="es-ES" dirty="0" err="1"/>
              <a:t>Workbench</a:t>
            </a:r>
            <a:r>
              <a:rPr lang="es-ES" dirty="0"/>
              <a:t> e importar el esquema de base de datos.</a:t>
            </a:r>
          </a:p>
          <a:p>
            <a:endParaRPr lang="es-PE" dirty="0"/>
          </a:p>
        </p:txBody>
      </p:sp>
      <p:pic>
        <p:nvPicPr>
          <p:cNvPr id="5" name="Google Shape;368;p46">
            <a:extLst>
              <a:ext uri="{FF2B5EF4-FFF2-40B4-BE49-F238E27FC236}">
                <a16:creationId xmlns:a16="http://schemas.microsoft.com/office/drawing/2014/main" id="{EC6733EB-B7B0-3907-F6F6-C4F53F9DEAC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48061" y="2849680"/>
            <a:ext cx="5400675" cy="2571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0302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515A57F-1977-A738-A117-F34C6731F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2024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1E91911-F909-CC02-71BB-D5E230E0E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Gestión</a:t>
            </a:r>
            <a:r>
              <a:rPr lang="en-US" dirty="0"/>
              <a:t> de </a:t>
            </a:r>
            <a:r>
              <a:rPr lang="en-US" dirty="0" err="1"/>
              <a:t>Servicios</a:t>
            </a:r>
            <a:r>
              <a:rPr lang="en-US" dirty="0"/>
              <a:t>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5F087A8-F824-D4D5-258B-F51F2315D4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35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139588AF-36B3-44C0-CD3C-7A0440879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Importar la BD</a:t>
            </a:r>
            <a:endParaRPr lang="es-PE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3647942-0C91-95C4-4922-B80C065B1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/>
              <a:t>En estos ejemplos se usará </a:t>
            </a:r>
            <a:r>
              <a:rPr lang="es-ES" sz="1800" dirty="0" err="1"/>
              <a:t>Northwind</a:t>
            </a:r>
            <a:r>
              <a:rPr lang="es-ES" sz="1800" dirty="0"/>
              <a:t>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1800" dirty="0"/>
              <a:t>Conectarse a la BD usando el MySQL </a:t>
            </a:r>
            <a:r>
              <a:rPr lang="es-ES" sz="1800" dirty="0" err="1"/>
              <a:t>Workbench</a:t>
            </a:r>
            <a:r>
              <a:rPr lang="es-ES" sz="1800" dirty="0"/>
              <a:t> e importar el esquema de base de datos.</a:t>
            </a:r>
          </a:p>
          <a:p>
            <a:endParaRPr lang="es-PE" dirty="0"/>
          </a:p>
        </p:txBody>
      </p:sp>
      <p:pic>
        <p:nvPicPr>
          <p:cNvPr id="7" name="Google Shape;368;p46">
            <a:extLst>
              <a:ext uri="{FF2B5EF4-FFF2-40B4-BE49-F238E27FC236}">
                <a16:creationId xmlns:a16="http://schemas.microsoft.com/office/drawing/2014/main" id="{DE2FEF71-053E-3A9C-420A-427E538AD36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48061" y="3018154"/>
            <a:ext cx="5400675" cy="2571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12465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1CEE12FC-EFE8-427F-AFDD-10E13BDA9816}"/>
    </a:ext>
  </a:extLst>
</a:theme>
</file>

<file path=ppt/theme/theme2.xml><?xml version="1.0" encoding="utf-8"?>
<a:theme xmlns:a="http://schemas.openxmlformats.org/drawingml/2006/main" name="1_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2968A79A-DB5B-4965-B275-611A9275D097}"/>
    </a:ext>
  </a:extLst>
</a:theme>
</file>

<file path=ppt/theme/theme3.xml><?xml version="1.0" encoding="utf-8"?>
<a:theme xmlns:a="http://schemas.openxmlformats.org/drawingml/2006/main" name="Diseño personalizado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Montserrat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5F575593-E9A2-4645-ABE1-5BD8C9BF19B9}"/>
    </a:ext>
  </a:extLst>
</a:theme>
</file>

<file path=ppt/theme/theme4.xml><?xml version="1.0" encoding="utf-8"?>
<a:theme xmlns:a="http://schemas.openxmlformats.org/drawingml/2006/main" name="Telecom Pucp">
  <a:themeElements>
    <a:clrScheme name="PUCP">
      <a:dk1>
        <a:srgbClr val="191919"/>
      </a:dk1>
      <a:lt1>
        <a:srgbClr val="FFFFFF"/>
      </a:lt1>
      <a:dk2>
        <a:srgbClr val="042354"/>
      </a:dk2>
      <a:lt2>
        <a:srgbClr val="E7EDED"/>
      </a:lt2>
      <a:accent1>
        <a:srgbClr val="2841DD"/>
      </a:accent1>
      <a:accent2>
        <a:srgbClr val="FF9929"/>
      </a:accent2>
      <a:accent3>
        <a:srgbClr val="7F32C8"/>
      </a:accent3>
      <a:accent4>
        <a:srgbClr val="F0AE19"/>
      </a:accent4>
      <a:accent5>
        <a:srgbClr val="0A7BC2"/>
      </a:accent5>
      <a:accent6>
        <a:srgbClr val="16C78E"/>
      </a:accent6>
      <a:hlink>
        <a:srgbClr val="004EA8"/>
      </a:hlink>
      <a:folHlink>
        <a:srgbClr val="C3094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lecom Pucp" id="{04A4479E-36D6-4C66-807A-9F4E8318654E}" vid="{A438D0C6-9502-4DA2-8DE8-05B87C02855A}"/>
    </a:ext>
  </a:extLst>
</a:theme>
</file>

<file path=ppt/theme/theme5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Plantilla_Telecomunicaciones (1)</Template>
  <TotalTime>900</TotalTime>
  <Words>1110</Words>
  <Application>Microsoft Office PowerPoint</Application>
  <PresentationFormat>Panorámica</PresentationFormat>
  <Paragraphs>122</Paragraphs>
  <Slides>35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35</vt:i4>
      </vt:variant>
    </vt:vector>
  </HeadingPairs>
  <TitlesOfParts>
    <vt:vector size="43" baseType="lpstr">
      <vt:lpstr>Arial</vt:lpstr>
      <vt:lpstr>Montserrat</vt:lpstr>
      <vt:lpstr>Montserrat Medium</vt:lpstr>
      <vt:lpstr>Open Sans</vt:lpstr>
      <vt:lpstr>Tema de Office</vt:lpstr>
      <vt:lpstr>1_Tema de Office</vt:lpstr>
      <vt:lpstr>Diseño personalizado</vt:lpstr>
      <vt:lpstr>Telecom Pucp</vt:lpstr>
      <vt:lpstr>Presentación de PowerPoint</vt:lpstr>
      <vt:lpstr>Creación y conexión a una Base de Datos Administradas</vt:lpstr>
      <vt:lpstr>Base de datos administrada en AWS</vt:lpstr>
      <vt:lpstr>RDS</vt:lpstr>
      <vt:lpstr>RDS</vt:lpstr>
      <vt:lpstr>Creación de una BD en RDS</vt:lpstr>
      <vt:lpstr>Creación de base de datos</vt:lpstr>
      <vt:lpstr>Motor de base de datos</vt:lpstr>
      <vt:lpstr>Plantillas</vt:lpstr>
      <vt:lpstr>Availability</vt:lpstr>
      <vt:lpstr>Configuración</vt:lpstr>
      <vt:lpstr>Clase de instancia de la BD</vt:lpstr>
      <vt:lpstr>Storage</vt:lpstr>
      <vt:lpstr>Conectividad</vt:lpstr>
      <vt:lpstr>Conectividad</vt:lpstr>
      <vt:lpstr>Conectividad</vt:lpstr>
      <vt:lpstr>Autenticación</vt:lpstr>
      <vt:lpstr>Costo aproximado mensual y despliegue</vt:lpstr>
      <vt:lpstr>Creación en proceso</vt:lpstr>
      <vt:lpstr>Credenciales</vt:lpstr>
      <vt:lpstr>Creación en proceso</vt:lpstr>
      <vt:lpstr>Security Group</vt:lpstr>
      <vt:lpstr>Security Group</vt:lpstr>
      <vt:lpstr>Security Group</vt:lpstr>
      <vt:lpstr>Security Group</vt:lpstr>
      <vt:lpstr>Security Group</vt:lpstr>
      <vt:lpstr>Bases de datos</vt:lpstr>
      <vt:lpstr>IP de la BD</vt:lpstr>
      <vt:lpstr>Conexión a RDS</vt:lpstr>
      <vt:lpstr>MySQL Workbench</vt:lpstr>
      <vt:lpstr>MySQL Workbench</vt:lpstr>
      <vt:lpstr>Parámetros de conexíón</vt:lpstr>
      <vt:lpstr>Probando</vt:lpstr>
      <vt:lpstr>Importar la BD</vt:lpstr>
      <vt:lpstr>Importar la BD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Programación Orientada a Objetos &amp; Introducción a Java</dc:title>
  <dc:creator>Brenda Tumbalobos</dc:creator>
  <cp:lastModifiedBy>Brenda Tumbalobos Cubas</cp:lastModifiedBy>
  <cp:revision>28</cp:revision>
  <dcterms:created xsi:type="dcterms:W3CDTF">2023-10-28T21:43:03Z</dcterms:created>
  <dcterms:modified xsi:type="dcterms:W3CDTF">2026-04-01T20:46:11Z</dcterms:modified>
</cp:coreProperties>
</file>