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4"/>
  </p:notesMasterIdLst>
  <p:handoutMasterIdLst>
    <p:handoutMasterId r:id="rId15"/>
  </p:handoutMasterIdLst>
  <p:sldIdLst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476355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5305632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74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D756102-A554-24D0-D9D3-21705C435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897"/>
            <a:ext cx="1035498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3870010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9449631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6217972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8891004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938501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0315406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692264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63957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5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A6B94-B816-DEE0-BD8A-C1AFECA66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Despliegue en VM con BD administradas en AWS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2C80C-8E4F-6C5F-09B0-49218CBEEA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50310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21D2F-3494-F2EF-AE36-1D251B70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Java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8C16351-65D3-89A6-56AA-61E462A700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1495E2-C84E-8F13-7A7D-08C9A50A3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Verifique que tenga la  versión </a:t>
            </a:r>
            <a:r>
              <a:rPr lang="es-ES" b="1" dirty="0"/>
              <a:t>17 de java (o la versión con la que ha compilado su proyecto)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instalarlo: </a:t>
            </a:r>
            <a:endParaRPr lang="es-ES" dirty="0">
              <a:solidFill>
                <a:srgbClr val="FFFFFF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AWS: AMI Linux 2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dirty="0"/>
              <a:t>sudo </a:t>
            </a:r>
            <a:r>
              <a:rPr lang="es-ES" dirty="0" err="1"/>
              <a:t>yum</a:t>
            </a:r>
            <a:r>
              <a:rPr lang="es-ES" dirty="0"/>
              <a:t> </a:t>
            </a:r>
            <a:r>
              <a:rPr lang="es-ES" dirty="0" err="1"/>
              <a:t>install</a:t>
            </a:r>
            <a:r>
              <a:rPr lang="es-ES" dirty="0"/>
              <a:t> java-17-amazon-corretto-headless</a:t>
            </a:r>
          </a:p>
          <a:p>
            <a:endParaRPr lang="es-PE" dirty="0"/>
          </a:p>
        </p:txBody>
      </p:sp>
      <p:pic>
        <p:nvPicPr>
          <p:cNvPr id="5" name="Google Shape;78;p14">
            <a:extLst>
              <a:ext uri="{FF2B5EF4-FFF2-40B4-BE49-F238E27FC236}">
                <a16:creationId xmlns:a16="http://schemas.microsoft.com/office/drawing/2014/main" id="{47C757E5-C2BC-DD88-7CE2-B889DB898A8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2078" y="2456265"/>
            <a:ext cx="4248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;p14">
            <a:extLst>
              <a:ext uri="{FF2B5EF4-FFF2-40B4-BE49-F238E27FC236}">
                <a16:creationId xmlns:a16="http://schemas.microsoft.com/office/drawing/2014/main" id="{39E195F6-49E2-A292-8E86-7228E1C8CE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984" y="4387091"/>
            <a:ext cx="7724775" cy="1114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35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4CCF0-F8EE-74E7-4633-10D4FCDF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Aplicación de ejemplo y generación del .</a:t>
            </a:r>
            <a:r>
              <a:rPr lang="es-ES" dirty="0" err="1"/>
              <a:t>jar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7BBEE75-3FD7-7372-FDBE-674BBB84E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062EC4-5CA4-E83A-1E20-977557F4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Utilice la misma aplicación que utilizó para 4.1 JPA múltiples tablas.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→ Genere su .</a:t>
            </a:r>
            <a:r>
              <a:rPr lang="es-ES" dirty="0" err="1"/>
              <a:t>war</a:t>
            </a: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→ Súbalo a su VM</a:t>
            </a:r>
          </a:p>
          <a:p>
            <a:endParaRPr lang="es-PE" dirty="0"/>
          </a:p>
        </p:txBody>
      </p:sp>
      <p:pic>
        <p:nvPicPr>
          <p:cNvPr id="7" name="Google Shape;87;p15">
            <a:extLst>
              <a:ext uri="{FF2B5EF4-FFF2-40B4-BE49-F238E27FC236}">
                <a16:creationId xmlns:a16="http://schemas.microsoft.com/office/drawing/2014/main" id="{0440C49C-E5A3-F3CF-245F-A2AB0FBA60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3152" y="2448761"/>
            <a:ext cx="225742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;p15">
            <a:extLst>
              <a:ext uri="{FF2B5EF4-FFF2-40B4-BE49-F238E27FC236}">
                <a16:creationId xmlns:a16="http://schemas.microsoft.com/office/drawing/2014/main" id="{8E8A489D-5F21-D856-9824-F5DE97CE2E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727" y="2863098"/>
            <a:ext cx="3067050" cy="1476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395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4D8FF-2B56-11B2-AF41-B8C3684E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18257-1183-DBA6-77D5-EB645DC4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para el despliegue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6082535-F4E5-B321-466B-9703F0A81D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A1D6CE-7308-2C84-02C7-0EBB38560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Empezaremos con la arquitectura más simple, una instancia corriendo java -</a:t>
            </a:r>
            <a:r>
              <a:rPr lang="es-ES" dirty="0" err="1"/>
              <a:t>jar</a:t>
            </a:r>
            <a:r>
              <a:rPr lang="es-ES" dirty="0"/>
              <a:t> y una base de datos como servicio.</a:t>
            </a:r>
          </a:p>
          <a:p>
            <a:endParaRPr lang="es-PE" dirty="0"/>
          </a:p>
        </p:txBody>
      </p:sp>
      <p:grpSp>
        <p:nvGrpSpPr>
          <p:cNvPr id="5" name="Google Shape;96;p16">
            <a:extLst>
              <a:ext uri="{FF2B5EF4-FFF2-40B4-BE49-F238E27FC236}">
                <a16:creationId xmlns:a16="http://schemas.microsoft.com/office/drawing/2014/main" id="{D1AD9ED7-C0A5-D843-B1D1-491079A8B717}"/>
              </a:ext>
            </a:extLst>
          </p:cNvPr>
          <p:cNvGrpSpPr/>
          <p:nvPr/>
        </p:nvGrpSpPr>
        <p:grpSpPr>
          <a:xfrm>
            <a:off x="4433020" y="3429000"/>
            <a:ext cx="2960200" cy="803700"/>
            <a:chOff x="803650" y="3562950"/>
            <a:chExt cx="2960200" cy="803700"/>
          </a:xfrm>
        </p:grpSpPr>
        <p:sp>
          <p:nvSpPr>
            <p:cNvPr id="6" name="Google Shape;97;p16">
              <a:extLst>
                <a:ext uri="{FF2B5EF4-FFF2-40B4-BE49-F238E27FC236}">
                  <a16:creationId xmlns:a16="http://schemas.microsoft.com/office/drawing/2014/main" id="{6714FEA3-8A30-10E8-C114-382E7722DD9E}"/>
                </a:ext>
              </a:extLst>
            </p:cNvPr>
            <p:cNvSpPr/>
            <p:nvPr/>
          </p:nvSpPr>
          <p:spPr>
            <a:xfrm>
              <a:off x="803650" y="3562950"/>
              <a:ext cx="1567200" cy="803700"/>
            </a:xfrm>
            <a:prstGeom prst="roundRect">
              <a:avLst>
                <a:gd name="adj" fmla="val 16667"/>
              </a:avLst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Instancia</a:t>
              </a:r>
              <a:endParaRPr sz="1200"/>
            </a:p>
          </p:txBody>
        </p:sp>
        <p:sp>
          <p:nvSpPr>
            <p:cNvPr id="7" name="Google Shape;98;p16">
              <a:extLst>
                <a:ext uri="{FF2B5EF4-FFF2-40B4-BE49-F238E27FC236}">
                  <a16:creationId xmlns:a16="http://schemas.microsoft.com/office/drawing/2014/main" id="{69ACC2EA-7BA7-F227-199A-781FF2020268}"/>
                </a:ext>
              </a:extLst>
            </p:cNvPr>
            <p:cNvSpPr/>
            <p:nvPr/>
          </p:nvSpPr>
          <p:spPr>
            <a:xfrm>
              <a:off x="2933375" y="3562963"/>
              <a:ext cx="830475" cy="803675"/>
            </a:xfrm>
            <a:prstGeom prst="flowChartMagneticDisk">
              <a:avLst/>
            </a:prstGeom>
            <a:solidFill>
              <a:srgbClr val="EAD1D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/>
                <a:t>DB</a:t>
              </a:r>
              <a:endParaRPr sz="1400"/>
            </a:p>
          </p:txBody>
        </p:sp>
        <p:sp>
          <p:nvSpPr>
            <p:cNvPr id="8" name="Google Shape;99;p16">
              <a:extLst>
                <a:ext uri="{FF2B5EF4-FFF2-40B4-BE49-F238E27FC236}">
                  <a16:creationId xmlns:a16="http://schemas.microsoft.com/office/drawing/2014/main" id="{534628C8-DCD2-16C9-0FE0-EB2545EB47DE}"/>
                </a:ext>
              </a:extLst>
            </p:cNvPr>
            <p:cNvSpPr txBox="1"/>
            <p:nvPr/>
          </p:nvSpPr>
          <p:spPr>
            <a:xfrm>
              <a:off x="1460050" y="3966450"/>
              <a:ext cx="9108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>
                  <a:latin typeface="Open Sans"/>
                  <a:ea typeface="Open Sans"/>
                  <a:cs typeface="Open Sans"/>
                  <a:sym typeface="Open Sans"/>
                </a:rPr>
                <a:t>java -jar</a:t>
              </a:r>
              <a:endParaRPr sz="1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9" name="Google Shape;100;p16">
              <a:extLst>
                <a:ext uri="{FF2B5EF4-FFF2-40B4-BE49-F238E27FC236}">
                  <a16:creationId xmlns:a16="http://schemas.microsoft.com/office/drawing/2014/main" id="{38B697FB-9F9A-133C-9595-FB819FDA60CA}"/>
                </a:ext>
              </a:extLst>
            </p:cNvPr>
            <p:cNvCxnSpPr>
              <a:stCxn id="6" idx="3"/>
              <a:endCxn id="7" idx="2"/>
            </p:cNvCxnSpPr>
            <p:nvPr/>
          </p:nvCxnSpPr>
          <p:spPr>
            <a:xfrm>
              <a:off x="2370850" y="3964800"/>
              <a:ext cx="562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567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CF0A-6D83-46DC-34A0-A8200BB9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BAD13-D1D7-2B25-C3AC-513FBD4E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Externalized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62BF8A8-C46A-5DED-05A6-4C5899ED33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B743C0-C71B-7A3F-C643-2C410680F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 igual que en Azure, cree un utilice </a:t>
            </a:r>
            <a:r>
              <a:rPr lang="es-ES" dirty="0" err="1"/>
              <a:t>externalized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para configurar su aplicación en Spring </a:t>
            </a:r>
            <a:r>
              <a:rPr lang="es-ES" dirty="0" err="1"/>
              <a:t>boot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108;p17">
            <a:extLst>
              <a:ext uri="{FF2B5EF4-FFF2-40B4-BE49-F238E27FC236}">
                <a16:creationId xmlns:a16="http://schemas.microsoft.com/office/drawing/2014/main" id="{76D2F319-40F4-CBA4-0A44-C365AABBAB1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8762" y="3060232"/>
            <a:ext cx="9134475" cy="1257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939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B924F-B483-83A5-DF0B-592E8D16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88A0B-58E0-D647-17D5-8893395C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Despliegue de su aplicación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F7D5B33-1809-DCCD-6210-7F73D84C0B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77AAEE-1823-396E-A28B-E9043A87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Ejecute el comando (sin </a:t>
            </a:r>
            <a:r>
              <a:rPr lang="es-ES" dirty="0" err="1"/>
              <a:t>nohup</a:t>
            </a:r>
            <a:r>
              <a:rPr lang="es-ES" dirty="0"/>
              <a:t>) </a:t>
            </a:r>
            <a:r>
              <a:rPr lang="es-ES" dirty="0">
                <a:solidFill>
                  <a:srgbClr val="FFFFFF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java -</a:t>
            </a:r>
            <a:r>
              <a:rPr lang="es-ES" dirty="0" err="1">
                <a:solidFill>
                  <a:srgbClr val="FFFFFF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jar</a:t>
            </a:r>
            <a:r>
              <a:rPr lang="es-ES" dirty="0">
                <a:solidFill>
                  <a:srgbClr val="FFFFFF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[su_proyecto].jar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→ Para probar que levanta OK.</a:t>
            </a:r>
            <a:endParaRPr lang="es-ES" dirty="0">
              <a:solidFill>
                <a:srgbClr val="FFFFFF"/>
              </a:solidFill>
              <a:highlight>
                <a:srgbClr val="000000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endParaRPr lang="es-PE" dirty="0"/>
          </a:p>
        </p:txBody>
      </p:sp>
      <p:pic>
        <p:nvPicPr>
          <p:cNvPr id="5" name="Google Shape;116;p18">
            <a:extLst>
              <a:ext uri="{FF2B5EF4-FFF2-40B4-BE49-F238E27FC236}">
                <a16:creationId xmlns:a16="http://schemas.microsoft.com/office/drawing/2014/main" id="{F5CB02F6-9804-030F-9F87-F517E4AA9EF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5917" y="2551725"/>
            <a:ext cx="5187768" cy="28278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905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BE6E-D2D2-DEFA-D30D-9BE1AC0F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F9EBE-B3C7-4C70-98EC-68CF9ED5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¡Listo!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EF3BFCF-3B28-4492-48E6-925F30B759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FEC159-0537-7CD9-A9C7-36B73F20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10" y="1426361"/>
            <a:ext cx="9293179" cy="400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8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07234-9401-A885-5FCD-7F7ABFB1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CA880-3E90-6C51-A870-71B5FB83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Recordando - </a:t>
            </a:r>
            <a:r>
              <a:rPr lang="es-ES" dirty="0" err="1"/>
              <a:t>nohup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B0CB77-EB19-FF54-A739-8E88FBCE69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AE72AA-F0EA-F298-58C9-FD99F3DFF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spcBef>
                <a:spcPts val="0"/>
              </a:spcBef>
              <a:buNone/>
            </a:pP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nohup</a:t>
            </a:r>
            <a:r>
              <a:rPr lang="es-419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java -</a:t>
            </a: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jar</a:t>
            </a:r>
            <a:r>
              <a:rPr lang="es-419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[proyecto].jar &amp;</a:t>
            </a:r>
          </a:p>
          <a:p>
            <a:pPr marL="0" lvl="0" indent="457200">
              <a:lnSpc>
                <a:spcPct val="115000"/>
              </a:lnSpc>
              <a:spcBef>
                <a:spcPts val="1600"/>
              </a:spcBef>
              <a:buNone/>
            </a:pP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ps</a:t>
            </a:r>
            <a:r>
              <a:rPr lang="es-419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aux</a:t>
            </a:r>
            <a:r>
              <a:rPr lang="es-419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|grep </a:t>
            </a: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nohup</a:t>
            </a:r>
            <a:endParaRPr lang="es-419" dirty="0"/>
          </a:p>
          <a:p>
            <a:pPr marL="0" lvl="0" indent="457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kill</a:t>
            </a:r>
            <a:r>
              <a:rPr lang="es-419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-15 -1 [</a:t>
            </a:r>
            <a:r>
              <a:rPr lang="es-419" dirty="0" err="1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pid</a:t>
            </a:r>
            <a:r>
              <a:rPr lang="es-419" dirty="0">
                <a:solidFill>
                  <a:schemeClr val="lt1"/>
                </a:solidFill>
                <a:highlight>
                  <a:srgbClr val="000000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]</a:t>
            </a:r>
            <a:endParaRPr lang="es-419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86963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542</TotalTime>
  <Words>188</Words>
  <Application>Microsoft Office PowerPoint</Application>
  <PresentationFormat>Panorámica</PresentationFormat>
  <Paragraphs>35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Arial</vt:lpstr>
      <vt:lpstr>Montserrat</vt:lpstr>
      <vt:lpstr>Montserrat Medium</vt:lpstr>
      <vt:lpstr>Open Sans</vt:lpstr>
      <vt:lpstr>Source Code Pro</vt:lpstr>
      <vt:lpstr>Tema de Office</vt:lpstr>
      <vt:lpstr>1_Tema de Office</vt:lpstr>
      <vt:lpstr>Diseño personalizado</vt:lpstr>
      <vt:lpstr>Telecom Pucp</vt:lpstr>
      <vt:lpstr>Presentación de PowerPoint</vt:lpstr>
      <vt:lpstr>Despliegue en VM con BD administradas en AWS</vt:lpstr>
      <vt:lpstr>Java</vt:lpstr>
      <vt:lpstr>Aplicación de ejemplo y generación del .jar</vt:lpstr>
      <vt:lpstr>Arquitectura para el despliegue</vt:lpstr>
      <vt:lpstr>Externalized Configuration</vt:lpstr>
      <vt:lpstr>Despliegue de su aplicación</vt:lpstr>
      <vt:lpstr>¡Listo!</vt:lpstr>
      <vt:lpstr>Recordando - nohup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23</cp:revision>
  <dcterms:created xsi:type="dcterms:W3CDTF">2023-10-28T21:43:03Z</dcterms:created>
  <dcterms:modified xsi:type="dcterms:W3CDTF">2026-04-01T20:50:02Z</dcterms:modified>
</cp:coreProperties>
</file>