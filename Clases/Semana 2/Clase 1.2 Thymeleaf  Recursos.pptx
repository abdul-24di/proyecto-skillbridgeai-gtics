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26"/>
  </p:notesMasterIdLst>
  <p:handoutMasterIdLst>
    <p:handoutMasterId r:id="rId27"/>
  </p:handoutMasterIdLst>
  <p:sldIdLst>
    <p:sldId id="367" r:id="rId5"/>
    <p:sldId id="368" r:id="rId6"/>
    <p:sldId id="369" r:id="rId7"/>
    <p:sldId id="370" r:id="rId8"/>
    <p:sldId id="371" r:id="rId9"/>
    <p:sldId id="372" r:id="rId10"/>
    <p:sldId id="373" r:id="rId11"/>
    <p:sldId id="374" r:id="rId12"/>
    <p:sldId id="375" r:id="rId13"/>
    <p:sldId id="376" r:id="rId14"/>
    <p:sldId id="377" r:id="rId15"/>
    <p:sldId id="378" r:id="rId16"/>
    <p:sldId id="379" r:id="rId17"/>
    <p:sldId id="380" r:id="rId18"/>
    <p:sldId id="381" r:id="rId19"/>
    <p:sldId id="382" r:id="rId20"/>
    <p:sldId id="383" r:id="rId21"/>
    <p:sldId id="384" r:id="rId22"/>
    <p:sldId id="366" r:id="rId23"/>
    <p:sldId id="385" r:id="rId24"/>
    <p:sldId id="386" r:id="rId2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1" autoAdjust="0"/>
    <p:restoredTop sz="94643"/>
  </p:normalViewPr>
  <p:slideViewPr>
    <p:cSldViewPr snapToGrid="0" snapToObjects="1">
      <p:cViewPr varScale="1">
        <p:scale>
          <a:sx n="99" d="100"/>
          <a:sy n="99" d="100"/>
        </p:scale>
        <p:origin x="95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24/03/2026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24/03/2026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Marzo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058920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740928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710061" cy="830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 dirty="0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8908" y="5890704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806908" y="5890704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73719" y="5890659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83141" y="6128154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248203" y="6177791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90867" y="6186797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8028559" y="6128154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6FFFA66B-6348-0145-0A9D-EBB90970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667138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125812377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5824227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4550503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9142149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9159004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96306213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6431192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5431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9504018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2" r:id="rId10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ymeleaf.org/doc/tutorials/2.1/thymeleafspring.html" TargetMode="Externa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eldung.com/spring-mvc-static-resources" TargetMode="External"/><Relationship Id="rId2" Type="http://schemas.openxmlformats.org/officeDocument/2006/relationships/hyperlink" Target="https://www.thymeleaf.org/documentation.html" TargetMode="Externa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245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DB71C9-0135-7255-A1E9-78D35EDD9A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Thymeleaf</a:t>
            </a:r>
            <a:r>
              <a:rPr lang="es-ES" dirty="0"/>
              <a:t> &amp; Recursos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6E1762-5285-125E-6050-823B455FD3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6066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AF0065-9136-9655-27AB-5A5B990AD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Veamos un ejemplo</a:t>
            </a:r>
            <a:endParaRPr lang="es-PE" dirty="0">
              <a:solidFill>
                <a:schemeClr val="bg2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C636332-26A5-FAF8-0083-83DDA6286F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2F036A1-846D-FB5C-91A8-5FE2213EB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ES" sz="2000" dirty="0" err="1"/>
              <a:t>Thymeleaf</a:t>
            </a:r>
            <a:r>
              <a:rPr lang="es-ES" sz="2000" dirty="0"/>
              <a:t> es un motor de plantillas Java del lado del servidor para entornos web.</a:t>
            </a:r>
          </a:p>
          <a:p>
            <a:pPr>
              <a:spcBef>
                <a:spcPts val="1600"/>
              </a:spcBef>
            </a:pPr>
            <a:r>
              <a:rPr lang="es-ES" sz="2000" dirty="0"/>
              <a:t>El objetivo principal de </a:t>
            </a:r>
            <a:r>
              <a:rPr lang="es-ES" sz="2000" dirty="0" err="1"/>
              <a:t>Thymeleaf</a:t>
            </a:r>
            <a:r>
              <a:rPr lang="es-ES" sz="2000" dirty="0"/>
              <a:t> es integrar plantillas </a:t>
            </a:r>
            <a:r>
              <a:rPr lang="es-ES" sz="2000" dirty="0" err="1"/>
              <a:t>html</a:t>
            </a:r>
            <a:r>
              <a:rPr lang="es-ES" sz="2000" dirty="0"/>
              <a:t> naturales a su flujo de trabajo de desarrollo, las cuales se pueden mostrar correctamente en los navegadores sin necesidad de tener código y también funciona como prototipos estáticos, lo que permite una colaboración más fuerte en los equipos de desarrollo.</a:t>
            </a:r>
          </a:p>
          <a:p>
            <a:pPr>
              <a:spcBef>
                <a:spcPts val="1600"/>
              </a:spcBef>
            </a:pPr>
            <a:r>
              <a:rPr lang="es-ES" sz="2000" dirty="0"/>
              <a:t>La documentación oficial la encuentra en:</a:t>
            </a:r>
          </a:p>
          <a:p>
            <a:pPr>
              <a:spcBef>
                <a:spcPts val="1600"/>
              </a:spcBef>
            </a:pPr>
            <a:r>
              <a:rPr lang="es-ES" sz="2000" u="sng" dirty="0">
                <a:solidFill>
                  <a:schemeClr val="hlink"/>
                </a:solidFill>
                <a:hlinkClick r:id="rId2"/>
              </a:rPr>
              <a:t>https://www.thymeleaf.org/doc/tutorials/2.1/thymeleafspring.html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95051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EE2AD1-4D38-2EB1-0365-96EECB69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Atributo: </a:t>
            </a:r>
            <a:r>
              <a:rPr lang="es-PE" dirty="0" err="1"/>
              <a:t>th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90E8BBC-F6BD-2353-E0A9-AC5D516D1C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EEBB2E-4337-2BC4-0C7C-08AB22EDC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s-ES" sz="2000" dirty="0"/>
              <a:t>Para lograr la simplicidad en las plantillas HTML diseñadas, </a:t>
            </a:r>
            <a:r>
              <a:rPr lang="es-ES" sz="2000" dirty="0" err="1"/>
              <a:t>Thymeleaf</a:t>
            </a:r>
            <a:r>
              <a:rPr lang="es-ES" sz="2000" dirty="0"/>
              <a:t> utiliza las etiquetas </a:t>
            </a:r>
            <a:r>
              <a:rPr lang="es-ES" sz="2000" dirty="0" err="1"/>
              <a:t>th</a:t>
            </a:r>
            <a:r>
              <a:rPr lang="es-ES" sz="2000" dirty="0"/>
              <a:t>, las cuales no obstruyen el diseño de las páginas webs y permite insertar código desde Java mediante </a:t>
            </a:r>
            <a:r>
              <a:rPr lang="es-ES" sz="2000" dirty="0" err="1"/>
              <a:t>Expression</a:t>
            </a:r>
            <a:r>
              <a:rPr lang="es-ES" sz="2000" dirty="0"/>
              <a:t> </a:t>
            </a:r>
            <a:r>
              <a:rPr lang="es-ES" sz="2000" dirty="0" err="1"/>
              <a:t>Language</a:t>
            </a:r>
            <a:r>
              <a:rPr lang="es-ES" sz="2000" dirty="0"/>
              <a:t>.</a:t>
            </a:r>
          </a:p>
          <a:p>
            <a:pPr>
              <a:spcBef>
                <a:spcPts val="1600"/>
              </a:spcBef>
            </a:pPr>
            <a:r>
              <a:rPr lang="es-ES" sz="2000" dirty="0"/>
              <a:t>Para que no aparezcan “</a:t>
            </a:r>
            <a:r>
              <a:rPr lang="es-ES" sz="2000" dirty="0" err="1"/>
              <a:t>warnings</a:t>
            </a:r>
            <a:r>
              <a:rPr lang="es-ES" sz="2000" dirty="0"/>
              <a:t>” al momento de desarrollar el HTML en los </a:t>
            </a:r>
            <a:r>
              <a:rPr lang="es-ES" sz="2000" dirty="0" err="1"/>
              <a:t>IDEs</a:t>
            </a:r>
            <a:r>
              <a:rPr lang="es-ES" sz="2000" dirty="0"/>
              <a:t> (</a:t>
            </a:r>
            <a:r>
              <a:rPr lang="es-ES" sz="2000" dirty="0" err="1"/>
              <a:t>netbeans</a:t>
            </a:r>
            <a:r>
              <a:rPr lang="es-ES" sz="2000" dirty="0"/>
              <a:t>, </a:t>
            </a:r>
            <a:r>
              <a:rPr lang="es-ES" sz="2000" dirty="0" err="1"/>
              <a:t>intelliJ</a:t>
            </a:r>
            <a:r>
              <a:rPr lang="es-ES" sz="2000" dirty="0"/>
              <a:t> o Eclipse), se debe declarar el </a:t>
            </a:r>
            <a:r>
              <a:rPr lang="es-ES" sz="2000" dirty="0" err="1"/>
              <a:t>namespace</a:t>
            </a:r>
            <a:r>
              <a:rPr lang="es-ES" sz="2000" dirty="0"/>
              <a:t> </a:t>
            </a:r>
            <a:r>
              <a:rPr lang="es-ES" sz="2000" dirty="0" err="1"/>
              <a:t>thymeleaf</a:t>
            </a:r>
            <a:r>
              <a:rPr lang="es-ES" sz="2000" dirty="0"/>
              <a:t> en el </a:t>
            </a:r>
            <a:r>
              <a:rPr lang="es-ES" sz="2000" dirty="0" err="1"/>
              <a:t>html</a:t>
            </a:r>
            <a:r>
              <a:rPr lang="es-ES" sz="2000" dirty="0"/>
              <a:t>.</a:t>
            </a:r>
          </a:p>
          <a:p>
            <a:pPr>
              <a:spcBef>
                <a:spcPts val="1600"/>
              </a:spcBef>
            </a:pPr>
            <a:endParaRPr lang="es-ES" sz="2000" dirty="0"/>
          </a:p>
          <a:p>
            <a:pPr>
              <a:spcBef>
                <a:spcPts val="1600"/>
              </a:spcBef>
            </a:pPr>
            <a:endParaRPr lang="es-ES" sz="2000" dirty="0"/>
          </a:p>
          <a:p>
            <a:pPr>
              <a:spcBef>
                <a:spcPts val="1600"/>
              </a:spcBef>
              <a:spcAft>
                <a:spcPts val="1600"/>
              </a:spcAft>
            </a:pPr>
            <a:r>
              <a:rPr lang="es-ES" sz="2000" dirty="0"/>
              <a:t>De esta forma, el IDE reconocerá los atributos “</a:t>
            </a:r>
            <a:r>
              <a:rPr lang="es-ES" sz="2000" dirty="0" err="1"/>
              <a:t>th</a:t>
            </a:r>
            <a:r>
              <a:rPr lang="es-ES" sz="2000" dirty="0"/>
              <a:t>” y nos brindará opciones de autocompletar.</a:t>
            </a:r>
          </a:p>
        </p:txBody>
      </p:sp>
      <p:pic>
        <p:nvPicPr>
          <p:cNvPr id="7" name="Google Shape;92;p16">
            <a:extLst>
              <a:ext uri="{FF2B5EF4-FFF2-40B4-BE49-F238E27FC236}">
                <a16:creationId xmlns:a16="http://schemas.microsoft.com/office/drawing/2014/main" id="{73BACC1E-6E53-62FA-970A-4D03B5A6051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44817" y="3805674"/>
            <a:ext cx="5106530" cy="4610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8337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D581AE-1CE3-EEB3-60EC-756C17B84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Imprimir valores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77F2B87-4829-62DD-36BD-DFC06F2413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952792-7457-47F5-5C4C-D3C9D8BF0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Se realiza con </a:t>
            </a:r>
            <a:r>
              <a:rPr lang="es-ES" b="1" dirty="0" err="1"/>
              <a:t>th:text</a:t>
            </a:r>
            <a:r>
              <a:rPr lang="es-ES" dirty="0"/>
              <a:t> y la variable con </a:t>
            </a:r>
            <a:r>
              <a:rPr lang="es-ES" b="1" dirty="0"/>
              <a:t>${  }</a:t>
            </a:r>
            <a:r>
              <a:rPr lang="es-ES" dirty="0"/>
              <a:t>, tal como se mostró en las diapositivas anteriores.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Observaciones: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dirty="0"/>
              <a:t>Para concatenar se utiliza + (ver 3</a:t>
            </a:r>
            <a:r>
              <a:rPr lang="es-ES" baseline="30000" dirty="0"/>
              <a:t>er</a:t>
            </a:r>
            <a:r>
              <a:rPr lang="es-ES" dirty="0"/>
              <a:t> ejemplo)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/>
              <a:t>Para sustituciones literales se coloca todo el texto dentro de |  |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dirty="0"/>
              <a:t>Observar el 2</a:t>
            </a:r>
            <a:r>
              <a:rPr lang="es-ES" baseline="30000" dirty="0"/>
              <a:t>do</a:t>
            </a:r>
            <a:r>
              <a:rPr lang="es-ES" dirty="0"/>
              <a:t> ejemplo.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En el ejemplo anterior, las 3 formas son válidas y equivalentes para imprimir texto en el </a:t>
            </a:r>
            <a:r>
              <a:rPr lang="es-ES" dirty="0" err="1"/>
              <a:t>html</a:t>
            </a:r>
            <a:r>
              <a:rPr lang="es-ES" dirty="0"/>
              <a:t> desde variables recibidas del controlador.</a:t>
            </a:r>
          </a:p>
        </p:txBody>
      </p:sp>
      <p:pic>
        <p:nvPicPr>
          <p:cNvPr id="5" name="Google Shape;100;p17">
            <a:extLst>
              <a:ext uri="{FF2B5EF4-FFF2-40B4-BE49-F238E27FC236}">
                <a16:creationId xmlns:a16="http://schemas.microsoft.com/office/drawing/2014/main" id="{12190ED5-BBC3-1C6E-304A-CC75C33B788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45194" y="2247576"/>
            <a:ext cx="8105775" cy="914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5897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2F6C88-FC47-EED1-4931-57FCEE06C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Mostrar un objeto en la vista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E743E11-5DEC-2A90-FB79-CC2E1B2A09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EA61F9-9F35-4B57-72C2-498D1D28B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Para el siguiente método del controlador: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sz="1100" dirty="0"/>
          </a:p>
          <a:p>
            <a:pPr marL="0" lvl="0" indent="0">
              <a:spcBef>
                <a:spcPts val="1600"/>
              </a:spcBef>
              <a:buNone/>
            </a:pPr>
            <a:endParaRPr lang="es-ES" sz="7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Imprimir el objeto en la vista: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Para obtener los atributos de un objeto, se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coloca directamente el nombre del mismo y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s-ES" b="1" i="1" dirty="0"/>
              <a:t>EL</a:t>
            </a:r>
            <a:r>
              <a:rPr lang="es-ES" dirty="0"/>
              <a:t> buscará el </a:t>
            </a:r>
            <a:r>
              <a:rPr lang="es-ES" dirty="0" err="1"/>
              <a:t>Getter</a:t>
            </a:r>
            <a:r>
              <a:rPr lang="es-ES" dirty="0"/>
              <a:t> correspondiente.</a:t>
            </a:r>
            <a:endParaRPr lang="es-PE" dirty="0"/>
          </a:p>
        </p:txBody>
      </p:sp>
      <p:pic>
        <p:nvPicPr>
          <p:cNvPr id="9" name="Google Shape;108;p18">
            <a:extLst>
              <a:ext uri="{FF2B5EF4-FFF2-40B4-BE49-F238E27FC236}">
                <a16:creationId xmlns:a16="http://schemas.microsoft.com/office/drawing/2014/main" id="{811B04CE-AF2E-F9A4-013A-1026CF2265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73132"/>
          <a:stretch/>
        </p:blipFill>
        <p:spPr>
          <a:xfrm>
            <a:off x="1145550" y="2019910"/>
            <a:ext cx="6933059" cy="908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9;p18">
            <a:extLst>
              <a:ext uri="{FF2B5EF4-FFF2-40B4-BE49-F238E27FC236}">
                <a16:creationId xmlns:a16="http://schemas.microsoft.com/office/drawing/2014/main" id="{F3652BDD-A501-DFA3-98EE-215421D525D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6954" y="3429000"/>
            <a:ext cx="5110099" cy="1206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10;p18">
            <a:extLst>
              <a:ext uri="{FF2B5EF4-FFF2-40B4-BE49-F238E27FC236}">
                <a16:creationId xmlns:a16="http://schemas.microsoft.com/office/drawing/2014/main" id="{F55D80D9-5495-5C61-5AAB-36EE2C5610D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4371" y="2084010"/>
            <a:ext cx="3152775" cy="3009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4966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F799D1-3E2A-848E-93F2-FED4409AA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Mostrar un objeto en la vista (otra forma)</a:t>
            </a:r>
            <a:endParaRPr lang="es-PE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51EAC26-88BE-EF3F-08C4-6EB4063164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8DF809-2C5C-6F58-D329-C5A1A135FE38}"/>
              </a:ext>
            </a:extLst>
          </p:cNvPr>
          <p:cNvSpPr txBox="1"/>
          <p:nvPr/>
        </p:nvSpPr>
        <p:spPr>
          <a:xfrm>
            <a:off x="839788" y="1470917"/>
            <a:ext cx="8799897" cy="417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En base al mismo controlador de la diapositiva anterior,</a:t>
            </a:r>
            <a:r>
              <a:rPr lang="es-ES" sz="600" dirty="0"/>
              <a:t> </a:t>
            </a:r>
            <a:r>
              <a:rPr lang="es-ES" dirty="0"/>
              <a:t>es posible usar los atributos </a:t>
            </a:r>
            <a:r>
              <a:rPr lang="es-ES" b="1" dirty="0" err="1"/>
              <a:t>th:object</a:t>
            </a:r>
            <a:r>
              <a:rPr lang="es-ES" dirty="0"/>
              <a:t> y </a:t>
            </a:r>
            <a:r>
              <a:rPr lang="es-ES" b="1" dirty="0" err="1"/>
              <a:t>th:field</a:t>
            </a:r>
            <a:r>
              <a:rPr lang="es-ES" dirty="0"/>
              <a:t> para llenar información.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Se utiliza </a:t>
            </a:r>
            <a:r>
              <a:rPr lang="es-ES" b="1" dirty="0"/>
              <a:t>*{ }</a:t>
            </a:r>
            <a:r>
              <a:rPr lang="es-ES" dirty="0"/>
              <a:t>  pues los atributos nombre, apellido, dni y edad dependen del objeto definido en </a:t>
            </a:r>
            <a:r>
              <a:rPr lang="es-ES" b="1" dirty="0" err="1"/>
              <a:t>th:object</a:t>
            </a:r>
            <a:r>
              <a:rPr lang="es-ES" dirty="0"/>
              <a:t>.</a:t>
            </a:r>
          </a:p>
          <a:p>
            <a:pPr marL="285750" lvl="0" indent="-285750" algn="l" rtl="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s-ES" dirty="0"/>
              <a:t>Así mismo, </a:t>
            </a:r>
            <a:r>
              <a:rPr lang="es-ES" b="1" dirty="0" err="1"/>
              <a:t>th:field</a:t>
            </a:r>
            <a:r>
              <a:rPr lang="es-ES" dirty="0"/>
              <a:t> se convierte en </a:t>
            </a:r>
            <a:r>
              <a:rPr lang="es-ES" b="1" dirty="0" err="1"/>
              <a:t>th:name</a:t>
            </a:r>
            <a:r>
              <a:rPr lang="es-ES" dirty="0"/>
              <a:t>, </a:t>
            </a:r>
            <a:r>
              <a:rPr lang="es-ES" b="1" dirty="0" err="1"/>
              <a:t>th:id</a:t>
            </a:r>
            <a:r>
              <a:rPr lang="es-ES" dirty="0"/>
              <a:t> y </a:t>
            </a:r>
            <a:r>
              <a:rPr lang="es-ES" b="1" dirty="0" err="1"/>
              <a:t>th:value</a:t>
            </a:r>
            <a:endParaRPr lang="es-PE" dirty="0"/>
          </a:p>
        </p:txBody>
      </p:sp>
      <p:pic>
        <p:nvPicPr>
          <p:cNvPr id="9" name="Google Shape;118;p19">
            <a:extLst>
              <a:ext uri="{FF2B5EF4-FFF2-40B4-BE49-F238E27FC236}">
                <a16:creationId xmlns:a16="http://schemas.microsoft.com/office/drawing/2014/main" id="{A18D7A0D-3BD4-3F2B-76BE-95877F13EBF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7118" y="2242586"/>
            <a:ext cx="2228899" cy="2164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20;p19">
            <a:extLst>
              <a:ext uri="{FF2B5EF4-FFF2-40B4-BE49-F238E27FC236}">
                <a16:creationId xmlns:a16="http://schemas.microsoft.com/office/drawing/2014/main" id="{7CEC0F64-8328-EC3A-DE94-8E2D2C0734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6991" y="1894592"/>
            <a:ext cx="241935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21;p19">
            <a:extLst>
              <a:ext uri="{FF2B5EF4-FFF2-40B4-BE49-F238E27FC236}">
                <a16:creationId xmlns:a16="http://schemas.microsoft.com/office/drawing/2014/main" id="{A8538E78-EF2C-4B5F-135A-D86DA75677A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8014" y="3285242"/>
            <a:ext cx="4957158" cy="115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5186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10A3EE-D02E-6F1C-FB60-200137AD9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Iterar una lista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s-ES" dirty="0" err="1">
                <a:sym typeface="Wingdings" panose="05000000000000000000" pitchFamily="2" charset="2"/>
              </a:rPr>
              <a:t>th:each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88549A3-F779-7CE8-0BF1-A780246471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sp>
        <p:nvSpPr>
          <p:cNvPr id="5" name="Marcador de contenido 5">
            <a:extLst>
              <a:ext uri="{FF2B5EF4-FFF2-40B4-BE49-F238E27FC236}">
                <a16:creationId xmlns:a16="http://schemas.microsoft.com/office/drawing/2014/main" id="{BC470344-41C3-AC98-B0F7-901404684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344" y="3021136"/>
            <a:ext cx="9716589" cy="600075"/>
          </a:xfrm>
        </p:spPr>
        <p:txBody>
          <a:bodyPr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/>
              <a:t>Se utiliza el tag </a:t>
            </a:r>
            <a:r>
              <a:rPr lang="es-ES" sz="1600" b="1" dirty="0" err="1"/>
              <a:t>th:each</a:t>
            </a:r>
            <a:r>
              <a:rPr lang="es-ES" sz="1600" dirty="0"/>
              <a:t> para iterar sobre un arreglo o lista de elementos.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/>
              <a:t>Sigue el siguiente formato → </a:t>
            </a:r>
            <a:r>
              <a:rPr lang="es-ES" sz="1600" b="1" dirty="0" err="1"/>
              <a:t>th:each</a:t>
            </a:r>
            <a:r>
              <a:rPr lang="es-ES" sz="1600" b="1" dirty="0"/>
              <a:t>=”</a:t>
            </a:r>
            <a:r>
              <a:rPr lang="es-ES" sz="1600" b="1" dirty="0" err="1"/>
              <a:t>elementoDelArreglo</a:t>
            </a:r>
            <a:r>
              <a:rPr lang="es-ES" sz="1600" b="1" dirty="0"/>
              <a:t> : arreglo“</a:t>
            </a:r>
          </a:p>
          <a:p>
            <a:endParaRPr lang="es-PE" sz="1600" dirty="0"/>
          </a:p>
        </p:txBody>
      </p:sp>
      <p:pic>
        <p:nvPicPr>
          <p:cNvPr id="7" name="Google Shape;130;p20">
            <a:extLst>
              <a:ext uri="{FF2B5EF4-FFF2-40B4-BE49-F238E27FC236}">
                <a16:creationId xmlns:a16="http://schemas.microsoft.com/office/drawing/2014/main" id="{9132AFDC-93DF-EFB3-921E-3B6DF2DC389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66355" y="1453297"/>
            <a:ext cx="8242300" cy="1401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31;p20">
            <a:extLst>
              <a:ext uri="{FF2B5EF4-FFF2-40B4-BE49-F238E27FC236}">
                <a16:creationId xmlns:a16="http://schemas.microsoft.com/office/drawing/2014/main" id="{5E3C498E-FCFD-35C1-A7EF-7B47CC2695A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946" y="3787247"/>
            <a:ext cx="3342314" cy="186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32;p20">
            <a:extLst>
              <a:ext uri="{FF2B5EF4-FFF2-40B4-BE49-F238E27FC236}">
                <a16:creationId xmlns:a16="http://schemas.microsoft.com/office/drawing/2014/main" id="{66FB36CC-9DD7-77CF-5801-D1E23EB3523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2639" y="3787246"/>
            <a:ext cx="2664596" cy="18651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4428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0144E-D266-CBF0-7E29-A7332B2A5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Variables de estado en </a:t>
            </a:r>
            <a:r>
              <a:rPr lang="es-ES" dirty="0" err="1"/>
              <a:t>th:each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7DCBECA-8AEA-5BC1-44E4-9AFC538131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1C36CB-2600-84F7-54A7-F365098D4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507177"/>
            <a:ext cx="9716589" cy="384364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 err="1"/>
              <a:t>Thymeleaf</a:t>
            </a:r>
            <a:r>
              <a:rPr lang="es-ES" sz="2000" dirty="0"/>
              <a:t> también provee un mecanismo útil para el seguimiento del proceso de iteración a través de las </a:t>
            </a:r>
            <a:r>
              <a:rPr lang="es-ES" sz="2000" b="1" dirty="0"/>
              <a:t>variables de estado</a:t>
            </a:r>
            <a:r>
              <a:rPr lang="es-ES" sz="2000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Las variables de estado proporcionan las siguientes propiedades: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2000" b="1" dirty="0" err="1"/>
              <a:t>index</a:t>
            </a:r>
            <a:r>
              <a:rPr lang="es-ES" sz="2000" dirty="0"/>
              <a:t>: el índice de iteración actual, que comienza con 0 (cero)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b="1" dirty="0" err="1"/>
              <a:t>count</a:t>
            </a:r>
            <a:r>
              <a:rPr lang="es-ES" sz="2000" dirty="0"/>
              <a:t>: el número de elementos procesados hasta ahora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b="1" dirty="0" err="1"/>
              <a:t>size</a:t>
            </a:r>
            <a:r>
              <a:rPr lang="es-ES" sz="2000" dirty="0"/>
              <a:t>: el número total de elementos en la lista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b="1" dirty="0" err="1"/>
              <a:t>even</a:t>
            </a:r>
            <a:r>
              <a:rPr lang="es-ES" sz="2000" b="1" dirty="0"/>
              <a:t> </a:t>
            </a:r>
            <a:r>
              <a:rPr lang="es-ES" sz="2000" dirty="0"/>
              <a:t>/ </a:t>
            </a:r>
            <a:r>
              <a:rPr lang="es-ES" sz="2000" b="1" dirty="0" err="1"/>
              <a:t>odd</a:t>
            </a:r>
            <a:r>
              <a:rPr lang="es-ES" sz="2000" dirty="0"/>
              <a:t>: comprueba si el índice de iteración actual es par o impar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b="1" dirty="0" err="1"/>
              <a:t>first</a:t>
            </a:r>
            <a:r>
              <a:rPr lang="es-ES" sz="2000" dirty="0"/>
              <a:t>: comprueba si la iteración actual es la primera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b="1" dirty="0" err="1"/>
              <a:t>last</a:t>
            </a:r>
            <a:r>
              <a:rPr lang="es-ES" sz="2000" dirty="0"/>
              <a:t>: comprueba si la iteración actual es la última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Para usarlas, se declara una variable de la cual se obtendrán las propiedades de las variables de estado, bajo el siguiente formato:</a:t>
            </a:r>
          </a:p>
          <a:p>
            <a:pPr marL="0" lvl="0" indent="457200">
              <a:spcBef>
                <a:spcPts val="1600"/>
              </a:spcBef>
              <a:buNone/>
            </a:pPr>
            <a:r>
              <a:rPr lang="es-ES" sz="2000" dirty="0" err="1"/>
              <a:t>th:each</a:t>
            </a:r>
            <a:r>
              <a:rPr lang="es-ES" sz="2000" dirty="0"/>
              <a:t>=”</a:t>
            </a:r>
            <a:r>
              <a:rPr lang="es-ES" sz="2000" dirty="0" err="1"/>
              <a:t>elementoDelArreglo</a:t>
            </a:r>
            <a:r>
              <a:rPr lang="es-ES" sz="2000" dirty="0"/>
              <a:t>, </a:t>
            </a:r>
            <a:r>
              <a:rPr lang="es-ES" sz="2000" b="1" dirty="0"/>
              <a:t>variable </a:t>
            </a:r>
            <a:r>
              <a:rPr lang="es-ES" sz="2000" dirty="0"/>
              <a:t>: arreglo</a:t>
            </a:r>
          </a:p>
        </p:txBody>
      </p:sp>
    </p:spTree>
    <p:extLst>
      <p:ext uri="{BB962C8B-B14F-4D97-AF65-F5344CB8AC3E}">
        <p14:creationId xmlns:p14="http://schemas.microsoft.com/office/powerpoint/2010/main" val="1444554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BEC5D-44DC-19EE-7B13-F074DA4B4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Variables de estado, Ejemplo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2EBAE44-E038-388B-37EE-198EAD109C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87C945-9D7D-F22F-0B90-D741A5CAF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407256"/>
            <a:ext cx="9716589" cy="3843645"/>
          </a:xfrm>
        </p:spPr>
        <p:txBody>
          <a:bodyPr/>
          <a:lstStyle/>
          <a:p>
            <a:r>
              <a:rPr lang="es-ES" sz="1800" dirty="0"/>
              <a:t>Agregando el índice de la iteración a la tabla:</a:t>
            </a:r>
          </a:p>
          <a:p>
            <a:endParaRPr lang="es-PE" dirty="0"/>
          </a:p>
        </p:txBody>
      </p:sp>
      <p:pic>
        <p:nvPicPr>
          <p:cNvPr id="13" name="Google Shape;147;p22">
            <a:extLst>
              <a:ext uri="{FF2B5EF4-FFF2-40B4-BE49-F238E27FC236}">
                <a16:creationId xmlns:a16="http://schemas.microsoft.com/office/drawing/2014/main" id="{F13E8B32-FB97-F0AE-0388-2F1AF3A954A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93695" y="2021635"/>
            <a:ext cx="57150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8;p22">
            <a:extLst>
              <a:ext uri="{FF2B5EF4-FFF2-40B4-BE49-F238E27FC236}">
                <a16:creationId xmlns:a16="http://schemas.microsoft.com/office/drawing/2014/main" id="{4446A87F-AE88-9883-0FA7-342B661F61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0645" y="1652467"/>
            <a:ext cx="2730250" cy="19835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51;p22">
            <a:extLst>
              <a:ext uri="{FF2B5EF4-FFF2-40B4-BE49-F238E27FC236}">
                <a16:creationId xmlns:a16="http://schemas.microsoft.com/office/drawing/2014/main" id="{7C2E0E9B-A81A-24D5-BE5C-2850FC5F482F}"/>
              </a:ext>
            </a:extLst>
          </p:cNvPr>
          <p:cNvCxnSpPr/>
          <p:nvPr/>
        </p:nvCxnSpPr>
        <p:spPr>
          <a:xfrm rot="10800000" flipH="1">
            <a:off x="7167720" y="3586285"/>
            <a:ext cx="924000" cy="701700"/>
          </a:xfrm>
          <a:prstGeom prst="bentConnector2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7222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78861D-505D-69D7-13CC-66958EC7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Llenar un </a:t>
            </a:r>
            <a:r>
              <a:rPr lang="es-ES" dirty="0" err="1"/>
              <a:t>comboBox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C65C79C-F838-DC9A-045C-7C897840E3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F528057-4206-CC98-4D86-EB382C425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800" dirty="0"/>
              <a:t>Se enviará una lista de productos a la vista y además se recibirá en el URL la variable zona.</a:t>
            </a:r>
          </a:p>
          <a:p>
            <a:endParaRPr lang="es-PE" sz="1800" dirty="0"/>
          </a:p>
        </p:txBody>
      </p:sp>
      <p:pic>
        <p:nvPicPr>
          <p:cNvPr id="7" name="Google Shape;159;p23">
            <a:extLst>
              <a:ext uri="{FF2B5EF4-FFF2-40B4-BE49-F238E27FC236}">
                <a16:creationId xmlns:a16="http://schemas.microsoft.com/office/drawing/2014/main" id="{7898DBC2-796F-6287-869B-350A4ED5AF0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43150" y="2682990"/>
            <a:ext cx="7505700" cy="2390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3879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30EAB-D91E-B16B-0626-2E4E42B1D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Llenar un </a:t>
            </a:r>
            <a:r>
              <a:rPr lang="es-ES" dirty="0" err="1"/>
              <a:t>comboBox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B6777A7-1822-CBD7-0030-D880956F2F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EF8CED7-CD69-1C3E-304D-0FE041840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No olvidar que el atributo</a:t>
            </a:r>
            <a:r>
              <a:rPr lang="es-ES" b="1" dirty="0"/>
              <a:t> </a:t>
            </a:r>
            <a:r>
              <a:rPr lang="es-ES" b="1" dirty="0" err="1"/>
              <a:t>th:each</a:t>
            </a:r>
            <a:r>
              <a:rPr lang="es-ES" dirty="0"/>
              <a:t> se coloca en el elemento que se repetirá.</a:t>
            </a:r>
          </a:p>
          <a:p>
            <a:endParaRPr lang="es-PE" dirty="0"/>
          </a:p>
        </p:txBody>
      </p:sp>
      <p:pic>
        <p:nvPicPr>
          <p:cNvPr id="8" name="Google Shape;167;p24">
            <a:extLst>
              <a:ext uri="{FF2B5EF4-FFF2-40B4-BE49-F238E27FC236}">
                <a16:creationId xmlns:a16="http://schemas.microsoft.com/office/drawing/2014/main" id="{34178250-089C-157C-2615-E5655511288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85155" y="2637587"/>
            <a:ext cx="4105275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68;p24">
            <a:extLst>
              <a:ext uri="{FF2B5EF4-FFF2-40B4-BE49-F238E27FC236}">
                <a16:creationId xmlns:a16="http://schemas.microsoft.com/office/drawing/2014/main" id="{2DB9E50A-9E0D-DF1F-73AC-549E306FCE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4763" y="2637587"/>
            <a:ext cx="4399142" cy="1442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69;p24">
            <a:extLst>
              <a:ext uri="{FF2B5EF4-FFF2-40B4-BE49-F238E27FC236}">
                <a16:creationId xmlns:a16="http://schemas.microsoft.com/office/drawing/2014/main" id="{7A98EF74-2B28-8826-2396-9A911ACD97C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495" b="8949"/>
          <a:stretch/>
        </p:blipFill>
        <p:spPr>
          <a:xfrm>
            <a:off x="1763072" y="4373624"/>
            <a:ext cx="3088062" cy="13057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2967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ACB87-2A84-89A0-6746-B93922F0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Condicionales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1CFAEDC-5DE4-597F-566F-4ABCD66E2C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52BD5C-7D0C-3FA3-74B6-7ECE984CA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Las sentencias condiciones que provee </a:t>
            </a:r>
            <a:r>
              <a:rPr lang="es-ES" dirty="0" err="1"/>
              <a:t>Thymeleaf</a:t>
            </a:r>
            <a:r>
              <a:rPr lang="es-ES" dirty="0"/>
              <a:t> son las siguientes: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dirty="0"/>
              <a:t>Operador Ternario ? :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 err="1"/>
              <a:t>th:if</a:t>
            </a:r>
            <a:endParaRPr lang="es-ES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 err="1"/>
              <a:t>th:if</a:t>
            </a:r>
            <a:r>
              <a:rPr lang="es-ES" dirty="0"/>
              <a:t> / </a:t>
            </a:r>
            <a:r>
              <a:rPr lang="es-ES" dirty="0" err="1"/>
              <a:t>th:unless</a:t>
            </a:r>
            <a:endParaRPr lang="es-ES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 err="1"/>
              <a:t>th:case</a:t>
            </a:r>
            <a:endParaRPr lang="es-ES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0050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4AE83-C354-FC59-748A-0180CC9F6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Operador ternario ? : 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55F1D0C-391A-3722-4B22-D10D882831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AB5620-E8E6-5C27-C15B-D0038DF8F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600" dirty="0"/>
              <a:t>Permite colocar un valor en base a una condición en el mismo elemento.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600" dirty="0"/>
          </a:p>
          <a:p>
            <a:pPr marL="0" lvl="0" indent="0">
              <a:spcBef>
                <a:spcPts val="1600"/>
              </a:spcBef>
              <a:buNone/>
            </a:pPr>
            <a:endParaRPr lang="es-ES" sz="1600" dirty="0"/>
          </a:p>
          <a:p>
            <a:pPr marL="0" lvl="0" indent="0">
              <a:spcBef>
                <a:spcPts val="1600"/>
              </a:spcBef>
              <a:buNone/>
            </a:pPr>
            <a:endParaRPr lang="es-ES" sz="1600" dirty="0"/>
          </a:p>
          <a:p>
            <a:pPr marL="0" lvl="0" indent="0">
              <a:spcBef>
                <a:spcPts val="1600"/>
              </a:spcBef>
              <a:buNone/>
            </a:pPr>
            <a:endParaRPr lang="es-ES" sz="16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/>
              <a:t>Operadores de comparación soportados:                     Operadores lógicos:</a:t>
            </a:r>
          </a:p>
          <a:p>
            <a:pPr marL="400050" indent="-285750">
              <a:spcBef>
                <a:spcPts val="0"/>
              </a:spcBef>
              <a:buSzPts val="1800"/>
            </a:pPr>
            <a:r>
              <a:rPr lang="es-419" sz="1800" dirty="0"/>
              <a:t>==	/  </a:t>
            </a:r>
            <a:r>
              <a:rPr lang="es-419" sz="1800" dirty="0" err="1"/>
              <a:t>eq</a:t>
            </a:r>
            <a:r>
              <a:rPr lang="es-419" sz="1800" dirty="0"/>
              <a:t>						and / </a:t>
            </a:r>
            <a:r>
              <a:rPr lang="es-419" sz="1800" dirty="0" err="1"/>
              <a:t>or</a:t>
            </a:r>
            <a:endParaRPr lang="es-419" sz="1800" dirty="0"/>
          </a:p>
          <a:p>
            <a:pPr marL="400050" indent="-285750">
              <a:spcBef>
                <a:spcPts val="0"/>
              </a:spcBef>
              <a:buSzPts val="1800"/>
            </a:pPr>
            <a:r>
              <a:rPr lang="es-419" sz="1800" dirty="0"/>
              <a:t>!=	/  </a:t>
            </a:r>
            <a:r>
              <a:rPr lang="es-419" sz="1800" dirty="0" err="1"/>
              <a:t>ne</a:t>
            </a:r>
            <a:endParaRPr lang="es-419" sz="1800" dirty="0"/>
          </a:p>
          <a:p>
            <a:pPr marL="400050" indent="-285750">
              <a:spcBef>
                <a:spcPts val="0"/>
              </a:spcBef>
              <a:buSzPts val="1800"/>
            </a:pPr>
            <a:r>
              <a:rPr lang="es-419" sz="1800" dirty="0"/>
              <a:t>&gt;	/  </a:t>
            </a:r>
            <a:r>
              <a:rPr lang="es-419" sz="1800" dirty="0" err="1"/>
              <a:t>gt</a:t>
            </a:r>
            <a:endParaRPr lang="es-419" sz="1800" dirty="0"/>
          </a:p>
          <a:p>
            <a:pPr marL="400050" indent="-285750">
              <a:spcBef>
                <a:spcPts val="0"/>
              </a:spcBef>
              <a:buSzPts val="1800"/>
            </a:pPr>
            <a:r>
              <a:rPr lang="es-419" sz="1800" dirty="0"/>
              <a:t>&gt;=	/  ge</a:t>
            </a:r>
          </a:p>
          <a:p>
            <a:pPr marL="400050" indent="-285750">
              <a:spcBef>
                <a:spcPts val="0"/>
              </a:spcBef>
              <a:buSzPts val="1800"/>
            </a:pPr>
            <a:r>
              <a:rPr lang="es-419" sz="1800" dirty="0"/>
              <a:t>&lt;	/  </a:t>
            </a:r>
            <a:r>
              <a:rPr lang="es-419" sz="1800" dirty="0" err="1"/>
              <a:t>lt</a:t>
            </a:r>
            <a:endParaRPr lang="es-419" sz="1800" dirty="0"/>
          </a:p>
          <a:p>
            <a:pPr marL="400050" indent="-285750">
              <a:spcBef>
                <a:spcPts val="0"/>
              </a:spcBef>
              <a:buSzPts val="1800"/>
            </a:pPr>
            <a:r>
              <a:rPr lang="es-419" sz="1800" dirty="0"/>
              <a:t>&lt;=	/  le</a:t>
            </a:r>
            <a:endParaRPr lang="es-PE" sz="1800" dirty="0"/>
          </a:p>
        </p:txBody>
      </p:sp>
      <p:pic>
        <p:nvPicPr>
          <p:cNvPr id="7" name="Google Shape;184;p26">
            <a:extLst>
              <a:ext uri="{FF2B5EF4-FFF2-40B4-BE49-F238E27FC236}">
                <a16:creationId xmlns:a16="http://schemas.microsoft.com/office/drawing/2014/main" id="{3359C9CC-A779-3110-DB8E-C2D06A804D4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39753" y="2079332"/>
            <a:ext cx="54483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85;p26">
            <a:extLst>
              <a:ext uri="{FF2B5EF4-FFF2-40B4-BE49-F238E27FC236}">
                <a16:creationId xmlns:a16="http://schemas.microsoft.com/office/drawing/2014/main" id="{24F82DB2-20B0-A42A-BC01-E4D9ACBB543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0168" y="2644462"/>
            <a:ext cx="3415718" cy="986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86;p26">
            <a:extLst>
              <a:ext uri="{FF2B5EF4-FFF2-40B4-BE49-F238E27FC236}">
                <a16:creationId xmlns:a16="http://schemas.microsoft.com/office/drawing/2014/main" id="{C36948F0-B041-A03A-7B2D-0B7D2037F5E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5513" y="2644462"/>
            <a:ext cx="3574386" cy="8235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8559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73D50-D670-A01C-A563-5FF791AB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Th: </a:t>
            </a:r>
            <a:r>
              <a:rPr lang="es-ES" dirty="0" err="1"/>
              <a:t>if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A3C5B59-969F-2341-40D0-DC70AD6034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1B857FA-B6E3-E25E-D957-F7EE9CFAF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Permite mostrar un tag HTML dependiendo de la condición. La evaluación de la comparación se realiza dentro de $ {   }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Ejemplo 1: Mostrar la lista de productos si la zona es “Este”.</a:t>
            </a:r>
          </a:p>
          <a:p>
            <a:endParaRPr lang="es-PE" sz="1800" dirty="0"/>
          </a:p>
        </p:txBody>
      </p:sp>
      <p:pic>
        <p:nvPicPr>
          <p:cNvPr id="7" name="Google Shape;194;p27">
            <a:extLst>
              <a:ext uri="{FF2B5EF4-FFF2-40B4-BE49-F238E27FC236}">
                <a16:creationId xmlns:a16="http://schemas.microsoft.com/office/drawing/2014/main" id="{94226C71-74CB-372F-74E0-6F6F6E093EE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0835"/>
          <a:stretch/>
        </p:blipFill>
        <p:spPr>
          <a:xfrm>
            <a:off x="1410746" y="4455735"/>
            <a:ext cx="4162425" cy="134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95;p27">
            <a:extLst>
              <a:ext uri="{FF2B5EF4-FFF2-40B4-BE49-F238E27FC236}">
                <a16:creationId xmlns:a16="http://schemas.microsoft.com/office/drawing/2014/main" id="{47F3EED9-5C9D-F9BC-6C53-17575D7832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27" t="24242"/>
          <a:stretch/>
        </p:blipFill>
        <p:spPr>
          <a:xfrm>
            <a:off x="5983561" y="4455735"/>
            <a:ext cx="4162425" cy="134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96;p27">
            <a:extLst>
              <a:ext uri="{FF2B5EF4-FFF2-40B4-BE49-F238E27FC236}">
                <a16:creationId xmlns:a16="http://schemas.microsoft.com/office/drawing/2014/main" id="{7180B33D-F3EF-BC69-4359-10A45954BC8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5905" y="2722185"/>
            <a:ext cx="5457825" cy="1733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1193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D7865E-8618-97FE-4AC3-E4F12A614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Th: </a:t>
            </a:r>
            <a:r>
              <a:rPr lang="es-ES" dirty="0" err="1"/>
              <a:t>if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5E0BA9E-1157-901C-F978-48E146CDFD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85E015-F9DC-71E0-1074-6BE2DC52D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dirty="0"/>
              <a:t>Ejemplo 2: Mostrar la lista de productos solo de gaseosas o detergentes.</a:t>
            </a:r>
          </a:p>
          <a:p>
            <a:endParaRPr lang="es-PE" dirty="0"/>
          </a:p>
        </p:txBody>
      </p:sp>
      <p:pic>
        <p:nvPicPr>
          <p:cNvPr id="7" name="Google Shape;204;p28">
            <a:extLst>
              <a:ext uri="{FF2B5EF4-FFF2-40B4-BE49-F238E27FC236}">
                <a16:creationId xmlns:a16="http://schemas.microsoft.com/office/drawing/2014/main" id="{D94FB445-B862-FF11-94CF-83C51F74B90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35623" y="2247057"/>
            <a:ext cx="9144000" cy="1737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05;p28">
            <a:extLst>
              <a:ext uri="{FF2B5EF4-FFF2-40B4-BE49-F238E27FC236}">
                <a16:creationId xmlns:a16="http://schemas.microsoft.com/office/drawing/2014/main" id="{98825849-C4EA-75DF-94F8-382E4519B6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37585"/>
          <a:stretch/>
        </p:blipFill>
        <p:spPr>
          <a:xfrm>
            <a:off x="4131173" y="4276543"/>
            <a:ext cx="4152900" cy="1331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4653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6BD02-FE4B-54DB-E669-8196628CC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Th:if</a:t>
            </a:r>
            <a:r>
              <a:rPr lang="es-ES" dirty="0"/>
              <a:t> / </a:t>
            </a:r>
            <a:r>
              <a:rPr lang="es-ES" dirty="0" err="1"/>
              <a:t>th:unless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C360DBF-9F5A-0BD7-F78E-72DAA35133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7F73E06-C985-1711-CE18-507D2F5CB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Permite realizar la condición </a:t>
            </a:r>
            <a:r>
              <a:rPr lang="es-ES" dirty="0" err="1"/>
              <a:t>if</a:t>
            </a:r>
            <a:r>
              <a:rPr lang="es-ES" dirty="0"/>
              <a:t> / </a:t>
            </a:r>
            <a:r>
              <a:rPr lang="es-ES" dirty="0" err="1"/>
              <a:t>else</a:t>
            </a:r>
            <a:r>
              <a:rPr lang="es-ES" dirty="0"/>
              <a:t>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Por ejemplo: Mostrar la lista de productos si la zona es “Este”; caso contrario, mostrar “No hay productos”.</a:t>
            </a:r>
          </a:p>
          <a:p>
            <a:endParaRPr lang="es-PE" dirty="0"/>
          </a:p>
        </p:txBody>
      </p:sp>
      <p:pic>
        <p:nvPicPr>
          <p:cNvPr id="7" name="Google Shape;213;p29">
            <a:extLst>
              <a:ext uri="{FF2B5EF4-FFF2-40B4-BE49-F238E27FC236}">
                <a16:creationId xmlns:a16="http://schemas.microsoft.com/office/drawing/2014/main" id="{193EB65B-7C42-9019-6FBB-235E968BDAC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98727" y="4228458"/>
            <a:ext cx="3790679" cy="151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14;p29">
            <a:extLst>
              <a:ext uri="{FF2B5EF4-FFF2-40B4-BE49-F238E27FC236}">
                <a16:creationId xmlns:a16="http://schemas.microsoft.com/office/drawing/2014/main" id="{BB3124AA-F16D-77C8-00EC-642266A33D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0650"/>
          <a:stretch/>
        </p:blipFill>
        <p:spPr>
          <a:xfrm>
            <a:off x="2753552" y="2947194"/>
            <a:ext cx="6361574" cy="1101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15;p29">
            <a:extLst>
              <a:ext uri="{FF2B5EF4-FFF2-40B4-BE49-F238E27FC236}">
                <a16:creationId xmlns:a16="http://schemas.microsoft.com/office/drawing/2014/main" id="{C89C0CD9-9FCA-9EDC-358D-570B4156F93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5806" y="4247874"/>
            <a:ext cx="4114800" cy="1352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4213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C2500-AF24-B74B-B299-08FF925D3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Th:switch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DB49052-5B85-555A-865F-CB250F797E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E762DBD-60C5-269D-92A3-A0364EEC5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Permite realiza la sentencia switch / case.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Ejemplo: Mostrar la cantidad de elementos en la lista de productos como texto.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Usando #lists, podemos obtener métodos para </a:t>
            </a:r>
          </a:p>
          <a:p>
            <a:pPr marL="0" lvl="0" indent="0">
              <a:spcBef>
                <a:spcPts val="0"/>
              </a:spcBef>
              <a:spcAft>
                <a:spcPts val="1600"/>
              </a:spcAft>
              <a:buNone/>
            </a:pPr>
            <a:r>
              <a:rPr lang="es-ES" dirty="0"/>
              <a:t>trabajar con listas. Para arreglos existe #arrays.</a:t>
            </a:r>
          </a:p>
        </p:txBody>
      </p:sp>
      <p:pic>
        <p:nvPicPr>
          <p:cNvPr id="7" name="Google Shape;225;p30">
            <a:extLst>
              <a:ext uri="{FF2B5EF4-FFF2-40B4-BE49-F238E27FC236}">
                <a16:creationId xmlns:a16="http://schemas.microsoft.com/office/drawing/2014/main" id="{80AF6397-7CE2-FED0-6ABC-8078B02A50F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62702" y="2709862"/>
            <a:ext cx="7524750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26;p30">
            <a:extLst>
              <a:ext uri="{FF2B5EF4-FFF2-40B4-BE49-F238E27FC236}">
                <a16:creationId xmlns:a16="http://schemas.microsoft.com/office/drawing/2014/main" id="{53F8C24F-EF77-D01A-DC71-00B819F8DC6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6227" y="4400835"/>
            <a:ext cx="2600325" cy="857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0505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E686E43-7599-4F2C-90B2-C81FE7D6E5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t>19</a:t>
            </a:fld>
            <a:endParaRPr lang="es-P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F6689F-400B-9D28-96FE-477586A8B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err="1">
                <a:solidFill>
                  <a:schemeClr val="bg1"/>
                </a:solidFill>
                <a:latin typeface="+mj-lt"/>
              </a:rPr>
              <a:t>Recursos</a:t>
            </a:r>
            <a:r>
              <a:rPr lang="en-US" sz="4400" b="1" dirty="0">
                <a:solidFill>
                  <a:schemeClr val="bg1"/>
                </a:solidFill>
                <a:latin typeface="+mj-lt"/>
              </a:rPr>
              <a:t> (JS, CSS, </a:t>
            </a:r>
            <a:r>
              <a:rPr lang="en-US" sz="4400" b="1" dirty="0" err="1">
                <a:solidFill>
                  <a:schemeClr val="bg1"/>
                </a:solidFill>
                <a:latin typeface="+mj-lt"/>
              </a:rPr>
              <a:t>imágenes</a:t>
            </a:r>
            <a:r>
              <a:rPr lang="en-US" sz="4400" b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4400" b="1" dirty="0" err="1">
                <a:solidFill>
                  <a:schemeClr val="bg1"/>
                </a:solidFill>
                <a:latin typeface="+mj-lt"/>
              </a:rPr>
              <a:t>etc</a:t>
            </a:r>
            <a:r>
              <a:rPr lang="en-US" sz="4400" b="1" dirty="0">
                <a:solidFill>
                  <a:schemeClr val="bg1"/>
                </a:solidFill>
                <a:latin typeface="+mj-lt"/>
              </a:rPr>
              <a:t>) </a:t>
            </a:r>
            <a:r>
              <a:rPr lang="en-US" sz="4400" b="1" dirty="0" err="1">
                <a:solidFill>
                  <a:schemeClr val="bg1"/>
                </a:solidFill>
                <a:latin typeface="+mj-lt"/>
              </a:rPr>
              <a:t>en</a:t>
            </a:r>
            <a:r>
              <a:rPr lang="en-US" sz="44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+mj-lt"/>
              </a:rPr>
              <a:t>Thymeleaf</a:t>
            </a:r>
            <a:endParaRPr lang="es-PE" sz="4400" dirty="0"/>
          </a:p>
        </p:txBody>
      </p:sp>
    </p:spTree>
    <p:extLst>
      <p:ext uri="{BB962C8B-B14F-4D97-AF65-F5344CB8AC3E}">
        <p14:creationId xmlns:p14="http://schemas.microsoft.com/office/powerpoint/2010/main" val="3339284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05616-A1CA-5526-8280-C93698DA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Mostrar un recurso en JSP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66E649C-2DDC-42FF-689B-E92772A0B3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838FD1-12F4-87CA-8376-D1902A688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9" y="1667138"/>
            <a:ext cx="8044330" cy="3843645"/>
          </a:xfrm>
        </p:spPr>
        <p:txBody>
          <a:bodyPr/>
          <a:lstStyle/>
          <a:p>
            <a:r>
              <a:rPr lang="es-ES" sz="1800" dirty="0"/>
              <a:t>Para mostrar recursos en una página web usando </a:t>
            </a:r>
            <a:r>
              <a:rPr lang="es-ES" sz="1800" dirty="0" err="1"/>
              <a:t>Thymeleaf</a:t>
            </a:r>
            <a:r>
              <a:rPr lang="es-ES" sz="1800" dirty="0"/>
              <a:t>, estos deben ubicarse en la carpeta </a:t>
            </a:r>
            <a:r>
              <a:rPr lang="es-ES" sz="1800" b="1" dirty="0" err="1"/>
              <a:t>static</a:t>
            </a:r>
            <a:r>
              <a:rPr lang="es-ES" sz="1800" dirty="0"/>
              <a:t>.</a:t>
            </a:r>
          </a:p>
          <a:p>
            <a:r>
              <a:rPr lang="es-ES" sz="1800" dirty="0"/>
              <a:t>Así mismo, para vincular los archivos se hace uso de </a:t>
            </a:r>
            <a:r>
              <a:rPr lang="es-ES" sz="1800" b="1" dirty="0" err="1"/>
              <a:t>th:href</a:t>
            </a:r>
            <a:r>
              <a:rPr lang="es-ES" sz="1800" dirty="0"/>
              <a:t> o </a:t>
            </a:r>
            <a:r>
              <a:rPr lang="es-ES" sz="1800" b="1" dirty="0" err="1"/>
              <a:t>th:src</a:t>
            </a:r>
            <a:r>
              <a:rPr lang="es-ES" sz="1800" dirty="0"/>
              <a:t> (según sea el caso) junto con la notación </a:t>
            </a:r>
            <a:r>
              <a:rPr lang="es-ES" sz="1800" b="1" dirty="0"/>
              <a:t>@{   } </a:t>
            </a:r>
            <a:r>
              <a:rPr lang="es-ES" sz="1800" dirty="0"/>
              <a:t>para que se creen los vínculos (incluido el contexto).</a:t>
            </a:r>
            <a:endParaRPr lang="es-ES" sz="1800" b="1" dirty="0"/>
          </a:p>
          <a:p>
            <a:endParaRPr lang="es-PE" dirty="0"/>
          </a:p>
        </p:txBody>
      </p:sp>
      <p:pic>
        <p:nvPicPr>
          <p:cNvPr id="9" name="Google Shape;241;p32">
            <a:extLst>
              <a:ext uri="{FF2B5EF4-FFF2-40B4-BE49-F238E27FC236}">
                <a16:creationId xmlns:a16="http://schemas.microsoft.com/office/drawing/2014/main" id="{E7BE7605-F142-068F-B54F-1DA45E82BA7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7478" y="1895857"/>
            <a:ext cx="3115325" cy="270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40;p32">
            <a:extLst>
              <a:ext uri="{FF2B5EF4-FFF2-40B4-BE49-F238E27FC236}">
                <a16:creationId xmlns:a16="http://schemas.microsoft.com/office/drawing/2014/main" id="{3B804408-057E-92FB-BE5D-CC2F8FC6107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9657"/>
          <a:stretch/>
        </p:blipFill>
        <p:spPr>
          <a:xfrm>
            <a:off x="1608841" y="3429000"/>
            <a:ext cx="5937366" cy="196719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39;p32">
            <a:extLst>
              <a:ext uri="{FF2B5EF4-FFF2-40B4-BE49-F238E27FC236}">
                <a16:creationId xmlns:a16="http://schemas.microsoft.com/office/drawing/2014/main" id="{B35D6638-321F-CCE8-DB64-276883760C85}"/>
              </a:ext>
            </a:extLst>
          </p:cNvPr>
          <p:cNvSpPr/>
          <p:nvPr/>
        </p:nvSpPr>
        <p:spPr>
          <a:xfrm>
            <a:off x="6801028" y="738381"/>
            <a:ext cx="3912900" cy="777600"/>
          </a:xfrm>
          <a:prstGeom prst="roundRect">
            <a:avLst>
              <a:gd name="adj" fmla="val 16667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FFFFFF"/>
                </a:solidFill>
              </a:rPr>
              <a:t>Al </a:t>
            </a:r>
            <a:r>
              <a:rPr lang="es-419" sz="1200" b="1" dirty="0">
                <a:solidFill>
                  <a:srgbClr val="FFFFFF"/>
                </a:solidFill>
              </a:rPr>
              <a:t>incluir nuevos </a:t>
            </a:r>
            <a:r>
              <a:rPr lang="es-419" sz="1200" dirty="0">
                <a:solidFill>
                  <a:srgbClr val="FFFFFF"/>
                </a:solidFill>
              </a:rPr>
              <a:t>archivos en la ruta </a:t>
            </a:r>
            <a:r>
              <a:rPr lang="es-419" sz="1200" b="1" dirty="0" err="1">
                <a:solidFill>
                  <a:srgbClr val="FFFFFF"/>
                </a:solidFill>
              </a:rPr>
              <a:t>resources</a:t>
            </a:r>
            <a:r>
              <a:rPr lang="es-419" sz="1200" dirty="0">
                <a:solidFill>
                  <a:srgbClr val="FFFFFF"/>
                </a:solidFill>
              </a:rPr>
              <a:t>, estos no refrescan el servidor de forma automática, debe hacerlo manualmente</a:t>
            </a:r>
            <a:endParaRPr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958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54167F-271D-55C6-5974-C2A6A3344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Bibliografía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CE56D20-75F4-DD00-7FF2-9558533E5B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3C508E-2880-40C5-861B-837445649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419" dirty="0" err="1"/>
              <a:t>Thymeleaf</a:t>
            </a:r>
            <a:endParaRPr lang="es-419" dirty="0"/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419" u="sng" dirty="0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https://www.thymeleaf.org/documentation.html</a:t>
            </a:r>
            <a:endParaRPr lang="es-419" dirty="0"/>
          </a:p>
          <a:p>
            <a:pPr lvl="0" indent="-342900">
              <a:buSzPts val="1800"/>
              <a:buChar char="●"/>
            </a:pPr>
            <a:r>
              <a:rPr lang="es-419" dirty="0"/>
              <a:t>Recursos en Spring Boot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419" u="sng" dirty="0">
                <a:solidFill>
                  <a:schemeClr val="hlink"/>
                </a:solidFill>
                <a:hlinkClick r:id="rId3"/>
              </a:rPr>
              <a:t>https://www.baeldung.com/spring-mvc-static-resources</a:t>
            </a:r>
            <a:endParaRPr lang="es-419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481230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626</TotalTime>
  <Words>989</Words>
  <Application>Microsoft Office PowerPoint</Application>
  <PresentationFormat>Panorámica</PresentationFormat>
  <Paragraphs>132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21</vt:i4>
      </vt:variant>
    </vt:vector>
  </HeadingPairs>
  <TitlesOfParts>
    <vt:vector size="29" baseType="lpstr">
      <vt:lpstr>Arial</vt:lpstr>
      <vt:lpstr>Montserrat</vt:lpstr>
      <vt:lpstr>Montserrat Medium</vt:lpstr>
      <vt:lpstr>Wingdings</vt:lpstr>
      <vt:lpstr>Tema de Office</vt:lpstr>
      <vt:lpstr>1_Tema de Office</vt:lpstr>
      <vt:lpstr>Diseño personalizado</vt:lpstr>
      <vt:lpstr>Telecom Pucp</vt:lpstr>
      <vt:lpstr>Presentación de PowerPoint</vt:lpstr>
      <vt:lpstr>Thymeleaf &amp; Recursos</vt:lpstr>
      <vt:lpstr>Veamos un ejemplo</vt:lpstr>
      <vt:lpstr>Atributo: th</vt:lpstr>
      <vt:lpstr>Imprimir valores</vt:lpstr>
      <vt:lpstr>Mostrar un objeto en la vista</vt:lpstr>
      <vt:lpstr>Mostrar un objeto en la vista (otra forma)</vt:lpstr>
      <vt:lpstr>Iterar una lista  th:each</vt:lpstr>
      <vt:lpstr>Variables de estado en th:each</vt:lpstr>
      <vt:lpstr>Variables de estado, Ejemplo</vt:lpstr>
      <vt:lpstr>Llenar un comboBox</vt:lpstr>
      <vt:lpstr>Llenar un comboBox</vt:lpstr>
      <vt:lpstr>Condicionales</vt:lpstr>
      <vt:lpstr>Operador ternario ? : </vt:lpstr>
      <vt:lpstr>Th: if</vt:lpstr>
      <vt:lpstr>Th: if</vt:lpstr>
      <vt:lpstr>Th:if / th:unless</vt:lpstr>
      <vt:lpstr>Th:switch</vt:lpstr>
      <vt:lpstr>Recursos (JS, CSS, imágenes, etc) en Thymeleaf</vt:lpstr>
      <vt:lpstr>Mostrar un recurso en JSP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20</cp:revision>
  <dcterms:created xsi:type="dcterms:W3CDTF">2023-10-28T21:43:03Z</dcterms:created>
  <dcterms:modified xsi:type="dcterms:W3CDTF">2026-03-25T04:02:11Z</dcterms:modified>
</cp:coreProperties>
</file>